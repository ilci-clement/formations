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3.svg" ContentType="image/svg+xml"/>
  <Override PartName="/ppt/media/image2.svg" ContentType="image/svg+xml"/>
  <Override PartName="/ppt/media/image5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92" r:id="rId43"/>
    <p:sldId id="293" r:id="rId44"/>
    <p:sldId id="268" r:id="rId13"/>
    <p:sldId id="294" r:id="rId45"/>
    <p:sldId id="295" r:id="rId46"/>
    <p:sldId id="296" r:id="rId47"/>
    <p:sldId id="297" r:id="rId48"/>
    <p:sldId id="298" r:id="rId49"/>
    <p:sldId id="274" r:id="rId15"/>
    <p:sldId id="275" r:id="rId16"/>
    <p:sldId id="299" r:id="rId50"/>
    <p:sldId id="300" r:id="rId51"/>
    <p:sldId id="301" r:id="rId52"/>
    <p:sldId id="302" r:id="rId53"/>
    <p:sldId id="303" r:id="rId54"/>
    <p:sldId id="304" r:id="rId55"/>
    <p:sldId id="282" r:id="rId18"/>
    <p:sldId id="305" r:id="rId56"/>
    <p:sldId id="284" r:id="rId20"/>
    <p:sldId id="306" r:id="rId57"/>
    <p:sldId id="286" r:id="rId22"/>
    <p:sldId id="287" r:id="rId23"/>
    <p:sldId id="288" r:id="rId24"/>
  </p:sldIdLst>
  <p:sldSz cx="7556500" cy="10693400"/>
  <p:notesSz cx="6858000" cy="9144000"/>
  <p:embeddedFontLst>
    <p:embeddedFont>
      <p:font typeface="Canva Sans Bold" panose="020B0604020202020204" charset="0"/>
      <p:regular r:id="rId26"/>
    </p:embeddedFont>
    <p:embeddedFont>
      <p:font typeface="IBM Plex Sans" panose="020B0503050203000203" pitchFamily="34" charset="0"/>
      <p:regular r:id="rId27"/>
    </p:embeddedFont>
    <p:embeddedFont>
      <p:font typeface="IBM Plex Sans Bold" panose="020B0803050203000203" charset="0"/>
      <p:regular r:id="rId28"/>
    </p:embeddedFont>
    <p:embeddedFont>
      <p:font typeface="IBM Plex Sans Bold Italics" panose="020B0604020202020204" charset="0"/>
      <p:regular r:id="rId29"/>
    </p:embeddedFont>
    <p:embeddedFont>
      <p:font typeface="IBM Plex Sans Italics" panose="020B0604020202020204" charset="0"/>
      <p:regular r:id="rId30"/>
    </p:embeddedFont>
    <p:embeddedFont>
      <p:font typeface="League Gothic" panose="020B0604020202020204" charset="0"/>
      <p:regular r:id="rId31"/>
    </p:embeddedFont>
    <p:embeddedFont>
      <p:font typeface="League Gothic Italics" panose="020B0604020202020204" charset="0"/>
      <p:regular r:id="rId32"/>
    </p:embeddedFont>
    <p:embeddedFont>
      <p:font typeface="Montserrat Classic" panose="020B0604020202020204" charset="0"/>
      <p:regular r:id="rId33"/>
    </p:embeddedFont>
    <p:embeddedFont>
      <p:font typeface="Open Sans Bold" panose="020B0604020202020204" charset="0"/>
      <p:regular r:id="rId34"/>
    </p:embeddedFont>
    <p:embeddedFont>
      <p:font typeface="Open Sans Bold Italics" panose="020B0604020202020204" charset="0"/>
      <p:regular r:id="rId35"/>
    </p:embeddedFont>
    <p:embeddedFont>
      <p:font typeface="Open Sans Italics" panose="020B0604020202020204" charset="0"/>
      <p:regular r:id="rId36"/>
    </p:embeddedFont>
    <p:embeddedFont>
      <p:font typeface="Tex Gyre Termes" panose="020B0604020202020204" charset="0"/>
      <p:regular r:id="rId37"/>
    </p:embeddedFont>
    <p:embeddedFont>
      <p:font typeface="Tex Gyre Termes Bold" panose="020B0604020202020204" charset="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72" autoAdjust="0"/>
    <p:restoredTop sz="94622" autoAdjust="0"/>
  </p:normalViewPr>
  <p:slideViewPr>
    <p:cSldViewPr>
      <p:cViewPr>
        <p:scale>
          <a:sx n="100" d="100"/>
          <a:sy n="100" d="100"/>
        </p:scale>
        <p:origin x="1498" y="-30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font" Target="fonts/font1.fntdata"/><Relationship Id="rId27" Type="http://schemas.openxmlformats.org/officeDocument/2006/relationships/font" Target="fonts/font2.fntdata"/><Relationship Id="rId28" Type="http://schemas.openxmlformats.org/officeDocument/2006/relationships/font" Target="fonts/font3.fntdata"/><Relationship Id="rId29" Type="http://schemas.openxmlformats.org/officeDocument/2006/relationships/font" Target="fonts/font4.fntdata"/><Relationship Id="rId30" Type="http://schemas.openxmlformats.org/officeDocument/2006/relationships/font" Target="fonts/font5.fntdata"/><Relationship Id="rId31" Type="http://schemas.openxmlformats.org/officeDocument/2006/relationships/font" Target="fonts/font6.fntdata"/><Relationship Id="rId32" Type="http://schemas.openxmlformats.org/officeDocument/2006/relationships/font" Target="fonts/font7.fntdata"/><Relationship Id="rId33" Type="http://schemas.openxmlformats.org/officeDocument/2006/relationships/font" Target="fonts/font8.fntdata"/><Relationship Id="rId34" Type="http://schemas.openxmlformats.org/officeDocument/2006/relationships/font" Target="fonts/font9.fntdata"/><Relationship Id="rId35" Type="http://schemas.openxmlformats.org/officeDocument/2006/relationships/font" Target="fonts/font10.fntdata"/><Relationship Id="rId36" Type="http://schemas.openxmlformats.org/officeDocument/2006/relationships/font" Target="fonts/font11.fntdata"/><Relationship Id="rId37" Type="http://schemas.openxmlformats.org/officeDocument/2006/relationships/font" Target="fonts/font12.fntdata"/><Relationship Id="rId38" Type="http://schemas.openxmlformats.org/officeDocument/2006/relationships/font" Target="fonts/font13.fntdata"/><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4.xml"/><Relationship Id="rId44" Type="http://schemas.openxmlformats.org/officeDocument/2006/relationships/slide" Target="slides/slide25.xml"/><Relationship Id="rId45" Type="http://schemas.openxmlformats.org/officeDocument/2006/relationships/slide" Target="slides/slide26.xml"/><Relationship Id="rId46" Type="http://schemas.openxmlformats.org/officeDocument/2006/relationships/slide" Target="slides/slide27.xml"/><Relationship Id="rId47" Type="http://schemas.openxmlformats.org/officeDocument/2006/relationships/slide" Target="slides/slide28.xml"/><Relationship Id="rId48" Type="http://schemas.openxmlformats.org/officeDocument/2006/relationships/slide" Target="slides/slide29.xml"/><Relationship Id="rId49" Type="http://schemas.openxmlformats.org/officeDocument/2006/relationships/slide" Target="slides/slide30.xml"/><Relationship Id="rId50" Type="http://schemas.openxmlformats.org/officeDocument/2006/relationships/slide" Target="slides/slide31.xml"/><Relationship Id="rId51" Type="http://schemas.openxmlformats.org/officeDocument/2006/relationships/slide" Target="slides/slide32.xml"/><Relationship Id="rId52" Type="http://schemas.openxmlformats.org/officeDocument/2006/relationships/slide" Target="slides/slide33.xml"/><Relationship Id="rId53" Type="http://schemas.openxmlformats.org/officeDocument/2006/relationships/slide" Target="slides/slide34.xml"/><Relationship Id="rId54" Type="http://schemas.openxmlformats.org/officeDocument/2006/relationships/slide" Target="slides/slide35.xml"/><Relationship Id="rId55" Type="http://schemas.openxmlformats.org/officeDocument/2006/relationships/slide" Target="slides/slide36.xml"/><Relationship Id="rId56" Type="http://schemas.openxmlformats.org/officeDocument/2006/relationships/slide" Target="slides/slide37.xml"/><Relationship Id="rId57"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51442A-3E95-497B-9E1E-11D7DC7E6436}" type="datetimeFigureOut">
              <a:rPr lang="fr-FR" smtClean="0"/>
              <a:t>05/03/2026</a:t>
            </a:fld>
            <a:endParaRPr lang="fr-FR"/>
          </a:p>
        </p:txBody>
      </p:sp>
      <p:sp>
        <p:nvSpPr>
          <p:cNvPr id="4" name="Espace réservé de l'image des diapositives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9CB731-034F-45EA-90DE-AF9EDC1687F1}" type="slidenum">
              <a:rPr lang="fr-FR" smtClean="0"/>
              <a:t>‹N°›</a:t>
            </a:fld>
            <a:endParaRPr lang="fr-FR"/>
          </a:p>
        </p:txBody>
      </p:sp>
    </p:spTree>
    <p:extLst>
      <p:ext uri="{BB962C8B-B14F-4D97-AF65-F5344CB8AC3E}">
        <p14:creationId xmlns:p14="http://schemas.microsoft.com/office/powerpoint/2010/main" val="673327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79CB731-034F-45EA-90DE-AF9EDC1687F1}" type="slidenum">
              <a:rPr lang="fr-FR" smtClean="0"/>
              <a:t>6</a:t>
            </a:fld>
            <a:endParaRPr lang="fr-FR"/>
          </a:p>
        </p:txBody>
      </p:sp>
    </p:spTree>
    <p:extLst>
      <p:ext uri="{BB962C8B-B14F-4D97-AF65-F5344CB8AC3E}">
        <p14:creationId xmlns:p14="http://schemas.microsoft.com/office/powerpoint/2010/main" val="2343306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12.png"/><Relationship Id="rId7" Type="http://schemas.openxmlformats.org/officeDocument/2006/relationships/image" Target="../media/image1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3.jpeg"/><Relationship Id="rId12" Type="http://schemas.openxmlformats.org/officeDocument/2006/relationships/image" Target="../media/image24.jpeg"/><Relationship Id="rId13" Type="http://schemas.openxmlformats.org/officeDocument/2006/relationships/image" Target="../media/image25.png"/><Relationship Id="rId14" Type="http://schemas.openxmlformats.org/officeDocument/2006/relationships/image" Target="../media/image26.png"/><Relationship Id="rId15" Type="http://schemas.openxmlformats.org/officeDocument/2006/relationships/image" Target="../media/image27.jpeg"/><Relationship Id="rId16" Type="http://schemas.openxmlformats.org/officeDocument/2006/relationships/image" Target="../media/image28.png"/><Relationship Id="rId17" Type="http://schemas.openxmlformats.org/officeDocument/2006/relationships/image" Target="../media/image29.png"/><Relationship Id="rId18" Type="http://schemas.openxmlformats.org/officeDocument/2006/relationships/image" Target="../media/image30.png"/><Relationship Id="rId19" Type="http://schemas.openxmlformats.org/officeDocument/2006/relationships/image" Target="../media/image31.png"/><Relationship Id="rId20" Type="http://schemas.openxmlformats.org/officeDocument/2006/relationships/image" Target="../media/image32.png"/><Relationship Id="rId21" Type="http://schemas.openxmlformats.org/officeDocument/2006/relationships/image" Target="../media/image33.png"/><Relationship Id="rId22" Type="http://schemas.openxmlformats.org/officeDocument/2006/relationships/image" Target="../media/image34.jpeg"/><Relationship Id="rId23" Type="http://schemas.openxmlformats.org/officeDocument/2006/relationships/image" Target="../media/image35.jpeg"/><Relationship Id="rId24" Type="http://schemas.openxmlformats.org/officeDocument/2006/relationships/image" Target="../media/image36.jpeg"/><Relationship Id="rId25" Type="http://schemas.openxmlformats.org/officeDocument/2006/relationships/image" Target="../media/image37.png"/><Relationship Id="rId26" Type="http://schemas.openxmlformats.org/officeDocument/2006/relationships/image" Target="../media/image38.jpeg"/><Relationship Id="rId27" Type="http://schemas.openxmlformats.org/officeDocument/2006/relationships/image" Target="../media/image39.png"/><Relationship Id="rId28" Type="http://schemas.openxmlformats.org/officeDocument/2006/relationships/image" Target="../media/image40.png"/><Relationship Id="rId29" Type="http://schemas.openxmlformats.org/officeDocument/2006/relationships/image" Target="../media/image4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eg"/><Relationship Id="rId3" Type="http://schemas.openxmlformats.org/officeDocument/2006/relationships/image" Target="../media/image4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eg"/><Relationship Id="rId3" Type="http://schemas.openxmlformats.org/officeDocument/2006/relationships/image" Target="../media/image4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eg"/><Relationship Id="rId3" Type="http://schemas.openxmlformats.org/officeDocument/2006/relationships/image" Target="../media/image5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9F6"/>
        </a:solidFill>
        <a:effectLst/>
      </p:bgPr>
    </p:bg>
    <p:spTree>
      <p:nvGrpSpPr>
        <p:cNvPr id="1" name=""/>
        <p:cNvGrpSpPr/>
        <p:nvPr/>
      </p:nvGrpSpPr>
      <p:grpSpPr>
        <a:xfrm>
          <a:off x="0" y="0"/>
          <a:ext cx="0" cy="0"/>
          <a:chOff x="0" y="0"/>
          <a:chExt cx="0" cy="0"/>
        </a:xfrm>
      </p:grpSpPr>
      <p:sp>
        <p:nvSpPr>
          <p:cNvPr id="2" name="TextBox 2"/>
          <p:cNvSpPr txBox="1"/>
          <p:nvPr/>
        </p:nvSpPr>
        <p:spPr>
          <a:xfrm>
            <a:off x="2522201" y="10407263"/>
            <a:ext cx="2515629" cy="151428"/>
          </a:xfrm>
          <a:prstGeom prst="rect">
            <a:avLst/>
          </a:prstGeom>
        </p:spPr>
        <p:txBody>
          <a:bodyPr lIns="0" tIns="0" rIns="0" bIns="0" rtlCol="0" anchor="t">
            <a:spAutoFit/>
          </a:bodyPr>
          <a:lstStyle/>
          <a:p>
            <a:pPr algn="l">
              <a:lnSpc>
                <a:spcPts val="1260"/>
              </a:lnSpc>
            </a:pPr>
            <a:r>
              <a:rPr lang="en-US" sz="900" i="1" spc="25">
                <a:solidFill>
                  <a:srgbClr val="FFFFFF"/>
                </a:solidFill>
                <a:latin typeface="IBM Plex Sans Italics"/>
                <a:ea typeface="IBM Plex Sans Italics"/>
                <a:cs typeface="IBM Plex Sans Italics"/>
                <a:sym typeface="IBM Plex Sans Italics"/>
              </a:rPr>
              <a:t>Etablissement d’enseignement supérieur privé</a:t>
            </a:r>
          </a:p>
        </p:txBody>
      </p:sp>
      <p:grpSp>
        <p:nvGrpSpPr>
          <p:cNvPr id="3" name="Group 3"/>
          <p:cNvGrpSpPr/>
          <p:nvPr/>
        </p:nvGrpSpPr>
        <p:grpSpPr>
          <a:xfrm>
            <a:off x="2243431" y="-280673"/>
            <a:ext cx="3073139" cy="11253347"/>
            <a:chOff x="0" y="0"/>
            <a:chExt cx="1101344" cy="4032946"/>
          </a:xfrm>
        </p:grpSpPr>
        <p:sp>
          <p:nvSpPr>
            <p:cNvPr id="4" name="Freeform 4"/>
            <p:cNvSpPr/>
            <p:nvPr/>
          </p:nvSpPr>
          <p:spPr>
            <a:xfrm>
              <a:off x="0" y="0"/>
              <a:ext cx="1101344" cy="4032946"/>
            </a:xfrm>
            <a:custGeom>
              <a:avLst/>
              <a:gdLst/>
              <a:ahLst/>
              <a:cxnLst/>
              <a:rect l="l" t="t" r="r" b="b"/>
              <a:pathLst>
                <a:path w="1101344" h="4032946">
                  <a:moveTo>
                    <a:pt x="0" y="0"/>
                  </a:moveTo>
                  <a:lnTo>
                    <a:pt x="1101344" y="0"/>
                  </a:lnTo>
                  <a:lnTo>
                    <a:pt x="1101344" y="4032946"/>
                  </a:lnTo>
                  <a:lnTo>
                    <a:pt x="0" y="4032946"/>
                  </a:lnTo>
                  <a:close/>
                </a:path>
              </a:pathLst>
            </a:custGeom>
            <a:solidFill>
              <a:srgbClr val="1A1447"/>
            </a:solidFill>
          </p:spPr>
          <p:txBody>
            <a:bodyPr/>
            <a:lstStyle/>
            <a:p>
              <a:endParaRPr lang="fr-FR"/>
            </a:p>
          </p:txBody>
        </p:sp>
        <p:sp>
          <p:nvSpPr>
            <p:cNvPr id="5" name="TextBox 5"/>
            <p:cNvSpPr txBox="1"/>
            <p:nvPr/>
          </p:nvSpPr>
          <p:spPr>
            <a:xfrm>
              <a:off x="0" y="-28575"/>
              <a:ext cx="1101344" cy="4061521"/>
            </a:xfrm>
            <a:prstGeom prst="rect">
              <a:avLst/>
            </a:prstGeom>
          </p:spPr>
          <p:txBody>
            <a:bodyPr lIns="50800" tIns="50800" rIns="50800" bIns="50800" rtlCol="0" anchor="ctr"/>
            <a:lstStyle/>
            <a:p>
              <a:pPr algn="ctr">
                <a:lnSpc>
                  <a:spcPts val="2100"/>
                </a:lnSpc>
              </a:pPr>
              <a:endParaRPr/>
            </a:p>
          </p:txBody>
        </p:sp>
      </p:grpSp>
      <p:sp>
        <p:nvSpPr>
          <p:cNvPr id="6" name="TextBox 6"/>
          <p:cNvSpPr txBox="1"/>
          <p:nvPr/>
        </p:nvSpPr>
        <p:spPr>
          <a:xfrm rot="-5400000">
            <a:off x="-68259" y="2967828"/>
            <a:ext cx="7336685" cy="3513406"/>
          </a:xfrm>
          <a:prstGeom prst="rect">
            <a:avLst/>
          </a:prstGeom>
        </p:spPr>
        <p:txBody>
          <a:bodyPr lIns="0" tIns="0" rIns="0" bIns="0" rtlCol="0" anchor="t">
            <a:spAutoFit/>
          </a:bodyPr>
          <a:lstStyle/>
          <a:p>
            <a:pPr algn="ctr">
              <a:lnSpc>
                <a:spcPts val="28731"/>
              </a:lnSpc>
            </a:pPr>
            <a:r>
              <a:rPr lang="en-US" sz="20522">
                <a:solidFill>
                  <a:srgbClr val="FEF9F6"/>
                </a:solidFill>
                <a:latin typeface="League Gothic"/>
                <a:ea typeface="League Gothic"/>
                <a:cs typeface="League Gothic"/>
                <a:sym typeface="League Gothic"/>
              </a:rPr>
              <a:t>ILCI 2025</a:t>
            </a:r>
          </a:p>
        </p:txBody>
      </p:sp>
      <p:sp>
        <p:nvSpPr>
          <p:cNvPr id="7" name="Freeform 7"/>
          <p:cNvSpPr/>
          <p:nvPr/>
        </p:nvSpPr>
        <p:spPr>
          <a:xfrm>
            <a:off x="457639" y="9342658"/>
            <a:ext cx="1671261" cy="494067"/>
          </a:xfrm>
          <a:custGeom>
            <a:avLst/>
            <a:gdLst/>
            <a:ahLst/>
            <a:cxnLst/>
            <a:rect l="l" t="t" r="r" b="b"/>
            <a:pathLst>
              <a:path w="1671261" h="494067">
                <a:moveTo>
                  <a:pt x="0" y="0"/>
                </a:moveTo>
                <a:lnTo>
                  <a:pt x="1671261" y="0"/>
                </a:lnTo>
                <a:lnTo>
                  <a:pt x="1671261" y="494066"/>
                </a:lnTo>
                <a:lnTo>
                  <a:pt x="0" y="4940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fr-FR"/>
          </a:p>
        </p:txBody>
      </p:sp>
      <p:sp>
        <p:nvSpPr>
          <p:cNvPr id="8" name="Freeform 8"/>
          <p:cNvSpPr/>
          <p:nvPr/>
        </p:nvSpPr>
        <p:spPr>
          <a:xfrm>
            <a:off x="-447081" y="4518475"/>
            <a:ext cx="4003546" cy="7748798"/>
          </a:xfrm>
          <a:custGeom>
            <a:avLst/>
            <a:gdLst/>
            <a:ahLst/>
            <a:cxnLst/>
            <a:rect l="l" t="t" r="r" b="b"/>
            <a:pathLst>
              <a:path w="4003546" h="7748798">
                <a:moveTo>
                  <a:pt x="0" y="0"/>
                </a:moveTo>
                <a:lnTo>
                  <a:pt x="4003546" y="0"/>
                </a:lnTo>
                <a:lnTo>
                  <a:pt x="4003546" y="7748798"/>
                </a:lnTo>
                <a:lnTo>
                  <a:pt x="0" y="7748798"/>
                </a:lnTo>
                <a:lnTo>
                  <a:pt x="0" y="0"/>
                </a:lnTo>
                <a:close/>
              </a:path>
            </a:pathLst>
          </a:custGeom>
          <a:blipFill>
            <a:blip r:embed="rId4"/>
            <a:stretch>
              <a:fillRect/>
            </a:stretch>
          </a:blipFill>
        </p:spPr>
        <p:txBody>
          <a:bodyPr/>
          <a:lstStyle/>
          <a:p>
            <a:endParaRPr lang="fr-FR"/>
          </a:p>
        </p:txBody>
      </p:sp>
      <p:sp>
        <p:nvSpPr>
          <p:cNvPr id="9" name="Freeform 9"/>
          <p:cNvSpPr/>
          <p:nvPr/>
        </p:nvSpPr>
        <p:spPr>
          <a:xfrm>
            <a:off x="-5150552" y="-1776843"/>
            <a:ext cx="5150552" cy="7384304"/>
          </a:xfrm>
          <a:custGeom>
            <a:avLst/>
            <a:gdLst/>
            <a:ahLst/>
            <a:cxnLst/>
            <a:rect l="l" t="t" r="r" b="b"/>
            <a:pathLst>
              <a:path w="5150552" h="7384304">
                <a:moveTo>
                  <a:pt x="0" y="0"/>
                </a:moveTo>
                <a:lnTo>
                  <a:pt x="5150552" y="0"/>
                </a:lnTo>
                <a:lnTo>
                  <a:pt x="5150552" y="7384304"/>
                </a:lnTo>
                <a:lnTo>
                  <a:pt x="0" y="7384304"/>
                </a:lnTo>
                <a:lnTo>
                  <a:pt x="0" y="0"/>
                </a:lnTo>
                <a:close/>
              </a:path>
            </a:pathLst>
          </a:custGeom>
          <a:blipFill>
            <a:blip r:embed="rId5"/>
            <a:stretch>
              <a:fillRect/>
            </a:stretch>
          </a:blipFill>
        </p:spPr>
        <p:txBody>
          <a:bodyPr/>
          <a:lstStyle/>
          <a:p>
            <a:endParaRPr lang="fr-FR"/>
          </a:p>
        </p:txBody>
      </p:sp>
      <p:sp>
        <p:nvSpPr>
          <p:cNvPr id="10" name="Freeform 10"/>
          <p:cNvSpPr/>
          <p:nvPr/>
        </p:nvSpPr>
        <p:spPr>
          <a:xfrm>
            <a:off x="3556465" y="4063644"/>
            <a:ext cx="4931320" cy="7069993"/>
          </a:xfrm>
          <a:custGeom>
            <a:avLst/>
            <a:gdLst/>
            <a:ahLst/>
            <a:cxnLst/>
            <a:rect l="l" t="t" r="r" b="b"/>
            <a:pathLst>
              <a:path w="4931320" h="7069993">
                <a:moveTo>
                  <a:pt x="0" y="0"/>
                </a:moveTo>
                <a:lnTo>
                  <a:pt x="4931320" y="0"/>
                </a:lnTo>
                <a:lnTo>
                  <a:pt x="4931320" y="7069993"/>
                </a:lnTo>
                <a:lnTo>
                  <a:pt x="0" y="7069993"/>
                </a:lnTo>
                <a:lnTo>
                  <a:pt x="0" y="0"/>
                </a:lnTo>
                <a:close/>
              </a:path>
            </a:pathLst>
          </a:custGeom>
          <a:blipFill>
            <a:blip r:embed="rId6"/>
            <a:stretch>
              <a:fillRect/>
            </a:stretch>
          </a:blipFill>
        </p:spPr>
        <p:txBody>
          <a:bodyPr/>
          <a:lstStyle/>
          <a:p>
            <a:endParaRPr lang="fr-FR"/>
          </a:p>
        </p:txBody>
      </p:sp>
      <p:sp>
        <p:nvSpPr>
          <p:cNvPr id="11" name="Freeform 11"/>
          <p:cNvSpPr/>
          <p:nvPr/>
        </p:nvSpPr>
        <p:spPr>
          <a:xfrm>
            <a:off x="2128900" y="9699510"/>
            <a:ext cx="3024000" cy="472979"/>
          </a:xfrm>
          <a:custGeom>
            <a:avLst/>
            <a:gdLst/>
            <a:ahLst/>
            <a:cxnLst/>
            <a:rect l="l" t="t" r="r" b="b"/>
            <a:pathLst>
              <a:path w="3024000" h="472979">
                <a:moveTo>
                  <a:pt x="0" y="0"/>
                </a:moveTo>
                <a:lnTo>
                  <a:pt x="3024000" y="0"/>
                </a:lnTo>
                <a:lnTo>
                  <a:pt x="3024000" y="472980"/>
                </a:lnTo>
                <a:lnTo>
                  <a:pt x="0" y="47298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
        <p:nvSpPr>
          <p:cNvPr id="12" name="TextBox 12"/>
          <p:cNvSpPr txBox="1"/>
          <p:nvPr/>
        </p:nvSpPr>
        <p:spPr>
          <a:xfrm>
            <a:off x="756000" y="698850"/>
            <a:ext cx="1074539" cy="504826"/>
          </a:xfrm>
          <a:prstGeom prst="rect">
            <a:avLst/>
          </a:prstGeom>
        </p:spPr>
        <p:txBody>
          <a:bodyPr lIns="0" tIns="0" rIns="0" bIns="0" rtlCol="0" anchor="t">
            <a:spAutoFit/>
          </a:bodyPr>
          <a:lstStyle/>
          <a:p>
            <a:pPr algn="l">
              <a:lnSpc>
                <a:spcPts val="4199"/>
              </a:lnSpc>
            </a:pPr>
            <a:r>
              <a:rPr lang="en-US" sz="2999" spc="362">
                <a:solidFill>
                  <a:srgbClr val="1A1447"/>
                </a:solidFill>
                <a:latin typeface="League Gothic"/>
                <a:ea typeface="League Gothic"/>
                <a:cs typeface="League Gothic"/>
                <a:sym typeface="League Gothic"/>
              </a:rPr>
              <a:t>ILCI</a:t>
            </a:r>
          </a:p>
        </p:txBody>
      </p:sp>
      <p:sp>
        <p:nvSpPr>
          <p:cNvPr id="13" name="TextBox 13"/>
          <p:cNvSpPr txBox="1"/>
          <p:nvPr/>
        </p:nvSpPr>
        <p:spPr>
          <a:xfrm>
            <a:off x="5729461" y="698850"/>
            <a:ext cx="1074539" cy="504826"/>
          </a:xfrm>
          <a:prstGeom prst="rect">
            <a:avLst/>
          </a:prstGeom>
        </p:spPr>
        <p:txBody>
          <a:bodyPr lIns="0" tIns="0" rIns="0" bIns="0" rtlCol="0" anchor="t">
            <a:spAutoFit/>
          </a:bodyPr>
          <a:lstStyle/>
          <a:p>
            <a:pPr algn="r">
              <a:lnSpc>
                <a:spcPts val="4199"/>
              </a:lnSpc>
            </a:pPr>
            <a:r>
              <a:rPr lang="en-US" sz="2999" spc="362">
                <a:solidFill>
                  <a:srgbClr val="1A1447"/>
                </a:solidFill>
                <a:latin typeface="League Gothic"/>
                <a:ea typeface="League Gothic"/>
                <a:cs typeface="League Gothic"/>
                <a:sym typeface="League Gothic"/>
              </a:rPr>
              <a:t>SCHOOL</a:t>
            </a:r>
          </a:p>
        </p:txBody>
      </p:sp>
      <p:sp>
        <p:nvSpPr>
          <p:cNvPr id="14" name="TextBox 14"/>
          <p:cNvSpPr txBox="1"/>
          <p:nvPr/>
        </p:nvSpPr>
        <p:spPr>
          <a:xfrm>
            <a:off x="2880418" y="698850"/>
            <a:ext cx="1799163" cy="504826"/>
          </a:xfrm>
          <a:prstGeom prst="rect">
            <a:avLst/>
          </a:prstGeom>
        </p:spPr>
        <p:txBody>
          <a:bodyPr lIns="0" tIns="0" rIns="0" bIns="0" rtlCol="0" anchor="t">
            <a:spAutoFit/>
          </a:bodyPr>
          <a:lstStyle/>
          <a:p>
            <a:pPr algn="ctr">
              <a:lnSpc>
                <a:spcPts val="4199"/>
              </a:lnSpc>
            </a:pPr>
            <a:r>
              <a:rPr lang="en-US" sz="2999" spc="362">
                <a:solidFill>
                  <a:srgbClr val="F4F0E3"/>
                </a:solidFill>
                <a:latin typeface="League Gothic"/>
                <a:ea typeface="League Gothic"/>
                <a:cs typeface="League Gothic"/>
                <a:sym typeface="League Gothic"/>
              </a:rPr>
              <a:t>BUSINESS</a:t>
            </a:r>
          </a:p>
        </p:txBody>
      </p:sp>
      <p:sp>
        <p:nvSpPr>
          <p:cNvPr id="15" name="TextBox 15"/>
          <p:cNvSpPr txBox="1"/>
          <p:nvPr/>
        </p:nvSpPr>
        <p:spPr>
          <a:xfrm rot="479061">
            <a:off x="988954" y="7913761"/>
            <a:ext cx="1671261" cy="471510"/>
          </a:xfrm>
          <a:prstGeom prst="rect">
            <a:avLst/>
          </a:prstGeom>
        </p:spPr>
        <p:txBody>
          <a:bodyPr lIns="0" tIns="0" rIns="0" bIns="0" rtlCol="0" anchor="t">
            <a:spAutoFit/>
          </a:bodyPr>
          <a:lstStyle/>
          <a:p>
            <a:pPr algn="l">
              <a:lnSpc>
                <a:spcPts val="3450"/>
              </a:lnSpc>
            </a:pPr>
            <a:r>
              <a:rPr lang="en-US" sz="3670">
                <a:solidFill>
                  <a:srgbClr val="1A1447"/>
                </a:solidFill>
                <a:latin typeface="League Gothic"/>
                <a:ea typeface="League Gothic"/>
                <a:cs typeface="League Gothic"/>
                <a:sym typeface="League Gothic"/>
              </a:rPr>
              <a:t>DEPUIS 2004</a:t>
            </a:r>
          </a:p>
        </p:txBody>
      </p:sp>
      <p:sp>
        <p:nvSpPr>
          <p:cNvPr id="16" name="TextBox 16"/>
          <p:cNvSpPr txBox="1"/>
          <p:nvPr/>
        </p:nvSpPr>
        <p:spPr>
          <a:xfrm>
            <a:off x="5356787" y="2411879"/>
            <a:ext cx="1928905" cy="1349938"/>
          </a:xfrm>
          <a:prstGeom prst="rect">
            <a:avLst/>
          </a:prstGeom>
        </p:spPr>
        <p:txBody>
          <a:bodyPr lIns="0" tIns="0" rIns="0" bIns="0" rtlCol="0" anchor="t">
            <a:spAutoFit/>
          </a:bodyPr>
          <a:lstStyle/>
          <a:p>
            <a:pPr algn="r">
              <a:lnSpc>
                <a:spcPts val="3450"/>
              </a:lnSpc>
            </a:pPr>
            <a:r>
              <a:rPr lang="en-US" sz="3670">
                <a:solidFill>
                  <a:srgbClr val="1A1447"/>
                </a:solidFill>
                <a:latin typeface="League Gothic"/>
                <a:ea typeface="League Gothic"/>
                <a:cs typeface="League Gothic"/>
                <a:sym typeface="League Gothic"/>
              </a:rPr>
              <a:t>ILCI</a:t>
            </a:r>
          </a:p>
          <a:p>
            <a:pPr algn="r">
              <a:lnSpc>
                <a:spcPts val="3450"/>
              </a:lnSpc>
            </a:pPr>
            <a:r>
              <a:rPr lang="en-US" sz="3670">
                <a:solidFill>
                  <a:srgbClr val="1A1447"/>
                </a:solidFill>
                <a:latin typeface="League Gothic"/>
                <a:ea typeface="League Gothic"/>
                <a:cs typeface="League Gothic"/>
                <a:sym typeface="League Gothic"/>
              </a:rPr>
              <a:t>BUSINESS</a:t>
            </a:r>
          </a:p>
          <a:p>
            <a:pPr algn="r">
              <a:lnSpc>
                <a:spcPts val="3450"/>
              </a:lnSpc>
            </a:pPr>
            <a:r>
              <a:rPr lang="en-US" sz="3670">
                <a:solidFill>
                  <a:srgbClr val="1A1447"/>
                </a:solidFill>
                <a:latin typeface="League Gothic"/>
                <a:ea typeface="League Gothic"/>
                <a:cs typeface="League Gothic"/>
                <a:sym typeface="League Gothic"/>
              </a:rPr>
              <a:t>SCHOOL</a:t>
            </a:r>
          </a:p>
        </p:txBody>
      </p:sp>
      <p:sp>
        <p:nvSpPr>
          <p:cNvPr id="17" name="TextBox 17"/>
          <p:cNvSpPr txBox="1"/>
          <p:nvPr/>
        </p:nvSpPr>
        <p:spPr>
          <a:xfrm>
            <a:off x="2522201" y="10407263"/>
            <a:ext cx="2515629" cy="151428"/>
          </a:xfrm>
          <a:prstGeom prst="rect">
            <a:avLst/>
          </a:prstGeom>
        </p:spPr>
        <p:txBody>
          <a:bodyPr lIns="0" tIns="0" rIns="0" bIns="0" rtlCol="0" anchor="t">
            <a:spAutoFit/>
          </a:bodyPr>
          <a:lstStyle/>
          <a:p>
            <a:pPr algn="l">
              <a:lnSpc>
                <a:spcPts val="1260"/>
              </a:lnSpc>
            </a:pPr>
            <a:r>
              <a:rPr lang="en-US" sz="900" i="1" spc="25">
                <a:solidFill>
                  <a:srgbClr val="FFFFFF"/>
                </a:solidFill>
                <a:latin typeface="IBM Plex Sans Italics"/>
                <a:ea typeface="IBM Plex Sans Italics"/>
                <a:cs typeface="IBM Plex Sans Italics"/>
                <a:sym typeface="IBM Plex Sans Italics"/>
              </a:rPr>
              <a:t>Etablissement d’enseignement supérieur privé</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447"/>
        </a:solidFill>
        <a:effectLst/>
      </p:bgPr>
    </p:bg>
    <p:spTree>
      <p:nvGrpSpPr>
        <p:cNvPr id="1" name=""/>
        <p:cNvGrpSpPr/>
        <p:nvPr/>
      </p:nvGrpSpPr>
      <p:grpSpPr>
        <a:xfrm>
          <a:off x="0" y="0"/>
          <a:ext cx="0" cy="0"/>
          <a:chOff x="0" y="0"/>
          <a:chExt cx="0" cy="0"/>
        </a:xfrm>
      </p:grpSpPr>
      <p:grpSp>
        <p:nvGrpSpPr>
          <p:cNvPr id="2" name="Group 2"/>
          <p:cNvGrpSpPr/>
          <p:nvPr/>
        </p:nvGrpSpPr>
        <p:grpSpPr>
          <a:xfrm>
            <a:off x="-938943" y="1104165"/>
            <a:ext cx="7324271" cy="8483670"/>
            <a:chOff x="0" y="0"/>
            <a:chExt cx="2624853" cy="3040356"/>
          </a:xfrm>
        </p:grpSpPr>
        <p:sp>
          <p:nvSpPr>
            <p:cNvPr id="3" name="Freeform 3"/>
            <p:cNvSpPr/>
            <p:nvPr/>
          </p:nvSpPr>
          <p:spPr>
            <a:xfrm>
              <a:off x="0" y="0"/>
              <a:ext cx="2624853" cy="3040356"/>
            </a:xfrm>
            <a:custGeom>
              <a:avLst/>
              <a:gdLst/>
              <a:ahLst/>
              <a:cxnLst/>
              <a:rect l="l" t="t" r="r" b="b"/>
              <a:pathLst>
                <a:path w="2624853" h="3040356">
                  <a:moveTo>
                    <a:pt x="0" y="0"/>
                  </a:moveTo>
                  <a:lnTo>
                    <a:pt x="2624853" y="0"/>
                  </a:lnTo>
                  <a:lnTo>
                    <a:pt x="2624853" y="3040356"/>
                  </a:lnTo>
                  <a:lnTo>
                    <a:pt x="0" y="3040356"/>
                  </a:lnTo>
                  <a:close/>
                </a:path>
              </a:pathLst>
            </a:custGeom>
            <a:solidFill>
              <a:srgbClr val="FEF9F6"/>
            </a:solidFill>
          </p:spPr>
          <p:txBody>
            <a:bodyPr/>
            <a:lstStyle/>
            <a:p>
              <a:endParaRPr lang="fr-FR"/>
            </a:p>
          </p:txBody>
        </p:sp>
        <p:sp>
          <p:nvSpPr>
            <p:cNvPr id="4" name="TextBox 4"/>
            <p:cNvSpPr txBox="1"/>
            <p:nvPr/>
          </p:nvSpPr>
          <p:spPr>
            <a:xfrm>
              <a:off x="0" y="-28575"/>
              <a:ext cx="2624853" cy="3068931"/>
            </a:xfrm>
            <a:prstGeom prst="rect">
              <a:avLst/>
            </a:prstGeom>
          </p:spPr>
          <p:txBody>
            <a:bodyPr lIns="50800" tIns="50800" rIns="50800" bIns="50800" rtlCol="0" anchor="ctr"/>
            <a:lstStyle/>
            <a:p>
              <a:pPr algn="ctr">
                <a:lnSpc>
                  <a:spcPts val="1960"/>
                </a:lnSpc>
                <a:spcBef>
                  <a:spcPct val="0"/>
                </a:spcBef>
              </a:pPr>
              <a:endParaRPr/>
            </a:p>
          </p:txBody>
        </p:sp>
      </p:grpSp>
      <p:sp>
        <p:nvSpPr>
          <p:cNvPr id="5" name="TextBox 5"/>
          <p:cNvSpPr txBox="1"/>
          <p:nvPr/>
        </p:nvSpPr>
        <p:spPr>
          <a:xfrm>
            <a:off x="269834" y="1323240"/>
            <a:ext cx="5974567" cy="1453349"/>
          </a:xfrm>
          <a:prstGeom prst="rect">
            <a:avLst/>
          </a:prstGeom>
        </p:spPr>
        <p:txBody>
          <a:bodyPr lIns="0" tIns="0" rIns="0" bIns="0" rtlCol="0" anchor="t">
            <a:spAutoFit/>
          </a:bodyPr>
          <a:lstStyle/>
          <a:p>
            <a:pPr algn="r">
              <a:lnSpc>
                <a:spcPts val="10954"/>
              </a:lnSpc>
            </a:pPr>
            <a:r>
              <a:rPr lang="en-US" sz="11064">
                <a:solidFill>
                  <a:srgbClr val="1A1447"/>
                </a:solidFill>
                <a:latin typeface="League Gothic"/>
                <a:ea typeface="League Gothic"/>
                <a:cs typeface="League Gothic"/>
                <a:sym typeface="League Gothic"/>
              </a:rPr>
              <a:t>AVANT-PROPOS</a:t>
            </a:r>
          </a:p>
        </p:txBody>
      </p:sp>
      <p:sp>
        <p:nvSpPr>
          <p:cNvPr id="6" name="TextBox 6"/>
          <p:cNvSpPr txBox="1"/>
          <p:nvPr/>
        </p:nvSpPr>
        <p:spPr>
          <a:xfrm>
            <a:off x="600160" y="2549894"/>
            <a:ext cx="5486837" cy="824865"/>
          </a:xfrm>
          <a:prstGeom prst="rect">
            <a:avLst/>
          </a:prstGeom>
        </p:spPr>
        <p:txBody>
          <a:bodyPr lIns="0" tIns="0" rIns="0" bIns="0" rtlCol="0" anchor="t">
            <a:spAutoFit/>
          </a:bodyPr>
          <a:lstStyle/>
          <a:p>
            <a:pPr algn="l">
              <a:lnSpc>
                <a:spcPts val="3359"/>
              </a:lnSpc>
            </a:pPr>
            <a:r>
              <a:rPr lang="en-US" sz="2400" i="1" spc="220">
                <a:solidFill>
                  <a:srgbClr val="EA8C43"/>
                </a:solidFill>
                <a:latin typeface="League Gothic Italics"/>
                <a:ea typeface="League Gothic Italics"/>
                <a:cs typeface="League Gothic Italics"/>
                <a:sym typeface="League Gothic Italics"/>
              </a:rPr>
              <a:t>Vingt Ans d'Excellence et d'Avenir Radieux</a:t>
            </a:r>
          </a:p>
          <a:p>
            <a:pPr algn="l">
              <a:lnSpc>
                <a:spcPts val="3359"/>
              </a:lnSpc>
            </a:pPr>
            <a:endParaRPr lang="en-US" sz="2400" i="1" spc="220">
              <a:solidFill>
                <a:srgbClr val="EA8C43"/>
              </a:solidFill>
              <a:latin typeface="League Gothic Italics"/>
              <a:ea typeface="League Gothic Italics"/>
              <a:cs typeface="League Gothic Italics"/>
              <a:sym typeface="League Gothic Italics"/>
            </a:endParaRPr>
          </a:p>
        </p:txBody>
      </p:sp>
      <p:sp>
        <p:nvSpPr>
          <p:cNvPr id="7" name="TextBox 7"/>
          <p:cNvSpPr txBox="1"/>
          <p:nvPr/>
        </p:nvSpPr>
        <p:spPr>
          <a:xfrm>
            <a:off x="504287" y="3130703"/>
            <a:ext cx="2436153" cy="5436870"/>
          </a:xfrm>
          <a:prstGeom prst="rect">
            <a:avLst/>
          </a:prstGeom>
        </p:spPr>
        <p:txBody>
          <a:bodyPr lIns="0" tIns="0" rIns="0" bIns="0" rtlCol="0" anchor="t">
            <a:spAutoFit/>
          </a:bodyPr>
          <a:lstStyle/>
          <a:p>
            <a:pPr algn="l">
              <a:lnSpc>
                <a:spcPts val="1680"/>
              </a:lnSpc>
            </a:pPr>
            <a:r>
              <a:rPr lang="en-US" sz="1200">
                <a:solidFill>
                  <a:srgbClr val="000000"/>
                </a:solidFill>
                <a:latin typeface="Tex Gyre Termes"/>
                <a:ea typeface="Tex Gyre Termes"/>
                <a:cs typeface="Tex Gyre Termes"/>
                <a:sym typeface="Tex Gyre Termes"/>
              </a:rPr>
              <a:t>C</a:t>
            </a:r>
            <a:r>
              <a:rPr lang="en-US" sz="1200" b="1">
                <a:solidFill>
                  <a:srgbClr val="000000"/>
                </a:solidFill>
                <a:latin typeface="Tex Gyre Termes Bold"/>
                <a:ea typeface="Tex Gyre Termes Bold"/>
                <a:cs typeface="Tex Gyre Termes Bold"/>
                <a:sym typeface="Tex Gyre Termes Bold"/>
              </a:rPr>
              <a:t>hers étudiants, parents et partenaires,</a:t>
            </a:r>
          </a:p>
          <a:p>
            <a:pPr algn="just">
              <a:lnSpc>
                <a:spcPts val="1680"/>
              </a:lnSpc>
            </a:pPr>
            <a:endParaRPr lang="en-US" sz="1200" b="1">
              <a:solidFill>
                <a:srgbClr val="000000"/>
              </a:solidFill>
              <a:latin typeface="Tex Gyre Termes Bold"/>
              <a:ea typeface="Tex Gyre Termes Bold"/>
              <a:cs typeface="Tex Gyre Termes Bold"/>
              <a:sym typeface="Tex Gyre Termes Bold"/>
            </a:endParaRPr>
          </a:p>
          <a:p>
            <a:pPr algn="just">
              <a:lnSpc>
                <a:spcPts val="1680"/>
              </a:lnSpc>
            </a:pPr>
            <a:r>
              <a:rPr lang="en-US" sz="1200">
                <a:solidFill>
                  <a:srgbClr val="000000"/>
                </a:solidFill>
                <a:latin typeface="Tex Gyre Termes"/>
                <a:ea typeface="Tex Gyre Termes"/>
                <a:cs typeface="Tex Gyre Termes"/>
                <a:sym typeface="Tex Gyre Termes"/>
              </a:rPr>
              <a:t>L'année 2024 marque une étape importante pour notre école, alors que nous célébrons notre 20e anniversaire. Depuis deux décennies, nous nous engageons à offrir une éducation de qualité, tournée vers les technologies et l’international, qui prépare nos étudiants à exceller dans un monde en constante évolution.</a:t>
            </a:r>
          </a:p>
          <a:p>
            <a:pPr algn="just">
              <a:lnSpc>
                <a:spcPts val="1680"/>
              </a:lnSpc>
            </a:pPr>
            <a:endParaRPr lang="en-US" sz="1200">
              <a:solidFill>
                <a:srgbClr val="000000"/>
              </a:solidFill>
              <a:latin typeface="Tex Gyre Termes"/>
              <a:ea typeface="Tex Gyre Termes"/>
              <a:cs typeface="Tex Gyre Termes"/>
              <a:sym typeface="Tex Gyre Termes"/>
            </a:endParaRPr>
          </a:p>
          <a:p>
            <a:pPr algn="just">
              <a:lnSpc>
                <a:spcPts val="1680"/>
              </a:lnSpc>
            </a:pPr>
            <a:r>
              <a:rPr lang="en-US" sz="1200">
                <a:solidFill>
                  <a:srgbClr val="000000"/>
                </a:solidFill>
                <a:latin typeface="Tex Gyre Termes"/>
                <a:ea typeface="Tex Gyre Termes"/>
                <a:cs typeface="Tex Gyre Termes"/>
                <a:sym typeface="Tex Gyre Termes"/>
              </a:rPr>
              <a:t>Au cours de ces 20 dernières années, nous avons bâti une communauté dynamique et diversifiée, attirant des étudiants du monde entier. Notre mission est de rendre l’éducation accessible à tous et de permettre de réussir à chacun. Notre engagement envers l'excellence académique et notre ouverture sur le monde nous ont permis de nous démarquer et de former des leaders prêts à relever les défis de demain.</a:t>
            </a:r>
          </a:p>
          <a:p>
            <a:pPr algn="just">
              <a:lnSpc>
                <a:spcPts val="1680"/>
              </a:lnSpc>
            </a:pPr>
            <a:endParaRPr lang="en-US" sz="1200">
              <a:solidFill>
                <a:srgbClr val="000000"/>
              </a:solidFill>
              <a:latin typeface="Tex Gyre Termes"/>
              <a:ea typeface="Tex Gyre Termes"/>
              <a:cs typeface="Tex Gyre Termes"/>
              <a:sym typeface="Tex Gyre Termes"/>
            </a:endParaRPr>
          </a:p>
        </p:txBody>
      </p:sp>
      <p:sp>
        <p:nvSpPr>
          <p:cNvPr id="8" name="TextBox 8"/>
          <p:cNvSpPr txBox="1"/>
          <p:nvPr/>
        </p:nvSpPr>
        <p:spPr>
          <a:xfrm>
            <a:off x="3169160" y="3121178"/>
            <a:ext cx="2436153" cy="2967355"/>
          </a:xfrm>
          <a:prstGeom prst="rect">
            <a:avLst/>
          </a:prstGeom>
        </p:spPr>
        <p:txBody>
          <a:bodyPr lIns="0" tIns="0" rIns="0" bIns="0" rtlCol="0" anchor="t">
            <a:spAutoFit/>
          </a:bodyPr>
          <a:lstStyle/>
          <a:p>
            <a:pPr algn="just">
              <a:lnSpc>
                <a:spcPts val="1819"/>
              </a:lnSpc>
            </a:pPr>
            <a:r>
              <a:rPr lang="en-US" sz="1299" b="1">
                <a:solidFill>
                  <a:srgbClr val="000000"/>
                </a:solidFill>
                <a:latin typeface="Tex Gyre Termes Bold"/>
                <a:ea typeface="Tex Gyre Termes Bold"/>
                <a:cs typeface="Tex Gyre Termes Bold"/>
                <a:sym typeface="Tex Gyre Termes Bold"/>
              </a:rPr>
              <a:t>Regardant vers l'avenir, nous restons déterminés à poursuivre notre mission d'amélioration continue. Nous mettons en œuvre des initiatives innovantes, intégrons l’IA à nos programmes ,  renforcons nos partenariats internationaux et continuons à développer des programmes qui répondent aux besoins émergents du marché global.</a:t>
            </a:r>
          </a:p>
          <a:p>
            <a:pPr algn="just">
              <a:lnSpc>
                <a:spcPts val="1819"/>
              </a:lnSpc>
            </a:pPr>
            <a:endParaRPr lang="en-US" sz="1299" b="1">
              <a:solidFill>
                <a:srgbClr val="000000"/>
              </a:solidFill>
              <a:latin typeface="Tex Gyre Termes Bold"/>
              <a:ea typeface="Tex Gyre Termes Bold"/>
              <a:cs typeface="Tex Gyre Termes Bold"/>
              <a:sym typeface="Tex Gyre Termes Bold"/>
            </a:endParaRPr>
          </a:p>
          <a:p>
            <a:pPr algn="just">
              <a:lnSpc>
                <a:spcPts val="1819"/>
              </a:lnSpc>
            </a:pPr>
            <a:endParaRPr lang="en-US" sz="1299" b="1">
              <a:solidFill>
                <a:srgbClr val="000000"/>
              </a:solidFill>
              <a:latin typeface="Tex Gyre Termes Bold"/>
              <a:ea typeface="Tex Gyre Termes Bold"/>
              <a:cs typeface="Tex Gyre Termes Bold"/>
              <a:sym typeface="Tex Gyre Termes Bold"/>
            </a:endParaRPr>
          </a:p>
        </p:txBody>
      </p:sp>
      <p:sp>
        <p:nvSpPr>
          <p:cNvPr id="9" name="TextBox 9"/>
          <p:cNvSpPr txBox="1"/>
          <p:nvPr/>
        </p:nvSpPr>
        <p:spPr>
          <a:xfrm>
            <a:off x="3169160" y="5827365"/>
            <a:ext cx="2436153" cy="3760470"/>
          </a:xfrm>
          <a:prstGeom prst="rect">
            <a:avLst/>
          </a:prstGeom>
        </p:spPr>
        <p:txBody>
          <a:bodyPr lIns="0" tIns="0" rIns="0" bIns="0" rtlCol="0" anchor="t">
            <a:spAutoFit/>
          </a:bodyPr>
          <a:lstStyle/>
          <a:p>
            <a:pPr algn="just">
              <a:lnSpc>
                <a:spcPts val="1680"/>
              </a:lnSpc>
            </a:pPr>
            <a:r>
              <a:rPr lang="en-US" sz="1200">
                <a:solidFill>
                  <a:srgbClr val="000000"/>
                </a:solidFill>
                <a:latin typeface="Tex Gyre Termes"/>
                <a:ea typeface="Tex Gyre Termes"/>
                <a:cs typeface="Tex Gyre Termes"/>
                <a:sym typeface="Tex Gyre Termes"/>
              </a:rPr>
              <a:t>Nous sommes confiants que les 20 prochaines années seront encore plus fructueuses. Notre objectif est de fournir à chaque étudiant les compétences et les connaissances nécessaires pour réussir et contribuer positivement à la société. Nous croyons fermement que l'avenir de nos étudiants sera brillant et rempli d'opportunités.</a:t>
            </a:r>
          </a:p>
          <a:p>
            <a:pPr algn="just">
              <a:lnSpc>
                <a:spcPts val="1680"/>
              </a:lnSpc>
            </a:pPr>
            <a:r>
              <a:rPr lang="en-US" sz="1200">
                <a:solidFill>
                  <a:srgbClr val="000000"/>
                </a:solidFill>
                <a:latin typeface="Tex Gyre Termes"/>
                <a:ea typeface="Tex Gyre Termes"/>
                <a:cs typeface="Tex Gyre Termes"/>
                <a:sym typeface="Tex Gyre Termes"/>
              </a:rPr>
              <a:t>Nous vous remercions de votre confiance et de votre soutien continu. Ensemble, nous continuerons à bâtir un avenir prometteur pour tous.</a:t>
            </a:r>
          </a:p>
          <a:p>
            <a:pPr algn="just">
              <a:lnSpc>
                <a:spcPts val="1680"/>
              </a:lnSpc>
            </a:pPr>
            <a:endParaRPr lang="en-US" sz="1200">
              <a:solidFill>
                <a:srgbClr val="000000"/>
              </a:solidFill>
              <a:latin typeface="Tex Gyre Termes"/>
              <a:ea typeface="Tex Gyre Termes"/>
              <a:cs typeface="Tex Gyre Termes"/>
              <a:sym typeface="Tex Gyre Termes"/>
            </a:endParaRPr>
          </a:p>
          <a:p>
            <a:pPr algn="r">
              <a:lnSpc>
                <a:spcPts val="1680"/>
              </a:lnSpc>
            </a:pPr>
            <a:r>
              <a:rPr lang="en-US" sz="1200">
                <a:solidFill>
                  <a:srgbClr val="000000"/>
                </a:solidFill>
                <a:latin typeface="Tex Gyre Termes"/>
                <a:ea typeface="Tex Gyre Termes"/>
                <a:cs typeface="Tex Gyre Termes"/>
                <a:sym typeface="Tex Gyre Termes"/>
              </a:rPr>
              <a:t>Avec nos salutations les plus distinguées,</a:t>
            </a:r>
          </a:p>
          <a:p>
            <a:pPr algn="r">
              <a:lnSpc>
                <a:spcPts val="1680"/>
              </a:lnSpc>
            </a:pPr>
            <a:r>
              <a:rPr lang="en-US" sz="1200">
                <a:solidFill>
                  <a:srgbClr val="000000"/>
                </a:solidFill>
                <a:latin typeface="Tex Gyre Termes"/>
                <a:ea typeface="Tex Gyre Termes"/>
                <a:cs typeface="Tex Gyre Termes"/>
                <a:sym typeface="Tex Gyre Termes"/>
              </a:rPr>
              <a:t>L'équipe de direction</a:t>
            </a:r>
          </a:p>
          <a:p>
            <a:pPr algn="just">
              <a:lnSpc>
                <a:spcPts val="1680"/>
              </a:lnSpc>
            </a:pPr>
            <a:endParaRPr lang="en-US" sz="1200">
              <a:solidFill>
                <a:srgbClr val="000000"/>
              </a:solidFill>
              <a:latin typeface="Tex Gyre Termes"/>
              <a:ea typeface="Tex Gyre Termes"/>
              <a:cs typeface="Tex Gyre Termes"/>
              <a:sym typeface="Tex Gyre Termes"/>
            </a:endParaRPr>
          </a:p>
        </p:txBody>
      </p:sp>
      <p:sp>
        <p:nvSpPr>
          <p:cNvPr id="10" name="TextBox 10"/>
          <p:cNvSpPr txBox="1"/>
          <p:nvPr/>
        </p:nvSpPr>
        <p:spPr>
          <a:xfrm>
            <a:off x="2522201" y="10407263"/>
            <a:ext cx="2515629" cy="151428"/>
          </a:xfrm>
          <a:prstGeom prst="rect">
            <a:avLst/>
          </a:prstGeom>
        </p:spPr>
        <p:txBody>
          <a:bodyPr lIns="0" tIns="0" rIns="0" bIns="0" rtlCol="0" anchor="t">
            <a:spAutoFit/>
          </a:bodyPr>
          <a:lstStyle/>
          <a:p>
            <a:pPr algn="l">
              <a:lnSpc>
                <a:spcPts val="1260"/>
              </a:lnSpc>
            </a:pPr>
            <a:r>
              <a:rPr lang="en-US" sz="900" i="1" spc="25">
                <a:solidFill>
                  <a:srgbClr val="FFFFFF"/>
                </a:solidFill>
                <a:latin typeface="IBM Plex Sans Italics"/>
                <a:ea typeface="IBM Plex Sans Italics"/>
                <a:cs typeface="IBM Plex Sans Italics"/>
                <a:sym typeface="IBM Plex Sans Italics"/>
              </a:rPr>
              <a:t>Etablissement d’enseignement supérieur privé</a:t>
            </a:r>
          </a:p>
        </p:txBody>
      </p:sp>
      <p:sp>
        <p:nvSpPr>
          <p:cNvPr id="11" name="TextBox 99"/>
          <p:cNvSpPr txBox="1"/>
          <p:nvPr/>
        </p:nvSpPr>
        <p:spPr>
          <a:xfrm>
            <a:off x="6784953" y="9971913"/>
            <a:ext cx="124463" cy="240665"/>
          </a:xfrm>
          <a:prstGeom prst="rect">
            <a:avLst/>
          </a:prstGeom>
        </p:spPr>
        <p:txBody>
          <a:bodyPr lIns="0" tIns="0" rIns="0" bIns="0" rtlCol="0" anchor="t">
            <a:spAutoFit/>
          </a:bodyPr>
          <a:lstStyle/>
          <a:p>
            <a:pPr algn="l">
              <a:lnSpc>
                <a:spcPts val="1959"/>
              </a:lnSpc>
            </a:pPr>
            <a:r>
              <a:rPr lang="en-US" sz="1399" b="1" spc="8">
                <a:solidFill>
                  <a:srgbClr val="FFFFFF"/>
                </a:solidFill>
                <a:latin typeface="IBM Plex Sans Bold"/>
                <a:ea typeface="IBM Plex Sans Bold"/>
                <a:cs typeface="IBM Plex Sans Bold"/>
                <a:sym typeface="IBM Plex Sans Bold"/>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9F6"/>
        </a:solidFill>
        <a:effectLst/>
      </p:bgPr>
    </p:bg>
    <p:spTree>
      <p:nvGrpSpPr>
        <p:cNvPr id="1" name=""/>
        <p:cNvGrpSpPr/>
        <p:nvPr/>
      </p:nvGrpSpPr>
      <p:grpSpPr>
        <a:xfrm>
          <a:off x="0" y="0"/>
          <a:ext cx="0" cy="0"/>
          <a:chOff x="0" y="0"/>
          <a:chExt cx="0" cy="0"/>
        </a:xfrm>
      </p:grpSpPr>
      <p:sp>
        <p:nvSpPr>
          <p:cNvPr id="2" name="Freeform 2"/>
          <p:cNvSpPr/>
          <p:nvPr/>
        </p:nvSpPr>
        <p:spPr>
          <a:xfrm>
            <a:off x="1458996" y="7960404"/>
            <a:ext cx="392401" cy="503996"/>
          </a:xfrm>
          <a:custGeom>
            <a:avLst/>
            <a:gdLst/>
            <a:ahLst/>
            <a:cxnLst/>
            <a:rect l="l" t="t" r="r" b="b"/>
            <a:pathLst>
              <a:path w="392401" h="503996">
                <a:moveTo>
                  <a:pt x="0" y="0"/>
                </a:moveTo>
                <a:lnTo>
                  <a:pt x="392402" y="0"/>
                </a:lnTo>
                <a:lnTo>
                  <a:pt x="392402" y="503997"/>
                </a:lnTo>
                <a:lnTo>
                  <a:pt x="0" y="5039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fr-FR"/>
          </a:p>
        </p:txBody>
      </p:sp>
      <p:sp>
        <p:nvSpPr>
          <p:cNvPr id="3" name="Freeform 3"/>
          <p:cNvSpPr/>
          <p:nvPr/>
        </p:nvSpPr>
        <p:spPr>
          <a:xfrm>
            <a:off x="3518929" y="7931639"/>
            <a:ext cx="515884" cy="470525"/>
          </a:xfrm>
          <a:custGeom>
            <a:avLst/>
            <a:gdLst/>
            <a:ahLst/>
            <a:cxnLst/>
            <a:rect l="l" t="t" r="r" b="b"/>
            <a:pathLst>
              <a:path w="515884" h="470525">
                <a:moveTo>
                  <a:pt x="0" y="0"/>
                </a:moveTo>
                <a:lnTo>
                  <a:pt x="515884" y="0"/>
                </a:lnTo>
                <a:lnTo>
                  <a:pt x="515884" y="470525"/>
                </a:lnTo>
                <a:lnTo>
                  <a:pt x="0" y="4705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fr-FR"/>
          </a:p>
        </p:txBody>
      </p:sp>
      <p:sp>
        <p:nvSpPr>
          <p:cNvPr id="4" name="Freeform 4"/>
          <p:cNvSpPr/>
          <p:nvPr/>
        </p:nvSpPr>
        <p:spPr>
          <a:xfrm>
            <a:off x="5683625" y="7931639"/>
            <a:ext cx="370075" cy="515160"/>
          </a:xfrm>
          <a:custGeom>
            <a:avLst/>
            <a:gdLst/>
            <a:ahLst/>
            <a:cxnLst/>
            <a:rect l="l" t="t" r="r" b="b"/>
            <a:pathLst>
              <a:path w="370075" h="515160">
                <a:moveTo>
                  <a:pt x="0" y="0"/>
                </a:moveTo>
                <a:lnTo>
                  <a:pt x="370074" y="0"/>
                </a:lnTo>
                <a:lnTo>
                  <a:pt x="370074" y="515160"/>
                </a:lnTo>
                <a:lnTo>
                  <a:pt x="0" y="51516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fr-FR"/>
          </a:p>
        </p:txBody>
      </p:sp>
      <p:grpSp>
        <p:nvGrpSpPr>
          <p:cNvPr id="5" name="Group 5"/>
          <p:cNvGrpSpPr>
            <a:grpSpLocks noChangeAspect="1"/>
          </p:cNvGrpSpPr>
          <p:nvPr/>
        </p:nvGrpSpPr>
        <p:grpSpPr>
          <a:xfrm>
            <a:off x="1382754" y="5619655"/>
            <a:ext cx="946337" cy="858079"/>
            <a:chOff x="0" y="0"/>
            <a:chExt cx="946328" cy="858076"/>
          </a:xfrm>
        </p:grpSpPr>
        <p:sp>
          <p:nvSpPr>
            <p:cNvPr id="6" name="Freeform 6"/>
            <p:cNvSpPr/>
            <p:nvPr/>
          </p:nvSpPr>
          <p:spPr>
            <a:xfrm>
              <a:off x="63595" y="63500"/>
              <a:ext cx="819213" cy="731139"/>
            </a:xfrm>
            <a:custGeom>
              <a:avLst/>
              <a:gdLst/>
              <a:ahLst/>
              <a:cxnLst/>
              <a:rect l="l" t="t" r="r" b="b"/>
              <a:pathLst>
                <a:path w="819213" h="731139">
                  <a:moveTo>
                    <a:pt x="814356" y="384175"/>
                  </a:moveTo>
                  <a:lnTo>
                    <a:pt x="627793" y="712470"/>
                  </a:lnTo>
                  <a:cubicBezTo>
                    <a:pt x="621316" y="724027"/>
                    <a:pt x="609124" y="731139"/>
                    <a:pt x="596043" y="731139"/>
                  </a:cubicBezTo>
                  <a:lnTo>
                    <a:pt x="223171" y="731139"/>
                  </a:lnTo>
                  <a:cubicBezTo>
                    <a:pt x="210090" y="731139"/>
                    <a:pt x="197898" y="724027"/>
                    <a:pt x="191421" y="712470"/>
                  </a:cubicBezTo>
                  <a:lnTo>
                    <a:pt x="4858" y="384175"/>
                  </a:lnTo>
                  <a:cubicBezTo>
                    <a:pt x="-1619" y="372618"/>
                    <a:pt x="-1619" y="358394"/>
                    <a:pt x="4858" y="346837"/>
                  </a:cubicBezTo>
                  <a:lnTo>
                    <a:pt x="191294" y="18669"/>
                  </a:lnTo>
                  <a:cubicBezTo>
                    <a:pt x="197898" y="7112"/>
                    <a:pt x="209963" y="0"/>
                    <a:pt x="223171" y="0"/>
                  </a:cubicBezTo>
                  <a:lnTo>
                    <a:pt x="596043" y="0"/>
                  </a:lnTo>
                  <a:cubicBezTo>
                    <a:pt x="609124" y="0"/>
                    <a:pt x="621316" y="7112"/>
                    <a:pt x="627793" y="18669"/>
                  </a:cubicBezTo>
                  <a:lnTo>
                    <a:pt x="814356" y="346837"/>
                  </a:lnTo>
                  <a:cubicBezTo>
                    <a:pt x="820833" y="358394"/>
                    <a:pt x="820833" y="372618"/>
                    <a:pt x="814356" y="384175"/>
                  </a:cubicBezTo>
                </a:path>
              </a:pathLst>
            </a:custGeom>
            <a:solidFill>
              <a:srgbClr val="14A1BF"/>
            </a:solidFill>
          </p:spPr>
          <p:txBody>
            <a:bodyPr/>
            <a:lstStyle/>
            <a:p>
              <a:endParaRPr lang="fr-FR"/>
            </a:p>
          </p:txBody>
        </p:sp>
        <p:sp>
          <p:nvSpPr>
            <p:cNvPr id="7" name="Freeform 7"/>
            <p:cNvSpPr/>
            <p:nvPr/>
          </p:nvSpPr>
          <p:spPr>
            <a:xfrm>
              <a:off x="317246" y="172593"/>
              <a:ext cx="565658" cy="621919"/>
            </a:xfrm>
            <a:custGeom>
              <a:avLst/>
              <a:gdLst/>
              <a:ahLst/>
              <a:cxnLst/>
              <a:rect l="l" t="t" r="r" b="b"/>
              <a:pathLst>
                <a:path w="565658" h="621919">
                  <a:moveTo>
                    <a:pt x="336677" y="0"/>
                  </a:moveTo>
                  <a:lnTo>
                    <a:pt x="471678" y="237744"/>
                  </a:lnTo>
                  <a:cubicBezTo>
                    <a:pt x="478282" y="249301"/>
                    <a:pt x="478282" y="263525"/>
                    <a:pt x="471678" y="275082"/>
                  </a:cubicBezTo>
                  <a:lnTo>
                    <a:pt x="329692" y="525018"/>
                  </a:lnTo>
                  <a:cubicBezTo>
                    <a:pt x="323088" y="536575"/>
                    <a:pt x="311023" y="543687"/>
                    <a:pt x="297942" y="543687"/>
                  </a:cubicBezTo>
                  <a:lnTo>
                    <a:pt x="13843" y="543687"/>
                  </a:lnTo>
                  <a:cubicBezTo>
                    <a:pt x="9017" y="543687"/>
                    <a:pt x="4318" y="542671"/>
                    <a:pt x="0" y="540893"/>
                  </a:cubicBezTo>
                  <a:lnTo>
                    <a:pt x="79756" y="621919"/>
                  </a:lnTo>
                  <a:lnTo>
                    <a:pt x="342392" y="621919"/>
                  </a:lnTo>
                  <a:cubicBezTo>
                    <a:pt x="355473" y="621919"/>
                    <a:pt x="367665" y="614807"/>
                    <a:pt x="374142" y="603250"/>
                  </a:cubicBezTo>
                  <a:lnTo>
                    <a:pt x="560705" y="275082"/>
                  </a:lnTo>
                  <a:cubicBezTo>
                    <a:pt x="564007" y="269367"/>
                    <a:pt x="565658" y="262890"/>
                    <a:pt x="565658" y="256413"/>
                  </a:cubicBezTo>
                  <a:lnTo>
                    <a:pt x="564007" y="243586"/>
                  </a:lnTo>
                  <a:lnTo>
                    <a:pt x="547116" y="213741"/>
                  </a:lnTo>
                  <a:close/>
                </a:path>
              </a:pathLst>
            </a:custGeom>
            <a:solidFill>
              <a:srgbClr val="036391"/>
            </a:solidFill>
          </p:spPr>
          <p:txBody>
            <a:bodyPr/>
            <a:lstStyle/>
            <a:p>
              <a:endParaRPr lang="fr-FR"/>
            </a:p>
          </p:txBody>
        </p:sp>
        <p:sp>
          <p:nvSpPr>
            <p:cNvPr id="8" name="Freeform 8"/>
            <p:cNvSpPr/>
            <p:nvPr/>
          </p:nvSpPr>
          <p:spPr>
            <a:xfrm>
              <a:off x="152400" y="141732"/>
              <a:ext cx="641477" cy="574548"/>
            </a:xfrm>
            <a:custGeom>
              <a:avLst/>
              <a:gdLst/>
              <a:ahLst/>
              <a:cxnLst/>
              <a:rect l="l" t="t" r="r" b="b"/>
              <a:pathLst>
                <a:path w="641477" h="574548">
                  <a:moveTo>
                    <a:pt x="636524" y="305943"/>
                  </a:moveTo>
                  <a:lnTo>
                    <a:pt x="494538" y="555879"/>
                  </a:lnTo>
                  <a:cubicBezTo>
                    <a:pt x="487934" y="567436"/>
                    <a:pt x="475869" y="574548"/>
                    <a:pt x="462788" y="574548"/>
                  </a:cubicBezTo>
                  <a:lnTo>
                    <a:pt x="178689" y="574548"/>
                  </a:lnTo>
                  <a:cubicBezTo>
                    <a:pt x="173863" y="574548"/>
                    <a:pt x="169164" y="573532"/>
                    <a:pt x="164846" y="571754"/>
                  </a:cubicBezTo>
                  <a:lnTo>
                    <a:pt x="164719" y="571627"/>
                  </a:lnTo>
                  <a:lnTo>
                    <a:pt x="151003" y="562991"/>
                  </a:lnTo>
                  <a:lnTo>
                    <a:pt x="4953" y="305816"/>
                  </a:lnTo>
                  <a:cubicBezTo>
                    <a:pt x="-1651" y="294259"/>
                    <a:pt x="-1651" y="280035"/>
                    <a:pt x="4953" y="268478"/>
                  </a:cubicBezTo>
                  <a:lnTo>
                    <a:pt x="146939" y="18669"/>
                  </a:lnTo>
                  <a:cubicBezTo>
                    <a:pt x="153543" y="7112"/>
                    <a:pt x="165608" y="0"/>
                    <a:pt x="178689" y="0"/>
                  </a:cubicBezTo>
                  <a:lnTo>
                    <a:pt x="462788" y="0"/>
                  </a:lnTo>
                  <a:cubicBezTo>
                    <a:pt x="475869" y="0"/>
                    <a:pt x="487934" y="7112"/>
                    <a:pt x="494538" y="18669"/>
                  </a:cubicBezTo>
                  <a:lnTo>
                    <a:pt x="636524" y="268605"/>
                  </a:lnTo>
                  <a:cubicBezTo>
                    <a:pt x="643128" y="280162"/>
                    <a:pt x="643128" y="294386"/>
                    <a:pt x="636524" y="305943"/>
                  </a:cubicBezTo>
                </a:path>
              </a:pathLst>
            </a:custGeom>
            <a:solidFill>
              <a:srgbClr val="FFFFFF"/>
            </a:solidFill>
          </p:spPr>
          <p:txBody>
            <a:bodyPr/>
            <a:lstStyle/>
            <a:p>
              <a:endParaRPr lang="fr-FR"/>
            </a:p>
          </p:txBody>
        </p:sp>
        <p:sp>
          <p:nvSpPr>
            <p:cNvPr id="9" name="Freeform 9"/>
            <p:cNvSpPr/>
            <p:nvPr/>
          </p:nvSpPr>
          <p:spPr>
            <a:xfrm>
              <a:off x="317373" y="334137"/>
              <a:ext cx="155194" cy="185293"/>
            </a:xfrm>
            <a:custGeom>
              <a:avLst/>
              <a:gdLst/>
              <a:ahLst/>
              <a:cxnLst/>
              <a:rect l="l" t="t" r="r" b="b"/>
              <a:pathLst>
                <a:path w="155194" h="185293">
                  <a:moveTo>
                    <a:pt x="155194" y="92837"/>
                  </a:moveTo>
                  <a:lnTo>
                    <a:pt x="149352" y="129921"/>
                  </a:lnTo>
                  <a:cubicBezTo>
                    <a:pt x="145415" y="141224"/>
                    <a:pt x="140081" y="151003"/>
                    <a:pt x="133096" y="159258"/>
                  </a:cubicBezTo>
                  <a:lnTo>
                    <a:pt x="108458" y="178435"/>
                  </a:lnTo>
                  <a:cubicBezTo>
                    <a:pt x="98933" y="183007"/>
                    <a:pt x="88646" y="185293"/>
                    <a:pt x="77597" y="185293"/>
                  </a:cubicBezTo>
                  <a:lnTo>
                    <a:pt x="46609" y="178435"/>
                  </a:lnTo>
                  <a:cubicBezTo>
                    <a:pt x="37211" y="173863"/>
                    <a:pt x="29083" y="167386"/>
                    <a:pt x="22098" y="159258"/>
                  </a:cubicBezTo>
                  <a:lnTo>
                    <a:pt x="5842" y="129921"/>
                  </a:lnTo>
                  <a:cubicBezTo>
                    <a:pt x="1905" y="118618"/>
                    <a:pt x="0" y="106299"/>
                    <a:pt x="0" y="92837"/>
                  </a:cubicBezTo>
                  <a:lnTo>
                    <a:pt x="5842" y="55753"/>
                  </a:lnTo>
                  <a:cubicBezTo>
                    <a:pt x="9779" y="44450"/>
                    <a:pt x="15113" y="34671"/>
                    <a:pt x="22098" y="26416"/>
                  </a:cubicBezTo>
                  <a:lnTo>
                    <a:pt x="46609" y="6985"/>
                  </a:lnTo>
                  <a:cubicBezTo>
                    <a:pt x="56007" y="2286"/>
                    <a:pt x="66294" y="0"/>
                    <a:pt x="77597" y="0"/>
                  </a:cubicBezTo>
                  <a:lnTo>
                    <a:pt x="108458" y="6985"/>
                  </a:lnTo>
                  <a:cubicBezTo>
                    <a:pt x="117983" y="11684"/>
                    <a:pt x="126238" y="18161"/>
                    <a:pt x="133096" y="26416"/>
                  </a:cubicBezTo>
                  <a:lnTo>
                    <a:pt x="149352" y="55753"/>
                  </a:lnTo>
                  <a:cubicBezTo>
                    <a:pt x="153289" y="67056"/>
                    <a:pt x="155194" y="79375"/>
                    <a:pt x="155194" y="92837"/>
                  </a:cubicBezTo>
                  <a:moveTo>
                    <a:pt x="114681" y="92837"/>
                  </a:moveTo>
                  <a:lnTo>
                    <a:pt x="113792" y="77216"/>
                  </a:lnTo>
                  <a:cubicBezTo>
                    <a:pt x="110236" y="63627"/>
                    <a:pt x="107569" y="57658"/>
                    <a:pt x="104394" y="52832"/>
                  </a:cubicBezTo>
                  <a:lnTo>
                    <a:pt x="97155" y="44196"/>
                  </a:lnTo>
                  <a:cubicBezTo>
                    <a:pt x="88138" y="38862"/>
                    <a:pt x="83185" y="37592"/>
                    <a:pt x="77724" y="37592"/>
                  </a:cubicBezTo>
                  <a:lnTo>
                    <a:pt x="67056" y="38862"/>
                  </a:lnTo>
                  <a:cubicBezTo>
                    <a:pt x="58039" y="44196"/>
                    <a:pt x="54102" y="47879"/>
                    <a:pt x="50800" y="52832"/>
                  </a:cubicBezTo>
                  <a:lnTo>
                    <a:pt x="44958" y="63627"/>
                  </a:lnTo>
                  <a:cubicBezTo>
                    <a:pt x="41402" y="77216"/>
                    <a:pt x="40513" y="84709"/>
                    <a:pt x="40513" y="92837"/>
                  </a:cubicBezTo>
                  <a:lnTo>
                    <a:pt x="41402" y="108458"/>
                  </a:lnTo>
                  <a:cubicBezTo>
                    <a:pt x="44958" y="121920"/>
                    <a:pt x="47625" y="127635"/>
                    <a:pt x="50927" y="132588"/>
                  </a:cubicBezTo>
                  <a:lnTo>
                    <a:pt x="58166" y="141224"/>
                  </a:lnTo>
                  <a:cubicBezTo>
                    <a:pt x="67183" y="146558"/>
                    <a:pt x="72263" y="147828"/>
                    <a:pt x="77851" y="147828"/>
                  </a:cubicBezTo>
                  <a:lnTo>
                    <a:pt x="88265" y="146558"/>
                  </a:lnTo>
                  <a:cubicBezTo>
                    <a:pt x="97282" y="141224"/>
                    <a:pt x="101219" y="137541"/>
                    <a:pt x="104521" y="132588"/>
                  </a:cubicBezTo>
                  <a:lnTo>
                    <a:pt x="110363" y="121920"/>
                  </a:lnTo>
                  <a:cubicBezTo>
                    <a:pt x="113919" y="108458"/>
                    <a:pt x="114808" y="101092"/>
                    <a:pt x="114808" y="92964"/>
                  </a:cubicBezTo>
                </a:path>
              </a:pathLst>
            </a:custGeom>
            <a:solidFill>
              <a:srgbClr val="14A1BF"/>
            </a:solidFill>
          </p:spPr>
          <p:txBody>
            <a:bodyPr/>
            <a:lstStyle/>
            <a:p>
              <a:endParaRPr lang="fr-FR"/>
            </a:p>
          </p:txBody>
        </p:sp>
        <p:sp>
          <p:nvSpPr>
            <p:cNvPr id="10" name="Freeform 10"/>
            <p:cNvSpPr/>
            <p:nvPr/>
          </p:nvSpPr>
          <p:spPr>
            <a:xfrm>
              <a:off x="482600" y="340614"/>
              <a:ext cx="147828" cy="220726"/>
            </a:xfrm>
            <a:custGeom>
              <a:avLst/>
              <a:gdLst/>
              <a:ahLst/>
              <a:cxnLst/>
              <a:rect l="l" t="t" r="r" b="b"/>
              <a:pathLst>
                <a:path w="147828" h="220726">
                  <a:moveTo>
                    <a:pt x="106045" y="103759"/>
                  </a:moveTo>
                  <a:cubicBezTo>
                    <a:pt x="118491" y="106045"/>
                    <a:pt x="128524" y="112014"/>
                    <a:pt x="136271" y="121920"/>
                  </a:cubicBezTo>
                  <a:cubicBezTo>
                    <a:pt x="144018" y="131826"/>
                    <a:pt x="147828" y="143891"/>
                    <a:pt x="147828" y="158115"/>
                  </a:cubicBezTo>
                  <a:lnTo>
                    <a:pt x="142240" y="184023"/>
                  </a:lnTo>
                  <a:cubicBezTo>
                    <a:pt x="138557" y="191770"/>
                    <a:pt x="133350" y="198374"/>
                    <a:pt x="126619" y="203708"/>
                  </a:cubicBezTo>
                  <a:lnTo>
                    <a:pt x="102108" y="216281"/>
                  </a:lnTo>
                  <a:cubicBezTo>
                    <a:pt x="92456" y="219202"/>
                    <a:pt x="81661" y="220726"/>
                    <a:pt x="69723" y="220726"/>
                  </a:cubicBezTo>
                  <a:cubicBezTo>
                    <a:pt x="54483" y="220726"/>
                    <a:pt x="41021" y="218186"/>
                    <a:pt x="29337" y="213233"/>
                  </a:cubicBezTo>
                  <a:cubicBezTo>
                    <a:pt x="17653" y="208280"/>
                    <a:pt x="7874" y="201041"/>
                    <a:pt x="0" y="191389"/>
                  </a:cubicBezTo>
                  <a:lnTo>
                    <a:pt x="22860" y="162433"/>
                  </a:lnTo>
                  <a:cubicBezTo>
                    <a:pt x="28067" y="169164"/>
                    <a:pt x="34290" y="174371"/>
                    <a:pt x="41529" y="178054"/>
                  </a:cubicBezTo>
                  <a:lnTo>
                    <a:pt x="68580" y="183515"/>
                  </a:lnTo>
                  <a:cubicBezTo>
                    <a:pt x="80772" y="183515"/>
                    <a:pt x="90170" y="181102"/>
                    <a:pt x="96520" y="176149"/>
                  </a:cubicBezTo>
                  <a:lnTo>
                    <a:pt x="106172" y="163703"/>
                  </a:lnTo>
                  <a:cubicBezTo>
                    <a:pt x="106172" y="142875"/>
                    <a:pt x="102489" y="134747"/>
                    <a:pt x="94996" y="129032"/>
                  </a:cubicBezTo>
                  <a:cubicBezTo>
                    <a:pt x="87503" y="123317"/>
                    <a:pt x="76327" y="120523"/>
                    <a:pt x="61341" y="120523"/>
                  </a:cubicBezTo>
                  <a:lnTo>
                    <a:pt x="52959" y="120523"/>
                  </a:lnTo>
                  <a:lnTo>
                    <a:pt x="52959" y="90043"/>
                  </a:lnTo>
                  <a:lnTo>
                    <a:pt x="62230" y="90043"/>
                  </a:lnTo>
                  <a:cubicBezTo>
                    <a:pt x="74676" y="90043"/>
                    <a:pt x="84328" y="87249"/>
                    <a:pt x="91059" y="81661"/>
                  </a:cubicBezTo>
                  <a:lnTo>
                    <a:pt x="101219" y="68834"/>
                  </a:lnTo>
                  <a:cubicBezTo>
                    <a:pt x="101219" y="51689"/>
                    <a:pt x="98425" y="45593"/>
                    <a:pt x="92837" y="41402"/>
                  </a:cubicBezTo>
                  <a:lnTo>
                    <a:pt x="79883" y="35306"/>
                  </a:lnTo>
                  <a:cubicBezTo>
                    <a:pt x="61722" y="35306"/>
                    <a:pt x="53340" y="37465"/>
                    <a:pt x="46101" y="41783"/>
                  </a:cubicBezTo>
                  <a:lnTo>
                    <a:pt x="32766" y="52070"/>
                  </a:lnTo>
                  <a:lnTo>
                    <a:pt x="2921" y="31115"/>
                  </a:lnTo>
                  <a:cubicBezTo>
                    <a:pt x="5969" y="26416"/>
                    <a:pt x="9906" y="22225"/>
                    <a:pt x="14986" y="18415"/>
                  </a:cubicBezTo>
                  <a:lnTo>
                    <a:pt x="25654" y="11430"/>
                  </a:lnTo>
                  <a:cubicBezTo>
                    <a:pt x="38227" y="5969"/>
                    <a:pt x="45085" y="3810"/>
                    <a:pt x="52578" y="2286"/>
                  </a:cubicBezTo>
                  <a:lnTo>
                    <a:pt x="67564" y="0"/>
                  </a:lnTo>
                  <a:cubicBezTo>
                    <a:pt x="85598" y="0"/>
                    <a:pt x="94869" y="1397"/>
                    <a:pt x="103378" y="3937"/>
                  </a:cubicBezTo>
                  <a:lnTo>
                    <a:pt x="118999" y="10287"/>
                  </a:lnTo>
                  <a:cubicBezTo>
                    <a:pt x="131191" y="19685"/>
                    <a:pt x="135890" y="25273"/>
                    <a:pt x="139192" y="31877"/>
                  </a:cubicBezTo>
                  <a:lnTo>
                    <a:pt x="144145" y="45847"/>
                  </a:lnTo>
                  <a:cubicBezTo>
                    <a:pt x="144145" y="60071"/>
                    <a:pt x="143256" y="65913"/>
                    <a:pt x="141478" y="71374"/>
                  </a:cubicBezTo>
                  <a:lnTo>
                    <a:pt x="137033" y="81915"/>
                  </a:lnTo>
                  <a:cubicBezTo>
                    <a:pt x="130175" y="90805"/>
                    <a:pt x="126111" y="94615"/>
                    <a:pt x="121412" y="97663"/>
                  </a:cubicBezTo>
                  <a:lnTo>
                    <a:pt x="111506" y="102743"/>
                  </a:lnTo>
                </a:path>
              </a:pathLst>
            </a:custGeom>
            <a:solidFill>
              <a:srgbClr val="14A1BF"/>
            </a:solidFill>
          </p:spPr>
          <p:txBody>
            <a:bodyPr/>
            <a:lstStyle/>
            <a:p>
              <a:endParaRPr lang="fr-FR"/>
            </a:p>
          </p:txBody>
        </p:sp>
      </p:grpSp>
      <p:grpSp>
        <p:nvGrpSpPr>
          <p:cNvPr id="11" name="Group 11"/>
          <p:cNvGrpSpPr>
            <a:grpSpLocks noChangeAspect="1"/>
          </p:cNvGrpSpPr>
          <p:nvPr/>
        </p:nvGrpSpPr>
        <p:grpSpPr>
          <a:xfrm>
            <a:off x="1388755" y="3486852"/>
            <a:ext cx="946337" cy="839419"/>
            <a:chOff x="0" y="0"/>
            <a:chExt cx="946340" cy="839419"/>
          </a:xfrm>
        </p:grpSpPr>
        <p:sp>
          <p:nvSpPr>
            <p:cNvPr id="12" name="Freeform 12"/>
            <p:cNvSpPr/>
            <p:nvPr/>
          </p:nvSpPr>
          <p:spPr>
            <a:xfrm>
              <a:off x="63595" y="63500"/>
              <a:ext cx="819213" cy="712470"/>
            </a:xfrm>
            <a:custGeom>
              <a:avLst/>
              <a:gdLst/>
              <a:ahLst/>
              <a:cxnLst/>
              <a:rect l="l" t="t" r="r" b="b"/>
              <a:pathLst>
                <a:path w="819213" h="712470">
                  <a:moveTo>
                    <a:pt x="814356" y="374396"/>
                  </a:moveTo>
                  <a:lnTo>
                    <a:pt x="627793" y="694309"/>
                  </a:lnTo>
                  <a:cubicBezTo>
                    <a:pt x="621316" y="705612"/>
                    <a:pt x="609124" y="712470"/>
                    <a:pt x="596043" y="712470"/>
                  </a:cubicBezTo>
                  <a:lnTo>
                    <a:pt x="223171" y="712470"/>
                  </a:lnTo>
                  <a:cubicBezTo>
                    <a:pt x="209963" y="712470"/>
                    <a:pt x="197898" y="705612"/>
                    <a:pt x="191421" y="694309"/>
                  </a:cubicBezTo>
                  <a:lnTo>
                    <a:pt x="4858" y="374396"/>
                  </a:lnTo>
                  <a:cubicBezTo>
                    <a:pt x="-1619" y="363093"/>
                    <a:pt x="-1619" y="349377"/>
                    <a:pt x="4858" y="338074"/>
                  </a:cubicBezTo>
                  <a:lnTo>
                    <a:pt x="191294" y="18161"/>
                  </a:lnTo>
                  <a:cubicBezTo>
                    <a:pt x="197898" y="6858"/>
                    <a:pt x="209963" y="0"/>
                    <a:pt x="223171" y="0"/>
                  </a:cubicBezTo>
                  <a:lnTo>
                    <a:pt x="596043" y="0"/>
                  </a:lnTo>
                  <a:cubicBezTo>
                    <a:pt x="609124" y="0"/>
                    <a:pt x="621316" y="6858"/>
                    <a:pt x="627793" y="18161"/>
                  </a:cubicBezTo>
                  <a:lnTo>
                    <a:pt x="814356" y="338074"/>
                  </a:lnTo>
                  <a:cubicBezTo>
                    <a:pt x="820833" y="349377"/>
                    <a:pt x="820833" y="363093"/>
                    <a:pt x="814356" y="374396"/>
                  </a:cubicBezTo>
                </a:path>
              </a:pathLst>
            </a:custGeom>
            <a:solidFill>
              <a:srgbClr val="7DE314"/>
            </a:solidFill>
          </p:spPr>
          <p:txBody>
            <a:bodyPr/>
            <a:lstStyle/>
            <a:p>
              <a:endParaRPr lang="fr-FR"/>
            </a:p>
          </p:txBody>
        </p:sp>
        <p:sp>
          <p:nvSpPr>
            <p:cNvPr id="13" name="Freeform 13"/>
            <p:cNvSpPr/>
            <p:nvPr/>
          </p:nvSpPr>
          <p:spPr>
            <a:xfrm>
              <a:off x="317246" y="169799"/>
              <a:ext cx="565658" cy="606171"/>
            </a:xfrm>
            <a:custGeom>
              <a:avLst/>
              <a:gdLst/>
              <a:ahLst/>
              <a:cxnLst/>
              <a:rect l="l" t="t" r="r" b="b"/>
              <a:pathLst>
                <a:path w="565658" h="606171">
                  <a:moveTo>
                    <a:pt x="336677" y="0"/>
                  </a:moveTo>
                  <a:lnTo>
                    <a:pt x="471678" y="231775"/>
                  </a:lnTo>
                  <a:cubicBezTo>
                    <a:pt x="478282" y="243078"/>
                    <a:pt x="478282" y="256921"/>
                    <a:pt x="471678" y="268097"/>
                  </a:cubicBezTo>
                  <a:lnTo>
                    <a:pt x="329692" y="511683"/>
                  </a:lnTo>
                  <a:cubicBezTo>
                    <a:pt x="323088" y="522986"/>
                    <a:pt x="311023" y="529844"/>
                    <a:pt x="297942" y="529844"/>
                  </a:cubicBezTo>
                  <a:lnTo>
                    <a:pt x="13843" y="529844"/>
                  </a:lnTo>
                  <a:cubicBezTo>
                    <a:pt x="9017" y="529844"/>
                    <a:pt x="4318" y="528955"/>
                    <a:pt x="0" y="527177"/>
                  </a:cubicBezTo>
                  <a:lnTo>
                    <a:pt x="79756" y="606171"/>
                  </a:lnTo>
                  <a:lnTo>
                    <a:pt x="342392" y="606171"/>
                  </a:lnTo>
                  <a:cubicBezTo>
                    <a:pt x="355473" y="606171"/>
                    <a:pt x="367665" y="599313"/>
                    <a:pt x="374142" y="588010"/>
                  </a:cubicBezTo>
                  <a:lnTo>
                    <a:pt x="560705" y="268097"/>
                  </a:lnTo>
                  <a:cubicBezTo>
                    <a:pt x="564007" y="262509"/>
                    <a:pt x="565658" y="256159"/>
                    <a:pt x="565658" y="249936"/>
                  </a:cubicBezTo>
                  <a:lnTo>
                    <a:pt x="564007" y="237363"/>
                  </a:lnTo>
                  <a:lnTo>
                    <a:pt x="547116" y="208280"/>
                  </a:lnTo>
                  <a:close/>
                </a:path>
              </a:pathLst>
            </a:custGeom>
            <a:solidFill>
              <a:srgbClr val="3DC903"/>
            </a:solidFill>
          </p:spPr>
          <p:txBody>
            <a:bodyPr/>
            <a:lstStyle/>
            <a:p>
              <a:endParaRPr lang="fr-FR"/>
            </a:p>
          </p:txBody>
        </p:sp>
        <p:sp>
          <p:nvSpPr>
            <p:cNvPr id="14" name="Freeform 14"/>
            <p:cNvSpPr/>
            <p:nvPr/>
          </p:nvSpPr>
          <p:spPr>
            <a:xfrm>
              <a:off x="152527" y="139827"/>
              <a:ext cx="641350" cy="559816"/>
            </a:xfrm>
            <a:custGeom>
              <a:avLst/>
              <a:gdLst/>
              <a:ahLst/>
              <a:cxnLst/>
              <a:rect l="l" t="t" r="r" b="b"/>
              <a:pathLst>
                <a:path w="641350" h="559816">
                  <a:moveTo>
                    <a:pt x="636397" y="298069"/>
                  </a:moveTo>
                  <a:lnTo>
                    <a:pt x="494411" y="541655"/>
                  </a:lnTo>
                  <a:cubicBezTo>
                    <a:pt x="487807" y="552958"/>
                    <a:pt x="475615" y="559816"/>
                    <a:pt x="462661" y="559816"/>
                  </a:cubicBezTo>
                  <a:lnTo>
                    <a:pt x="178562" y="559816"/>
                  </a:lnTo>
                  <a:cubicBezTo>
                    <a:pt x="173736" y="559816"/>
                    <a:pt x="169037" y="558927"/>
                    <a:pt x="164719" y="557149"/>
                  </a:cubicBezTo>
                  <a:lnTo>
                    <a:pt x="164592" y="557022"/>
                  </a:lnTo>
                  <a:lnTo>
                    <a:pt x="151003" y="548640"/>
                  </a:lnTo>
                  <a:lnTo>
                    <a:pt x="4953" y="297942"/>
                  </a:lnTo>
                  <a:cubicBezTo>
                    <a:pt x="-1651" y="286639"/>
                    <a:pt x="-1651" y="272923"/>
                    <a:pt x="4953" y="261620"/>
                  </a:cubicBezTo>
                  <a:lnTo>
                    <a:pt x="146812" y="18161"/>
                  </a:lnTo>
                  <a:cubicBezTo>
                    <a:pt x="153416" y="6858"/>
                    <a:pt x="165481" y="0"/>
                    <a:pt x="178562" y="0"/>
                  </a:cubicBezTo>
                  <a:lnTo>
                    <a:pt x="462661" y="0"/>
                  </a:lnTo>
                  <a:cubicBezTo>
                    <a:pt x="475742" y="0"/>
                    <a:pt x="487807" y="6858"/>
                    <a:pt x="494411" y="18161"/>
                  </a:cubicBezTo>
                  <a:lnTo>
                    <a:pt x="636397" y="261747"/>
                  </a:lnTo>
                  <a:cubicBezTo>
                    <a:pt x="643001" y="273050"/>
                    <a:pt x="643001" y="286766"/>
                    <a:pt x="636397" y="298069"/>
                  </a:cubicBezTo>
                </a:path>
              </a:pathLst>
            </a:custGeom>
            <a:solidFill>
              <a:srgbClr val="FFFFFF"/>
            </a:solidFill>
          </p:spPr>
          <p:txBody>
            <a:bodyPr/>
            <a:lstStyle/>
            <a:p>
              <a:endParaRPr lang="fr-FR"/>
            </a:p>
          </p:txBody>
        </p:sp>
        <p:sp>
          <p:nvSpPr>
            <p:cNvPr id="15" name="Freeform 15"/>
            <p:cNvSpPr/>
            <p:nvPr/>
          </p:nvSpPr>
          <p:spPr>
            <a:xfrm>
              <a:off x="317373" y="327152"/>
              <a:ext cx="155194" cy="180848"/>
            </a:xfrm>
            <a:custGeom>
              <a:avLst/>
              <a:gdLst/>
              <a:ahLst/>
              <a:cxnLst/>
              <a:rect l="l" t="t" r="r" b="b"/>
              <a:pathLst>
                <a:path w="155194" h="180848">
                  <a:moveTo>
                    <a:pt x="155194" y="90551"/>
                  </a:moveTo>
                  <a:lnTo>
                    <a:pt x="149352" y="126746"/>
                  </a:lnTo>
                  <a:cubicBezTo>
                    <a:pt x="145415" y="137795"/>
                    <a:pt x="140081" y="147320"/>
                    <a:pt x="133096" y="155321"/>
                  </a:cubicBezTo>
                  <a:lnTo>
                    <a:pt x="108458" y="174117"/>
                  </a:lnTo>
                  <a:cubicBezTo>
                    <a:pt x="98933" y="178562"/>
                    <a:pt x="88646" y="180848"/>
                    <a:pt x="77597" y="180848"/>
                  </a:cubicBezTo>
                  <a:lnTo>
                    <a:pt x="46609" y="174117"/>
                  </a:lnTo>
                  <a:cubicBezTo>
                    <a:pt x="37211" y="169672"/>
                    <a:pt x="29083" y="163449"/>
                    <a:pt x="22098" y="155321"/>
                  </a:cubicBezTo>
                  <a:lnTo>
                    <a:pt x="5842" y="126746"/>
                  </a:lnTo>
                  <a:cubicBezTo>
                    <a:pt x="1905" y="115697"/>
                    <a:pt x="0" y="103632"/>
                    <a:pt x="0" y="90551"/>
                  </a:cubicBezTo>
                  <a:lnTo>
                    <a:pt x="5842" y="54356"/>
                  </a:lnTo>
                  <a:cubicBezTo>
                    <a:pt x="9779" y="43307"/>
                    <a:pt x="15113" y="33782"/>
                    <a:pt x="22098" y="25781"/>
                  </a:cubicBezTo>
                  <a:lnTo>
                    <a:pt x="46609" y="6858"/>
                  </a:lnTo>
                  <a:cubicBezTo>
                    <a:pt x="56007" y="2286"/>
                    <a:pt x="66294" y="0"/>
                    <a:pt x="77597" y="0"/>
                  </a:cubicBezTo>
                  <a:lnTo>
                    <a:pt x="108458" y="6858"/>
                  </a:lnTo>
                  <a:cubicBezTo>
                    <a:pt x="117983" y="11430"/>
                    <a:pt x="126238" y="17653"/>
                    <a:pt x="133096" y="25781"/>
                  </a:cubicBezTo>
                  <a:lnTo>
                    <a:pt x="149352" y="54356"/>
                  </a:lnTo>
                  <a:cubicBezTo>
                    <a:pt x="153289" y="65405"/>
                    <a:pt x="155194" y="77470"/>
                    <a:pt x="155194" y="90551"/>
                  </a:cubicBezTo>
                  <a:moveTo>
                    <a:pt x="114681" y="90551"/>
                  </a:moveTo>
                  <a:lnTo>
                    <a:pt x="113792" y="75311"/>
                  </a:lnTo>
                  <a:cubicBezTo>
                    <a:pt x="110236" y="61976"/>
                    <a:pt x="107569" y="56261"/>
                    <a:pt x="104394" y="51562"/>
                  </a:cubicBezTo>
                  <a:lnTo>
                    <a:pt x="97155" y="43180"/>
                  </a:lnTo>
                  <a:cubicBezTo>
                    <a:pt x="88138" y="37973"/>
                    <a:pt x="83185" y="36703"/>
                    <a:pt x="77724" y="36703"/>
                  </a:cubicBezTo>
                  <a:lnTo>
                    <a:pt x="67056" y="37973"/>
                  </a:lnTo>
                  <a:cubicBezTo>
                    <a:pt x="58039" y="43180"/>
                    <a:pt x="54102" y="46736"/>
                    <a:pt x="50800" y="51562"/>
                  </a:cubicBezTo>
                  <a:lnTo>
                    <a:pt x="44958" y="61976"/>
                  </a:lnTo>
                  <a:cubicBezTo>
                    <a:pt x="41402" y="75311"/>
                    <a:pt x="40513" y="82550"/>
                    <a:pt x="40513" y="90424"/>
                  </a:cubicBezTo>
                  <a:lnTo>
                    <a:pt x="41402" y="105664"/>
                  </a:lnTo>
                  <a:cubicBezTo>
                    <a:pt x="44958" y="118745"/>
                    <a:pt x="47625" y="124460"/>
                    <a:pt x="50927" y="129159"/>
                  </a:cubicBezTo>
                  <a:lnTo>
                    <a:pt x="58166" y="137541"/>
                  </a:lnTo>
                  <a:cubicBezTo>
                    <a:pt x="67183" y="142748"/>
                    <a:pt x="72263" y="144018"/>
                    <a:pt x="77851" y="144018"/>
                  </a:cubicBezTo>
                  <a:lnTo>
                    <a:pt x="88265" y="142748"/>
                  </a:lnTo>
                  <a:cubicBezTo>
                    <a:pt x="97282" y="137541"/>
                    <a:pt x="101219" y="133858"/>
                    <a:pt x="104521" y="129159"/>
                  </a:cubicBezTo>
                  <a:lnTo>
                    <a:pt x="110363" y="118745"/>
                  </a:lnTo>
                  <a:cubicBezTo>
                    <a:pt x="113919" y="105664"/>
                    <a:pt x="114808" y="98425"/>
                    <a:pt x="114808" y="90424"/>
                  </a:cubicBezTo>
                </a:path>
              </a:pathLst>
            </a:custGeom>
            <a:solidFill>
              <a:srgbClr val="7DE314"/>
            </a:solidFill>
          </p:spPr>
          <p:txBody>
            <a:bodyPr/>
            <a:lstStyle/>
            <a:p>
              <a:endParaRPr lang="fr-FR"/>
            </a:p>
          </p:txBody>
        </p:sp>
        <p:sp>
          <p:nvSpPr>
            <p:cNvPr id="16" name="Freeform 16"/>
            <p:cNvSpPr/>
            <p:nvPr/>
          </p:nvSpPr>
          <p:spPr>
            <a:xfrm>
              <a:off x="496062" y="334772"/>
              <a:ext cx="127889" cy="170180"/>
            </a:xfrm>
            <a:custGeom>
              <a:avLst/>
              <a:gdLst/>
              <a:ahLst/>
              <a:cxnLst/>
              <a:rect l="l" t="t" r="r" b="b"/>
              <a:pathLst>
                <a:path w="127889" h="170180">
                  <a:moveTo>
                    <a:pt x="127889" y="134112"/>
                  </a:moveTo>
                  <a:lnTo>
                    <a:pt x="127889" y="170180"/>
                  </a:lnTo>
                  <a:lnTo>
                    <a:pt x="5969" y="170180"/>
                  </a:lnTo>
                  <a:lnTo>
                    <a:pt x="5969" y="134112"/>
                  </a:lnTo>
                  <a:lnTo>
                    <a:pt x="48641" y="134112"/>
                  </a:lnTo>
                  <a:lnTo>
                    <a:pt x="48641" y="43942"/>
                  </a:lnTo>
                  <a:cubicBezTo>
                    <a:pt x="46863" y="46355"/>
                    <a:pt x="43942" y="48768"/>
                    <a:pt x="40132" y="51181"/>
                  </a:cubicBezTo>
                  <a:lnTo>
                    <a:pt x="32004" y="56007"/>
                  </a:lnTo>
                  <a:cubicBezTo>
                    <a:pt x="22733" y="60325"/>
                    <a:pt x="18034" y="62103"/>
                    <a:pt x="13081" y="63500"/>
                  </a:cubicBezTo>
                  <a:lnTo>
                    <a:pt x="3810" y="65532"/>
                  </a:lnTo>
                  <a:lnTo>
                    <a:pt x="0" y="28321"/>
                  </a:lnTo>
                  <a:cubicBezTo>
                    <a:pt x="3556" y="28321"/>
                    <a:pt x="8001" y="27178"/>
                    <a:pt x="13208" y="24892"/>
                  </a:cubicBezTo>
                  <a:lnTo>
                    <a:pt x="23495" y="19812"/>
                  </a:lnTo>
                  <a:cubicBezTo>
                    <a:pt x="33528" y="13462"/>
                    <a:pt x="37846" y="10414"/>
                    <a:pt x="41529" y="7239"/>
                  </a:cubicBezTo>
                  <a:lnTo>
                    <a:pt x="47625" y="1778"/>
                  </a:lnTo>
                  <a:lnTo>
                    <a:pt x="89789" y="0"/>
                  </a:lnTo>
                  <a:lnTo>
                    <a:pt x="89789" y="134112"/>
                  </a:lnTo>
                  <a:close/>
                </a:path>
              </a:pathLst>
            </a:custGeom>
            <a:solidFill>
              <a:srgbClr val="7DE314"/>
            </a:solidFill>
          </p:spPr>
          <p:txBody>
            <a:bodyPr/>
            <a:lstStyle/>
            <a:p>
              <a:endParaRPr lang="fr-FR"/>
            </a:p>
          </p:txBody>
        </p:sp>
      </p:grpSp>
      <p:grpSp>
        <p:nvGrpSpPr>
          <p:cNvPr id="17" name="Group 17"/>
          <p:cNvGrpSpPr>
            <a:grpSpLocks noChangeAspect="1"/>
          </p:cNvGrpSpPr>
          <p:nvPr/>
        </p:nvGrpSpPr>
        <p:grpSpPr>
          <a:xfrm>
            <a:off x="1388765" y="4550146"/>
            <a:ext cx="946328" cy="848744"/>
            <a:chOff x="0" y="0"/>
            <a:chExt cx="946328" cy="848741"/>
          </a:xfrm>
        </p:grpSpPr>
        <p:sp>
          <p:nvSpPr>
            <p:cNvPr id="18" name="Freeform 18"/>
            <p:cNvSpPr/>
            <p:nvPr/>
          </p:nvSpPr>
          <p:spPr>
            <a:xfrm>
              <a:off x="63595" y="63500"/>
              <a:ext cx="819213" cy="721741"/>
            </a:xfrm>
            <a:custGeom>
              <a:avLst/>
              <a:gdLst/>
              <a:ahLst/>
              <a:cxnLst/>
              <a:rect l="l" t="t" r="r" b="b"/>
              <a:pathLst>
                <a:path w="819213" h="721741">
                  <a:moveTo>
                    <a:pt x="814356" y="379222"/>
                  </a:moveTo>
                  <a:lnTo>
                    <a:pt x="627793" y="703326"/>
                  </a:lnTo>
                  <a:cubicBezTo>
                    <a:pt x="621316" y="714756"/>
                    <a:pt x="609124" y="721741"/>
                    <a:pt x="596043" y="721741"/>
                  </a:cubicBezTo>
                  <a:lnTo>
                    <a:pt x="223171" y="721741"/>
                  </a:lnTo>
                  <a:cubicBezTo>
                    <a:pt x="210090" y="721741"/>
                    <a:pt x="197898" y="714756"/>
                    <a:pt x="191421" y="703326"/>
                  </a:cubicBezTo>
                  <a:lnTo>
                    <a:pt x="4858" y="379222"/>
                  </a:lnTo>
                  <a:cubicBezTo>
                    <a:pt x="-1619" y="367792"/>
                    <a:pt x="-1619" y="353822"/>
                    <a:pt x="4858" y="342392"/>
                  </a:cubicBezTo>
                  <a:lnTo>
                    <a:pt x="191294" y="18415"/>
                  </a:lnTo>
                  <a:cubicBezTo>
                    <a:pt x="197771" y="6985"/>
                    <a:pt x="209963" y="0"/>
                    <a:pt x="223044" y="0"/>
                  </a:cubicBezTo>
                  <a:lnTo>
                    <a:pt x="596043" y="0"/>
                  </a:lnTo>
                  <a:cubicBezTo>
                    <a:pt x="609251" y="0"/>
                    <a:pt x="621316" y="6985"/>
                    <a:pt x="627793" y="18415"/>
                  </a:cubicBezTo>
                  <a:lnTo>
                    <a:pt x="814356" y="342519"/>
                  </a:lnTo>
                  <a:cubicBezTo>
                    <a:pt x="820833" y="353949"/>
                    <a:pt x="820833" y="367919"/>
                    <a:pt x="814356" y="379349"/>
                  </a:cubicBezTo>
                </a:path>
              </a:pathLst>
            </a:custGeom>
            <a:solidFill>
              <a:srgbClr val="00CC9C"/>
            </a:solidFill>
          </p:spPr>
          <p:txBody>
            <a:bodyPr/>
            <a:lstStyle/>
            <a:p>
              <a:endParaRPr lang="fr-FR"/>
            </a:p>
          </p:txBody>
        </p:sp>
        <p:sp>
          <p:nvSpPr>
            <p:cNvPr id="19" name="Freeform 19"/>
            <p:cNvSpPr/>
            <p:nvPr/>
          </p:nvSpPr>
          <p:spPr>
            <a:xfrm>
              <a:off x="317246" y="171196"/>
              <a:ext cx="565658" cy="614172"/>
            </a:xfrm>
            <a:custGeom>
              <a:avLst/>
              <a:gdLst/>
              <a:ahLst/>
              <a:cxnLst/>
              <a:rect l="l" t="t" r="r" b="b"/>
              <a:pathLst>
                <a:path w="565658" h="614172">
                  <a:moveTo>
                    <a:pt x="336677" y="0"/>
                  </a:moveTo>
                  <a:lnTo>
                    <a:pt x="471678" y="234823"/>
                  </a:lnTo>
                  <a:cubicBezTo>
                    <a:pt x="478282" y="246253"/>
                    <a:pt x="478282" y="260223"/>
                    <a:pt x="471678" y="271653"/>
                  </a:cubicBezTo>
                  <a:lnTo>
                    <a:pt x="329692" y="518414"/>
                  </a:lnTo>
                  <a:cubicBezTo>
                    <a:pt x="323088" y="529844"/>
                    <a:pt x="311023" y="536829"/>
                    <a:pt x="297942" y="536829"/>
                  </a:cubicBezTo>
                  <a:lnTo>
                    <a:pt x="13843" y="536829"/>
                  </a:lnTo>
                  <a:cubicBezTo>
                    <a:pt x="9017" y="536829"/>
                    <a:pt x="4318" y="535813"/>
                    <a:pt x="0" y="534162"/>
                  </a:cubicBezTo>
                  <a:lnTo>
                    <a:pt x="79756" y="614172"/>
                  </a:lnTo>
                  <a:lnTo>
                    <a:pt x="342392" y="614172"/>
                  </a:lnTo>
                  <a:cubicBezTo>
                    <a:pt x="355600" y="614172"/>
                    <a:pt x="367665" y="607187"/>
                    <a:pt x="374142" y="595757"/>
                  </a:cubicBezTo>
                  <a:lnTo>
                    <a:pt x="560705" y="271526"/>
                  </a:lnTo>
                  <a:cubicBezTo>
                    <a:pt x="564007" y="265811"/>
                    <a:pt x="565658" y="259461"/>
                    <a:pt x="565658" y="253111"/>
                  </a:cubicBezTo>
                  <a:lnTo>
                    <a:pt x="564007" y="240411"/>
                  </a:lnTo>
                  <a:lnTo>
                    <a:pt x="547116" y="210947"/>
                  </a:lnTo>
                  <a:close/>
                </a:path>
              </a:pathLst>
            </a:custGeom>
            <a:solidFill>
              <a:srgbClr val="00A35E"/>
            </a:solidFill>
          </p:spPr>
          <p:txBody>
            <a:bodyPr/>
            <a:lstStyle/>
            <a:p>
              <a:endParaRPr lang="fr-FR"/>
            </a:p>
          </p:txBody>
        </p:sp>
        <p:sp>
          <p:nvSpPr>
            <p:cNvPr id="20" name="Freeform 20"/>
            <p:cNvSpPr/>
            <p:nvPr/>
          </p:nvSpPr>
          <p:spPr>
            <a:xfrm>
              <a:off x="152527" y="140716"/>
              <a:ext cx="641350" cy="567309"/>
            </a:xfrm>
            <a:custGeom>
              <a:avLst/>
              <a:gdLst/>
              <a:ahLst/>
              <a:cxnLst/>
              <a:rect l="l" t="t" r="r" b="b"/>
              <a:pathLst>
                <a:path w="641350" h="567309">
                  <a:moveTo>
                    <a:pt x="636397" y="302006"/>
                  </a:moveTo>
                  <a:lnTo>
                    <a:pt x="494411" y="548894"/>
                  </a:lnTo>
                  <a:cubicBezTo>
                    <a:pt x="487807" y="560324"/>
                    <a:pt x="475742" y="567309"/>
                    <a:pt x="462661" y="567309"/>
                  </a:cubicBezTo>
                  <a:lnTo>
                    <a:pt x="178562" y="567309"/>
                  </a:lnTo>
                  <a:cubicBezTo>
                    <a:pt x="173736" y="567309"/>
                    <a:pt x="169037" y="566293"/>
                    <a:pt x="164719" y="564642"/>
                  </a:cubicBezTo>
                  <a:lnTo>
                    <a:pt x="164592" y="564515"/>
                  </a:lnTo>
                  <a:lnTo>
                    <a:pt x="151003" y="556006"/>
                  </a:lnTo>
                  <a:lnTo>
                    <a:pt x="4953" y="302133"/>
                  </a:lnTo>
                  <a:cubicBezTo>
                    <a:pt x="-1651" y="290703"/>
                    <a:pt x="-1651" y="276733"/>
                    <a:pt x="4953" y="265303"/>
                  </a:cubicBezTo>
                  <a:lnTo>
                    <a:pt x="146812" y="18415"/>
                  </a:lnTo>
                  <a:cubicBezTo>
                    <a:pt x="153416" y="6985"/>
                    <a:pt x="165481" y="0"/>
                    <a:pt x="178562" y="0"/>
                  </a:cubicBezTo>
                  <a:lnTo>
                    <a:pt x="462661" y="0"/>
                  </a:lnTo>
                  <a:cubicBezTo>
                    <a:pt x="475742" y="0"/>
                    <a:pt x="487807" y="6985"/>
                    <a:pt x="494411" y="18415"/>
                  </a:cubicBezTo>
                  <a:lnTo>
                    <a:pt x="636397" y="265303"/>
                  </a:lnTo>
                  <a:cubicBezTo>
                    <a:pt x="643001" y="276733"/>
                    <a:pt x="643001" y="290703"/>
                    <a:pt x="636397" y="302133"/>
                  </a:cubicBezTo>
                </a:path>
              </a:pathLst>
            </a:custGeom>
            <a:solidFill>
              <a:srgbClr val="FFFFFF"/>
            </a:solidFill>
          </p:spPr>
          <p:txBody>
            <a:bodyPr/>
            <a:lstStyle/>
            <a:p>
              <a:endParaRPr lang="fr-FR"/>
            </a:p>
          </p:txBody>
        </p:sp>
        <p:sp>
          <p:nvSpPr>
            <p:cNvPr id="21" name="Freeform 21"/>
            <p:cNvSpPr/>
            <p:nvPr/>
          </p:nvSpPr>
          <p:spPr>
            <a:xfrm>
              <a:off x="317373" y="330708"/>
              <a:ext cx="155194" cy="183007"/>
            </a:xfrm>
            <a:custGeom>
              <a:avLst/>
              <a:gdLst/>
              <a:ahLst/>
              <a:cxnLst/>
              <a:rect l="l" t="t" r="r" b="b"/>
              <a:pathLst>
                <a:path w="155194" h="183007">
                  <a:moveTo>
                    <a:pt x="155194" y="91694"/>
                  </a:moveTo>
                  <a:lnTo>
                    <a:pt x="149352" y="128270"/>
                  </a:lnTo>
                  <a:cubicBezTo>
                    <a:pt x="145415" y="139446"/>
                    <a:pt x="140081" y="149098"/>
                    <a:pt x="133096" y="157226"/>
                  </a:cubicBezTo>
                  <a:lnTo>
                    <a:pt x="108458" y="176149"/>
                  </a:lnTo>
                  <a:cubicBezTo>
                    <a:pt x="98933" y="180721"/>
                    <a:pt x="88646" y="183007"/>
                    <a:pt x="77597" y="183007"/>
                  </a:cubicBezTo>
                  <a:lnTo>
                    <a:pt x="46609" y="176149"/>
                  </a:lnTo>
                  <a:cubicBezTo>
                    <a:pt x="37211" y="171704"/>
                    <a:pt x="29083" y="165354"/>
                    <a:pt x="22098" y="157226"/>
                  </a:cubicBezTo>
                  <a:lnTo>
                    <a:pt x="5842" y="128270"/>
                  </a:lnTo>
                  <a:cubicBezTo>
                    <a:pt x="1905" y="117094"/>
                    <a:pt x="0" y="104902"/>
                    <a:pt x="0" y="91694"/>
                  </a:cubicBezTo>
                  <a:lnTo>
                    <a:pt x="5842" y="55118"/>
                  </a:lnTo>
                  <a:cubicBezTo>
                    <a:pt x="9779" y="43942"/>
                    <a:pt x="15113" y="34290"/>
                    <a:pt x="22098" y="26162"/>
                  </a:cubicBezTo>
                  <a:lnTo>
                    <a:pt x="46609" y="6985"/>
                  </a:lnTo>
                  <a:cubicBezTo>
                    <a:pt x="56007" y="2413"/>
                    <a:pt x="66294" y="0"/>
                    <a:pt x="77597" y="0"/>
                  </a:cubicBezTo>
                  <a:lnTo>
                    <a:pt x="108458" y="6985"/>
                  </a:lnTo>
                  <a:cubicBezTo>
                    <a:pt x="117983" y="11557"/>
                    <a:pt x="126238" y="18034"/>
                    <a:pt x="133096" y="26162"/>
                  </a:cubicBezTo>
                  <a:lnTo>
                    <a:pt x="149352" y="55118"/>
                  </a:lnTo>
                  <a:cubicBezTo>
                    <a:pt x="153289" y="66294"/>
                    <a:pt x="155194" y="78486"/>
                    <a:pt x="155194" y="91694"/>
                  </a:cubicBezTo>
                  <a:moveTo>
                    <a:pt x="114681" y="91694"/>
                  </a:moveTo>
                  <a:lnTo>
                    <a:pt x="113792" y="76327"/>
                  </a:lnTo>
                  <a:cubicBezTo>
                    <a:pt x="110236" y="62865"/>
                    <a:pt x="107696" y="57023"/>
                    <a:pt x="104394" y="52197"/>
                  </a:cubicBezTo>
                  <a:lnTo>
                    <a:pt x="97155" y="43688"/>
                  </a:lnTo>
                  <a:cubicBezTo>
                    <a:pt x="88138" y="38481"/>
                    <a:pt x="83185" y="37084"/>
                    <a:pt x="77724" y="37084"/>
                  </a:cubicBezTo>
                  <a:lnTo>
                    <a:pt x="67056" y="38354"/>
                  </a:lnTo>
                  <a:cubicBezTo>
                    <a:pt x="58039" y="43561"/>
                    <a:pt x="54102" y="47244"/>
                    <a:pt x="50800" y="52070"/>
                  </a:cubicBezTo>
                  <a:lnTo>
                    <a:pt x="44958" y="62738"/>
                  </a:lnTo>
                  <a:cubicBezTo>
                    <a:pt x="41402" y="76200"/>
                    <a:pt x="40513" y="83566"/>
                    <a:pt x="40513" y="91567"/>
                  </a:cubicBezTo>
                  <a:lnTo>
                    <a:pt x="41402" y="106934"/>
                  </a:lnTo>
                  <a:cubicBezTo>
                    <a:pt x="44958" y="120142"/>
                    <a:pt x="47625" y="125984"/>
                    <a:pt x="50927" y="130810"/>
                  </a:cubicBezTo>
                  <a:lnTo>
                    <a:pt x="58166" y="139319"/>
                  </a:lnTo>
                  <a:cubicBezTo>
                    <a:pt x="67183" y="144526"/>
                    <a:pt x="72263" y="145796"/>
                    <a:pt x="77851" y="145796"/>
                  </a:cubicBezTo>
                  <a:lnTo>
                    <a:pt x="88265" y="144526"/>
                  </a:lnTo>
                  <a:cubicBezTo>
                    <a:pt x="97282" y="139319"/>
                    <a:pt x="101219" y="135636"/>
                    <a:pt x="104521" y="130810"/>
                  </a:cubicBezTo>
                  <a:lnTo>
                    <a:pt x="110363" y="120269"/>
                  </a:lnTo>
                  <a:cubicBezTo>
                    <a:pt x="113919" y="107061"/>
                    <a:pt x="114935" y="99695"/>
                    <a:pt x="114935" y="91567"/>
                  </a:cubicBezTo>
                </a:path>
              </a:pathLst>
            </a:custGeom>
            <a:solidFill>
              <a:srgbClr val="00CC9C"/>
            </a:solidFill>
          </p:spPr>
          <p:txBody>
            <a:bodyPr/>
            <a:lstStyle/>
            <a:p>
              <a:endParaRPr lang="fr-FR"/>
            </a:p>
          </p:txBody>
        </p:sp>
        <p:sp>
          <p:nvSpPr>
            <p:cNvPr id="22" name="Freeform 22"/>
            <p:cNvSpPr/>
            <p:nvPr/>
          </p:nvSpPr>
          <p:spPr>
            <a:xfrm>
              <a:off x="490601" y="335534"/>
              <a:ext cx="144526" cy="175133"/>
            </a:xfrm>
            <a:custGeom>
              <a:avLst/>
              <a:gdLst/>
              <a:ahLst/>
              <a:cxnLst/>
              <a:rect l="l" t="t" r="r" b="b"/>
              <a:pathLst>
                <a:path w="144526" h="175133">
                  <a:moveTo>
                    <a:pt x="0" y="175133"/>
                  </a:moveTo>
                  <a:lnTo>
                    <a:pt x="635" y="157861"/>
                  </a:lnTo>
                  <a:cubicBezTo>
                    <a:pt x="3429" y="143129"/>
                    <a:pt x="5842" y="136398"/>
                    <a:pt x="9398" y="130175"/>
                  </a:cubicBezTo>
                  <a:lnTo>
                    <a:pt x="17653" y="118110"/>
                  </a:lnTo>
                  <a:cubicBezTo>
                    <a:pt x="29845" y="107315"/>
                    <a:pt x="37592" y="101981"/>
                    <a:pt x="47117" y="96774"/>
                  </a:cubicBezTo>
                  <a:lnTo>
                    <a:pt x="62611" y="88519"/>
                  </a:lnTo>
                  <a:cubicBezTo>
                    <a:pt x="75184" y="81915"/>
                    <a:pt x="80518" y="78867"/>
                    <a:pt x="84709" y="76073"/>
                  </a:cubicBezTo>
                  <a:lnTo>
                    <a:pt x="92075" y="70358"/>
                  </a:lnTo>
                  <a:lnTo>
                    <a:pt x="97536" y="61214"/>
                  </a:lnTo>
                  <a:cubicBezTo>
                    <a:pt x="97536" y="51308"/>
                    <a:pt x="95123" y="46228"/>
                    <a:pt x="90297" y="41910"/>
                  </a:cubicBezTo>
                  <a:lnTo>
                    <a:pt x="78613" y="35433"/>
                  </a:lnTo>
                  <a:cubicBezTo>
                    <a:pt x="64770" y="35433"/>
                    <a:pt x="60452" y="36068"/>
                    <a:pt x="56388" y="37338"/>
                  </a:cubicBezTo>
                  <a:lnTo>
                    <a:pt x="48641" y="40386"/>
                  </a:lnTo>
                  <a:lnTo>
                    <a:pt x="38481" y="47244"/>
                  </a:lnTo>
                  <a:cubicBezTo>
                    <a:pt x="32639" y="52705"/>
                    <a:pt x="29972" y="55499"/>
                    <a:pt x="27559" y="58547"/>
                  </a:cubicBezTo>
                  <a:lnTo>
                    <a:pt x="1651" y="28702"/>
                  </a:lnTo>
                  <a:cubicBezTo>
                    <a:pt x="4191" y="25908"/>
                    <a:pt x="8001" y="22860"/>
                    <a:pt x="12827" y="19558"/>
                  </a:cubicBezTo>
                  <a:lnTo>
                    <a:pt x="23241" y="13081"/>
                  </a:lnTo>
                  <a:cubicBezTo>
                    <a:pt x="36195" y="7239"/>
                    <a:pt x="43434" y="4826"/>
                    <a:pt x="51435" y="2921"/>
                  </a:cubicBezTo>
                  <a:lnTo>
                    <a:pt x="76835" y="0"/>
                  </a:lnTo>
                  <a:cubicBezTo>
                    <a:pt x="86995" y="0"/>
                    <a:pt x="96139" y="1270"/>
                    <a:pt x="104140" y="3810"/>
                  </a:cubicBezTo>
                  <a:lnTo>
                    <a:pt x="118872" y="9779"/>
                  </a:lnTo>
                  <a:cubicBezTo>
                    <a:pt x="129921" y="18796"/>
                    <a:pt x="134112" y="24257"/>
                    <a:pt x="137033" y="30607"/>
                  </a:cubicBezTo>
                  <a:lnTo>
                    <a:pt x="141351" y="43815"/>
                  </a:lnTo>
                  <a:cubicBezTo>
                    <a:pt x="141351" y="58293"/>
                    <a:pt x="140081" y="64516"/>
                    <a:pt x="137414" y="69977"/>
                  </a:cubicBezTo>
                  <a:lnTo>
                    <a:pt x="131572" y="80264"/>
                  </a:lnTo>
                  <a:cubicBezTo>
                    <a:pt x="123571" y="88646"/>
                    <a:pt x="119253" y="92329"/>
                    <a:pt x="114427" y="95504"/>
                  </a:cubicBezTo>
                  <a:lnTo>
                    <a:pt x="105156" y="101346"/>
                  </a:lnTo>
                  <a:cubicBezTo>
                    <a:pt x="97155" y="105791"/>
                    <a:pt x="93091" y="108077"/>
                    <a:pt x="88392" y="110744"/>
                  </a:cubicBezTo>
                  <a:lnTo>
                    <a:pt x="79248" y="116205"/>
                  </a:lnTo>
                  <a:cubicBezTo>
                    <a:pt x="70231" y="122428"/>
                    <a:pt x="66040" y="125603"/>
                    <a:pt x="62230" y="128905"/>
                  </a:cubicBezTo>
                  <a:lnTo>
                    <a:pt x="55499" y="135509"/>
                  </a:lnTo>
                  <a:lnTo>
                    <a:pt x="144526" y="138684"/>
                  </a:lnTo>
                  <a:lnTo>
                    <a:pt x="144526" y="175133"/>
                  </a:lnTo>
                  <a:close/>
                </a:path>
              </a:pathLst>
            </a:custGeom>
            <a:solidFill>
              <a:srgbClr val="00CC9C"/>
            </a:solidFill>
          </p:spPr>
          <p:txBody>
            <a:bodyPr/>
            <a:lstStyle/>
            <a:p>
              <a:endParaRPr lang="fr-FR"/>
            </a:p>
          </p:txBody>
        </p:sp>
      </p:grpSp>
      <p:sp>
        <p:nvSpPr>
          <p:cNvPr id="23" name="TextBox 23"/>
          <p:cNvSpPr txBox="1"/>
          <p:nvPr/>
        </p:nvSpPr>
        <p:spPr>
          <a:xfrm>
            <a:off x="2940120" y="7154186"/>
            <a:ext cx="1827276" cy="426034"/>
          </a:xfrm>
          <a:prstGeom prst="rect">
            <a:avLst/>
          </a:prstGeom>
        </p:spPr>
        <p:txBody>
          <a:bodyPr lIns="0" tIns="0" rIns="0" bIns="0" rtlCol="0" anchor="t">
            <a:spAutoFit/>
          </a:bodyPr>
          <a:lstStyle/>
          <a:p>
            <a:pPr algn="l">
              <a:lnSpc>
                <a:spcPts val="3359"/>
              </a:lnSpc>
            </a:pPr>
            <a:r>
              <a:rPr lang="en-US" sz="2400" b="1" i="1" spc="14">
                <a:solidFill>
                  <a:srgbClr val="1A1447"/>
                </a:solidFill>
                <a:latin typeface="IBM Plex Sans Bold Italics"/>
                <a:ea typeface="IBM Plex Sans Bold Italics"/>
                <a:cs typeface="IBM Plex Sans Bold Italics"/>
                <a:sym typeface="IBM Plex Sans Bold Italics"/>
              </a:rPr>
              <a:t>Chiffres Clés</a:t>
            </a:r>
          </a:p>
        </p:txBody>
      </p:sp>
      <p:sp>
        <p:nvSpPr>
          <p:cNvPr id="24" name="TextBox 24"/>
          <p:cNvSpPr txBox="1"/>
          <p:nvPr/>
        </p:nvSpPr>
        <p:spPr>
          <a:xfrm>
            <a:off x="2825439" y="2851268"/>
            <a:ext cx="1921154" cy="426034"/>
          </a:xfrm>
          <a:prstGeom prst="rect">
            <a:avLst/>
          </a:prstGeom>
        </p:spPr>
        <p:txBody>
          <a:bodyPr lIns="0" tIns="0" rIns="0" bIns="0" rtlCol="0" anchor="t">
            <a:spAutoFit/>
          </a:bodyPr>
          <a:lstStyle/>
          <a:p>
            <a:pPr algn="l">
              <a:lnSpc>
                <a:spcPts val="3359"/>
              </a:lnSpc>
            </a:pPr>
            <a:r>
              <a:rPr lang="en-US" sz="2400" b="1" i="1" spc="14">
                <a:solidFill>
                  <a:srgbClr val="1A1447"/>
                </a:solidFill>
                <a:latin typeface="IBM Plex Sans Bold Italics"/>
                <a:ea typeface="IBM Plex Sans Bold Italics"/>
                <a:cs typeface="IBM Plex Sans Bold Italics"/>
                <a:sym typeface="IBM Plex Sans Bold Italics"/>
              </a:rPr>
              <a:t>Nos Missions</a:t>
            </a:r>
          </a:p>
        </p:txBody>
      </p:sp>
      <p:sp>
        <p:nvSpPr>
          <p:cNvPr id="25" name="TextBox 25"/>
          <p:cNvSpPr txBox="1"/>
          <p:nvPr/>
        </p:nvSpPr>
        <p:spPr>
          <a:xfrm>
            <a:off x="888401" y="8544830"/>
            <a:ext cx="1533582" cy="361950"/>
          </a:xfrm>
          <a:prstGeom prst="rect">
            <a:avLst/>
          </a:prstGeom>
        </p:spPr>
        <p:txBody>
          <a:bodyPr lIns="0" tIns="0" rIns="0" bIns="0" rtlCol="0" anchor="t">
            <a:spAutoFit/>
          </a:bodyPr>
          <a:lstStyle/>
          <a:p>
            <a:pPr algn="just">
              <a:lnSpc>
                <a:spcPts val="1439"/>
              </a:lnSpc>
            </a:pPr>
            <a:r>
              <a:rPr lang="en-US" sz="1200" i="1" spc="4">
                <a:solidFill>
                  <a:srgbClr val="1A1942"/>
                </a:solidFill>
                <a:latin typeface="IBM Plex Sans Italics"/>
                <a:ea typeface="IBM Plex Sans Italics"/>
                <a:cs typeface="IBM Plex Sans Italics"/>
                <a:sym typeface="IBM Plex Sans Italics"/>
              </a:rPr>
              <a:t>10 000+ ÉTUDIANTS DEPUIS LA CRÉATION</a:t>
            </a:r>
          </a:p>
        </p:txBody>
      </p:sp>
      <p:sp>
        <p:nvSpPr>
          <p:cNvPr id="26" name="TextBox 26"/>
          <p:cNvSpPr txBox="1"/>
          <p:nvPr/>
        </p:nvSpPr>
        <p:spPr>
          <a:xfrm>
            <a:off x="3181144" y="8569738"/>
            <a:ext cx="1197712" cy="361950"/>
          </a:xfrm>
          <a:prstGeom prst="rect">
            <a:avLst/>
          </a:prstGeom>
        </p:spPr>
        <p:txBody>
          <a:bodyPr lIns="0" tIns="0" rIns="0" bIns="0" rtlCol="0" anchor="t">
            <a:spAutoFit/>
          </a:bodyPr>
          <a:lstStyle/>
          <a:p>
            <a:pPr algn="just">
              <a:lnSpc>
                <a:spcPts val="1439"/>
              </a:lnSpc>
            </a:pPr>
            <a:r>
              <a:rPr lang="en-US" sz="1200" i="1" spc="4">
                <a:solidFill>
                  <a:srgbClr val="1A1942"/>
                </a:solidFill>
                <a:latin typeface="IBM Plex Sans Italics"/>
                <a:ea typeface="IBM Plex Sans Italics"/>
                <a:cs typeface="IBM Plex Sans Italics"/>
                <a:sym typeface="IBM Plex Sans Italics"/>
              </a:rPr>
              <a:t>400 ÉTUDIANTS CHAQUE ANNÉE</a:t>
            </a:r>
          </a:p>
        </p:txBody>
      </p:sp>
      <p:sp>
        <p:nvSpPr>
          <p:cNvPr id="27" name="TextBox 27"/>
          <p:cNvSpPr txBox="1"/>
          <p:nvPr/>
        </p:nvSpPr>
        <p:spPr>
          <a:xfrm>
            <a:off x="5245170" y="8544830"/>
            <a:ext cx="1271321" cy="361950"/>
          </a:xfrm>
          <a:prstGeom prst="rect">
            <a:avLst/>
          </a:prstGeom>
        </p:spPr>
        <p:txBody>
          <a:bodyPr lIns="0" tIns="0" rIns="0" bIns="0" rtlCol="0" anchor="t">
            <a:spAutoFit/>
          </a:bodyPr>
          <a:lstStyle/>
          <a:p>
            <a:pPr algn="ctr">
              <a:lnSpc>
                <a:spcPts val="1439"/>
              </a:lnSpc>
            </a:pPr>
            <a:r>
              <a:rPr lang="en-US" sz="1200" i="1" spc="4">
                <a:solidFill>
                  <a:srgbClr val="1A1942"/>
                </a:solidFill>
                <a:latin typeface="IBM Plex Sans Italics"/>
                <a:ea typeface="IBM Plex Sans Italics"/>
                <a:cs typeface="IBM Plex Sans Italics"/>
                <a:sym typeface="IBM Plex Sans Italics"/>
              </a:rPr>
              <a:t>80 NATIONALITÉS DIFFÉRENTES</a:t>
            </a:r>
          </a:p>
        </p:txBody>
      </p:sp>
      <p:sp>
        <p:nvSpPr>
          <p:cNvPr id="28" name="TextBox 28"/>
          <p:cNvSpPr txBox="1"/>
          <p:nvPr/>
        </p:nvSpPr>
        <p:spPr>
          <a:xfrm>
            <a:off x="659997" y="1733063"/>
            <a:ext cx="6387522" cy="810895"/>
          </a:xfrm>
          <a:prstGeom prst="rect">
            <a:avLst/>
          </a:prstGeom>
        </p:spPr>
        <p:txBody>
          <a:bodyPr lIns="0" tIns="0" rIns="0" bIns="0" rtlCol="0" anchor="t">
            <a:spAutoFit/>
          </a:bodyPr>
          <a:lstStyle/>
          <a:p>
            <a:pPr algn="ctr">
              <a:lnSpc>
                <a:spcPts val="3249"/>
              </a:lnSpc>
            </a:pPr>
            <a:r>
              <a:rPr lang="en-US" sz="1299" b="1" i="1" spc="7">
                <a:solidFill>
                  <a:srgbClr val="EA8C4C"/>
                </a:solidFill>
                <a:latin typeface="IBM Plex Sans Bold Italics"/>
                <a:ea typeface="IBM Plex Sans Bold Italics"/>
                <a:cs typeface="IBM Plex Sans Bold Italics"/>
                <a:sym typeface="IBM Plex Sans Bold Italics"/>
              </a:rPr>
              <a:t>20 ans en 2024 avec les JO !</a:t>
            </a:r>
          </a:p>
          <a:p>
            <a:pPr algn="l">
              <a:lnSpc>
                <a:spcPts val="1380"/>
              </a:lnSpc>
            </a:pPr>
            <a:r>
              <a:rPr lang="en-US" sz="1200" i="1" spc="4">
                <a:solidFill>
                  <a:srgbClr val="1A1942"/>
                </a:solidFill>
                <a:latin typeface="IBM Plex Sans Italics"/>
                <a:ea typeface="IBM Plex Sans Italics"/>
                <a:cs typeface="IBM Plex Sans Italics"/>
                <a:sym typeface="IBM Plex Sans Italics"/>
              </a:rPr>
              <a:t>L’Institut de Langues et de Commerce International (ILCI) est une école de langues et une école de Management pour se former à des niveaux bac+3, bac+5/+6  et bac+8.</a:t>
            </a:r>
          </a:p>
        </p:txBody>
      </p:sp>
      <p:sp>
        <p:nvSpPr>
          <p:cNvPr id="29" name="TextBox 29"/>
          <p:cNvSpPr txBox="1"/>
          <p:nvPr/>
        </p:nvSpPr>
        <p:spPr>
          <a:xfrm>
            <a:off x="2993856" y="3635100"/>
            <a:ext cx="3330906" cy="542925"/>
          </a:xfrm>
          <a:prstGeom prst="rect">
            <a:avLst/>
          </a:prstGeom>
        </p:spPr>
        <p:txBody>
          <a:bodyPr lIns="0" tIns="0" rIns="0" bIns="0" rtlCol="0" anchor="t">
            <a:spAutoFit/>
          </a:bodyPr>
          <a:lstStyle/>
          <a:p>
            <a:pPr algn="l">
              <a:lnSpc>
                <a:spcPts val="1439"/>
              </a:lnSpc>
            </a:pPr>
            <a:r>
              <a:rPr lang="en-US" sz="1200" b="1" i="1" spc="4">
                <a:solidFill>
                  <a:srgbClr val="1A1942"/>
                </a:solidFill>
                <a:latin typeface="IBM Plex Sans Bold Italics"/>
                <a:ea typeface="IBM Plex Sans Bold Italics"/>
                <a:cs typeface="IBM Plex Sans Bold Italics"/>
                <a:sym typeface="IBM Plex Sans Bold Italics"/>
              </a:rPr>
              <a:t>Sensibiliser</a:t>
            </a:r>
            <a:r>
              <a:rPr lang="en-US" sz="1200" i="1" spc="4">
                <a:solidFill>
                  <a:srgbClr val="1A1942"/>
                </a:solidFill>
                <a:latin typeface="IBM Plex Sans Italics"/>
                <a:ea typeface="IBM Plex Sans Italics"/>
                <a:cs typeface="IBM Plex Sans Italics"/>
                <a:sym typeface="IBM Plex Sans Italics"/>
              </a:rPr>
              <a:t> les futurs professionnels </a:t>
            </a:r>
            <a:r>
              <a:rPr lang="en-US" sz="1200" b="1" i="1" spc="4">
                <a:solidFill>
                  <a:srgbClr val="1A1942"/>
                </a:solidFill>
                <a:latin typeface="IBM Plex Sans Bold Italics"/>
                <a:ea typeface="IBM Plex Sans Bold Italics"/>
                <a:cs typeface="IBM Plex Sans Bold Italics"/>
                <a:sym typeface="IBM Plex Sans Bold Italics"/>
              </a:rPr>
              <a:t>aux réalités </a:t>
            </a:r>
            <a:r>
              <a:rPr lang="en-US" sz="1200" i="1" spc="4">
                <a:solidFill>
                  <a:srgbClr val="1A1942"/>
                </a:solidFill>
                <a:latin typeface="IBM Plex Sans Italics"/>
                <a:ea typeface="IBM Plex Sans Italics"/>
                <a:cs typeface="IBM Plex Sans Italics"/>
                <a:sym typeface="IBM Plex Sans Italics"/>
              </a:rPr>
              <a:t>du monde </a:t>
            </a:r>
            <a:r>
              <a:rPr lang="en-US" sz="1200" b="1" i="1" spc="4">
                <a:solidFill>
                  <a:srgbClr val="1A1942"/>
                </a:solidFill>
                <a:latin typeface="IBM Plex Sans Bold Italics"/>
                <a:ea typeface="IBM Plex Sans Bold Italics"/>
                <a:cs typeface="IBM Plex Sans Bold Italics"/>
                <a:sym typeface="IBM Plex Sans Bold Italics"/>
              </a:rPr>
              <a:t>du travail, </a:t>
            </a:r>
            <a:r>
              <a:rPr lang="en-US" sz="1200" i="1" spc="4">
                <a:solidFill>
                  <a:srgbClr val="1A1942"/>
                </a:solidFill>
                <a:latin typeface="IBM Plex Sans Italics"/>
                <a:ea typeface="IBM Plex Sans Italics"/>
                <a:cs typeface="IBM Plex Sans Italics"/>
                <a:sym typeface="IBM Plex Sans Italics"/>
              </a:rPr>
              <a:t>de l’</a:t>
            </a:r>
            <a:r>
              <a:rPr lang="en-US" sz="1200" b="1" i="1" spc="4">
                <a:solidFill>
                  <a:srgbClr val="1A1942"/>
                </a:solidFill>
                <a:latin typeface="IBM Plex Sans Bold Italics"/>
                <a:ea typeface="IBM Plex Sans Bold Italics"/>
                <a:cs typeface="IBM Plex Sans Bold Italics"/>
                <a:sym typeface="IBM Plex Sans Bold Italics"/>
              </a:rPr>
              <a:t>économie </a:t>
            </a:r>
            <a:r>
              <a:rPr lang="en-US" sz="1200" i="1" spc="4">
                <a:solidFill>
                  <a:srgbClr val="1A1942"/>
                </a:solidFill>
                <a:latin typeface="IBM Plex Sans Italics"/>
                <a:ea typeface="IBM Plex Sans Italics"/>
                <a:cs typeface="IBM Plex Sans Italics"/>
                <a:sym typeface="IBM Plex Sans Italics"/>
              </a:rPr>
              <a:t>et la</a:t>
            </a:r>
            <a:r>
              <a:rPr lang="en-US" sz="1200" b="1" i="1" spc="4">
                <a:solidFill>
                  <a:srgbClr val="1A1942"/>
                </a:solidFill>
                <a:latin typeface="IBM Plex Sans Bold Italics"/>
                <a:ea typeface="IBM Plex Sans Bold Italics"/>
                <a:cs typeface="IBM Plex Sans Bold Italics"/>
                <a:sym typeface="IBM Plex Sans Bold Italics"/>
              </a:rPr>
              <a:t> géopolitique</a:t>
            </a:r>
            <a:r>
              <a:rPr lang="en-US" sz="1200" i="1" spc="4">
                <a:solidFill>
                  <a:srgbClr val="1A1942"/>
                </a:solidFill>
                <a:latin typeface="IBM Plex Sans Italics"/>
                <a:ea typeface="IBM Plex Sans Italics"/>
                <a:cs typeface="IBM Plex Sans Italics"/>
                <a:sym typeface="IBM Plex Sans Italics"/>
              </a:rPr>
              <a:t> mondiale</a:t>
            </a:r>
          </a:p>
        </p:txBody>
      </p:sp>
      <p:sp>
        <p:nvSpPr>
          <p:cNvPr id="30" name="TextBox 30"/>
          <p:cNvSpPr txBox="1"/>
          <p:nvPr/>
        </p:nvSpPr>
        <p:spPr>
          <a:xfrm>
            <a:off x="2985991" y="5753834"/>
            <a:ext cx="3338770" cy="542925"/>
          </a:xfrm>
          <a:prstGeom prst="rect">
            <a:avLst/>
          </a:prstGeom>
        </p:spPr>
        <p:txBody>
          <a:bodyPr lIns="0" tIns="0" rIns="0" bIns="0" rtlCol="0" anchor="t">
            <a:spAutoFit/>
          </a:bodyPr>
          <a:lstStyle/>
          <a:p>
            <a:pPr algn="l">
              <a:lnSpc>
                <a:spcPts val="1439"/>
              </a:lnSpc>
            </a:pPr>
            <a:r>
              <a:rPr lang="en-US" sz="1200" i="1" spc="4">
                <a:solidFill>
                  <a:srgbClr val="1A1942"/>
                </a:solidFill>
                <a:latin typeface="IBM Plex Sans Italics"/>
                <a:ea typeface="IBM Plex Sans Italics"/>
                <a:cs typeface="IBM Plex Sans Italics"/>
                <a:sym typeface="IBM Plex Sans Italics"/>
              </a:rPr>
              <a:t>Inculquer le </a:t>
            </a:r>
            <a:r>
              <a:rPr lang="en-US" sz="1200" b="1" i="1" spc="4">
                <a:solidFill>
                  <a:srgbClr val="1A1942"/>
                </a:solidFill>
                <a:latin typeface="IBM Plex Sans Bold Italics"/>
                <a:ea typeface="IBM Plex Sans Bold Italics"/>
                <a:cs typeface="IBM Plex Sans Bold Italics"/>
                <a:sym typeface="IBM Plex Sans Bold Italics"/>
              </a:rPr>
              <a:t>travail d’équipe</a:t>
            </a:r>
            <a:r>
              <a:rPr lang="en-US" sz="1200" i="1" spc="4">
                <a:solidFill>
                  <a:srgbClr val="1A1942"/>
                </a:solidFill>
                <a:latin typeface="IBM Plex Sans Italics"/>
                <a:ea typeface="IBM Plex Sans Italics"/>
                <a:cs typeface="IBM Plex Sans Italics"/>
                <a:sym typeface="IBM Plex Sans Italics"/>
              </a:rPr>
              <a:t>, le </a:t>
            </a:r>
            <a:r>
              <a:rPr lang="en-US" sz="1200" b="1" i="1" spc="4">
                <a:solidFill>
                  <a:srgbClr val="1A1942"/>
                </a:solidFill>
                <a:latin typeface="IBM Plex Sans Bold Italics"/>
                <a:ea typeface="IBM Plex Sans Bold Italics"/>
                <a:cs typeface="IBM Plex Sans Bold Italics"/>
                <a:sym typeface="IBM Plex Sans Bold Italics"/>
              </a:rPr>
              <a:t>respect</a:t>
            </a:r>
            <a:r>
              <a:rPr lang="en-US" sz="1200" i="1" spc="4">
                <a:solidFill>
                  <a:srgbClr val="1A1942"/>
                </a:solidFill>
                <a:latin typeface="IBM Plex Sans Italics"/>
                <a:ea typeface="IBM Plex Sans Italics"/>
                <a:cs typeface="IBM Plex Sans Italics"/>
                <a:sym typeface="IBM Plex Sans Italics"/>
              </a:rPr>
              <a:t>, la </a:t>
            </a:r>
            <a:r>
              <a:rPr lang="en-US" sz="1200" b="1" i="1" spc="4">
                <a:solidFill>
                  <a:srgbClr val="1A1942"/>
                </a:solidFill>
                <a:latin typeface="IBM Plex Sans Bold Italics"/>
                <a:ea typeface="IBM Plex Sans Bold Italics"/>
                <a:cs typeface="IBM Plex Sans Bold Italics"/>
                <a:sym typeface="IBM Plex Sans Bold Italics"/>
              </a:rPr>
              <a:t>responsabilité</a:t>
            </a:r>
            <a:r>
              <a:rPr lang="en-US" sz="1200" i="1" spc="4">
                <a:solidFill>
                  <a:srgbClr val="1A1942"/>
                </a:solidFill>
                <a:latin typeface="IBM Plex Sans Italics"/>
                <a:ea typeface="IBM Plex Sans Italics"/>
                <a:cs typeface="IBM Plex Sans Italics"/>
                <a:sym typeface="IBM Plex Sans Italics"/>
              </a:rPr>
              <a:t>, </a:t>
            </a:r>
            <a:r>
              <a:rPr lang="en-US" sz="1200" b="1" i="1" spc="4">
                <a:solidFill>
                  <a:srgbClr val="1A1942"/>
                </a:solidFill>
                <a:latin typeface="IBM Plex Sans Bold Italics"/>
                <a:ea typeface="IBM Plex Sans Bold Italics"/>
                <a:cs typeface="IBM Plex Sans Bold Italics"/>
                <a:sym typeface="IBM Plex Sans Bold Italics"/>
              </a:rPr>
              <a:t>l’agilité</a:t>
            </a:r>
            <a:r>
              <a:rPr lang="en-US" sz="1200" i="1" spc="4">
                <a:solidFill>
                  <a:srgbClr val="1A1942"/>
                </a:solidFill>
                <a:latin typeface="IBM Plex Sans Italics"/>
                <a:ea typeface="IBM Plex Sans Italics"/>
                <a:cs typeface="IBM Plex Sans Italics"/>
                <a:sym typeface="IBM Plex Sans Italics"/>
              </a:rPr>
              <a:t>, </a:t>
            </a:r>
            <a:r>
              <a:rPr lang="en-US" sz="1200" b="1" i="1" spc="4">
                <a:solidFill>
                  <a:srgbClr val="1A1942"/>
                </a:solidFill>
                <a:latin typeface="IBM Plex Sans Bold Italics"/>
                <a:ea typeface="IBM Plex Sans Bold Italics"/>
                <a:cs typeface="IBM Plex Sans Bold Italics"/>
                <a:sym typeface="IBM Plex Sans Bold Italics"/>
              </a:rPr>
              <a:t>l’autonomie </a:t>
            </a:r>
            <a:r>
              <a:rPr lang="en-US" sz="1200" i="1" spc="4">
                <a:solidFill>
                  <a:srgbClr val="1A1942"/>
                </a:solidFill>
                <a:latin typeface="IBM Plex Sans Italics"/>
                <a:ea typeface="IBM Plex Sans Italics"/>
                <a:cs typeface="IBM Plex Sans Italics"/>
                <a:sym typeface="IBM Plex Sans Italics"/>
              </a:rPr>
              <a:t>et la prise </a:t>
            </a:r>
            <a:r>
              <a:rPr lang="en-US" sz="1200" b="1" i="1" spc="4">
                <a:solidFill>
                  <a:srgbClr val="1A1942"/>
                </a:solidFill>
                <a:latin typeface="IBM Plex Sans Bold Italics"/>
                <a:ea typeface="IBM Plex Sans Bold Italics"/>
                <a:cs typeface="IBM Plex Sans Bold Italics"/>
                <a:sym typeface="IBM Plex Sans Bold Italics"/>
              </a:rPr>
              <a:t>d’initiatives</a:t>
            </a:r>
            <a:r>
              <a:rPr lang="en-US" sz="1200" i="1" spc="4">
                <a:solidFill>
                  <a:srgbClr val="1A1942"/>
                </a:solidFill>
                <a:latin typeface="IBM Plex Sans Italics"/>
                <a:ea typeface="IBM Plex Sans Italics"/>
                <a:cs typeface="IBM Plex Sans Italics"/>
                <a:sym typeface="IBM Plex Sans Italics"/>
              </a:rPr>
              <a:t>.</a:t>
            </a:r>
          </a:p>
        </p:txBody>
      </p:sp>
      <p:sp>
        <p:nvSpPr>
          <p:cNvPr id="31" name="TextBox 31"/>
          <p:cNvSpPr txBox="1"/>
          <p:nvPr/>
        </p:nvSpPr>
        <p:spPr>
          <a:xfrm>
            <a:off x="2985991" y="4612568"/>
            <a:ext cx="3338770" cy="723900"/>
          </a:xfrm>
          <a:prstGeom prst="rect">
            <a:avLst/>
          </a:prstGeom>
        </p:spPr>
        <p:txBody>
          <a:bodyPr lIns="0" tIns="0" rIns="0" bIns="0" rtlCol="0" anchor="t">
            <a:spAutoFit/>
          </a:bodyPr>
          <a:lstStyle/>
          <a:p>
            <a:pPr algn="l">
              <a:lnSpc>
                <a:spcPts val="1439"/>
              </a:lnSpc>
            </a:pPr>
            <a:r>
              <a:rPr lang="en-US" sz="1200" i="1" spc="4">
                <a:solidFill>
                  <a:srgbClr val="1A1942"/>
                </a:solidFill>
                <a:latin typeface="IBM Plex Sans Italics"/>
                <a:ea typeface="IBM Plex Sans Italics"/>
                <a:cs typeface="IBM Plex Sans Italics"/>
                <a:sym typeface="IBM Plex Sans Italics"/>
              </a:rPr>
              <a:t>Permettre à nos étudiants de </a:t>
            </a:r>
            <a:r>
              <a:rPr lang="en-US" sz="1200" b="1" i="1" spc="4">
                <a:solidFill>
                  <a:srgbClr val="1A1942"/>
                </a:solidFill>
                <a:latin typeface="IBM Plex Sans Bold Italics"/>
                <a:ea typeface="IBM Plex Sans Bold Italics"/>
                <a:cs typeface="IBM Plex Sans Bold Italics"/>
                <a:sym typeface="IBM Plex Sans Bold Italics"/>
              </a:rPr>
              <a:t>maîtriser les dernières outils</a:t>
            </a:r>
            <a:r>
              <a:rPr lang="en-US" sz="1200" i="1" spc="4">
                <a:solidFill>
                  <a:srgbClr val="1A1942"/>
                </a:solidFill>
                <a:latin typeface="IBM Plex Sans Italics"/>
                <a:ea typeface="IBM Plex Sans Italics"/>
                <a:cs typeface="IBM Plex Sans Italics"/>
                <a:sym typeface="IBM Plex Sans Italics"/>
              </a:rPr>
              <a:t> métiers et </a:t>
            </a:r>
            <a:r>
              <a:rPr lang="en-US" sz="1200" b="1" i="1" spc="4">
                <a:solidFill>
                  <a:srgbClr val="1A1942"/>
                </a:solidFill>
                <a:latin typeface="IBM Plex Sans Bold Italics"/>
                <a:ea typeface="IBM Plex Sans Bold Italics"/>
                <a:cs typeface="IBM Plex Sans Bold Italics"/>
                <a:sym typeface="IBM Plex Sans Bold Italics"/>
              </a:rPr>
              <a:t>intégrer l’IA</a:t>
            </a:r>
            <a:r>
              <a:rPr lang="en-US" sz="1200" i="1" spc="4">
                <a:solidFill>
                  <a:srgbClr val="1A1942"/>
                </a:solidFill>
                <a:latin typeface="IBM Plex Sans Italics"/>
                <a:ea typeface="IBM Plex Sans Italics"/>
                <a:cs typeface="IBM Plex Sans Italics"/>
                <a:sym typeface="IBM Plex Sans Italics"/>
              </a:rPr>
              <a:t> dans leur quotidien pour </a:t>
            </a:r>
            <a:r>
              <a:rPr lang="en-US" sz="1200" b="1" i="1" spc="4">
                <a:solidFill>
                  <a:srgbClr val="1A1942"/>
                </a:solidFill>
                <a:latin typeface="IBM Plex Sans Bold Italics"/>
                <a:ea typeface="IBM Plex Sans Bold Italics"/>
                <a:cs typeface="IBM Plex Sans Bold Italics"/>
                <a:sym typeface="IBM Plex Sans Bold Italics"/>
              </a:rPr>
              <a:t>accélérer la digitalisation</a:t>
            </a:r>
            <a:r>
              <a:rPr lang="en-US" sz="1200" i="1" spc="4">
                <a:solidFill>
                  <a:srgbClr val="1A1942"/>
                </a:solidFill>
                <a:latin typeface="IBM Plex Sans Italics"/>
                <a:ea typeface="IBM Plex Sans Italics"/>
                <a:cs typeface="IBM Plex Sans Italics"/>
                <a:sym typeface="IBM Plex Sans Italics"/>
              </a:rPr>
              <a:t> des entreprises</a:t>
            </a:r>
          </a:p>
        </p:txBody>
      </p:sp>
      <p:sp>
        <p:nvSpPr>
          <p:cNvPr id="32" name="TextBox 32"/>
          <p:cNvSpPr txBox="1"/>
          <p:nvPr/>
        </p:nvSpPr>
        <p:spPr>
          <a:xfrm>
            <a:off x="3634609" y="9395084"/>
            <a:ext cx="3169391" cy="533400"/>
          </a:xfrm>
          <a:prstGeom prst="rect">
            <a:avLst/>
          </a:prstGeom>
        </p:spPr>
        <p:txBody>
          <a:bodyPr lIns="0" tIns="0" rIns="0" bIns="0" rtlCol="0" anchor="t">
            <a:spAutoFit/>
          </a:bodyPr>
          <a:lstStyle/>
          <a:p>
            <a:pPr algn="r">
              <a:lnSpc>
                <a:spcPts val="2160"/>
              </a:lnSpc>
            </a:pPr>
            <a:r>
              <a:rPr lang="en-US" sz="1800" b="1" i="1" spc="10">
                <a:solidFill>
                  <a:srgbClr val="EA8C4C"/>
                </a:solidFill>
                <a:latin typeface="IBM Plex Sans Bold Italics"/>
                <a:ea typeface="IBM Plex Sans Bold Italics"/>
                <a:cs typeface="IBM Plex Sans Bold Italics"/>
                <a:sym typeface="IBM Plex Sans Bold Italics"/>
              </a:rPr>
              <a:t>Notre objectif, votre réussite</a:t>
            </a:r>
          </a:p>
          <a:p>
            <a:pPr algn="r">
              <a:lnSpc>
                <a:spcPts val="2160"/>
              </a:lnSpc>
            </a:pPr>
            <a:r>
              <a:rPr lang="en-US" sz="1800" b="1" i="1" spc="10">
                <a:solidFill>
                  <a:srgbClr val="EA8C4C"/>
                </a:solidFill>
                <a:latin typeface="IBM Plex Sans Bold Italics"/>
                <a:ea typeface="IBM Plex Sans Bold Italics"/>
                <a:cs typeface="IBM Plex Sans Bold Italics"/>
                <a:sym typeface="IBM Plex Sans Bold Italics"/>
              </a:rPr>
              <a:t>Dream Big, Reach High !</a:t>
            </a:r>
          </a:p>
        </p:txBody>
      </p:sp>
      <p:sp>
        <p:nvSpPr>
          <p:cNvPr id="33" name="TextBox 33"/>
          <p:cNvSpPr txBox="1"/>
          <p:nvPr/>
        </p:nvSpPr>
        <p:spPr>
          <a:xfrm>
            <a:off x="665998" y="1366476"/>
            <a:ext cx="5850493" cy="321907"/>
          </a:xfrm>
          <a:prstGeom prst="rect">
            <a:avLst/>
          </a:prstGeom>
        </p:spPr>
        <p:txBody>
          <a:bodyPr lIns="0" tIns="0" rIns="0" bIns="0" rtlCol="0" anchor="t">
            <a:spAutoFit/>
          </a:bodyPr>
          <a:lstStyle/>
          <a:p>
            <a:pPr algn="l">
              <a:lnSpc>
                <a:spcPts val="2520"/>
              </a:lnSpc>
            </a:pPr>
            <a:r>
              <a:rPr lang="en-US" sz="1800" b="1" i="1" spc="10">
                <a:solidFill>
                  <a:srgbClr val="1A1447"/>
                </a:solidFill>
                <a:latin typeface="IBM Plex Sans Bold Italics"/>
                <a:ea typeface="IBM Plex Sans Bold Italics"/>
                <a:cs typeface="IBM Plex Sans Bold Italics"/>
                <a:sym typeface="IBM Plex Sans Bold Italics"/>
              </a:rPr>
              <a:t>chez l’Institut de Langues et de Commerce International</a:t>
            </a:r>
          </a:p>
        </p:txBody>
      </p:sp>
      <p:sp>
        <p:nvSpPr>
          <p:cNvPr id="34" name="TextBox 34"/>
          <p:cNvSpPr txBox="1"/>
          <p:nvPr/>
        </p:nvSpPr>
        <p:spPr>
          <a:xfrm>
            <a:off x="2522201" y="10407263"/>
            <a:ext cx="2515629" cy="151428"/>
          </a:xfrm>
          <a:prstGeom prst="rect">
            <a:avLst/>
          </a:prstGeom>
        </p:spPr>
        <p:txBody>
          <a:bodyPr lIns="0" tIns="0" rIns="0" bIns="0" rtlCol="0" anchor="t">
            <a:spAutoFit/>
          </a:bodyPr>
          <a:lstStyle/>
          <a:p>
            <a:pPr algn="l">
              <a:lnSpc>
                <a:spcPts val="1260"/>
              </a:lnSpc>
            </a:pPr>
            <a:r>
              <a:rPr lang="en-US" sz="900" i="1" spc="25">
                <a:solidFill>
                  <a:srgbClr val="939496"/>
                </a:solidFill>
                <a:latin typeface="IBM Plex Sans Italics"/>
                <a:ea typeface="IBM Plex Sans Italics"/>
                <a:cs typeface="IBM Plex Sans Italics"/>
                <a:sym typeface="IBM Plex Sans Italics"/>
              </a:rPr>
              <a:t>Etablissement d’enseignement supérieur privé</a:t>
            </a:r>
          </a:p>
        </p:txBody>
      </p:sp>
      <p:sp>
        <p:nvSpPr>
          <p:cNvPr id="35" name="TextBox 35"/>
          <p:cNvSpPr txBox="1"/>
          <p:nvPr/>
        </p:nvSpPr>
        <p:spPr>
          <a:xfrm>
            <a:off x="659997" y="751751"/>
            <a:ext cx="2569464" cy="643814"/>
          </a:xfrm>
          <a:prstGeom prst="rect">
            <a:avLst/>
          </a:prstGeom>
        </p:spPr>
        <p:txBody>
          <a:bodyPr lIns="0" tIns="0" rIns="0" bIns="0" rtlCol="0" anchor="t">
            <a:spAutoFit/>
          </a:bodyPr>
          <a:lstStyle/>
          <a:p>
            <a:pPr algn="l">
              <a:lnSpc>
                <a:spcPts val="5040"/>
              </a:lnSpc>
            </a:pPr>
            <a:r>
              <a:rPr lang="en-US" sz="3600" b="1" i="1" spc="21">
                <a:solidFill>
                  <a:srgbClr val="EA8C43"/>
                </a:solidFill>
                <a:latin typeface="IBM Plex Sans Bold Italics"/>
                <a:ea typeface="IBM Plex Sans Bold Italics"/>
                <a:cs typeface="IBM Plex Sans Bold Italics"/>
                <a:sym typeface="IBM Plex Sans Bold Italics"/>
              </a:rPr>
              <a:t>BIENVENUE</a:t>
            </a:r>
          </a:p>
        </p:txBody>
      </p:sp>
      <p:sp>
        <p:nvSpPr>
          <p:cNvPr id="36" name="TextBox 99"/>
          <p:cNvSpPr txBox="1"/>
          <p:nvPr/>
        </p:nvSpPr>
        <p:spPr>
          <a:xfrm>
            <a:off x="6784953" y="9971913"/>
            <a:ext cx="124463" cy="240566"/>
          </a:xfrm>
          <a:prstGeom prst="rect">
            <a:avLst/>
          </a:prstGeom>
        </p:spPr>
        <p:txBody>
          <a:bodyPr lIns="0" tIns="0" rIns="0" bIns="0" rtlCol="0" anchor="t">
            <a:spAutoFit/>
          </a:bodyPr>
          <a:lstStyle/>
          <a:p>
            <a:pPr algn="l">
              <a:lnSpc>
                <a:spcPts val="1959"/>
              </a:lnSpc>
            </a:pPr>
            <a:r>
              <a:rPr lang="en-US" sz="1399" b="1" spc="8" dirty="0">
                <a:solidFill>
                  <a:srgbClr val="231F20"/>
                </a:solidFill>
                <a:latin typeface="IBM Plex Sans Bold"/>
                <a:ea typeface="IBM Plex Sans Bold"/>
                <a:cs typeface="IBM Plex Sans Bold"/>
                <a:sym typeface="IBM Plex Sans Bold"/>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873300" y="1003297"/>
            <a:ext cx="5813403" cy="933755"/>
            <a:chOff x="0" y="0"/>
            <a:chExt cx="5813400" cy="933755"/>
          </a:xfrm>
        </p:grpSpPr>
        <p:sp>
          <p:nvSpPr>
            <p:cNvPr id="3" name="Freeform 3"/>
            <p:cNvSpPr/>
            <p:nvPr/>
          </p:nvSpPr>
          <p:spPr>
            <a:xfrm>
              <a:off x="63500" y="844804"/>
              <a:ext cx="5673725" cy="25400"/>
            </a:xfrm>
            <a:custGeom>
              <a:avLst/>
              <a:gdLst/>
              <a:ahLst/>
              <a:cxnLst/>
              <a:rect l="l" t="t" r="r" b="b"/>
              <a:pathLst>
                <a:path w="5673725" h="25400">
                  <a:moveTo>
                    <a:pt x="0" y="0"/>
                  </a:moveTo>
                  <a:lnTo>
                    <a:pt x="5673725" y="0"/>
                  </a:lnTo>
                  <a:lnTo>
                    <a:pt x="5673725" y="25400"/>
                  </a:lnTo>
                  <a:lnTo>
                    <a:pt x="0" y="25400"/>
                  </a:lnTo>
                  <a:close/>
                </a:path>
              </a:pathLst>
            </a:custGeom>
            <a:solidFill>
              <a:srgbClr val="EA8C4C"/>
            </a:solidFill>
          </p:spPr>
          <p:txBody>
            <a:bodyPr/>
            <a:lstStyle/>
            <a:p>
              <a:endParaRPr lang="fr-FR"/>
            </a:p>
          </p:txBody>
        </p:sp>
        <p:sp>
          <p:nvSpPr>
            <p:cNvPr id="4" name="Freeform 4"/>
            <p:cNvSpPr/>
            <p:nvPr/>
          </p:nvSpPr>
          <p:spPr>
            <a:xfrm>
              <a:off x="69850" y="63500"/>
              <a:ext cx="755015" cy="25400"/>
            </a:xfrm>
            <a:custGeom>
              <a:avLst/>
              <a:gdLst/>
              <a:ahLst/>
              <a:cxnLst/>
              <a:rect l="l" t="t" r="r" b="b"/>
              <a:pathLst>
                <a:path w="755015" h="25400">
                  <a:moveTo>
                    <a:pt x="755015" y="25400"/>
                  </a:moveTo>
                  <a:lnTo>
                    <a:pt x="0" y="25400"/>
                  </a:lnTo>
                  <a:lnTo>
                    <a:pt x="0" y="0"/>
                  </a:lnTo>
                  <a:lnTo>
                    <a:pt x="755015" y="0"/>
                  </a:lnTo>
                  <a:close/>
                </a:path>
              </a:pathLst>
            </a:custGeom>
            <a:solidFill>
              <a:srgbClr val="EA8C4C"/>
            </a:solidFill>
          </p:spPr>
          <p:txBody>
            <a:bodyPr/>
            <a:lstStyle/>
            <a:p>
              <a:endParaRPr lang="fr-FR"/>
            </a:p>
          </p:txBody>
        </p:sp>
        <p:sp>
          <p:nvSpPr>
            <p:cNvPr id="5" name="Freeform 5"/>
            <p:cNvSpPr/>
            <p:nvPr/>
          </p:nvSpPr>
          <p:spPr>
            <a:xfrm>
              <a:off x="5724525" y="63500"/>
              <a:ext cx="25400" cy="806704"/>
            </a:xfrm>
            <a:custGeom>
              <a:avLst/>
              <a:gdLst/>
              <a:ahLst/>
              <a:cxnLst/>
              <a:rect l="l" t="t" r="r" b="b"/>
              <a:pathLst>
                <a:path w="25400" h="806704">
                  <a:moveTo>
                    <a:pt x="0" y="806704"/>
                  </a:moveTo>
                  <a:lnTo>
                    <a:pt x="0" y="0"/>
                  </a:lnTo>
                  <a:lnTo>
                    <a:pt x="25400" y="0"/>
                  </a:lnTo>
                  <a:lnTo>
                    <a:pt x="25400" y="806704"/>
                  </a:lnTo>
                  <a:close/>
                </a:path>
              </a:pathLst>
            </a:custGeom>
            <a:solidFill>
              <a:srgbClr val="EA8C4C"/>
            </a:solidFill>
          </p:spPr>
          <p:txBody>
            <a:bodyPr/>
            <a:lstStyle/>
            <a:p>
              <a:endParaRPr lang="fr-FR"/>
            </a:p>
          </p:txBody>
        </p:sp>
        <p:sp>
          <p:nvSpPr>
            <p:cNvPr id="6" name="Freeform 6"/>
            <p:cNvSpPr/>
            <p:nvPr/>
          </p:nvSpPr>
          <p:spPr>
            <a:xfrm>
              <a:off x="1970659" y="63500"/>
              <a:ext cx="3779266" cy="25400"/>
            </a:xfrm>
            <a:custGeom>
              <a:avLst/>
              <a:gdLst/>
              <a:ahLst/>
              <a:cxnLst/>
              <a:rect l="l" t="t" r="r" b="b"/>
              <a:pathLst>
                <a:path w="3779266" h="25400">
                  <a:moveTo>
                    <a:pt x="3779266" y="25400"/>
                  </a:moveTo>
                  <a:lnTo>
                    <a:pt x="0" y="25400"/>
                  </a:lnTo>
                  <a:lnTo>
                    <a:pt x="0" y="0"/>
                  </a:lnTo>
                  <a:lnTo>
                    <a:pt x="3779266" y="0"/>
                  </a:lnTo>
                  <a:close/>
                </a:path>
              </a:pathLst>
            </a:custGeom>
            <a:solidFill>
              <a:srgbClr val="EA8C4C"/>
            </a:solidFill>
          </p:spPr>
          <p:txBody>
            <a:bodyPr/>
            <a:lstStyle/>
            <a:p>
              <a:endParaRPr lang="fr-FR"/>
            </a:p>
          </p:txBody>
        </p:sp>
        <p:sp>
          <p:nvSpPr>
            <p:cNvPr id="7" name="Freeform 7"/>
            <p:cNvSpPr/>
            <p:nvPr/>
          </p:nvSpPr>
          <p:spPr>
            <a:xfrm>
              <a:off x="63500" y="63500"/>
              <a:ext cx="25400" cy="806704"/>
            </a:xfrm>
            <a:custGeom>
              <a:avLst/>
              <a:gdLst/>
              <a:ahLst/>
              <a:cxnLst/>
              <a:rect l="l" t="t" r="r" b="b"/>
              <a:pathLst>
                <a:path w="25400" h="806704">
                  <a:moveTo>
                    <a:pt x="0" y="806704"/>
                  </a:moveTo>
                  <a:lnTo>
                    <a:pt x="0" y="0"/>
                  </a:lnTo>
                  <a:lnTo>
                    <a:pt x="25400" y="0"/>
                  </a:lnTo>
                  <a:lnTo>
                    <a:pt x="25400" y="806704"/>
                  </a:lnTo>
                  <a:close/>
                </a:path>
              </a:pathLst>
            </a:custGeom>
            <a:solidFill>
              <a:srgbClr val="EA8C4C"/>
            </a:solidFill>
          </p:spPr>
          <p:txBody>
            <a:bodyPr/>
            <a:lstStyle/>
            <a:p>
              <a:endParaRPr lang="fr-FR"/>
            </a:p>
          </p:txBody>
        </p:sp>
      </p:grpSp>
      <p:sp>
        <p:nvSpPr>
          <p:cNvPr id="8" name="Freeform 8"/>
          <p:cNvSpPr/>
          <p:nvPr/>
        </p:nvSpPr>
        <p:spPr>
          <a:xfrm>
            <a:off x="2550062" y="4563199"/>
            <a:ext cx="1073791" cy="1056513"/>
          </a:xfrm>
          <a:custGeom>
            <a:avLst/>
            <a:gdLst/>
            <a:ahLst/>
            <a:cxnLst/>
            <a:rect l="l" t="t" r="r" b="b"/>
            <a:pathLst>
              <a:path w="1073791" h="1056513">
                <a:moveTo>
                  <a:pt x="0" y="0"/>
                </a:moveTo>
                <a:lnTo>
                  <a:pt x="1073791" y="0"/>
                </a:lnTo>
                <a:lnTo>
                  <a:pt x="1073791" y="1056513"/>
                </a:lnTo>
                <a:lnTo>
                  <a:pt x="0" y="1056513"/>
                </a:lnTo>
                <a:lnTo>
                  <a:pt x="0" y="0"/>
                </a:lnTo>
                <a:close/>
              </a:path>
            </a:pathLst>
          </a:custGeom>
          <a:blipFill>
            <a:blip r:embed="rId2"/>
            <a:stretch>
              <a:fillRect/>
            </a:stretch>
          </a:blipFill>
        </p:spPr>
        <p:txBody>
          <a:bodyPr/>
          <a:lstStyle/>
          <a:p>
            <a:endParaRPr lang="fr-FR"/>
          </a:p>
        </p:txBody>
      </p:sp>
      <p:sp>
        <p:nvSpPr>
          <p:cNvPr id="9" name="Freeform 9"/>
          <p:cNvSpPr/>
          <p:nvPr/>
        </p:nvSpPr>
        <p:spPr>
          <a:xfrm>
            <a:off x="2591171" y="8681352"/>
            <a:ext cx="1076030" cy="552688"/>
          </a:xfrm>
          <a:custGeom>
            <a:avLst/>
            <a:gdLst/>
            <a:ahLst/>
            <a:cxnLst/>
            <a:rect l="l" t="t" r="r" b="b"/>
            <a:pathLst>
              <a:path w="1076030" h="552688">
                <a:moveTo>
                  <a:pt x="0" y="0"/>
                </a:moveTo>
                <a:lnTo>
                  <a:pt x="1076030" y="0"/>
                </a:lnTo>
                <a:lnTo>
                  <a:pt x="1076030" y="552688"/>
                </a:lnTo>
                <a:lnTo>
                  <a:pt x="0" y="552688"/>
                </a:lnTo>
                <a:lnTo>
                  <a:pt x="0" y="0"/>
                </a:lnTo>
                <a:close/>
              </a:path>
            </a:pathLst>
          </a:custGeom>
          <a:blipFill>
            <a:blip r:embed="rId3"/>
            <a:stretch>
              <a:fillRect/>
            </a:stretch>
          </a:blipFill>
        </p:spPr>
        <p:txBody>
          <a:bodyPr/>
          <a:lstStyle/>
          <a:p>
            <a:endParaRPr lang="fr-FR"/>
          </a:p>
        </p:txBody>
      </p:sp>
      <p:sp>
        <p:nvSpPr>
          <p:cNvPr id="10" name="Freeform 10"/>
          <p:cNvSpPr/>
          <p:nvPr/>
        </p:nvSpPr>
        <p:spPr>
          <a:xfrm>
            <a:off x="988914" y="2644207"/>
            <a:ext cx="1371305" cy="585245"/>
          </a:xfrm>
          <a:custGeom>
            <a:avLst/>
            <a:gdLst/>
            <a:ahLst/>
            <a:cxnLst/>
            <a:rect l="l" t="t" r="r" b="b"/>
            <a:pathLst>
              <a:path w="1371305" h="585245">
                <a:moveTo>
                  <a:pt x="0" y="0"/>
                </a:moveTo>
                <a:lnTo>
                  <a:pt x="1371305" y="0"/>
                </a:lnTo>
                <a:lnTo>
                  <a:pt x="1371305" y="585244"/>
                </a:lnTo>
                <a:lnTo>
                  <a:pt x="0" y="585244"/>
                </a:lnTo>
                <a:lnTo>
                  <a:pt x="0" y="0"/>
                </a:lnTo>
                <a:close/>
              </a:path>
            </a:pathLst>
          </a:custGeom>
          <a:blipFill>
            <a:blip r:embed="rId4"/>
            <a:stretch>
              <a:fillRect r="-656"/>
            </a:stretch>
          </a:blipFill>
        </p:spPr>
        <p:txBody>
          <a:bodyPr/>
          <a:lstStyle/>
          <a:p>
            <a:endParaRPr lang="fr-FR"/>
          </a:p>
        </p:txBody>
      </p:sp>
      <p:sp>
        <p:nvSpPr>
          <p:cNvPr id="11" name="Freeform 11"/>
          <p:cNvSpPr/>
          <p:nvPr/>
        </p:nvSpPr>
        <p:spPr>
          <a:xfrm>
            <a:off x="3833355" y="3505352"/>
            <a:ext cx="1262577" cy="959206"/>
          </a:xfrm>
          <a:custGeom>
            <a:avLst/>
            <a:gdLst/>
            <a:ahLst/>
            <a:cxnLst/>
            <a:rect l="l" t="t" r="r" b="b"/>
            <a:pathLst>
              <a:path w="1262577" h="959206">
                <a:moveTo>
                  <a:pt x="0" y="0"/>
                </a:moveTo>
                <a:lnTo>
                  <a:pt x="1262577" y="0"/>
                </a:lnTo>
                <a:lnTo>
                  <a:pt x="1262577" y="959206"/>
                </a:lnTo>
                <a:lnTo>
                  <a:pt x="0" y="959206"/>
                </a:lnTo>
                <a:lnTo>
                  <a:pt x="0" y="0"/>
                </a:lnTo>
                <a:close/>
              </a:path>
            </a:pathLst>
          </a:custGeom>
          <a:blipFill>
            <a:blip r:embed="rId5"/>
            <a:stretch>
              <a:fillRect b="-1480"/>
            </a:stretch>
          </a:blipFill>
        </p:spPr>
        <p:txBody>
          <a:bodyPr/>
          <a:lstStyle/>
          <a:p>
            <a:endParaRPr lang="fr-FR"/>
          </a:p>
        </p:txBody>
      </p:sp>
      <p:sp>
        <p:nvSpPr>
          <p:cNvPr id="12" name="Freeform 12"/>
          <p:cNvSpPr/>
          <p:nvPr/>
        </p:nvSpPr>
        <p:spPr>
          <a:xfrm>
            <a:off x="936803" y="4997548"/>
            <a:ext cx="1494853" cy="290865"/>
          </a:xfrm>
          <a:custGeom>
            <a:avLst/>
            <a:gdLst/>
            <a:ahLst/>
            <a:cxnLst/>
            <a:rect l="l" t="t" r="r" b="b"/>
            <a:pathLst>
              <a:path w="1494853" h="290865">
                <a:moveTo>
                  <a:pt x="0" y="0"/>
                </a:moveTo>
                <a:lnTo>
                  <a:pt x="1494853" y="0"/>
                </a:lnTo>
                <a:lnTo>
                  <a:pt x="1494853" y="290865"/>
                </a:lnTo>
                <a:lnTo>
                  <a:pt x="0" y="290865"/>
                </a:lnTo>
                <a:lnTo>
                  <a:pt x="0" y="0"/>
                </a:lnTo>
                <a:close/>
              </a:path>
            </a:pathLst>
          </a:custGeom>
          <a:blipFill>
            <a:blip r:embed="rId6"/>
            <a:stretch>
              <a:fillRect l="-935" b="-3"/>
            </a:stretch>
          </a:blipFill>
        </p:spPr>
        <p:txBody>
          <a:bodyPr/>
          <a:lstStyle/>
          <a:p>
            <a:endParaRPr lang="fr-FR"/>
          </a:p>
        </p:txBody>
      </p:sp>
      <p:sp>
        <p:nvSpPr>
          <p:cNvPr id="13" name="Freeform 13"/>
          <p:cNvSpPr/>
          <p:nvPr/>
        </p:nvSpPr>
        <p:spPr>
          <a:xfrm>
            <a:off x="5211004" y="4724181"/>
            <a:ext cx="1484376" cy="546745"/>
          </a:xfrm>
          <a:custGeom>
            <a:avLst/>
            <a:gdLst/>
            <a:ahLst/>
            <a:cxnLst/>
            <a:rect l="l" t="t" r="r" b="b"/>
            <a:pathLst>
              <a:path w="1484376" h="546745">
                <a:moveTo>
                  <a:pt x="0" y="0"/>
                </a:moveTo>
                <a:lnTo>
                  <a:pt x="1484376" y="0"/>
                </a:lnTo>
                <a:lnTo>
                  <a:pt x="1484376" y="546744"/>
                </a:lnTo>
                <a:lnTo>
                  <a:pt x="0" y="546744"/>
                </a:lnTo>
                <a:lnTo>
                  <a:pt x="0" y="0"/>
                </a:lnTo>
                <a:close/>
              </a:path>
            </a:pathLst>
          </a:custGeom>
          <a:blipFill>
            <a:blip r:embed="rId7"/>
            <a:stretch>
              <a:fillRect t="-2383" b="-2383"/>
            </a:stretch>
          </a:blipFill>
        </p:spPr>
        <p:txBody>
          <a:bodyPr/>
          <a:lstStyle/>
          <a:p>
            <a:endParaRPr lang="fr-FR"/>
          </a:p>
        </p:txBody>
      </p:sp>
      <p:sp>
        <p:nvSpPr>
          <p:cNvPr id="14" name="Freeform 14"/>
          <p:cNvSpPr/>
          <p:nvPr/>
        </p:nvSpPr>
        <p:spPr>
          <a:xfrm>
            <a:off x="977875" y="6919751"/>
            <a:ext cx="1435970" cy="311868"/>
          </a:xfrm>
          <a:custGeom>
            <a:avLst/>
            <a:gdLst/>
            <a:ahLst/>
            <a:cxnLst/>
            <a:rect l="l" t="t" r="r" b="b"/>
            <a:pathLst>
              <a:path w="1435970" h="311868">
                <a:moveTo>
                  <a:pt x="0" y="0"/>
                </a:moveTo>
                <a:lnTo>
                  <a:pt x="1435970" y="0"/>
                </a:lnTo>
                <a:lnTo>
                  <a:pt x="1435970" y="311867"/>
                </a:lnTo>
                <a:lnTo>
                  <a:pt x="0" y="311867"/>
                </a:lnTo>
                <a:lnTo>
                  <a:pt x="0" y="0"/>
                </a:lnTo>
                <a:close/>
              </a:path>
            </a:pathLst>
          </a:custGeom>
          <a:blipFill>
            <a:blip r:embed="rId8"/>
            <a:stretch>
              <a:fillRect t="-3"/>
            </a:stretch>
          </a:blipFill>
        </p:spPr>
        <p:txBody>
          <a:bodyPr/>
          <a:lstStyle/>
          <a:p>
            <a:endParaRPr lang="fr-FR"/>
          </a:p>
        </p:txBody>
      </p:sp>
      <p:sp>
        <p:nvSpPr>
          <p:cNvPr id="15" name="Freeform 15"/>
          <p:cNvSpPr/>
          <p:nvPr/>
        </p:nvSpPr>
        <p:spPr>
          <a:xfrm>
            <a:off x="3850653" y="5625427"/>
            <a:ext cx="1288342" cy="794576"/>
          </a:xfrm>
          <a:custGeom>
            <a:avLst/>
            <a:gdLst/>
            <a:ahLst/>
            <a:cxnLst/>
            <a:rect l="l" t="t" r="r" b="b"/>
            <a:pathLst>
              <a:path w="1288342" h="794576">
                <a:moveTo>
                  <a:pt x="0" y="0"/>
                </a:moveTo>
                <a:lnTo>
                  <a:pt x="1288342" y="0"/>
                </a:lnTo>
                <a:lnTo>
                  <a:pt x="1288342" y="794575"/>
                </a:lnTo>
                <a:lnTo>
                  <a:pt x="0" y="794575"/>
                </a:lnTo>
                <a:lnTo>
                  <a:pt x="0" y="0"/>
                </a:lnTo>
                <a:close/>
              </a:path>
            </a:pathLst>
          </a:custGeom>
          <a:blipFill>
            <a:blip r:embed="rId9"/>
            <a:stretch>
              <a:fillRect l="-998" t="-1625" r="-1024" b="-1600"/>
            </a:stretch>
          </a:blipFill>
        </p:spPr>
        <p:txBody>
          <a:bodyPr/>
          <a:lstStyle/>
          <a:p>
            <a:endParaRPr lang="fr-FR"/>
          </a:p>
        </p:txBody>
      </p:sp>
      <p:sp>
        <p:nvSpPr>
          <p:cNvPr id="16" name="Freeform 16"/>
          <p:cNvSpPr/>
          <p:nvPr/>
        </p:nvSpPr>
        <p:spPr>
          <a:xfrm>
            <a:off x="5078816" y="5759129"/>
            <a:ext cx="1550746" cy="524675"/>
          </a:xfrm>
          <a:custGeom>
            <a:avLst/>
            <a:gdLst/>
            <a:ahLst/>
            <a:cxnLst/>
            <a:rect l="l" t="t" r="r" b="b"/>
            <a:pathLst>
              <a:path w="1550746" h="524675">
                <a:moveTo>
                  <a:pt x="0" y="0"/>
                </a:moveTo>
                <a:lnTo>
                  <a:pt x="1550746" y="0"/>
                </a:lnTo>
                <a:lnTo>
                  <a:pt x="1550746" y="524675"/>
                </a:lnTo>
                <a:lnTo>
                  <a:pt x="0" y="524675"/>
                </a:lnTo>
                <a:lnTo>
                  <a:pt x="0" y="0"/>
                </a:lnTo>
                <a:close/>
              </a:path>
            </a:pathLst>
          </a:custGeom>
          <a:blipFill>
            <a:blip r:embed="rId10"/>
            <a:stretch>
              <a:fillRect/>
            </a:stretch>
          </a:blipFill>
        </p:spPr>
        <p:txBody>
          <a:bodyPr/>
          <a:lstStyle/>
          <a:p>
            <a:endParaRPr lang="fr-FR"/>
          </a:p>
        </p:txBody>
      </p:sp>
      <p:sp>
        <p:nvSpPr>
          <p:cNvPr id="17" name="Freeform 17"/>
          <p:cNvSpPr/>
          <p:nvPr/>
        </p:nvSpPr>
        <p:spPr>
          <a:xfrm>
            <a:off x="2521849" y="5616426"/>
            <a:ext cx="1199350" cy="872642"/>
          </a:xfrm>
          <a:custGeom>
            <a:avLst/>
            <a:gdLst/>
            <a:ahLst/>
            <a:cxnLst/>
            <a:rect l="l" t="t" r="r" b="b"/>
            <a:pathLst>
              <a:path w="1199350" h="872642">
                <a:moveTo>
                  <a:pt x="0" y="0"/>
                </a:moveTo>
                <a:lnTo>
                  <a:pt x="1199349" y="0"/>
                </a:lnTo>
                <a:lnTo>
                  <a:pt x="1199349" y="872642"/>
                </a:lnTo>
                <a:lnTo>
                  <a:pt x="0" y="872642"/>
                </a:lnTo>
                <a:lnTo>
                  <a:pt x="0" y="0"/>
                </a:lnTo>
                <a:close/>
              </a:path>
            </a:pathLst>
          </a:custGeom>
          <a:blipFill>
            <a:blip r:embed="rId11"/>
            <a:stretch>
              <a:fillRect l="-1255" t="-1466" r="-1070" b="-1707"/>
            </a:stretch>
          </a:blipFill>
        </p:spPr>
        <p:txBody>
          <a:bodyPr/>
          <a:lstStyle/>
          <a:p>
            <a:endParaRPr lang="fr-FR"/>
          </a:p>
        </p:txBody>
      </p:sp>
      <p:sp>
        <p:nvSpPr>
          <p:cNvPr id="18" name="Freeform 18"/>
          <p:cNvSpPr/>
          <p:nvPr/>
        </p:nvSpPr>
        <p:spPr>
          <a:xfrm>
            <a:off x="3939283" y="6463332"/>
            <a:ext cx="1082716" cy="986866"/>
          </a:xfrm>
          <a:custGeom>
            <a:avLst/>
            <a:gdLst/>
            <a:ahLst/>
            <a:cxnLst/>
            <a:rect l="l" t="t" r="r" b="b"/>
            <a:pathLst>
              <a:path w="1082716" h="986866">
                <a:moveTo>
                  <a:pt x="0" y="0"/>
                </a:moveTo>
                <a:lnTo>
                  <a:pt x="1082716" y="0"/>
                </a:lnTo>
                <a:lnTo>
                  <a:pt x="1082716" y="986866"/>
                </a:lnTo>
                <a:lnTo>
                  <a:pt x="0" y="986866"/>
                </a:lnTo>
                <a:lnTo>
                  <a:pt x="0" y="0"/>
                </a:lnTo>
                <a:close/>
              </a:path>
            </a:pathLst>
          </a:custGeom>
          <a:blipFill>
            <a:blip r:embed="rId12"/>
            <a:stretch>
              <a:fillRect l="-1354" t="-1303" b="-1470"/>
            </a:stretch>
          </a:blipFill>
        </p:spPr>
        <p:txBody>
          <a:bodyPr/>
          <a:lstStyle/>
          <a:p>
            <a:endParaRPr lang="fr-FR"/>
          </a:p>
        </p:txBody>
      </p:sp>
      <p:sp>
        <p:nvSpPr>
          <p:cNvPr id="19" name="Freeform 19"/>
          <p:cNvSpPr/>
          <p:nvPr/>
        </p:nvSpPr>
        <p:spPr>
          <a:xfrm>
            <a:off x="3949322" y="8606742"/>
            <a:ext cx="1098804" cy="604342"/>
          </a:xfrm>
          <a:custGeom>
            <a:avLst/>
            <a:gdLst/>
            <a:ahLst/>
            <a:cxnLst/>
            <a:rect l="l" t="t" r="r" b="b"/>
            <a:pathLst>
              <a:path w="1098804" h="604342">
                <a:moveTo>
                  <a:pt x="0" y="0"/>
                </a:moveTo>
                <a:lnTo>
                  <a:pt x="1098804" y="0"/>
                </a:lnTo>
                <a:lnTo>
                  <a:pt x="1098804" y="604343"/>
                </a:lnTo>
                <a:lnTo>
                  <a:pt x="0" y="604343"/>
                </a:lnTo>
                <a:lnTo>
                  <a:pt x="0" y="0"/>
                </a:lnTo>
                <a:close/>
              </a:path>
            </a:pathLst>
          </a:custGeom>
          <a:blipFill>
            <a:blip r:embed="rId13"/>
            <a:stretch>
              <a:fillRect/>
            </a:stretch>
          </a:blipFill>
        </p:spPr>
        <p:txBody>
          <a:bodyPr/>
          <a:lstStyle/>
          <a:p>
            <a:endParaRPr lang="fr-FR"/>
          </a:p>
        </p:txBody>
      </p:sp>
      <p:sp>
        <p:nvSpPr>
          <p:cNvPr id="20" name="Freeform 20"/>
          <p:cNvSpPr/>
          <p:nvPr/>
        </p:nvSpPr>
        <p:spPr>
          <a:xfrm>
            <a:off x="936803" y="5904157"/>
            <a:ext cx="1441818" cy="363484"/>
          </a:xfrm>
          <a:custGeom>
            <a:avLst/>
            <a:gdLst/>
            <a:ahLst/>
            <a:cxnLst/>
            <a:rect l="l" t="t" r="r" b="b"/>
            <a:pathLst>
              <a:path w="1441818" h="363484">
                <a:moveTo>
                  <a:pt x="0" y="0"/>
                </a:moveTo>
                <a:lnTo>
                  <a:pt x="1441818" y="0"/>
                </a:lnTo>
                <a:lnTo>
                  <a:pt x="1441818" y="363484"/>
                </a:lnTo>
                <a:lnTo>
                  <a:pt x="0" y="363484"/>
                </a:lnTo>
                <a:lnTo>
                  <a:pt x="0" y="0"/>
                </a:lnTo>
                <a:close/>
              </a:path>
            </a:pathLst>
          </a:custGeom>
          <a:blipFill>
            <a:blip r:embed="rId14"/>
            <a:stretch>
              <a:fillRect l="-970" r="-952" b="-2"/>
            </a:stretch>
          </a:blipFill>
        </p:spPr>
        <p:txBody>
          <a:bodyPr/>
          <a:lstStyle/>
          <a:p>
            <a:endParaRPr lang="fr-FR"/>
          </a:p>
        </p:txBody>
      </p:sp>
      <p:sp>
        <p:nvSpPr>
          <p:cNvPr id="21" name="Freeform 21"/>
          <p:cNvSpPr/>
          <p:nvPr/>
        </p:nvSpPr>
        <p:spPr>
          <a:xfrm>
            <a:off x="3885286" y="7596340"/>
            <a:ext cx="1181710" cy="697925"/>
          </a:xfrm>
          <a:custGeom>
            <a:avLst/>
            <a:gdLst/>
            <a:ahLst/>
            <a:cxnLst/>
            <a:rect l="l" t="t" r="r" b="b"/>
            <a:pathLst>
              <a:path w="1181710" h="697925">
                <a:moveTo>
                  <a:pt x="0" y="0"/>
                </a:moveTo>
                <a:lnTo>
                  <a:pt x="1181709" y="0"/>
                </a:lnTo>
                <a:lnTo>
                  <a:pt x="1181709" y="697925"/>
                </a:lnTo>
                <a:lnTo>
                  <a:pt x="0" y="697925"/>
                </a:lnTo>
                <a:lnTo>
                  <a:pt x="0" y="0"/>
                </a:lnTo>
                <a:close/>
              </a:path>
            </a:pathLst>
          </a:custGeom>
          <a:blipFill>
            <a:blip r:embed="rId15"/>
            <a:stretch>
              <a:fillRect l="-1122" t="-1767" b="-2"/>
            </a:stretch>
          </a:blipFill>
        </p:spPr>
        <p:txBody>
          <a:bodyPr/>
          <a:lstStyle/>
          <a:p>
            <a:endParaRPr lang="fr-FR"/>
          </a:p>
        </p:txBody>
      </p:sp>
      <p:sp>
        <p:nvSpPr>
          <p:cNvPr id="22" name="Freeform 22"/>
          <p:cNvSpPr/>
          <p:nvPr/>
        </p:nvSpPr>
        <p:spPr>
          <a:xfrm>
            <a:off x="5284880" y="6828625"/>
            <a:ext cx="1229535" cy="402669"/>
          </a:xfrm>
          <a:custGeom>
            <a:avLst/>
            <a:gdLst/>
            <a:ahLst/>
            <a:cxnLst/>
            <a:rect l="l" t="t" r="r" b="b"/>
            <a:pathLst>
              <a:path w="1229535" h="402669">
                <a:moveTo>
                  <a:pt x="0" y="0"/>
                </a:moveTo>
                <a:lnTo>
                  <a:pt x="1229534" y="0"/>
                </a:lnTo>
                <a:lnTo>
                  <a:pt x="1229534" y="402669"/>
                </a:lnTo>
                <a:lnTo>
                  <a:pt x="0" y="402669"/>
                </a:lnTo>
                <a:lnTo>
                  <a:pt x="0" y="0"/>
                </a:lnTo>
                <a:close/>
              </a:path>
            </a:pathLst>
          </a:custGeom>
          <a:blipFill>
            <a:blip r:embed="rId16"/>
            <a:stretch>
              <a:fillRect/>
            </a:stretch>
          </a:blipFill>
        </p:spPr>
        <p:txBody>
          <a:bodyPr/>
          <a:lstStyle/>
          <a:p>
            <a:endParaRPr lang="fr-FR"/>
          </a:p>
        </p:txBody>
      </p:sp>
      <p:sp>
        <p:nvSpPr>
          <p:cNvPr id="23" name="Freeform 23"/>
          <p:cNvSpPr/>
          <p:nvPr/>
        </p:nvSpPr>
        <p:spPr>
          <a:xfrm>
            <a:off x="2466680" y="2339407"/>
            <a:ext cx="1191082" cy="999734"/>
          </a:xfrm>
          <a:custGeom>
            <a:avLst/>
            <a:gdLst/>
            <a:ahLst/>
            <a:cxnLst/>
            <a:rect l="l" t="t" r="r" b="b"/>
            <a:pathLst>
              <a:path w="1191082" h="999734">
                <a:moveTo>
                  <a:pt x="0" y="0"/>
                </a:moveTo>
                <a:lnTo>
                  <a:pt x="1191082" y="0"/>
                </a:lnTo>
                <a:lnTo>
                  <a:pt x="1191082" y="999734"/>
                </a:lnTo>
                <a:lnTo>
                  <a:pt x="0" y="999734"/>
                </a:lnTo>
                <a:lnTo>
                  <a:pt x="0" y="0"/>
                </a:lnTo>
                <a:close/>
              </a:path>
            </a:pathLst>
          </a:custGeom>
          <a:blipFill>
            <a:blip r:embed="rId17"/>
            <a:stretch>
              <a:fillRect/>
            </a:stretch>
          </a:blipFill>
        </p:spPr>
        <p:txBody>
          <a:bodyPr/>
          <a:lstStyle/>
          <a:p>
            <a:endParaRPr lang="fr-FR"/>
          </a:p>
        </p:txBody>
      </p:sp>
      <p:sp>
        <p:nvSpPr>
          <p:cNvPr id="24" name="Freeform 24"/>
          <p:cNvSpPr/>
          <p:nvPr/>
        </p:nvSpPr>
        <p:spPr>
          <a:xfrm>
            <a:off x="5068310" y="8740207"/>
            <a:ext cx="1651244" cy="466839"/>
          </a:xfrm>
          <a:custGeom>
            <a:avLst/>
            <a:gdLst/>
            <a:ahLst/>
            <a:cxnLst/>
            <a:rect l="l" t="t" r="r" b="b"/>
            <a:pathLst>
              <a:path w="1651244" h="466839">
                <a:moveTo>
                  <a:pt x="0" y="0"/>
                </a:moveTo>
                <a:lnTo>
                  <a:pt x="1651244" y="0"/>
                </a:lnTo>
                <a:lnTo>
                  <a:pt x="1651244" y="466839"/>
                </a:lnTo>
                <a:lnTo>
                  <a:pt x="0" y="466839"/>
                </a:lnTo>
                <a:lnTo>
                  <a:pt x="0" y="0"/>
                </a:lnTo>
                <a:close/>
              </a:path>
            </a:pathLst>
          </a:custGeom>
          <a:blipFill>
            <a:blip r:embed="rId18"/>
            <a:stretch>
              <a:fillRect/>
            </a:stretch>
          </a:blipFill>
        </p:spPr>
        <p:txBody>
          <a:bodyPr/>
          <a:lstStyle/>
          <a:p>
            <a:endParaRPr lang="fr-FR"/>
          </a:p>
        </p:txBody>
      </p:sp>
      <p:sp>
        <p:nvSpPr>
          <p:cNvPr id="25" name="Freeform 25"/>
          <p:cNvSpPr/>
          <p:nvPr/>
        </p:nvSpPr>
        <p:spPr>
          <a:xfrm>
            <a:off x="5112001" y="3427352"/>
            <a:ext cx="1761077" cy="941851"/>
          </a:xfrm>
          <a:custGeom>
            <a:avLst/>
            <a:gdLst/>
            <a:ahLst/>
            <a:cxnLst/>
            <a:rect l="l" t="t" r="r" b="b"/>
            <a:pathLst>
              <a:path w="1761077" h="941851">
                <a:moveTo>
                  <a:pt x="0" y="0"/>
                </a:moveTo>
                <a:lnTo>
                  <a:pt x="1761077" y="0"/>
                </a:lnTo>
                <a:lnTo>
                  <a:pt x="1761077" y="941851"/>
                </a:lnTo>
                <a:lnTo>
                  <a:pt x="0" y="941851"/>
                </a:lnTo>
                <a:lnTo>
                  <a:pt x="0" y="0"/>
                </a:lnTo>
                <a:close/>
              </a:path>
            </a:pathLst>
          </a:custGeom>
          <a:blipFill>
            <a:blip r:embed="rId19"/>
            <a:stretch>
              <a:fillRect/>
            </a:stretch>
          </a:blipFill>
        </p:spPr>
        <p:txBody>
          <a:bodyPr/>
          <a:lstStyle/>
          <a:p>
            <a:endParaRPr lang="fr-FR"/>
          </a:p>
        </p:txBody>
      </p:sp>
      <p:sp>
        <p:nvSpPr>
          <p:cNvPr id="26" name="Freeform 26"/>
          <p:cNvSpPr/>
          <p:nvPr/>
        </p:nvSpPr>
        <p:spPr>
          <a:xfrm>
            <a:off x="2392975" y="3657133"/>
            <a:ext cx="1434665" cy="807425"/>
          </a:xfrm>
          <a:custGeom>
            <a:avLst/>
            <a:gdLst/>
            <a:ahLst/>
            <a:cxnLst/>
            <a:rect l="l" t="t" r="r" b="b"/>
            <a:pathLst>
              <a:path w="1434665" h="807425">
                <a:moveTo>
                  <a:pt x="0" y="0"/>
                </a:moveTo>
                <a:lnTo>
                  <a:pt x="1434665" y="0"/>
                </a:lnTo>
                <a:lnTo>
                  <a:pt x="1434665" y="807425"/>
                </a:lnTo>
                <a:lnTo>
                  <a:pt x="0" y="807425"/>
                </a:lnTo>
                <a:lnTo>
                  <a:pt x="0" y="0"/>
                </a:lnTo>
                <a:close/>
              </a:path>
            </a:pathLst>
          </a:custGeom>
          <a:blipFill>
            <a:blip r:embed="rId20"/>
            <a:stretch>
              <a:fillRect/>
            </a:stretch>
          </a:blipFill>
        </p:spPr>
        <p:txBody>
          <a:bodyPr/>
          <a:lstStyle/>
          <a:p>
            <a:endParaRPr lang="fr-FR"/>
          </a:p>
        </p:txBody>
      </p:sp>
      <p:sp>
        <p:nvSpPr>
          <p:cNvPr id="27" name="Freeform 27"/>
          <p:cNvSpPr/>
          <p:nvPr/>
        </p:nvSpPr>
        <p:spPr>
          <a:xfrm>
            <a:off x="4104008" y="2449211"/>
            <a:ext cx="766391" cy="795461"/>
          </a:xfrm>
          <a:custGeom>
            <a:avLst/>
            <a:gdLst/>
            <a:ahLst/>
            <a:cxnLst/>
            <a:rect l="l" t="t" r="r" b="b"/>
            <a:pathLst>
              <a:path w="766391" h="795461">
                <a:moveTo>
                  <a:pt x="0" y="0"/>
                </a:moveTo>
                <a:lnTo>
                  <a:pt x="766391" y="0"/>
                </a:lnTo>
                <a:lnTo>
                  <a:pt x="766391" y="795461"/>
                </a:lnTo>
                <a:lnTo>
                  <a:pt x="0" y="795461"/>
                </a:lnTo>
                <a:lnTo>
                  <a:pt x="0" y="0"/>
                </a:lnTo>
                <a:close/>
              </a:path>
            </a:pathLst>
          </a:custGeom>
          <a:blipFill>
            <a:blip r:embed="rId21"/>
            <a:stretch>
              <a:fillRect t="-1" r="-1" b="1"/>
            </a:stretch>
          </a:blipFill>
        </p:spPr>
        <p:txBody>
          <a:bodyPr/>
          <a:lstStyle/>
          <a:p>
            <a:endParaRPr lang="fr-FR"/>
          </a:p>
        </p:txBody>
      </p:sp>
      <p:sp>
        <p:nvSpPr>
          <p:cNvPr id="28" name="Freeform 28"/>
          <p:cNvSpPr/>
          <p:nvPr/>
        </p:nvSpPr>
        <p:spPr>
          <a:xfrm>
            <a:off x="5096818" y="7685418"/>
            <a:ext cx="1495473" cy="579587"/>
          </a:xfrm>
          <a:custGeom>
            <a:avLst/>
            <a:gdLst/>
            <a:ahLst/>
            <a:cxnLst/>
            <a:rect l="l" t="t" r="r" b="b"/>
            <a:pathLst>
              <a:path w="1495473" h="579587">
                <a:moveTo>
                  <a:pt x="0" y="0"/>
                </a:moveTo>
                <a:lnTo>
                  <a:pt x="1495473" y="0"/>
                </a:lnTo>
                <a:lnTo>
                  <a:pt x="1495473" y="579586"/>
                </a:lnTo>
                <a:lnTo>
                  <a:pt x="0" y="579586"/>
                </a:lnTo>
                <a:lnTo>
                  <a:pt x="0" y="0"/>
                </a:lnTo>
                <a:close/>
              </a:path>
            </a:pathLst>
          </a:custGeom>
          <a:blipFill>
            <a:blip r:embed="rId22"/>
            <a:stretch>
              <a:fillRect/>
            </a:stretch>
          </a:blipFill>
        </p:spPr>
        <p:txBody>
          <a:bodyPr/>
          <a:lstStyle/>
          <a:p>
            <a:endParaRPr lang="fr-FR"/>
          </a:p>
        </p:txBody>
      </p:sp>
      <p:sp>
        <p:nvSpPr>
          <p:cNvPr id="29" name="Freeform 29"/>
          <p:cNvSpPr/>
          <p:nvPr/>
        </p:nvSpPr>
        <p:spPr>
          <a:xfrm>
            <a:off x="972798" y="8838124"/>
            <a:ext cx="1378087" cy="352701"/>
          </a:xfrm>
          <a:custGeom>
            <a:avLst/>
            <a:gdLst/>
            <a:ahLst/>
            <a:cxnLst/>
            <a:rect l="l" t="t" r="r" b="b"/>
            <a:pathLst>
              <a:path w="1378087" h="352701">
                <a:moveTo>
                  <a:pt x="0" y="0"/>
                </a:moveTo>
                <a:lnTo>
                  <a:pt x="1378086" y="0"/>
                </a:lnTo>
                <a:lnTo>
                  <a:pt x="1378086" y="352701"/>
                </a:lnTo>
                <a:lnTo>
                  <a:pt x="0" y="352701"/>
                </a:lnTo>
                <a:lnTo>
                  <a:pt x="0" y="0"/>
                </a:lnTo>
                <a:close/>
              </a:path>
            </a:pathLst>
          </a:custGeom>
          <a:blipFill>
            <a:blip r:embed="rId23"/>
            <a:stretch>
              <a:fillRect l="-1009" t="-3645" b="-1185"/>
            </a:stretch>
          </a:blipFill>
        </p:spPr>
        <p:txBody>
          <a:bodyPr/>
          <a:lstStyle/>
          <a:p>
            <a:endParaRPr lang="fr-FR"/>
          </a:p>
        </p:txBody>
      </p:sp>
      <p:sp>
        <p:nvSpPr>
          <p:cNvPr id="30" name="Freeform 30"/>
          <p:cNvSpPr/>
          <p:nvPr/>
        </p:nvSpPr>
        <p:spPr>
          <a:xfrm>
            <a:off x="960339" y="3536852"/>
            <a:ext cx="1396108" cy="936146"/>
          </a:xfrm>
          <a:custGeom>
            <a:avLst/>
            <a:gdLst/>
            <a:ahLst/>
            <a:cxnLst/>
            <a:rect l="l" t="t" r="r" b="b"/>
            <a:pathLst>
              <a:path w="1396108" h="936146">
                <a:moveTo>
                  <a:pt x="0" y="0"/>
                </a:moveTo>
                <a:lnTo>
                  <a:pt x="1396108" y="0"/>
                </a:lnTo>
                <a:lnTo>
                  <a:pt x="1396108" y="936145"/>
                </a:lnTo>
                <a:lnTo>
                  <a:pt x="0" y="936145"/>
                </a:lnTo>
                <a:lnTo>
                  <a:pt x="0" y="0"/>
                </a:lnTo>
                <a:close/>
              </a:path>
            </a:pathLst>
          </a:custGeom>
          <a:blipFill>
            <a:blip r:embed="rId24"/>
            <a:stretch>
              <a:fillRect r="-644"/>
            </a:stretch>
          </a:blipFill>
        </p:spPr>
        <p:txBody>
          <a:bodyPr/>
          <a:lstStyle/>
          <a:p>
            <a:endParaRPr lang="fr-FR"/>
          </a:p>
        </p:txBody>
      </p:sp>
      <p:sp>
        <p:nvSpPr>
          <p:cNvPr id="31" name="Freeform 31"/>
          <p:cNvSpPr/>
          <p:nvPr/>
        </p:nvSpPr>
        <p:spPr>
          <a:xfrm>
            <a:off x="3800504" y="4562827"/>
            <a:ext cx="1365494" cy="1024128"/>
          </a:xfrm>
          <a:custGeom>
            <a:avLst/>
            <a:gdLst/>
            <a:ahLst/>
            <a:cxnLst/>
            <a:rect l="l" t="t" r="r" b="b"/>
            <a:pathLst>
              <a:path w="1365494" h="1024128">
                <a:moveTo>
                  <a:pt x="0" y="0"/>
                </a:moveTo>
                <a:lnTo>
                  <a:pt x="1365494" y="0"/>
                </a:lnTo>
                <a:lnTo>
                  <a:pt x="1365494" y="1024128"/>
                </a:lnTo>
                <a:lnTo>
                  <a:pt x="0" y="1024128"/>
                </a:lnTo>
                <a:lnTo>
                  <a:pt x="0" y="0"/>
                </a:lnTo>
                <a:close/>
              </a:path>
            </a:pathLst>
          </a:custGeom>
          <a:blipFill>
            <a:blip r:embed="rId25"/>
            <a:stretch>
              <a:fillRect/>
            </a:stretch>
          </a:blipFill>
        </p:spPr>
        <p:txBody>
          <a:bodyPr/>
          <a:lstStyle/>
          <a:p>
            <a:endParaRPr lang="fr-FR"/>
          </a:p>
        </p:txBody>
      </p:sp>
      <p:sp>
        <p:nvSpPr>
          <p:cNvPr id="32" name="Freeform 32"/>
          <p:cNvSpPr/>
          <p:nvPr/>
        </p:nvSpPr>
        <p:spPr>
          <a:xfrm>
            <a:off x="5078816" y="2553005"/>
            <a:ext cx="1631118" cy="482279"/>
          </a:xfrm>
          <a:custGeom>
            <a:avLst/>
            <a:gdLst/>
            <a:ahLst/>
            <a:cxnLst/>
            <a:rect l="l" t="t" r="r" b="b"/>
            <a:pathLst>
              <a:path w="1631118" h="482279">
                <a:moveTo>
                  <a:pt x="0" y="0"/>
                </a:moveTo>
                <a:lnTo>
                  <a:pt x="1631118" y="0"/>
                </a:lnTo>
                <a:lnTo>
                  <a:pt x="1631118" y="482279"/>
                </a:lnTo>
                <a:lnTo>
                  <a:pt x="0" y="482279"/>
                </a:lnTo>
                <a:lnTo>
                  <a:pt x="0" y="0"/>
                </a:lnTo>
                <a:close/>
              </a:path>
            </a:pathLst>
          </a:custGeom>
          <a:blipFill>
            <a:blip r:embed="rId26"/>
            <a:stretch>
              <a:fillRect b="-2664"/>
            </a:stretch>
          </a:blipFill>
        </p:spPr>
        <p:txBody>
          <a:bodyPr/>
          <a:lstStyle/>
          <a:p>
            <a:endParaRPr lang="fr-FR"/>
          </a:p>
        </p:txBody>
      </p:sp>
      <p:sp>
        <p:nvSpPr>
          <p:cNvPr id="33" name="Freeform 33"/>
          <p:cNvSpPr/>
          <p:nvPr/>
        </p:nvSpPr>
        <p:spPr>
          <a:xfrm>
            <a:off x="2428265" y="7825807"/>
            <a:ext cx="1363380" cy="480822"/>
          </a:xfrm>
          <a:custGeom>
            <a:avLst/>
            <a:gdLst/>
            <a:ahLst/>
            <a:cxnLst/>
            <a:rect l="l" t="t" r="r" b="b"/>
            <a:pathLst>
              <a:path w="1363380" h="480822">
                <a:moveTo>
                  <a:pt x="0" y="0"/>
                </a:moveTo>
                <a:lnTo>
                  <a:pt x="1363380" y="0"/>
                </a:lnTo>
                <a:lnTo>
                  <a:pt x="1363380" y="480822"/>
                </a:lnTo>
                <a:lnTo>
                  <a:pt x="0" y="480822"/>
                </a:lnTo>
                <a:lnTo>
                  <a:pt x="0" y="0"/>
                </a:lnTo>
                <a:close/>
              </a:path>
            </a:pathLst>
          </a:custGeom>
          <a:blipFill>
            <a:blip r:embed="rId27"/>
            <a:stretch>
              <a:fillRect/>
            </a:stretch>
          </a:blipFill>
        </p:spPr>
        <p:txBody>
          <a:bodyPr/>
          <a:lstStyle/>
          <a:p>
            <a:endParaRPr lang="fr-FR"/>
          </a:p>
        </p:txBody>
      </p:sp>
      <p:sp>
        <p:nvSpPr>
          <p:cNvPr id="34" name="Freeform 34"/>
          <p:cNvSpPr/>
          <p:nvPr/>
        </p:nvSpPr>
        <p:spPr>
          <a:xfrm>
            <a:off x="1297859" y="7615358"/>
            <a:ext cx="719706" cy="719706"/>
          </a:xfrm>
          <a:custGeom>
            <a:avLst/>
            <a:gdLst/>
            <a:ahLst/>
            <a:cxnLst/>
            <a:rect l="l" t="t" r="r" b="b"/>
            <a:pathLst>
              <a:path w="719706" h="719706">
                <a:moveTo>
                  <a:pt x="0" y="0"/>
                </a:moveTo>
                <a:lnTo>
                  <a:pt x="719706" y="0"/>
                </a:lnTo>
                <a:lnTo>
                  <a:pt x="719706" y="719706"/>
                </a:lnTo>
                <a:lnTo>
                  <a:pt x="0" y="719706"/>
                </a:lnTo>
                <a:lnTo>
                  <a:pt x="0" y="0"/>
                </a:lnTo>
                <a:close/>
              </a:path>
            </a:pathLst>
          </a:custGeom>
          <a:blipFill>
            <a:blip r:embed="rId28"/>
            <a:stretch>
              <a:fillRect/>
            </a:stretch>
          </a:blipFill>
        </p:spPr>
        <p:txBody>
          <a:bodyPr/>
          <a:lstStyle/>
          <a:p>
            <a:endParaRPr lang="fr-FR"/>
          </a:p>
        </p:txBody>
      </p:sp>
      <p:sp>
        <p:nvSpPr>
          <p:cNvPr id="35" name="Freeform 35"/>
          <p:cNvSpPr/>
          <p:nvPr/>
        </p:nvSpPr>
        <p:spPr>
          <a:xfrm>
            <a:off x="2550062" y="6529157"/>
            <a:ext cx="1093055" cy="1093055"/>
          </a:xfrm>
          <a:custGeom>
            <a:avLst/>
            <a:gdLst/>
            <a:ahLst/>
            <a:cxnLst/>
            <a:rect l="l" t="t" r="r" b="b"/>
            <a:pathLst>
              <a:path w="1093055" h="1093055">
                <a:moveTo>
                  <a:pt x="0" y="0"/>
                </a:moveTo>
                <a:lnTo>
                  <a:pt x="1093055" y="0"/>
                </a:lnTo>
                <a:lnTo>
                  <a:pt x="1093055" y="1093055"/>
                </a:lnTo>
                <a:lnTo>
                  <a:pt x="0" y="1093055"/>
                </a:lnTo>
                <a:lnTo>
                  <a:pt x="0" y="0"/>
                </a:lnTo>
                <a:close/>
              </a:path>
            </a:pathLst>
          </a:custGeom>
          <a:blipFill>
            <a:blip r:embed="rId29"/>
            <a:stretch>
              <a:fillRect/>
            </a:stretch>
          </a:blipFill>
        </p:spPr>
        <p:txBody>
          <a:bodyPr/>
          <a:lstStyle/>
          <a:p>
            <a:endParaRPr lang="fr-FR"/>
          </a:p>
        </p:txBody>
      </p:sp>
      <p:sp>
        <p:nvSpPr>
          <p:cNvPr id="36" name="TextBox 36"/>
          <p:cNvSpPr txBox="1"/>
          <p:nvPr/>
        </p:nvSpPr>
        <p:spPr>
          <a:xfrm>
            <a:off x="1657712" y="847220"/>
            <a:ext cx="4374642" cy="914400"/>
          </a:xfrm>
          <a:prstGeom prst="rect">
            <a:avLst/>
          </a:prstGeom>
        </p:spPr>
        <p:txBody>
          <a:bodyPr lIns="0" tIns="0" rIns="0" bIns="0" rtlCol="0" anchor="t">
            <a:spAutoFit/>
          </a:bodyPr>
          <a:lstStyle/>
          <a:p>
            <a:pPr algn="l">
              <a:lnSpc>
                <a:spcPts val="3600"/>
              </a:lnSpc>
            </a:pPr>
            <a:r>
              <a:rPr lang="en-US" sz="3000" b="1" i="1" spc="12">
                <a:solidFill>
                  <a:srgbClr val="1A1447"/>
                </a:solidFill>
                <a:latin typeface="IBM Plex Sans Bold Italics"/>
                <a:ea typeface="IBM Plex Sans Bold Italics"/>
                <a:cs typeface="IBM Plex Sans Bold Italics"/>
                <a:sym typeface="IBM Plex Sans Bold Italics"/>
              </a:rPr>
              <a:t> Nos</a:t>
            </a:r>
          </a:p>
          <a:p>
            <a:pPr algn="l">
              <a:lnSpc>
                <a:spcPts val="3600"/>
              </a:lnSpc>
            </a:pPr>
            <a:r>
              <a:rPr lang="en-US" sz="3000" b="1" i="1" spc="12">
                <a:solidFill>
                  <a:srgbClr val="1A1447"/>
                </a:solidFill>
                <a:latin typeface="IBM Plex Sans Bold Italics"/>
                <a:ea typeface="IBM Plex Sans Bold Italics"/>
                <a:cs typeface="IBM Plex Sans Bold Italics"/>
                <a:sym typeface="IBM Plex Sans Bold Italics"/>
              </a:rPr>
              <a:t>PARTENAIRES</a:t>
            </a:r>
          </a:p>
        </p:txBody>
      </p:sp>
      <p:sp>
        <p:nvSpPr>
          <p:cNvPr id="37" name="TextBox 37"/>
          <p:cNvSpPr txBox="1"/>
          <p:nvPr/>
        </p:nvSpPr>
        <p:spPr>
          <a:xfrm>
            <a:off x="4103999" y="9673942"/>
            <a:ext cx="2292487" cy="280845"/>
          </a:xfrm>
          <a:prstGeom prst="rect">
            <a:avLst/>
          </a:prstGeom>
        </p:spPr>
        <p:txBody>
          <a:bodyPr lIns="0" tIns="0" rIns="0" bIns="0" rtlCol="0" anchor="t">
            <a:spAutoFit/>
          </a:bodyPr>
          <a:lstStyle/>
          <a:p>
            <a:pPr algn="l">
              <a:lnSpc>
                <a:spcPts val="2240"/>
              </a:lnSpc>
            </a:pPr>
            <a:r>
              <a:rPr lang="en-US" sz="1600" b="1" i="1" spc="9">
                <a:solidFill>
                  <a:srgbClr val="1A1447"/>
                </a:solidFill>
                <a:latin typeface="IBM Plex Sans Bold Italics"/>
                <a:ea typeface="IBM Plex Sans Bold Italics"/>
                <a:cs typeface="IBM Plex Sans Bold Italics"/>
                <a:sym typeface="IBM Plex Sans Bold Italics"/>
              </a:rPr>
              <a:t>Et bien d’autres encore...</a:t>
            </a:r>
          </a:p>
        </p:txBody>
      </p:sp>
      <p:sp>
        <p:nvSpPr>
          <p:cNvPr id="38" name="TextBox 38"/>
          <p:cNvSpPr txBox="1"/>
          <p:nvPr/>
        </p:nvSpPr>
        <p:spPr>
          <a:xfrm>
            <a:off x="2522201" y="10362000"/>
            <a:ext cx="2515629" cy="151428"/>
          </a:xfrm>
          <a:prstGeom prst="rect">
            <a:avLst/>
          </a:prstGeom>
        </p:spPr>
        <p:txBody>
          <a:bodyPr lIns="0" tIns="0" rIns="0" bIns="0" rtlCol="0" anchor="t">
            <a:spAutoFit/>
          </a:bodyPr>
          <a:lstStyle/>
          <a:p>
            <a:pPr algn="l">
              <a:lnSpc>
                <a:spcPts val="1260"/>
              </a:lnSpc>
            </a:pPr>
            <a:r>
              <a:rPr lang="en-US" sz="900" i="1" spc="25">
                <a:solidFill>
                  <a:srgbClr val="939496"/>
                </a:solidFill>
                <a:latin typeface="IBM Plex Sans Italics"/>
                <a:ea typeface="IBM Plex Sans Italics"/>
                <a:cs typeface="IBM Plex Sans Italics"/>
                <a:sym typeface="IBM Plex Sans Italics"/>
              </a:rPr>
              <a:t>Etablissement d’enseignement supérieur privé</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9F6"/>
        </a:solidFill>
        <a:effectLst/>
      </p:bgPr>
    </p:bg>
    <p:spTree>
      <p:nvGrpSpPr>
        <p:cNvPr id="1" name=""/>
        <p:cNvGrpSpPr/>
        <p:nvPr/>
      </p:nvGrpSpPr>
      <p:grpSpPr>
        <a:xfrm>
          <a:off x="0" y="0"/>
          <a:ext cx="0" cy="0"/>
          <a:chOff x="0" y="0"/>
          <a:chExt cx="0" cy="0"/>
        </a:xfrm>
      </p:grpSpPr>
      <p:sp>
        <p:nvSpPr>
          <p:cNvPr id="2" name="TextBox 2"/>
          <p:cNvSpPr txBox="1"/>
          <p:nvPr/>
        </p:nvSpPr>
        <p:spPr>
          <a:xfrm>
            <a:off x="0" y="371475"/>
            <a:ext cx="8371004" cy="10180203"/>
          </a:xfrm>
          <a:prstGeom prst="rect">
            <a:avLst/>
          </a:prstGeom>
        </p:spPr>
        <p:txBody>
          <a:bodyPr lIns="0" tIns="0" rIns="0" bIns="0" rtlCol="0" anchor="t">
            <a:spAutoFit/>
          </a:bodyPr>
          <a:lstStyle/>
          <a:p>
            <a:pPr algn="just">
              <a:lnSpc>
                <a:spcPts val="11376"/>
              </a:lnSpc>
            </a:pPr>
            <a:r>
              <a:rPr lang="en-US" sz="12654" b="1" spc="771">
                <a:solidFill>
                  <a:srgbClr val="FBE4D2"/>
                </a:solidFill>
                <a:latin typeface="Open Sans Bold"/>
                <a:ea typeface="Open Sans Bold"/>
                <a:cs typeface="Open Sans Bold"/>
                <a:sym typeface="Open Sans Bold"/>
              </a:rPr>
              <a:t>S</a:t>
            </a:r>
            <a:r>
              <a:rPr lang="en-US" sz="12654" b="1" spc="771">
                <a:solidFill>
                  <a:srgbClr val="EA8C4C"/>
                </a:solidFill>
                <a:latin typeface="Open Sans Bold"/>
                <a:ea typeface="Open Sans Bold"/>
                <a:cs typeface="Open Sans Bold"/>
                <a:sym typeface="Open Sans Bold"/>
              </a:rPr>
              <a:t>S</a:t>
            </a:r>
            <a:r>
              <a:rPr lang="en-US" sz="12654" b="1" spc="771">
                <a:solidFill>
                  <a:srgbClr val="F5C6A1"/>
                </a:solidFill>
                <a:latin typeface="Open Sans Bold"/>
                <a:ea typeface="Open Sans Bold"/>
                <a:cs typeface="Open Sans Bold"/>
                <a:sym typeface="Open Sans Bold"/>
              </a:rPr>
              <a:t>S</a:t>
            </a:r>
            <a:r>
              <a:rPr lang="en-US" sz="12654" b="1" spc="771">
                <a:solidFill>
                  <a:srgbClr val="FBE8DA"/>
                </a:solidFill>
                <a:latin typeface="Open Sans Bold"/>
                <a:ea typeface="Open Sans Bold"/>
                <a:cs typeface="Open Sans Bold"/>
                <a:sym typeface="Open Sans Bold"/>
              </a:rPr>
              <a:t>S</a:t>
            </a:r>
            <a:r>
              <a:rPr lang="en-US" sz="12654" b="1" spc="771">
                <a:solidFill>
                  <a:srgbClr val="FDF4EC"/>
                </a:solidFill>
                <a:latin typeface="Open Sans Bold"/>
                <a:ea typeface="Open Sans Bold"/>
                <a:cs typeface="Open Sans Bold"/>
                <a:sym typeface="Open Sans Bold"/>
              </a:rPr>
              <a:t>S</a:t>
            </a:r>
            <a:r>
              <a:rPr lang="en-US" sz="12654" b="1" spc="771">
                <a:solidFill>
                  <a:srgbClr val="FEF9F6"/>
                </a:solidFill>
                <a:latin typeface="Open Sans Bold"/>
                <a:ea typeface="Open Sans Bold"/>
                <a:cs typeface="Open Sans Bold"/>
                <a:sym typeface="Open Sans Bold"/>
              </a:rPr>
              <a:t>S </a:t>
            </a:r>
            <a:r>
              <a:rPr lang="en-US" sz="12654" b="1" spc="771">
                <a:solidFill>
                  <a:srgbClr val="FBE4D2"/>
                </a:solidFill>
                <a:latin typeface="Open Sans Bold"/>
                <a:ea typeface="Open Sans Bold"/>
                <a:cs typeface="Open Sans Bold"/>
                <a:sym typeface="Open Sans Bold"/>
              </a:rPr>
              <a:t>O</a:t>
            </a:r>
            <a:r>
              <a:rPr lang="en-US" sz="12654" b="1" spc="771">
                <a:solidFill>
                  <a:srgbClr val="EA8C4C"/>
                </a:solidFill>
                <a:latin typeface="Open Sans Bold"/>
                <a:ea typeface="Open Sans Bold"/>
                <a:cs typeface="Open Sans Bold"/>
                <a:sym typeface="Open Sans Bold"/>
              </a:rPr>
              <a:t>O</a:t>
            </a:r>
            <a:r>
              <a:rPr lang="en-US" sz="12654" b="1" spc="771">
                <a:solidFill>
                  <a:srgbClr val="F5C6A1"/>
                </a:solidFill>
                <a:latin typeface="Open Sans Bold"/>
                <a:ea typeface="Open Sans Bold"/>
                <a:cs typeface="Open Sans Bold"/>
                <a:sym typeface="Open Sans Bold"/>
              </a:rPr>
              <a:t>O</a:t>
            </a:r>
            <a:r>
              <a:rPr lang="en-US" sz="12654" b="1" spc="771">
                <a:solidFill>
                  <a:srgbClr val="FBE8DA"/>
                </a:solidFill>
                <a:latin typeface="Open Sans Bold"/>
                <a:ea typeface="Open Sans Bold"/>
                <a:cs typeface="Open Sans Bold"/>
                <a:sym typeface="Open Sans Bold"/>
              </a:rPr>
              <a:t>O</a:t>
            </a:r>
            <a:r>
              <a:rPr lang="en-US" sz="12654" b="1" spc="771">
                <a:solidFill>
                  <a:srgbClr val="FDF4EC"/>
                </a:solidFill>
                <a:latin typeface="Open Sans Bold"/>
                <a:ea typeface="Open Sans Bold"/>
                <a:cs typeface="Open Sans Bold"/>
                <a:sym typeface="Open Sans Bold"/>
              </a:rPr>
              <a:t>O</a:t>
            </a:r>
            <a:r>
              <a:rPr lang="en-US" sz="12654" b="1" spc="771">
                <a:solidFill>
                  <a:srgbClr val="FEF9F6"/>
                </a:solidFill>
                <a:latin typeface="Open Sans Bold"/>
                <a:ea typeface="Open Sans Bold"/>
                <a:cs typeface="Open Sans Bold"/>
                <a:sym typeface="Open Sans Bold"/>
              </a:rPr>
              <a:t>O </a:t>
            </a:r>
            <a:r>
              <a:rPr lang="en-US" sz="12654" b="1" spc="771">
                <a:solidFill>
                  <a:srgbClr val="FBE4D2"/>
                </a:solidFill>
                <a:latin typeface="Open Sans Bold"/>
                <a:ea typeface="Open Sans Bold"/>
                <a:cs typeface="Open Sans Bold"/>
                <a:sym typeface="Open Sans Bold"/>
              </a:rPr>
              <a:t>M</a:t>
            </a:r>
            <a:r>
              <a:rPr lang="en-US" sz="12654" b="1" spc="771">
                <a:solidFill>
                  <a:srgbClr val="EA8C4C"/>
                </a:solidFill>
                <a:latin typeface="Open Sans Bold"/>
                <a:ea typeface="Open Sans Bold"/>
                <a:cs typeface="Open Sans Bold"/>
                <a:sym typeface="Open Sans Bold"/>
              </a:rPr>
              <a:t>M</a:t>
            </a:r>
            <a:r>
              <a:rPr lang="en-US" sz="12654" b="1" spc="771">
                <a:solidFill>
                  <a:srgbClr val="EA8C43"/>
                </a:solidFill>
                <a:latin typeface="Open Sans Bold"/>
                <a:ea typeface="Open Sans Bold"/>
                <a:cs typeface="Open Sans Bold"/>
                <a:sym typeface="Open Sans Bold"/>
              </a:rPr>
              <a:t>M</a:t>
            </a:r>
            <a:r>
              <a:rPr lang="en-US" sz="12654" b="1" spc="771">
                <a:solidFill>
                  <a:srgbClr val="FBE8DA"/>
                </a:solidFill>
                <a:latin typeface="Open Sans Bold"/>
                <a:ea typeface="Open Sans Bold"/>
                <a:cs typeface="Open Sans Bold"/>
                <a:sym typeface="Open Sans Bold"/>
              </a:rPr>
              <a:t>M</a:t>
            </a:r>
            <a:r>
              <a:rPr lang="en-US" sz="12654" b="1" spc="771">
                <a:solidFill>
                  <a:srgbClr val="FDF4EC"/>
                </a:solidFill>
                <a:latin typeface="Open Sans Bold"/>
                <a:ea typeface="Open Sans Bold"/>
                <a:cs typeface="Open Sans Bold"/>
                <a:sym typeface="Open Sans Bold"/>
              </a:rPr>
              <a:t>M</a:t>
            </a:r>
            <a:r>
              <a:rPr lang="en-US" sz="12654" b="1" spc="771">
                <a:solidFill>
                  <a:srgbClr val="FEF9F6"/>
                </a:solidFill>
                <a:latin typeface="Open Sans Bold"/>
                <a:ea typeface="Open Sans Bold"/>
                <a:cs typeface="Open Sans Bold"/>
                <a:sym typeface="Open Sans Bold"/>
              </a:rPr>
              <a:t> </a:t>
            </a:r>
            <a:r>
              <a:rPr lang="en-US" sz="12654" b="1" spc="771">
                <a:solidFill>
                  <a:srgbClr val="FBE4D2"/>
                </a:solidFill>
                <a:latin typeface="Open Sans Bold"/>
                <a:ea typeface="Open Sans Bold"/>
                <a:cs typeface="Open Sans Bold"/>
                <a:sym typeface="Open Sans Bold"/>
              </a:rPr>
              <a:t>A</a:t>
            </a:r>
            <a:r>
              <a:rPr lang="en-US" sz="12654" b="1" spc="771">
                <a:solidFill>
                  <a:srgbClr val="F4C19B"/>
                </a:solidFill>
                <a:latin typeface="Open Sans Bold"/>
                <a:ea typeface="Open Sans Bold"/>
                <a:cs typeface="Open Sans Bold"/>
                <a:sym typeface="Open Sans Bold"/>
              </a:rPr>
              <a:t>A</a:t>
            </a:r>
            <a:r>
              <a:rPr lang="en-US" sz="12654" b="1" spc="771">
                <a:solidFill>
                  <a:srgbClr val="EA8C43"/>
                </a:solidFill>
                <a:latin typeface="Open Sans Bold"/>
                <a:ea typeface="Open Sans Bold"/>
                <a:cs typeface="Open Sans Bold"/>
                <a:sym typeface="Open Sans Bold"/>
              </a:rPr>
              <a:t>A</a:t>
            </a:r>
            <a:r>
              <a:rPr lang="en-US" sz="12654" b="1" spc="771">
                <a:solidFill>
                  <a:srgbClr val="FBE8DA"/>
                </a:solidFill>
                <a:latin typeface="Open Sans Bold"/>
                <a:ea typeface="Open Sans Bold"/>
                <a:cs typeface="Open Sans Bold"/>
                <a:sym typeface="Open Sans Bold"/>
              </a:rPr>
              <a:t>A</a:t>
            </a:r>
            <a:r>
              <a:rPr lang="en-US" sz="12654" b="1" spc="771">
                <a:solidFill>
                  <a:srgbClr val="FDF4EC"/>
                </a:solidFill>
                <a:latin typeface="Open Sans Bold"/>
                <a:ea typeface="Open Sans Bold"/>
                <a:cs typeface="Open Sans Bold"/>
                <a:sym typeface="Open Sans Bold"/>
              </a:rPr>
              <a:t>A</a:t>
            </a:r>
            <a:r>
              <a:rPr lang="en-US" sz="12654" b="1" spc="771">
                <a:solidFill>
                  <a:srgbClr val="FEF9F6"/>
                </a:solidFill>
                <a:latin typeface="Open Sans Bold"/>
                <a:ea typeface="Open Sans Bold"/>
                <a:cs typeface="Open Sans Bold"/>
                <a:sym typeface="Open Sans Bold"/>
              </a:rPr>
              <a:t>A </a:t>
            </a:r>
            <a:r>
              <a:rPr lang="en-US" sz="12654" b="1" spc="771">
                <a:solidFill>
                  <a:srgbClr val="FBE4D2"/>
                </a:solidFill>
                <a:latin typeface="Open Sans Bold"/>
                <a:ea typeface="Open Sans Bold"/>
                <a:cs typeface="Open Sans Bold"/>
                <a:sym typeface="Open Sans Bold"/>
              </a:rPr>
              <a:t>I</a:t>
            </a:r>
            <a:r>
              <a:rPr lang="en-US" sz="12654" b="1" spc="771">
                <a:solidFill>
                  <a:srgbClr val="F4C19B"/>
                </a:solidFill>
                <a:latin typeface="Open Sans Bold"/>
                <a:ea typeface="Open Sans Bold"/>
                <a:cs typeface="Open Sans Bold"/>
                <a:sym typeface="Open Sans Bold"/>
              </a:rPr>
              <a:t>I</a:t>
            </a:r>
            <a:r>
              <a:rPr lang="en-US" sz="12654" b="1" spc="771">
                <a:solidFill>
                  <a:srgbClr val="EA8C43"/>
                </a:solidFill>
                <a:latin typeface="Open Sans Bold"/>
                <a:ea typeface="Open Sans Bold"/>
                <a:cs typeface="Open Sans Bold"/>
                <a:sym typeface="Open Sans Bold"/>
              </a:rPr>
              <a:t>I</a:t>
            </a:r>
            <a:r>
              <a:rPr lang="en-US" sz="12654" b="1" spc="771">
                <a:solidFill>
                  <a:srgbClr val="FBE8DA"/>
                </a:solidFill>
                <a:latin typeface="Open Sans Bold"/>
                <a:ea typeface="Open Sans Bold"/>
                <a:cs typeface="Open Sans Bold"/>
                <a:sym typeface="Open Sans Bold"/>
              </a:rPr>
              <a:t>I</a:t>
            </a:r>
            <a:r>
              <a:rPr lang="en-US" sz="12654" b="1" spc="771">
                <a:solidFill>
                  <a:srgbClr val="FDF4EC"/>
                </a:solidFill>
                <a:latin typeface="Open Sans Bold"/>
                <a:ea typeface="Open Sans Bold"/>
                <a:cs typeface="Open Sans Bold"/>
                <a:sym typeface="Open Sans Bold"/>
              </a:rPr>
              <a:t>I</a:t>
            </a:r>
            <a:r>
              <a:rPr lang="en-US" sz="12654" b="1" spc="771">
                <a:solidFill>
                  <a:srgbClr val="FEF9F6"/>
                </a:solidFill>
                <a:latin typeface="Open Sans Bold"/>
                <a:ea typeface="Open Sans Bold"/>
                <a:cs typeface="Open Sans Bold"/>
                <a:sym typeface="Open Sans Bold"/>
              </a:rPr>
              <a:t>I </a:t>
            </a:r>
          </a:p>
          <a:p>
            <a:pPr algn="just">
              <a:lnSpc>
                <a:spcPts val="11376"/>
              </a:lnSpc>
            </a:pPr>
            <a:r>
              <a:rPr lang="en-US" sz="12654" b="1" spc="771">
                <a:solidFill>
                  <a:srgbClr val="FBE4D2"/>
                </a:solidFill>
                <a:latin typeface="Open Sans Bold"/>
                <a:ea typeface="Open Sans Bold"/>
                <a:cs typeface="Open Sans Bold"/>
                <a:sym typeface="Open Sans Bold"/>
              </a:rPr>
              <a:t>R</a:t>
            </a:r>
            <a:r>
              <a:rPr lang="en-US" sz="12654" b="1" spc="771">
                <a:solidFill>
                  <a:srgbClr val="F4C19B"/>
                </a:solidFill>
                <a:latin typeface="Open Sans Bold"/>
                <a:ea typeface="Open Sans Bold"/>
                <a:cs typeface="Open Sans Bold"/>
                <a:sym typeface="Open Sans Bold"/>
              </a:rPr>
              <a:t>R</a:t>
            </a:r>
            <a:r>
              <a:rPr lang="en-US" sz="12654" b="1" spc="771">
                <a:solidFill>
                  <a:srgbClr val="EA8C43"/>
                </a:solidFill>
                <a:latin typeface="Open Sans Bold"/>
                <a:ea typeface="Open Sans Bold"/>
                <a:cs typeface="Open Sans Bold"/>
                <a:sym typeface="Open Sans Bold"/>
              </a:rPr>
              <a:t>R</a:t>
            </a:r>
            <a:r>
              <a:rPr lang="en-US" sz="12654" b="1" spc="771">
                <a:solidFill>
                  <a:srgbClr val="FBE8DA"/>
                </a:solidFill>
                <a:latin typeface="Open Sans Bold"/>
                <a:ea typeface="Open Sans Bold"/>
                <a:cs typeface="Open Sans Bold"/>
                <a:sym typeface="Open Sans Bold"/>
              </a:rPr>
              <a:t>R</a:t>
            </a:r>
            <a:r>
              <a:rPr lang="en-US" sz="12654" b="1" spc="771">
                <a:solidFill>
                  <a:srgbClr val="FDF4EC"/>
                </a:solidFill>
                <a:latin typeface="Open Sans Bold"/>
                <a:ea typeface="Open Sans Bold"/>
                <a:cs typeface="Open Sans Bold"/>
                <a:sym typeface="Open Sans Bold"/>
              </a:rPr>
              <a:t>R</a:t>
            </a:r>
            <a:r>
              <a:rPr lang="en-US" sz="12654" b="1" spc="771">
                <a:solidFill>
                  <a:srgbClr val="FEF9F6"/>
                </a:solidFill>
                <a:latin typeface="Open Sans Bold"/>
                <a:ea typeface="Open Sans Bold"/>
                <a:cs typeface="Open Sans Bold"/>
                <a:sym typeface="Open Sans Bold"/>
              </a:rPr>
              <a:t>R</a:t>
            </a:r>
          </a:p>
          <a:p>
            <a:pPr algn="just">
              <a:lnSpc>
                <a:spcPts val="11376"/>
              </a:lnSpc>
            </a:pPr>
            <a:r>
              <a:rPr lang="en-US" sz="12654" b="1" spc="771">
                <a:solidFill>
                  <a:srgbClr val="FBE4D2"/>
                </a:solidFill>
                <a:latin typeface="Open Sans Bold"/>
                <a:ea typeface="Open Sans Bold"/>
                <a:cs typeface="Open Sans Bold"/>
                <a:sym typeface="Open Sans Bold"/>
              </a:rPr>
              <a:t>E</a:t>
            </a:r>
            <a:r>
              <a:rPr lang="en-US" sz="12654" b="1" spc="771">
                <a:solidFill>
                  <a:srgbClr val="F5C6A1"/>
                </a:solidFill>
                <a:latin typeface="Open Sans Bold"/>
                <a:ea typeface="Open Sans Bold"/>
                <a:cs typeface="Open Sans Bold"/>
                <a:sym typeface="Open Sans Bold"/>
              </a:rPr>
              <a:t>E</a:t>
            </a:r>
            <a:r>
              <a:rPr lang="en-US" sz="12654" b="1" spc="771">
                <a:solidFill>
                  <a:srgbClr val="EA8C4C"/>
                </a:solidFill>
                <a:latin typeface="Open Sans Bold"/>
                <a:ea typeface="Open Sans Bold"/>
                <a:cs typeface="Open Sans Bold"/>
                <a:sym typeface="Open Sans Bold"/>
              </a:rPr>
              <a:t>E</a:t>
            </a:r>
            <a:r>
              <a:rPr lang="en-US" sz="12654" b="1" spc="771">
                <a:solidFill>
                  <a:srgbClr val="FBE8DA"/>
                </a:solidFill>
                <a:latin typeface="Open Sans Bold"/>
                <a:ea typeface="Open Sans Bold"/>
                <a:cs typeface="Open Sans Bold"/>
                <a:sym typeface="Open Sans Bold"/>
              </a:rPr>
              <a:t>E</a:t>
            </a:r>
            <a:r>
              <a:rPr lang="en-US" sz="12654" b="1" spc="771">
                <a:solidFill>
                  <a:srgbClr val="FDF4EC"/>
                </a:solidFill>
                <a:latin typeface="Open Sans Bold"/>
                <a:ea typeface="Open Sans Bold"/>
                <a:cs typeface="Open Sans Bold"/>
                <a:sym typeface="Open Sans Bold"/>
              </a:rPr>
              <a:t>E</a:t>
            </a:r>
            <a:r>
              <a:rPr lang="en-US" sz="12654" b="1" spc="771">
                <a:solidFill>
                  <a:srgbClr val="FEF9F6"/>
                </a:solidFill>
                <a:latin typeface="Open Sans Bold"/>
                <a:ea typeface="Open Sans Bold"/>
                <a:cs typeface="Open Sans Bold"/>
                <a:sym typeface="Open Sans Bold"/>
              </a:rPr>
              <a:t>EE</a:t>
            </a:r>
          </a:p>
        </p:txBody>
      </p:sp>
      <p:sp>
        <p:nvSpPr>
          <p:cNvPr id="3" name="TextBox 3"/>
          <p:cNvSpPr txBox="1"/>
          <p:nvPr/>
        </p:nvSpPr>
        <p:spPr>
          <a:xfrm>
            <a:off x="2522201" y="10362000"/>
            <a:ext cx="2515629" cy="151428"/>
          </a:xfrm>
          <a:prstGeom prst="rect">
            <a:avLst/>
          </a:prstGeom>
        </p:spPr>
        <p:txBody>
          <a:bodyPr lIns="0" tIns="0" rIns="0" bIns="0" rtlCol="0" anchor="t">
            <a:spAutoFit/>
          </a:bodyPr>
          <a:lstStyle/>
          <a:p>
            <a:pPr algn="l">
              <a:lnSpc>
                <a:spcPts val="1260"/>
              </a:lnSpc>
            </a:pPr>
            <a:r>
              <a:rPr lang="en-US" sz="900" i="1" spc="25">
                <a:solidFill>
                  <a:srgbClr val="939496"/>
                </a:solidFill>
                <a:latin typeface="IBM Plex Sans Italics"/>
                <a:ea typeface="IBM Plex Sans Italics"/>
                <a:cs typeface="IBM Plex Sans Italics"/>
                <a:sym typeface="IBM Plex Sans Italics"/>
              </a:rPr>
              <a:t>Etablissement d’enseignement supérieur privé</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19896" y="462344"/>
            <a:ext cx="4720209" cy="514350"/>
          </a:xfrm>
          <a:prstGeom prst="rect">
            <a:avLst/>
          </a:prstGeom>
        </p:spPr>
        <p:txBody>
          <a:bodyPr lIns="0" tIns="0" rIns="0" bIns="0" rtlCol="0" anchor="t">
            <a:spAutoFit/>
          </a:bodyPr>
          <a:lstStyle/>
          <a:p>
            <a:pPr algn="l">
              <a:lnSpc>
                <a:spcPts val="4200"/>
              </a:lnSpc>
            </a:pPr>
            <a:r>
              <a:rPr lang="en-US" sz="3000" b="1" spc="18">
                <a:solidFill>
                  <a:srgbClr val="1A1447"/>
                </a:solidFill>
                <a:latin typeface="IBM Plex Sans Bold"/>
                <a:ea typeface="IBM Plex Sans Bold"/>
                <a:cs typeface="IBM Plex Sans Bold"/>
                <a:sym typeface="IBM Plex Sans Bold"/>
              </a:rPr>
              <a:t>SUMMARY - SOMMAIRE</a:t>
            </a:r>
          </a:p>
        </p:txBody>
      </p:sp>
      <p:sp>
        <p:nvSpPr>
          <p:cNvPr id="3" name="TextBox 3"/>
          <p:cNvSpPr txBox="1"/>
          <p:nvPr/>
        </p:nvSpPr>
        <p:spPr>
          <a:xfrm>
            <a:off x="2522201" y="10362000"/>
            <a:ext cx="2515629" cy="151428"/>
          </a:xfrm>
          <a:prstGeom prst="rect">
            <a:avLst/>
          </a:prstGeom>
        </p:spPr>
        <p:txBody>
          <a:bodyPr lIns="0" tIns="0" rIns="0" bIns="0" rtlCol="0" anchor="t">
            <a:spAutoFit/>
          </a:bodyPr>
          <a:lstStyle/>
          <a:p>
            <a:pPr algn="l">
              <a:lnSpc>
                <a:spcPts val="1260"/>
              </a:lnSpc>
            </a:pPr>
            <a:r>
              <a:rPr lang="en-US" sz="900" i="1" spc="25">
                <a:solidFill>
                  <a:srgbClr val="939496"/>
                </a:solidFill>
                <a:latin typeface="IBM Plex Sans Italics"/>
                <a:ea typeface="IBM Plex Sans Italics"/>
                <a:cs typeface="IBM Plex Sans Italics"/>
                <a:sym typeface="IBM Plex Sans Italics"/>
              </a:rPr>
              <a:t>Etablissement d’enseignement supérieur privé</a:t>
            </a:r>
          </a:p>
        </p:txBody>
      </p:sp>
      <p:grpSp>
        <p:nvGrpSpPr>
          <p:cNvPr id="4" name="Group 4"/>
          <p:cNvGrpSpPr/>
          <p:nvPr/>
        </p:nvGrpSpPr>
        <p:grpSpPr>
          <a:xfrm>
            <a:off x="756000" y="1441887"/>
            <a:ext cx="6314893" cy="8929738"/>
            <a:chOff x="0" y="-38100"/>
            <a:chExt cx="8419858" cy="11906317"/>
          </a:xfrm>
        </p:grpSpPr>
        <p:sp>
          <p:nvSpPr>
            <p:cNvPr id="6" name="TextBox 6"/>
            <p:cNvSpPr txBox="1"/>
            <p:nvPr/>
          </p:nvSpPr>
          <p:spPr>
            <a:xfrm>
              <a:off x="0" y="-38100"/>
              <a:ext cx="5611065" cy="396240"/>
            </a:xfrm>
            <a:prstGeom prst="rect">
              <a:avLst/>
            </a:prstGeom>
          </p:spPr>
          <p:txBody>
            <a:bodyPr lIns="0" tIns="0" rIns="0" bIns="0" rtlCol="0" anchor="t">
              <a:spAutoFit/>
            </a:bodyPr>
            <a:lstStyle/>
            <a:p>
              <a:pPr algn="l">
                <a:lnSpc>
                  <a:spcPts val="2520"/>
                </a:lnSpc>
              </a:pPr>
              <a:r>
                <a:rPr lang="en-US" sz="1800" b="1" spc="10">
                  <a:solidFill>
                    <a:srgbClr val="EA8C43"/>
                  </a:solidFill>
                  <a:latin typeface="IBM Plex Sans Bold"/>
                  <a:ea typeface="IBM Plex Sans Bold"/>
                  <a:cs typeface="IBM Plex Sans Bold"/>
                  <a:sym typeface="IBM Plex Sans Bold"/>
                </a:rPr>
                <a:t>INTERNATIONAL PROGRAMS (EN)</a:t>
              </a:r>
            </a:p>
          </p:txBody>
        </p:sp>
        <p:sp>
          <p:nvSpPr>
            <p:cNvPr id="8" name="TextBox 8"/>
            <p:cNvSpPr txBox="1"/>
            <p:nvPr/>
          </p:nvSpPr>
          <p:spPr>
            <a:xfrm>
              <a:off x="0" y="5102608"/>
              <a:ext cx="4484546" cy="396240"/>
            </a:xfrm>
            <a:prstGeom prst="rect">
              <a:avLst/>
            </a:prstGeom>
          </p:spPr>
          <p:txBody>
            <a:bodyPr lIns="0" tIns="0" rIns="0" bIns="0" rtlCol="0" anchor="t">
              <a:spAutoFit/>
            </a:bodyPr>
            <a:lstStyle/>
            <a:p>
              <a:pPr algn="l">
                <a:lnSpc>
                  <a:spcPts val="2520"/>
                </a:lnSpc>
              </a:pPr>
              <a:r>
                <a:rPr lang="en-US" sz="1800" b="1" spc="10" dirty="0">
                  <a:solidFill>
                    <a:srgbClr val="EA8C4C"/>
                  </a:solidFill>
                  <a:latin typeface="IBM Plex Sans Bold"/>
                  <a:ea typeface="IBM Plex Sans Bold"/>
                  <a:cs typeface="IBM Plex Sans Bold"/>
                  <a:sym typeface="IBM Plex Sans Bold"/>
                </a:rPr>
                <a:t>PROGRAMMES EN FRANCAIS</a:t>
              </a:r>
            </a:p>
          </p:txBody>
        </p:sp>
        <p:sp>
          <p:nvSpPr>
            <p:cNvPr id="10" name="TextBox 99"/>
            <p:cNvSpPr txBox="1"/>
            <p:nvPr/>
          </p:nvSpPr>
          <p:spPr>
            <a:xfrm>
              <a:off x="8276101" y="11556855"/>
              <a:ext cx="143757" cy="311362"/>
            </a:xfrm>
            <a:prstGeom prst="rect">
              <a:avLst/>
            </a:prstGeom>
          </p:spPr>
          <p:txBody>
            <a:bodyPr lIns="0" tIns="0" rIns="0" bIns="0" rtlCol="0" anchor="t">
              <a:spAutoFit/>
            </a:bodyPr>
            <a:lstStyle/>
            <a:p>
              <a:pPr algn="l">
                <a:lnSpc>
                  <a:spcPts val="1959"/>
                </a:lnSpc>
              </a:pPr>
              <a:r>
                <a:rPr lang="en-US" sz="1399" b="1" spc="8" dirty="0">
                  <a:solidFill>
                    <a:srgbClr val="231F20"/>
                  </a:solidFill>
                  <a:latin typeface="IBM Plex Sans Bold"/>
                  <a:ea typeface="IBM Plex Sans Bold"/>
                  <a:cs typeface="IBM Plex Sans Bold"/>
                  <a:sym typeface="IBM Plex Sans Bold"/>
                </a:rPr>
                <a:t>5</a:t>
              </a:r>
            </a:p>
          </p:txBody>
        </p:sp>
        <p:sp>
          <p:nvSpPr>
            <p:cNvPr id="11" name="TextBox 11"/>
            <p:cNvSpPr txBox="1"/>
            <p:nvPr/>
          </p:nvSpPr>
          <p:spPr>
            <a:xfrm>
              <a:off x="7416303" y="569191"/>
              <a:ext cx="859797" cy="615553"/>
            </a:xfrm>
            <a:prstGeom prst="rect">
              <a:avLst/>
            </a:prstGeom>
          </p:spPr>
          <p:txBody>
            <a:bodyPr lIns="0" tIns="0" rIns="0" bIns="0" rtlCol="0" anchor="t">
              <a:spAutoFit/>
            </a:bodyPr>
            <a:lstStyle/>
            <a:p>
              <a:pPr algn="l">
                <a:lnSpc>
                  <a:spcPts val="1799"/>
                </a:lnSpc>
              </a:pPr>
              <a:endParaRPr dirty="0"/>
            </a:p>
            <a:p>
              <a:pPr algn="l">
                <a:lnSpc>
                  <a:spcPts val="1799"/>
                </a:lnSpc>
              </a:pPr>
              <a:r>
                <a:rPr lang="en-US" sz="1599" i="1" spc="9" dirty="0">
                  <a:solidFill>
                    <a:srgbClr val="1A1447"/>
                  </a:solidFill>
                  <a:latin typeface="IBM Plex Sans Italics"/>
                  <a:ea typeface="IBM Plex Sans Italics"/>
                  <a:cs typeface="IBM Plex Sans Italics"/>
                  <a:sym typeface="IBM Plex Sans Italics"/>
                </a:rPr>
                <a:t>p.9</a:t>
              </a:r>
            </a:p>
          </p:txBody>
        </p:sp>
      </p:grpSp>
      <p:sp>
        <p:nvSpPr>
          <p:cNvPr id="16" name="TextBox 10">
            <a:extLst>
              <a:ext uri="{FF2B5EF4-FFF2-40B4-BE49-F238E27FC236}">
                <a16:creationId xmlns:a16="http://schemas.microsoft.com/office/drawing/2014/main" id="{8CECCECD-F8D5-31C7-0B55-D338CB71DA27}"/>
              </a:ext>
            </a:extLst>
          </p:cNvPr>
          <p:cNvSpPr txBox="1"/>
          <p:nvPr/>
        </p:nvSpPr>
        <p:spPr>
          <a:xfrm>
            <a:off x="753458" y="9468433"/>
            <a:ext cx="5562227" cy="230832"/>
          </a:xfrm>
          <a:prstGeom prst="rect">
            <a:avLst/>
          </a:prstGeom>
        </p:spPr>
        <p:txBody>
          <a:bodyPr lIns="0" tIns="0" rIns="0" bIns="0" rtlCol="0" anchor="t">
            <a:spAutoFit/>
          </a:bodyPr>
          <a:lstStyle/>
          <a:p>
            <a:pPr algn="l">
              <a:lnSpc>
                <a:spcPts val="1800"/>
              </a:lnSpc>
            </a:pPr>
            <a:r>
              <a:rPr lang="en-US" sz="1600" i="1" spc="6" dirty="0">
                <a:solidFill>
                  <a:srgbClr val="463C6C"/>
                </a:solidFill>
                <a:latin typeface="IBM Plex Sans Italics"/>
                <a:ea typeface="IBM Plex Sans Italics"/>
                <a:cs typeface="IBM Plex Sans Italics"/>
                <a:sym typeface="IBM Plex Sans Italics"/>
              </a:rPr>
              <a:t>DOCTORATE OF BUSINESS ADMINISTRATION</a:t>
            </a:r>
          </a:p>
        </p:txBody>
      </p:sp>
      <p:sp>
        <p:nvSpPr>
          <p:cNvPr id="17" name="TextBox 17">
            <a:extLst>
              <a:ext uri="{FF2B5EF4-FFF2-40B4-BE49-F238E27FC236}">
                <a16:creationId xmlns:a16="http://schemas.microsoft.com/office/drawing/2014/main" id="{3922702A-378E-0D37-11AB-E5E6634C4BC8}"/>
              </a:ext>
            </a:extLst>
          </p:cNvPr>
          <p:cNvSpPr txBox="1"/>
          <p:nvPr/>
        </p:nvSpPr>
        <p:spPr>
          <a:xfrm>
            <a:off x="754728" y="7634655"/>
            <a:ext cx="5562227" cy="230832"/>
          </a:xfrm>
          <a:prstGeom prst="rect">
            <a:avLst/>
          </a:prstGeom>
        </p:spPr>
        <p:txBody>
          <a:bodyPr lIns="0" tIns="0" rIns="0" bIns="0" rtlCol="0" anchor="t">
            <a:spAutoFit/>
          </a:bodyPr>
          <a:lstStyle/>
          <a:p>
            <a:pPr algn="l">
              <a:lnSpc>
                <a:spcPts val="1800"/>
              </a:lnSpc>
            </a:pPr>
            <a:r>
              <a:rPr lang="en-US" sz="1600" b="1" spc="9" dirty="0">
                <a:solidFill>
                  <a:srgbClr val="1A1447"/>
                </a:solidFill>
                <a:latin typeface="IBM Plex Sans Bold"/>
                <a:ea typeface="IBM Plex Sans Bold"/>
                <a:cs typeface="IBM Plex Sans Bold"/>
                <a:sym typeface="IBM Plex Sans Bold"/>
              </a:rPr>
              <a:t>MASTERE (BAC+5/+6)</a:t>
            </a:r>
          </a:p>
        </p:txBody>
      </p:sp>
      <p:sp>
        <p:nvSpPr>
          <p:cNvPr id="18" name="TextBox 16">
            <a:extLst>
              <a:ext uri="{FF2B5EF4-FFF2-40B4-BE49-F238E27FC236}">
                <a16:creationId xmlns:a16="http://schemas.microsoft.com/office/drawing/2014/main" id="{256AA794-B604-78EA-F339-4BBC527E57FB}"/>
              </a:ext>
            </a:extLst>
          </p:cNvPr>
          <p:cNvSpPr txBox="1"/>
          <p:nvPr/>
        </p:nvSpPr>
        <p:spPr>
          <a:xfrm>
            <a:off x="758547" y="5810110"/>
            <a:ext cx="5562227" cy="230832"/>
          </a:xfrm>
          <a:prstGeom prst="rect">
            <a:avLst/>
          </a:prstGeom>
        </p:spPr>
        <p:txBody>
          <a:bodyPr lIns="0" tIns="0" rIns="0" bIns="0" rtlCol="0" anchor="t">
            <a:spAutoFit/>
          </a:bodyPr>
          <a:lstStyle/>
          <a:p>
            <a:pPr algn="l">
              <a:lnSpc>
                <a:spcPts val="1799"/>
              </a:lnSpc>
            </a:pPr>
            <a:r>
              <a:rPr lang="en-US" sz="1599" b="1" spc="9" dirty="0">
                <a:solidFill>
                  <a:srgbClr val="1A1447"/>
                </a:solidFill>
                <a:latin typeface="IBM Plex Sans Bold"/>
                <a:ea typeface="IBM Plex Sans Bold"/>
                <a:cs typeface="IBM Plex Sans Bold"/>
                <a:sym typeface="IBM Plex Sans Bold"/>
              </a:rPr>
              <a:t>BTS &amp; BACHELOR (BAC+2/+3)</a:t>
            </a:r>
          </a:p>
        </p:txBody>
      </p:sp>
      <p:sp>
        <p:nvSpPr>
          <p:cNvPr id="13" name="TextBox 15">
            <a:extLst>
              <a:ext uri="{FF2B5EF4-FFF2-40B4-BE49-F238E27FC236}">
                <a16:creationId xmlns:a16="http://schemas.microsoft.com/office/drawing/2014/main" id="{380448A3-E8FA-071C-FA2E-AF90A1FE149A}"/>
              </a:ext>
            </a:extLst>
          </p:cNvPr>
          <p:cNvSpPr txBox="1"/>
          <p:nvPr/>
        </p:nvSpPr>
        <p:spPr>
          <a:xfrm>
            <a:off x="756000" y="4401728"/>
            <a:ext cx="5254791" cy="230832"/>
          </a:xfrm>
          <a:prstGeom prst="rect">
            <a:avLst/>
          </a:prstGeom>
        </p:spPr>
        <p:txBody>
          <a:bodyPr lIns="0" tIns="0" rIns="0" bIns="0" rtlCol="0" anchor="t">
            <a:spAutoFit/>
          </a:bodyPr>
          <a:lstStyle/>
          <a:p>
            <a:pPr algn="l">
              <a:lnSpc>
                <a:spcPts val="1800"/>
              </a:lnSpc>
            </a:pPr>
            <a:r>
              <a:rPr lang="en-US" sz="1600" b="1" spc="9" dirty="0">
                <a:solidFill>
                  <a:srgbClr val="1A1447"/>
                </a:solidFill>
                <a:latin typeface="IBM Plex Sans Bold"/>
                <a:ea typeface="IBM Plex Sans Bold"/>
                <a:cs typeface="IBM Plex Sans Bold"/>
                <a:sym typeface="IBM Plex Sans Bold"/>
              </a:rPr>
              <a:t>DOCTORATE-DBA (BAC+8)</a:t>
            </a:r>
            <a:endParaRPr lang="en-US" sz="1600" i="1" spc="9" dirty="0">
              <a:solidFill>
                <a:srgbClr val="463C6C"/>
              </a:solidFill>
              <a:latin typeface="IBM Plex Sans Italics"/>
              <a:ea typeface="IBM Plex Sans Italics"/>
              <a:cs typeface="IBM Plex Sans Italics"/>
              <a:sym typeface="IBM Plex Sans Italics"/>
            </a:endParaRPr>
          </a:p>
        </p:txBody>
      </p:sp>
      <p:sp>
        <p:nvSpPr>
          <p:cNvPr id="14" name="TextBox 14">
            <a:extLst>
              <a:ext uri="{FF2B5EF4-FFF2-40B4-BE49-F238E27FC236}">
                <a16:creationId xmlns:a16="http://schemas.microsoft.com/office/drawing/2014/main" id="{A242D163-2AEE-CA81-1A5D-487968CAC00B}"/>
              </a:ext>
            </a:extLst>
          </p:cNvPr>
          <p:cNvSpPr txBox="1"/>
          <p:nvPr/>
        </p:nvSpPr>
        <p:spPr>
          <a:xfrm>
            <a:off x="756000" y="3260215"/>
            <a:ext cx="5254791" cy="230832"/>
          </a:xfrm>
          <a:prstGeom prst="rect">
            <a:avLst/>
          </a:prstGeom>
        </p:spPr>
        <p:txBody>
          <a:bodyPr lIns="0" tIns="0" rIns="0" bIns="0" rtlCol="0" anchor="t">
            <a:spAutoFit/>
          </a:bodyPr>
          <a:lstStyle/>
          <a:p>
            <a:pPr algn="l">
              <a:lnSpc>
                <a:spcPts val="1800"/>
              </a:lnSpc>
            </a:pPr>
            <a:r>
              <a:rPr lang="en-US" sz="1600" b="1" spc="9" dirty="0">
                <a:solidFill>
                  <a:srgbClr val="1A1447"/>
                </a:solidFill>
                <a:latin typeface="IBM Plex Sans Bold"/>
                <a:ea typeface="IBM Plex Sans Bold"/>
                <a:cs typeface="IBM Plex Sans Bold"/>
                <a:sym typeface="IBM Plex Sans Bold"/>
              </a:rPr>
              <a:t>MASTERE-MBA (BAC+5/+6)</a:t>
            </a:r>
          </a:p>
        </p:txBody>
      </p:sp>
      <p:sp>
        <p:nvSpPr>
          <p:cNvPr id="15" name="TextBox 13">
            <a:extLst>
              <a:ext uri="{FF2B5EF4-FFF2-40B4-BE49-F238E27FC236}">
                <a16:creationId xmlns:a16="http://schemas.microsoft.com/office/drawing/2014/main" id="{F5A9B288-03E4-62B4-0A50-418F6199FB80}"/>
              </a:ext>
            </a:extLst>
          </p:cNvPr>
          <p:cNvSpPr txBox="1"/>
          <p:nvPr/>
        </p:nvSpPr>
        <p:spPr>
          <a:xfrm>
            <a:off x="755999" y="2576508"/>
            <a:ext cx="5254791" cy="230832"/>
          </a:xfrm>
          <a:prstGeom prst="rect">
            <a:avLst/>
          </a:prstGeom>
        </p:spPr>
        <p:txBody>
          <a:bodyPr lIns="0" tIns="0" rIns="0" bIns="0" rtlCol="0" anchor="t">
            <a:spAutoFit/>
          </a:bodyPr>
          <a:lstStyle/>
          <a:p>
            <a:pPr algn="l">
              <a:lnSpc>
                <a:spcPts val="1799"/>
              </a:lnSpc>
            </a:pPr>
            <a:r>
              <a:rPr lang="en-US" sz="1599" b="1" spc="9" dirty="0">
                <a:solidFill>
                  <a:srgbClr val="1A1447"/>
                </a:solidFill>
                <a:latin typeface="IBM Plex Sans Bold"/>
                <a:ea typeface="IBM Plex Sans Bold"/>
                <a:cs typeface="IBM Plex Sans Bold"/>
                <a:sym typeface="IBM Plex Sans Bold"/>
              </a:rPr>
              <a:t>BACHELOR (BAC+3)</a:t>
            </a:r>
          </a:p>
        </p:txBody>
      </p:sp>
      <p:sp>
        <p:nvSpPr>
          <p:cNvPr id="19" name="TextBox 4">
            <a:extLst>
              <a:ext uri="{FF2B5EF4-FFF2-40B4-BE49-F238E27FC236}">
                <a16:creationId xmlns:a16="http://schemas.microsoft.com/office/drawing/2014/main" id="{96038CE9-0E21-E282-3C60-817C5CED66C1}"/>
              </a:ext>
            </a:extLst>
          </p:cNvPr>
          <p:cNvSpPr txBox="1"/>
          <p:nvPr/>
        </p:nvSpPr>
        <p:spPr>
          <a:xfrm>
            <a:off x="756000" y="1890211"/>
            <a:ext cx="5254791" cy="461665"/>
          </a:xfrm>
          <a:prstGeom prst="rect">
            <a:avLst/>
          </a:prstGeom>
        </p:spPr>
        <p:txBody>
          <a:bodyPr lIns="0" tIns="0" rIns="0" bIns="0" rtlCol="0" anchor="t">
            <a:spAutoFit/>
          </a:bodyPr>
          <a:lstStyle/>
          <a:p>
            <a:pPr algn="l">
              <a:lnSpc>
                <a:spcPts val="1800"/>
              </a:lnSpc>
            </a:pPr>
            <a:r>
              <a:rPr lang="en-US" sz="1600" b="1" spc="9" dirty="0">
                <a:solidFill>
                  <a:srgbClr val="1A1447"/>
                </a:solidFill>
                <a:latin typeface="IBM Plex Sans Bold"/>
                <a:ea typeface="IBM Plex Sans Bold"/>
                <a:cs typeface="IBM Plex Sans Bold"/>
                <a:sym typeface="IBM Plex Sans Bold"/>
              </a:rPr>
              <a:t>PREPARATION</a:t>
            </a:r>
          </a:p>
          <a:p>
            <a:pPr algn="l">
              <a:lnSpc>
                <a:spcPts val="1799"/>
              </a:lnSpc>
            </a:pPr>
            <a:r>
              <a:rPr lang="en-US" sz="1599" i="1" spc="6" dirty="0">
                <a:solidFill>
                  <a:srgbClr val="1A1447"/>
                </a:solidFill>
                <a:latin typeface="IBM Plex Sans Italics"/>
                <a:ea typeface="IBM Plex Sans Italics"/>
                <a:cs typeface="IBM Plex Sans Italics"/>
                <a:sym typeface="IBM Plex Sans Italics"/>
              </a:rPr>
              <a:t>French Language </a:t>
            </a:r>
            <a:r>
              <a:rPr lang="en-US" sz="1599" i="1" spc="6" dirty="0">
                <a:solidFill>
                  <a:srgbClr val="463C6C"/>
                </a:solidFill>
                <a:latin typeface="IBM Plex Sans Italics"/>
                <a:ea typeface="IBM Plex Sans Italics"/>
                <a:cs typeface="IBM Plex Sans Italics"/>
                <a:sym typeface="IBM Plex Sans Italics"/>
              </a:rPr>
              <a:t>Preparation year</a:t>
            </a:r>
          </a:p>
        </p:txBody>
      </p:sp>
      <p:sp>
        <p:nvSpPr>
          <p:cNvPr id="20" name="TextBox 5">
            <a:extLst>
              <a:ext uri="{FF2B5EF4-FFF2-40B4-BE49-F238E27FC236}">
                <a16:creationId xmlns:a16="http://schemas.microsoft.com/office/drawing/2014/main" id="{530F3B55-C994-37CC-D0C8-E925EDBE968B}"/>
              </a:ext>
            </a:extLst>
          </p:cNvPr>
          <p:cNvSpPr txBox="1"/>
          <p:nvPr/>
        </p:nvSpPr>
        <p:spPr>
          <a:xfrm>
            <a:off x="755899" y="2801620"/>
            <a:ext cx="5254791" cy="230832"/>
          </a:xfrm>
          <a:prstGeom prst="rect">
            <a:avLst/>
          </a:prstGeom>
        </p:spPr>
        <p:txBody>
          <a:bodyPr lIns="0" tIns="0" rIns="0" bIns="0" rtlCol="0" anchor="t">
            <a:spAutoFit/>
          </a:bodyPr>
          <a:lstStyle/>
          <a:p>
            <a:pPr algn="l">
              <a:lnSpc>
                <a:spcPts val="1799"/>
              </a:lnSpc>
            </a:pPr>
            <a:r>
              <a:rPr lang="en-US" sz="1599" i="1" spc="6" dirty="0">
                <a:solidFill>
                  <a:srgbClr val="463C6C"/>
                </a:solidFill>
                <a:latin typeface="IBM Plex Sans Italics"/>
                <a:ea typeface="IBM Plex Sans Italics"/>
                <a:cs typeface="IBM Plex Sans Italics"/>
                <a:sym typeface="IBM Plex Sans Italics"/>
              </a:rPr>
              <a:t>LANGUAGE &amp; INTERNATIONAL MARKETING FRENCH-ENGLISH</a:t>
            </a:r>
          </a:p>
        </p:txBody>
      </p:sp>
      <p:sp>
        <p:nvSpPr>
          <p:cNvPr id="21" name="TextBox 6">
            <a:extLst>
              <a:ext uri="{FF2B5EF4-FFF2-40B4-BE49-F238E27FC236}">
                <a16:creationId xmlns:a16="http://schemas.microsoft.com/office/drawing/2014/main" id="{45601562-8F3D-84AD-448E-1BEA86ED9A1E}"/>
              </a:ext>
            </a:extLst>
          </p:cNvPr>
          <p:cNvSpPr txBox="1"/>
          <p:nvPr/>
        </p:nvSpPr>
        <p:spPr>
          <a:xfrm>
            <a:off x="755899" y="3492201"/>
            <a:ext cx="5254791" cy="230832"/>
          </a:xfrm>
          <a:prstGeom prst="rect">
            <a:avLst/>
          </a:prstGeom>
        </p:spPr>
        <p:txBody>
          <a:bodyPr lIns="0" tIns="0" rIns="0" bIns="0" rtlCol="0" anchor="t">
            <a:spAutoFit/>
          </a:bodyPr>
          <a:lstStyle/>
          <a:p>
            <a:pPr algn="l">
              <a:lnSpc>
                <a:spcPts val="1800"/>
              </a:lnSpc>
            </a:pPr>
            <a:r>
              <a:rPr lang="en-US" sz="1600" i="1" spc="6" dirty="0">
                <a:solidFill>
                  <a:srgbClr val="463C6C"/>
                </a:solidFill>
                <a:latin typeface="IBM Plex Sans Italics"/>
                <a:ea typeface="IBM Plex Sans Italics"/>
                <a:cs typeface="IBM Plex Sans Italics"/>
                <a:sym typeface="IBM Plex Sans Italics"/>
              </a:rPr>
              <a:t>HOSPITALITY &amp; TOURISM MANAGEMENT
INTERNATIONAL BUSINESS MANAGEMENT
SUPPLY CHAIN AND INTL MANAGEMENT
</a:t>
            </a:r>
            <a:endParaRPr lang="en-US" sz="1599" i="1" spc="6" dirty="0">
              <a:solidFill>
                <a:srgbClr val="463C6C"/>
              </a:solidFill>
              <a:latin typeface="IBM Plex Sans Italics"/>
              <a:ea typeface="IBM Plex Sans Italics"/>
              <a:cs typeface="IBM Plex Sans Italics"/>
              <a:sym typeface="IBM Plex Sans Italics"/>
            </a:endParaRPr>
          </a:p>
        </p:txBody>
      </p:sp>
      <p:sp>
        <p:nvSpPr>
          <p:cNvPr id="22" name="TextBox 7">
            <a:extLst>
              <a:ext uri="{FF2B5EF4-FFF2-40B4-BE49-F238E27FC236}">
                <a16:creationId xmlns:a16="http://schemas.microsoft.com/office/drawing/2014/main" id="{AC3B094D-BB45-DFE6-4DEF-9A5D95602574}"/>
              </a:ext>
            </a:extLst>
          </p:cNvPr>
          <p:cNvSpPr txBox="1"/>
          <p:nvPr/>
        </p:nvSpPr>
        <p:spPr>
          <a:xfrm>
            <a:off x="754728" y="4626421"/>
            <a:ext cx="5254791" cy="230832"/>
          </a:xfrm>
          <a:prstGeom prst="rect">
            <a:avLst/>
          </a:prstGeom>
        </p:spPr>
        <p:txBody>
          <a:bodyPr lIns="0" tIns="0" rIns="0" bIns="0" rtlCol="0" anchor="t">
            <a:spAutoFit/>
          </a:bodyPr>
          <a:lstStyle/>
          <a:p>
            <a:pPr algn="l">
              <a:lnSpc>
                <a:spcPts val="1800"/>
              </a:lnSpc>
            </a:pPr>
            <a:r>
              <a:rPr lang="en-US" sz="1600" i="1" spc="6" dirty="0">
                <a:solidFill>
                  <a:srgbClr val="463C6C"/>
                </a:solidFill>
                <a:latin typeface="IBM Plex Sans Italics"/>
                <a:ea typeface="IBM Plex Sans Italics"/>
                <a:cs typeface="IBM Plex Sans Italics"/>
                <a:sym typeface="IBM Plex Sans Italics"/>
              </a:rPr>
              <a:t>DOCTORATE OF BUSINESS ADMINISTRATION</a:t>
            </a:r>
          </a:p>
        </p:txBody>
      </p:sp>
      <p:sp>
        <p:nvSpPr>
          <p:cNvPr id="23" name="TextBox 8">
            <a:extLst>
              <a:ext uri="{FF2B5EF4-FFF2-40B4-BE49-F238E27FC236}">
                <a16:creationId xmlns:a16="http://schemas.microsoft.com/office/drawing/2014/main" id="{E49A4C76-4C18-055D-7AC7-610A8D1B33E6}"/>
              </a:ext>
            </a:extLst>
          </p:cNvPr>
          <p:cNvSpPr txBox="1"/>
          <p:nvPr/>
        </p:nvSpPr>
        <p:spPr>
          <a:xfrm>
            <a:off x="759808" y="6042096"/>
            <a:ext cx="5562227" cy="230832"/>
          </a:xfrm>
          <a:prstGeom prst="rect">
            <a:avLst/>
          </a:prstGeom>
        </p:spPr>
        <p:txBody>
          <a:bodyPr lIns="0" tIns="0" rIns="0" bIns="0" rtlCol="0" anchor="t">
            <a:spAutoFit/>
          </a:bodyPr>
          <a:lstStyle/>
          <a:p>
            <a:pPr algn="l">
              <a:lnSpc>
                <a:spcPts val="1799"/>
              </a:lnSpc>
            </a:pPr>
            <a:r>
              <a:rPr lang="en-US" sz="1599" i="1" spc="6" dirty="0">
                <a:solidFill>
                  <a:srgbClr val="463C6C"/>
                </a:solidFill>
                <a:latin typeface="IBM Plex Sans Italics"/>
                <a:ea typeface="IBM Plex Sans Italics"/>
                <a:cs typeface="IBM Plex Sans Italics"/>
                <a:sym typeface="IBM Plex Sans Italics"/>
              </a:rPr>
              <a:t>Négociation et Digitalisation de la Relation Client (NRDC)
Management Commercial Opérationnel (MCO)
MARKETING ET COMMERCE INTERNATIONAL
MARKETING DIGITAL ET COMMERCIAL
DEVELOPPEMENT WEB ET APPLICATIF
CONCEPTEUR DE PRODUITS NO-CODE</a:t>
            </a:r>
          </a:p>
        </p:txBody>
      </p:sp>
      <p:sp>
        <p:nvSpPr>
          <p:cNvPr id="24" name="TextBox 9">
            <a:extLst>
              <a:ext uri="{FF2B5EF4-FFF2-40B4-BE49-F238E27FC236}">
                <a16:creationId xmlns:a16="http://schemas.microsoft.com/office/drawing/2014/main" id="{8EBF6A47-9F59-F577-61B3-17AC9E4C1F06}"/>
              </a:ext>
            </a:extLst>
          </p:cNvPr>
          <p:cNvSpPr txBox="1"/>
          <p:nvPr/>
        </p:nvSpPr>
        <p:spPr>
          <a:xfrm>
            <a:off x="754728" y="7861561"/>
            <a:ext cx="5562227" cy="230832"/>
          </a:xfrm>
          <a:prstGeom prst="rect">
            <a:avLst/>
          </a:prstGeom>
        </p:spPr>
        <p:txBody>
          <a:bodyPr lIns="0" tIns="0" rIns="0" bIns="0" rtlCol="0" anchor="t">
            <a:spAutoFit/>
          </a:bodyPr>
          <a:lstStyle/>
          <a:p>
            <a:pPr algn="l">
              <a:lnSpc>
                <a:spcPts val="1800"/>
              </a:lnSpc>
            </a:pPr>
            <a:r>
              <a:rPr lang="en-US" sz="1600" i="1" spc="6" dirty="0">
                <a:solidFill>
                  <a:srgbClr val="463C6C"/>
                </a:solidFill>
                <a:latin typeface="IBM Plex Sans Italics"/>
                <a:ea typeface="IBM Plex Sans Italics"/>
                <a:cs typeface="IBM Plex Sans Italics"/>
                <a:sym typeface="IBM Plex Sans Italics"/>
              </a:rPr>
              <a:t>MANAGEMENT, AFFAIRES INTERNATIONALES
MANAGEMENT, MARKETING DIGITAL
BUILDER NO-CODE : IA ET AUTOMATISATION
Programme d'Excellence en Stratégie de Carrière et Entrepreneuriat (PESCE)</a:t>
            </a:r>
            <a:endParaRPr lang="en-US" sz="1599" i="1" spc="6" dirty="0">
              <a:solidFill>
                <a:srgbClr val="463C6C"/>
              </a:solidFill>
              <a:latin typeface="IBM Plex Sans Italics"/>
              <a:ea typeface="IBM Plex Sans Italics"/>
              <a:cs typeface="IBM Plex Sans Italics"/>
              <a:sym typeface="IBM Plex Sans Italics"/>
            </a:endParaRPr>
          </a:p>
        </p:txBody>
      </p:sp>
      <p:sp>
        <p:nvSpPr>
          <p:cNvPr id="25" name="TextBox 18">
            <a:extLst>
              <a:ext uri="{FF2B5EF4-FFF2-40B4-BE49-F238E27FC236}">
                <a16:creationId xmlns:a16="http://schemas.microsoft.com/office/drawing/2014/main" id="{8256DFF4-357C-DCFB-3BD8-1E525B641754}"/>
              </a:ext>
            </a:extLst>
          </p:cNvPr>
          <p:cNvSpPr txBox="1"/>
          <p:nvPr/>
        </p:nvSpPr>
        <p:spPr>
          <a:xfrm>
            <a:off x="754727" y="9238987"/>
            <a:ext cx="5562227" cy="230832"/>
          </a:xfrm>
          <a:prstGeom prst="rect">
            <a:avLst/>
          </a:prstGeom>
        </p:spPr>
        <p:txBody>
          <a:bodyPr lIns="0" tIns="0" rIns="0" bIns="0" rtlCol="0" anchor="t">
            <a:spAutoFit/>
          </a:bodyPr>
          <a:lstStyle/>
          <a:p>
            <a:pPr algn="l">
              <a:lnSpc>
                <a:spcPts val="1800"/>
              </a:lnSpc>
            </a:pPr>
            <a:r>
              <a:rPr lang="en-US" sz="1600" b="1" spc="9" dirty="0">
                <a:solidFill>
                  <a:srgbClr val="1A1447"/>
                </a:solidFill>
                <a:latin typeface="IBM Plex Sans Bold"/>
                <a:ea typeface="IBM Plex Sans Bold"/>
                <a:cs typeface="IBM Plex Sans Bold"/>
                <a:sym typeface="IBM Plex Sans Bold"/>
              </a:rPr>
              <a:t>DOCTORAT-DBA (BAC+8)</a:t>
            </a:r>
            <a:endParaRPr lang="en-US" sz="1600" i="1" spc="9" dirty="0">
              <a:solidFill>
                <a:srgbClr val="463C6C"/>
              </a:solidFill>
              <a:latin typeface="IBM Plex Sans Italics"/>
              <a:ea typeface="IBM Plex Sans Italics"/>
              <a:cs typeface="IBM Plex Sans Italics"/>
              <a:sym typeface="IBM Plex Sans Italics"/>
            </a:endParaRPr>
          </a:p>
        </p:txBody>
      </p:sp>
      <p:sp>
        <p:nvSpPr>
          <p:cNvPr id="5" name="TextBox 20">
            <a:extLst>
              <a:ext uri="{FF2B5EF4-FFF2-40B4-BE49-F238E27FC236}">
                <a16:creationId xmlns:a16="http://schemas.microsoft.com/office/drawing/2014/main" id="{C25D499D-5819-5EA5-774C-8E41CDB12BAD}"/>
              </a:ext>
            </a:extLst>
          </p:cNvPr>
          <p:cNvSpPr txBox="1"/>
          <p:nvPr/>
        </p:nvSpPr>
        <p:spPr>
          <a:xfrm>
            <a:off x="6315685" y="4640338"/>
            <a:ext cx="644848" cy="230832"/>
          </a:xfrm>
          <a:prstGeom prst="rect">
            <a:avLst/>
          </a:prstGeom>
        </p:spPr>
        <p:txBody>
          <a:bodyPr lIns="0" tIns="0" rIns="0" bIns="0" rtlCol="0" anchor="t">
            <a:spAutoFit/>
          </a:bodyPr>
          <a:lstStyle/>
          <a:p>
            <a:pPr algn="l">
              <a:lnSpc>
                <a:spcPts val="1800"/>
              </a:lnSpc>
            </a:pPr>
            <a:r>
              <a:rPr lang="en-US" sz="1600" i="1" spc="9" dirty="0">
                <a:solidFill>
                  <a:srgbClr val="1A1447"/>
                </a:solidFill>
                <a:latin typeface="IBM Plex Sans Italics"/>
                <a:ea typeface="IBM Plex Sans Italics"/>
                <a:cs typeface="IBM Plex Sans Italics"/>
                <a:sym typeface="IBM Plex Sans Italics"/>
              </a:rPr>
              <a:t>p.30</a:t>
            </a:r>
          </a:p>
        </p:txBody>
      </p:sp>
      <p:sp>
        <p:nvSpPr>
          <p:cNvPr id="7" name="TextBox 19">
            <a:extLst>
              <a:ext uri="{FF2B5EF4-FFF2-40B4-BE49-F238E27FC236}">
                <a16:creationId xmlns:a16="http://schemas.microsoft.com/office/drawing/2014/main" id="{4D41C6CD-38E9-975F-8902-A3946F83AB7E}"/>
              </a:ext>
            </a:extLst>
          </p:cNvPr>
          <p:cNvSpPr txBox="1"/>
          <p:nvPr/>
        </p:nvSpPr>
        <p:spPr>
          <a:xfrm>
            <a:off x="6315685" y="3498602"/>
            <a:ext cx="644848" cy="230832"/>
          </a:xfrm>
          <a:prstGeom prst="rect">
            <a:avLst/>
          </a:prstGeom>
        </p:spPr>
        <p:txBody>
          <a:bodyPr lIns="0" tIns="0" rIns="0" bIns="0" rtlCol="0" anchor="t">
            <a:spAutoFit/>
          </a:bodyPr>
          <a:lstStyle/>
          <a:p>
            <a:pPr algn="l">
              <a:lnSpc>
                <a:spcPts val="1799"/>
              </a:lnSpc>
            </a:pPr>
            <a:r>
              <a:rPr lang="en-US" sz="1599" i="1" spc="9" dirty="0">
                <a:solidFill>
                  <a:srgbClr val="1A1447"/>
                </a:solidFill>
                <a:latin typeface="IBM Plex Sans Italics"/>
                <a:ea typeface="IBM Plex Sans Italics"/>
                <a:cs typeface="IBM Plex Sans Italics"/>
                <a:sym typeface="IBM Plex Sans Italics"/>
              </a:rPr>
              <a:t>p.21
p.22
p.23
</a:t>
            </a:r>
          </a:p>
        </p:txBody>
      </p:sp>
      <p:sp>
        <p:nvSpPr>
          <p:cNvPr id="9" name="TextBox 24">
            <a:extLst>
              <a:ext uri="{FF2B5EF4-FFF2-40B4-BE49-F238E27FC236}">
                <a16:creationId xmlns:a16="http://schemas.microsoft.com/office/drawing/2014/main" id="{D93B1627-054B-C8C0-17ED-5E7164ADAC92}"/>
              </a:ext>
            </a:extLst>
          </p:cNvPr>
          <p:cNvSpPr txBox="1"/>
          <p:nvPr/>
        </p:nvSpPr>
        <p:spPr>
          <a:xfrm>
            <a:off x="6315685" y="2811061"/>
            <a:ext cx="644848" cy="230832"/>
          </a:xfrm>
          <a:prstGeom prst="rect">
            <a:avLst/>
          </a:prstGeom>
        </p:spPr>
        <p:txBody>
          <a:bodyPr lIns="0" tIns="0" rIns="0" bIns="0" rtlCol="0" anchor="t">
            <a:spAutoFit/>
          </a:bodyPr>
          <a:lstStyle/>
          <a:p>
            <a:pPr algn="l">
              <a:lnSpc>
                <a:spcPts val="1799"/>
              </a:lnSpc>
            </a:pPr>
            <a:r>
              <a:rPr lang="en-US" sz="1599" i="1" spc="9" dirty="0">
                <a:solidFill>
                  <a:srgbClr val="1A1447"/>
                </a:solidFill>
                <a:latin typeface="IBM Plex Sans Italics"/>
                <a:ea typeface="IBM Plex Sans Italics"/>
                <a:cs typeface="IBM Plex Sans Italics"/>
                <a:sym typeface="IBM Plex Sans Italics"/>
              </a:rPr>
              <a:t>p.14</a:t>
            </a:r>
          </a:p>
        </p:txBody>
      </p:sp>
      <p:sp>
        <p:nvSpPr>
          <p:cNvPr id="26" name="TextBox 23">
            <a:extLst>
              <a:ext uri="{FF2B5EF4-FFF2-40B4-BE49-F238E27FC236}">
                <a16:creationId xmlns:a16="http://schemas.microsoft.com/office/drawing/2014/main" id="{D55A2DDF-375E-B1C1-3D63-27048581CDA1}"/>
              </a:ext>
            </a:extLst>
          </p:cNvPr>
          <p:cNvSpPr txBox="1"/>
          <p:nvPr/>
        </p:nvSpPr>
        <p:spPr>
          <a:xfrm>
            <a:off x="6315685" y="9465893"/>
            <a:ext cx="644848" cy="230832"/>
          </a:xfrm>
          <a:prstGeom prst="rect">
            <a:avLst/>
          </a:prstGeom>
        </p:spPr>
        <p:txBody>
          <a:bodyPr lIns="0" tIns="0" rIns="0" bIns="0" rtlCol="0" anchor="t">
            <a:spAutoFit/>
          </a:bodyPr>
          <a:lstStyle/>
          <a:p>
            <a:pPr algn="l">
              <a:lnSpc>
                <a:spcPts val="1800"/>
              </a:lnSpc>
            </a:pPr>
            <a:r>
              <a:rPr lang="en-US" sz="1600" i="1" spc="9" dirty="0">
                <a:solidFill>
                  <a:srgbClr val="1A1447"/>
                </a:solidFill>
                <a:latin typeface="IBM Plex Sans Italics"/>
                <a:ea typeface="IBM Plex Sans Italics"/>
                <a:cs typeface="IBM Plex Sans Italics"/>
                <a:sym typeface="IBM Plex Sans Italics"/>
              </a:rPr>
              <a:t>p.30</a:t>
            </a:r>
          </a:p>
        </p:txBody>
      </p:sp>
      <p:sp>
        <p:nvSpPr>
          <p:cNvPr id="27" name="TextBox 22">
            <a:extLst>
              <a:ext uri="{FF2B5EF4-FFF2-40B4-BE49-F238E27FC236}">
                <a16:creationId xmlns:a16="http://schemas.microsoft.com/office/drawing/2014/main" id="{F5D0DF1F-5F96-C8BA-3480-303DAC973FAE}"/>
              </a:ext>
            </a:extLst>
          </p:cNvPr>
          <p:cNvSpPr txBox="1"/>
          <p:nvPr/>
        </p:nvSpPr>
        <p:spPr>
          <a:xfrm>
            <a:off x="6315685" y="7865487"/>
            <a:ext cx="644848" cy="230832"/>
          </a:xfrm>
          <a:prstGeom prst="rect">
            <a:avLst/>
          </a:prstGeom>
        </p:spPr>
        <p:txBody>
          <a:bodyPr lIns="0" tIns="0" rIns="0" bIns="0" rtlCol="0" anchor="t">
            <a:spAutoFit/>
          </a:bodyPr>
          <a:lstStyle/>
          <a:p>
            <a:pPr algn="l">
              <a:lnSpc>
                <a:spcPts val="1799"/>
              </a:lnSpc>
            </a:pPr>
            <a:r>
              <a:rPr lang="en-US" sz="1599" i="1" spc="9" dirty="0">
                <a:solidFill>
                  <a:srgbClr val="1A1447"/>
                </a:solidFill>
                <a:latin typeface="IBM Plex Sans Italics"/>
                <a:ea typeface="IBM Plex Sans Italics"/>
                <a:cs typeface="IBM Plex Sans Italics"/>
                <a:sym typeface="IBM Plex Sans Italics"/>
              </a:rPr>
              <a:t>p.24
p.25
p.26
p.28</a:t>
            </a:r>
            <a:endParaRPr lang="en-US" sz="1600" i="1" spc="9" dirty="0">
              <a:solidFill>
                <a:srgbClr val="1A1447"/>
              </a:solidFill>
              <a:latin typeface="IBM Plex Sans Italics"/>
              <a:ea typeface="IBM Plex Sans Italics"/>
              <a:cs typeface="IBM Plex Sans Italics"/>
              <a:sym typeface="IBM Plex Sans Italics"/>
            </a:endParaRPr>
          </a:p>
        </p:txBody>
      </p:sp>
      <p:sp>
        <p:nvSpPr>
          <p:cNvPr id="28" name="TextBox 21">
            <a:extLst>
              <a:ext uri="{FF2B5EF4-FFF2-40B4-BE49-F238E27FC236}">
                <a16:creationId xmlns:a16="http://schemas.microsoft.com/office/drawing/2014/main" id="{35517F52-CE70-02E5-7A54-691CA64F1556}"/>
              </a:ext>
            </a:extLst>
          </p:cNvPr>
          <p:cNvSpPr txBox="1"/>
          <p:nvPr/>
        </p:nvSpPr>
        <p:spPr>
          <a:xfrm>
            <a:off x="6315685" y="6038632"/>
            <a:ext cx="644848" cy="230832"/>
          </a:xfrm>
          <a:prstGeom prst="rect">
            <a:avLst/>
          </a:prstGeom>
        </p:spPr>
        <p:txBody>
          <a:bodyPr lIns="0" tIns="0" rIns="0" bIns="0" rtlCol="0" anchor="t">
            <a:spAutoFit/>
          </a:bodyPr>
          <a:lstStyle/>
          <a:p>
            <a:pPr algn="l">
              <a:lnSpc>
                <a:spcPts val="1799"/>
              </a:lnSpc>
            </a:pPr>
            <a:r>
              <a:rPr lang="en-US" sz="1599" i="1" spc="9" dirty="0">
                <a:solidFill>
                  <a:srgbClr val="1A1447"/>
                </a:solidFill>
                <a:latin typeface="IBM Plex Sans Italics"/>
                <a:ea typeface="IBM Plex Sans Italics"/>
                <a:cs typeface="IBM Plex Sans Italics"/>
                <a:sym typeface="IBM Plex Sans Italics"/>
              </a:rPr>
              <a:t>p.11
p.12
p.15
p.16
p.17
p.18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1797358" y="2861424"/>
            <a:ext cx="3965296" cy="653301"/>
            <a:chOff x="0" y="0"/>
            <a:chExt cx="3965296" cy="653301"/>
          </a:xfrm>
        </p:grpSpPr>
        <p:sp>
          <p:nvSpPr>
            <p:cNvPr id="3" name="Freeform 3"/>
            <p:cNvSpPr/>
            <p:nvPr/>
          </p:nvSpPr>
          <p:spPr>
            <a:xfrm>
              <a:off x="0" y="0"/>
              <a:ext cx="3965321" cy="653288"/>
            </a:xfrm>
            <a:custGeom>
              <a:avLst/>
              <a:gdLst/>
              <a:ahLst/>
              <a:cxnLst/>
              <a:rect l="l" t="t" r="r" b="b"/>
              <a:pathLst>
                <a:path w="3965321" h="653288">
                  <a:moveTo>
                    <a:pt x="72009" y="0"/>
                  </a:moveTo>
                  <a:cubicBezTo>
                    <a:pt x="32258" y="0"/>
                    <a:pt x="0" y="32258"/>
                    <a:pt x="0" y="72009"/>
                  </a:cubicBezTo>
                  <a:lnTo>
                    <a:pt x="0" y="581279"/>
                  </a:lnTo>
                  <a:cubicBezTo>
                    <a:pt x="0" y="621030"/>
                    <a:pt x="32258" y="653288"/>
                    <a:pt x="72009" y="653288"/>
                  </a:cubicBezTo>
                  <a:lnTo>
                    <a:pt x="3893312" y="653288"/>
                  </a:lnTo>
                  <a:cubicBezTo>
                    <a:pt x="3933063" y="653288"/>
                    <a:pt x="3965321" y="621030"/>
                    <a:pt x="3965321" y="581279"/>
                  </a:cubicBezTo>
                  <a:lnTo>
                    <a:pt x="3965321" y="72009"/>
                  </a:lnTo>
                  <a:cubicBezTo>
                    <a:pt x="3965321" y="32258"/>
                    <a:pt x="3933063" y="0"/>
                    <a:pt x="3893312" y="0"/>
                  </a:cubicBezTo>
                  <a:close/>
                </a:path>
              </a:pathLst>
            </a:custGeom>
            <a:solidFill>
              <a:srgbClr val="EA8C4C"/>
            </a:solidFill>
          </p:spPr>
          <p:txBody>
            <a:bodyPr/>
            <a:lstStyle/>
            <a:p>
              <a:endParaRPr lang="fr-FR"/>
            </a:p>
          </p:txBody>
        </p:sp>
      </p:grpSp>
      <p:grpSp>
        <p:nvGrpSpPr>
          <p:cNvPr id="4" name="Group 4"/>
          <p:cNvGrpSpPr>
            <a:grpSpLocks noChangeAspect="1"/>
          </p:cNvGrpSpPr>
          <p:nvPr/>
        </p:nvGrpSpPr>
        <p:grpSpPr>
          <a:xfrm>
            <a:off x="753351" y="3657600"/>
            <a:ext cx="6053299" cy="1456801"/>
            <a:chOff x="0" y="0"/>
            <a:chExt cx="6053303" cy="1456804"/>
          </a:xfrm>
        </p:grpSpPr>
        <p:sp>
          <p:nvSpPr>
            <p:cNvPr id="5" name="Freeform 5"/>
            <p:cNvSpPr/>
            <p:nvPr/>
          </p:nvSpPr>
          <p:spPr>
            <a:xfrm>
              <a:off x="0" y="0"/>
              <a:ext cx="6053328" cy="1456817"/>
            </a:xfrm>
            <a:custGeom>
              <a:avLst/>
              <a:gdLst/>
              <a:ahLst/>
              <a:cxnLst/>
              <a:rect l="l" t="t" r="r" b="b"/>
              <a:pathLst>
                <a:path w="6053328" h="1456817">
                  <a:moveTo>
                    <a:pt x="0" y="1456817"/>
                  </a:moveTo>
                  <a:lnTo>
                    <a:pt x="6053328" y="1456817"/>
                  </a:lnTo>
                  <a:lnTo>
                    <a:pt x="6053328" y="0"/>
                  </a:lnTo>
                  <a:lnTo>
                    <a:pt x="0" y="0"/>
                  </a:lnTo>
                  <a:close/>
                </a:path>
              </a:pathLst>
            </a:custGeom>
            <a:solidFill>
              <a:srgbClr val="1A1447"/>
            </a:solidFill>
          </p:spPr>
          <p:txBody>
            <a:bodyPr/>
            <a:lstStyle/>
            <a:p>
              <a:endParaRPr lang="fr-FR"/>
            </a:p>
          </p:txBody>
        </p:sp>
      </p:grpSp>
      <p:grpSp>
        <p:nvGrpSpPr>
          <p:cNvPr id="6" name="Group 6"/>
          <p:cNvGrpSpPr>
            <a:grpSpLocks noChangeAspect="1"/>
          </p:cNvGrpSpPr>
          <p:nvPr/>
        </p:nvGrpSpPr>
        <p:grpSpPr>
          <a:xfrm>
            <a:off x="689848" y="521408"/>
            <a:ext cx="6180306" cy="1779394"/>
            <a:chOff x="0" y="0"/>
            <a:chExt cx="6180303" cy="1779397"/>
          </a:xfrm>
        </p:grpSpPr>
        <p:sp>
          <p:nvSpPr>
            <p:cNvPr id="7" name="Freeform 7"/>
            <p:cNvSpPr/>
            <p:nvPr/>
          </p:nvSpPr>
          <p:spPr>
            <a:xfrm>
              <a:off x="63500" y="345313"/>
              <a:ext cx="6053328" cy="1370584"/>
            </a:xfrm>
            <a:custGeom>
              <a:avLst/>
              <a:gdLst/>
              <a:ahLst/>
              <a:cxnLst/>
              <a:rect l="l" t="t" r="r" b="b"/>
              <a:pathLst>
                <a:path w="6053328" h="1370584">
                  <a:moveTo>
                    <a:pt x="12700" y="1345184"/>
                  </a:moveTo>
                  <a:lnTo>
                    <a:pt x="6040628" y="1345184"/>
                  </a:lnTo>
                  <a:lnTo>
                    <a:pt x="6040628" y="1357884"/>
                  </a:lnTo>
                  <a:lnTo>
                    <a:pt x="6027928" y="1357884"/>
                  </a:lnTo>
                  <a:lnTo>
                    <a:pt x="6027928" y="12700"/>
                  </a:lnTo>
                  <a:lnTo>
                    <a:pt x="6040628" y="12700"/>
                  </a:lnTo>
                  <a:lnTo>
                    <a:pt x="6040628" y="25400"/>
                  </a:lnTo>
                  <a:lnTo>
                    <a:pt x="12700" y="25400"/>
                  </a:lnTo>
                  <a:lnTo>
                    <a:pt x="12700" y="12700"/>
                  </a:lnTo>
                  <a:lnTo>
                    <a:pt x="25400" y="12700"/>
                  </a:lnTo>
                  <a:lnTo>
                    <a:pt x="25400" y="1357884"/>
                  </a:lnTo>
                  <a:lnTo>
                    <a:pt x="12700" y="1357884"/>
                  </a:lnTo>
                  <a:lnTo>
                    <a:pt x="12700" y="1345184"/>
                  </a:lnTo>
                  <a:moveTo>
                    <a:pt x="12700" y="1370584"/>
                  </a:moveTo>
                  <a:lnTo>
                    <a:pt x="0" y="1370584"/>
                  </a:lnTo>
                  <a:lnTo>
                    <a:pt x="0" y="0"/>
                  </a:lnTo>
                  <a:lnTo>
                    <a:pt x="6053328" y="0"/>
                  </a:lnTo>
                  <a:lnTo>
                    <a:pt x="6053328" y="1370584"/>
                  </a:lnTo>
                  <a:lnTo>
                    <a:pt x="12700" y="1370584"/>
                  </a:lnTo>
                  <a:close/>
                </a:path>
              </a:pathLst>
            </a:custGeom>
            <a:solidFill>
              <a:srgbClr val="1A1447"/>
            </a:solidFill>
          </p:spPr>
          <p:txBody>
            <a:bodyPr/>
            <a:lstStyle/>
            <a:p>
              <a:endParaRPr lang="fr-FR"/>
            </a:p>
          </p:txBody>
        </p:sp>
        <p:sp>
          <p:nvSpPr>
            <p:cNvPr id="8" name="Freeform 8"/>
            <p:cNvSpPr/>
            <p:nvPr/>
          </p:nvSpPr>
          <p:spPr>
            <a:xfrm>
              <a:off x="665480" y="192278"/>
              <a:ext cx="1416685" cy="312293"/>
            </a:xfrm>
            <a:custGeom>
              <a:avLst/>
              <a:gdLst/>
              <a:ahLst/>
              <a:cxnLst/>
              <a:rect l="l" t="t" r="r" b="b"/>
              <a:pathLst>
                <a:path w="1416685" h="312293">
                  <a:moveTo>
                    <a:pt x="0" y="312293"/>
                  </a:moveTo>
                  <a:lnTo>
                    <a:pt x="1416685" y="312293"/>
                  </a:lnTo>
                  <a:lnTo>
                    <a:pt x="1416685" y="0"/>
                  </a:lnTo>
                  <a:lnTo>
                    <a:pt x="0" y="0"/>
                  </a:lnTo>
                  <a:close/>
                </a:path>
              </a:pathLst>
            </a:custGeom>
            <a:solidFill>
              <a:srgbClr val="FFFFFF"/>
            </a:solidFill>
          </p:spPr>
          <p:txBody>
            <a:bodyPr/>
            <a:lstStyle/>
            <a:p>
              <a:endParaRPr lang="fr-FR"/>
            </a:p>
          </p:txBody>
        </p:sp>
        <p:sp>
          <p:nvSpPr>
            <p:cNvPr id="9" name="Freeform 9"/>
            <p:cNvSpPr/>
            <p:nvPr/>
          </p:nvSpPr>
          <p:spPr>
            <a:xfrm>
              <a:off x="3870960" y="1206627"/>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10" name="Freeform 10"/>
            <p:cNvSpPr/>
            <p:nvPr/>
          </p:nvSpPr>
          <p:spPr>
            <a:xfrm>
              <a:off x="2249424" y="1206627"/>
              <a:ext cx="25400" cy="367157"/>
            </a:xfrm>
            <a:custGeom>
              <a:avLst/>
              <a:gdLst/>
              <a:ahLst/>
              <a:cxnLst/>
              <a:rect l="l" t="t" r="r" b="b"/>
              <a:pathLst>
                <a:path w="25400" h="367157">
                  <a:moveTo>
                    <a:pt x="25400" y="0"/>
                  </a:moveTo>
                  <a:lnTo>
                    <a:pt x="25400" y="367157"/>
                  </a:lnTo>
                  <a:lnTo>
                    <a:pt x="0" y="367157"/>
                  </a:lnTo>
                  <a:lnTo>
                    <a:pt x="0" y="0"/>
                  </a:lnTo>
                  <a:close/>
                </a:path>
              </a:pathLst>
            </a:custGeom>
            <a:solidFill>
              <a:srgbClr val="EA8C4C"/>
            </a:solidFill>
          </p:spPr>
          <p:txBody>
            <a:bodyPr/>
            <a:lstStyle/>
            <a:p>
              <a:endParaRPr lang="fr-FR"/>
            </a:p>
          </p:txBody>
        </p:sp>
        <p:sp>
          <p:nvSpPr>
            <p:cNvPr id="11" name="Freeform 11"/>
            <p:cNvSpPr/>
            <p:nvPr/>
          </p:nvSpPr>
          <p:spPr>
            <a:xfrm>
              <a:off x="665480" y="1206627"/>
              <a:ext cx="25400" cy="367157"/>
            </a:xfrm>
            <a:custGeom>
              <a:avLst/>
              <a:gdLst/>
              <a:ahLst/>
              <a:cxnLst/>
              <a:rect l="l" t="t" r="r" b="b"/>
              <a:pathLst>
                <a:path w="25400" h="367157">
                  <a:moveTo>
                    <a:pt x="25400" y="0"/>
                  </a:moveTo>
                  <a:lnTo>
                    <a:pt x="25400" y="367157"/>
                  </a:lnTo>
                  <a:lnTo>
                    <a:pt x="0" y="367157"/>
                  </a:lnTo>
                  <a:lnTo>
                    <a:pt x="0" y="0"/>
                  </a:lnTo>
                  <a:close/>
                </a:path>
              </a:pathLst>
            </a:custGeom>
            <a:solidFill>
              <a:srgbClr val="EA8C4C"/>
            </a:solidFill>
          </p:spPr>
          <p:txBody>
            <a:bodyPr/>
            <a:lstStyle/>
            <a:p>
              <a:endParaRPr lang="fr-FR"/>
            </a:p>
          </p:txBody>
        </p:sp>
        <p:sp>
          <p:nvSpPr>
            <p:cNvPr id="12" name="Freeform 12"/>
            <p:cNvSpPr/>
            <p:nvPr/>
          </p:nvSpPr>
          <p:spPr>
            <a:xfrm>
              <a:off x="5292598" y="63500"/>
              <a:ext cx="680212" cy="646176"/>
            </a:xfrm>
            <a:custGeom>
              <a:avLst/>
              <a:gdLst/>
              <a:ahLst/>
              <a:cxnLst/>
              <a:rect l="l" t="t" r="r" b="b"/>
              <a:pathLst>
                <a:path w="680212" h="646176">
                  <a:moveTo>
                    <a:pt x="340106" y="646049"/>
                  </a:moveTo>
                  <a:cubicBezTo>
                    <a:pt x="527939" y="646049"/>
                    <a:pt x="680212" y="501396"/>
                    <a:pt x="680212" y="322961"/>
                  </a:cubicBezTo>
                  <a:cubicBezTo>
                    <a:pt x="680212" y="144526"/>
                    <a:pt x="527939" y="0"/>
                    <a:pt x="340106" y="0"/>
                  </a:cubicBezTo>
                  <a:cubicBezTo>
                    <a:pt x="152273" y="0"/>
                    <a:pt x="0" y="144653"/>
                    <a:pt x="0" y="323088"/>
                  </a:cubicBezTo>
                  <a:cubicBezTo>
                    <a:pt x="0" y="501523"/>
                    <a:pt x="152273" y="646176"/>
                    <a:pt x="340106" y="646176"/>
                  </a:cubicBezTo>
                </a:path>
              </a:pathLst>
            </a:custGeom>
            <a:solidFill>
              <a:srgbClr val="1A1447"/>
            </a:solidFill>
          </p:spPr>
          <p:txBody>
            <a:bodyPr/>
            <a:lstStyle/>
            <a:p>
              <a:endParaRPr lang="fr-FR"/>
            </a:p>
          </p:txBody>
        </p:sp>
      </p:grpSp>
      <p:sp>
        <p:nvSpPr>
          <p:cNvPr id="13" name="TextBox 13"/>
          <p:cNvSpPr txBox="1"/>
          <p:nvPr/>
        </p:nvSpPr>
        <p:spPr>
          <a:xfrm>
            <a:off x="1355303" y="715366"/>
            <a:ext cx="3862530" cy="598241"/>
          </a:xfrm>
          <a:prstGeom prst="rect">
            <a:avLst/>
          </a:prstGeom>
        </p:spPr>
        <p:txBody>
          <a:bodyPr wrap="square" lIns="0" tIns="0" rIns="0" bIns="0" rtlCol="0" anchor="t">
            <a:spAutoFit/>
          </a:bodyPr>
          <a:lstStyle/>
          <a:p>
            <a:pPr algn="l">
              <a:lnSpc>
                <a:spcPts val="2410"/>
              </a:lnSpc>
            </a:pPr>
            <a:r>
              <a:rPr lang="en-US" sz="1800" spc="7" dirty="0">
                <a:solidFill>
                  <a:srgbClr val="231F20"/>
                </a:solidFill>
                <a:latin typeface="IBM Plex Sans"/>
                <a:ea typeface="IBM Plex Sans"/>
                <a:cs typeface="IBM Plex Sans"/>
                <a:sym typeface="IBM Plex Sans"/>
              </a:rPr>
              <a:t>PREPS YEAR</a:t>
            </a:r>
          </a:p>
          <a:p>
            <a:pPr algn="l">
              <a:lnSpc>
                <a:spcPts val="2410"/>
              </a:lnSpc>
            </a:pPr>
            <a:r>
              <a:rPr lang="en-US" sz="1800" b="1" spc="3" dirty="0">
                <a:solidFill>
                  <a:srgbClr val="1A1447"/>
                </a:solidFill>
                <a:latin typeface="Open Sans Bold"/>
                <a:ea typeface="Open Sans Bold"/>
                <a:cs typeface="Open Sans Bold"/>
                <a:sym typeface="Open Sans Bold"/>
              </a:rPr>
              <a:t>French Marketing &amp; Management</a:t>
            </a:r>
          </a:p>
        </p:txBody>
      </p:sp>
      <p:sp>
        <p:nvSpPr>
          <p:cNvPr id="14" name="TextBox 14"/>
          <p:cNvSpPr txBox="1"/>
          <p:nvPr/>
        </p:nvSpPr>
        <p:spPr>
          <a:xfrm>
            <a:off x="1415671" y="1482414"/>
            <a:ext cx="811779" cy="590512"/>
          </a:xfrm>
          <a:prstGeom prst="rect">
            <a:avLst/>
          </a:prstGeom>
        </p:spPr>
        <p:txBody>
          <a:bodyPr wrap="square" lIns="0" tIns="0" rIns="0" bIns="0" rtlCol="0" anchor="t">
            <a:spAutoFit/>
          </a:bodyPr>
          <a:lstStyle/>
          <a:p>
            <a:pPr algn="l">
              <a:lnSpc>
                <a:spcPts val="1629"/>
              </a:lnSpc>
            </a:pPr>
            <a:r>
              <a:rPr lang="en-US" sz="1200" b="1" spc="2" dirty="0">
                <a:solidFill>
                  <a:srgbClr val="464395"/>
                </a:solidFill>
                <a:latin typeface="Open Sans Bold"/>
                <a:ea typeface="Open Sans Bold"/>
                <a:cs typeface="Open Sans Bold"/>
                <a:sym typeface="Open Sans Bold"/>
              </a:rPr>
              <a:t>2 INTAKES</a:t>
            </a:r>
          </a:p>
          <a:p>
            <a:pPr algn="l">
              <a:lnSpc>
                <a:spcPts val="1629"/>
              </a:lnSpc>
            </a:pPr>
            <a:r>
              <a:rPr lang="en-US" sz="1200" i="1" spc="2" dirty="0">
                <a:solidFill>
                  <a:srgbClr val="231F20"/>
                </a:solidFill>
                <a:latin typeface="Open Sans Italics"/>
                <a:ea typeface="Open Sans Italics"/>
                <a:cs typeface="Open Sans Italics"/>
                <a:sym typeface="Open Sans Italics"/>
              </a:rPr>
              <a:t>Fall</a:t>
            </a:r>
          </a:p>
          <a:p>
            <a:pPr algn="l">
              <a:lnSpc>
                <a:spcPts val="1250"/>
              </a:lnSpc>
            </a:pPr>
            <a:r>
              <a:rPr lang="en-US" sz="1200" i="1" spc="2" dirty="0">
                <a:solidFill>
                  <a:srgbClr val="231F20"/>
                </a:solidFill>
                <a:latin typeface="Open Sans Italics"/>
                <a:ea typeface="Open Sans Italics"/>
                <a:cs typeface="Open Sans Italics"/>
                <a:sym typeface="Open Sans Italics"/>
              </a:rPr>
              <a:t>Spring</a:t>
            </a:r>
          </a:p>
        </p:txBody>
      </p:sp>
      <p:sp>
        <p:nvSpPr>
          <p:cNvPr id="15" name="TextBox 15"/>
          <p:cNvSpPr txBox="1"/>
          <p:nvPr/>
        </p:nvSpPr>
        <p:spPr>
          <a:xfrm>
            <a:off x="3011301" y="1472889"/>
            <a:ext cx="1289846" cy="430149"/>
          </a:xfrm>
          <a:prstGeom prst="rect">
            <a:avLst/>
          </a:prstGeom>
        </p:spPr>
        <p:txBody>
          <a:bodyPr lIns="0" tIns="0" rIns="0" bIns="0" rtlCol="0" anchor="t">
            <a:spAutoFit/>
          </a:bodyPr>
          <a:lstStyle/>
          <a:p>
            <a:pPr algn="l">
              <a:lnSpc>
                <a:spcPts val="1728"/>
              </a:lnSpc>
            </a:pPr>
            <a:r>
              <a:rPr lang="en-US" sz="1200" b="1" spc="2">
                <a:solidFill>
                  <a:srgbClr val="464395"/>
                </a:solidFill>
                <a:latin typeface="Open Sans Bold"/>
                <a:ea typeface="Open Sans Bold"/>
                <a:cs typeface="Open Sans Bold"/>
                <a:sym typeface="Open Sans Bold"/>
              </a:rPr>
              <a:t>REQUIREMENTS</a:t>
            </a:r>
          </a:p>
          <a:p>
            <a:pPr algn="l">
              <a:lnSpc>
                <a:spcPts val="1728"/>
              </a:lnSpc>
            </a:pPr>
            <a:r>
              <a:rPr lang="en-US" sz="1200" i="1" spc="2">
                <a:solidFill>
                  <a:srgbClr val="231F20"/>
                </a:solidFill>
                <a:latin typeface="Open Sans Italics"/>
                <a:ea typeface="Open Sans Italics"/>
                <a:cs typeface="Open Sans Italics"/>
                <a:sym typeface="Open Sans Italics"/>
              </a:rPr>
              <a:t>Bac or equivalent</a:t>
            </a:r>
          </a:p>
        </p:txBody>
      </p:sp>
      <p:sp>
        <p:nvSpPr>
          <p:cNvPr id="16" name="TextBox 16"/>
          <p:cNvSpPr txBox="1"/>
          <p:nvPr/>
        </p:nvSpPr>
        <p:spPr>
          <a:xfrm>
            <a:off x="3150222" y="2411158"/>
            <a:ext cx="1150925" cy="208255"/>
          </a:xfrm>
          <a:prstGeom prst="rect">
            <a:avLst/>
          </a:prstGeom>
        </p:spPr>
        <p:txBody>
          <a:bodyPr lIns="0" tIns="0" rIns="0" bIns="0" rtlCol="0" anchor="t">
            <a:spAutoFit/>
          </a:bodyPr>
          <a:lstStyle/>
          <a:p>
            <a:pPr algn="l">
              <a:lnSpc>
                <a:spcPts val="1679"/>
              </a:lnSpc>
            </a:pPr>
            <a:r>
              <a:rPr lang="en-US" sz="1200" b="1" spc="7">
                <a:solidFill>
                  <a:srgbClr val="231F20"/>
                </a:solidFill>
                <a:latin typeface="IBM Plex Sans Bold"/>
                <a:ea typeface="IBM Plex Sans Bold"/>
                <a:cs typeface="IBM Plex Sans Bold"/>
                <a:sym typeface="IBM Plex Sans Bold"/>
              </a:rPr>
              <a:t>PREFFERED BY</a:t>
            </a:r>
          </a:p>
        </p:txBody>
      </p:sp>
      <p:sp>
        <p:nvSpPr>
          <p:cNvPr id="17" name="TextBox 17"/>
          <p:cNvSpPr txBox="1"/>
          <p:nvPr/>
        </p:nvSpPr>
        <p:spPr>
          <a:xfrm>
            <a:off x="1982914" y="2939586"/>
            <a:ext cx="3668116" cy="542925"/>
          </a:xfrm>
          <a:prstGeom prst="rect">
            <a:avLst/>
          </a:prstGeom>
        </p:spPr>
        <p:txBody>
          <a:bodyPr lIns="0" tIns="0" rIns="0" bIns="0" rtlCol="0" anchor="t">
            <a:spAutoFit/>
          </a:bodyPr>
          <a:lstStyle/>
          <a:p>
            <a:pPr algn="just">
              <a:lnSpc>
                <a:spcPts val="1439"/>
              </a:lnSpc>
            </a:pPr>
            <a:r>
              <a:rPr lang="en-US" sz="1200" b="1" i="1" spc="22">
                <a:solidFill>
                  <a:srgbClr val="231F20"/>
                </a:solidFill>
                <a:latin typeface="Open Sans Bold Italics"/>
                <a:ea typeface="Open Sans Bold Italics"/>
                <a:cs typeface="Open Sans Bold Italics"/>
                <a:sym typeface="Open Sans Bold Italics"/>
              </a:rPr>
              <a:t>Any student who wish to improve their french level before starting a higher education program in French.</a:t>
            </a:r>
          </a:p>
        </p:txBody>
      </p:sp>
      <p:sp>
        <p:nvSpPr>
          <p:cNvPr id="18" name="TextBox 18"/>
          <p:cNvSpPr txBox="1"/>
          <p:nvPr/>
        </p:nvSpPr>
        <p:spPr>
          <a:xfrm>
            <a:off x="4636561" y="1472889"/>
            <a:ext cx="1386268" cy="609600"/>
          </a:xfrm>
          <a:prstGeom prst="rect">
            <a:avLst/>
          </a:prstGeom>
        </p:spPr>
        <p:txBody>
          <a:bodyPr lIns="0" tIns="0" rIns="0" bIns="0" rtlCol="0" anchor="t">
            <a:spAutoFit/>
          </a:bodyPr>
          <a:lstStyle/>
          <a:p>
            <a:pPr algn="l">
              <a:lnSpc>
                <a:spcPts val="1728"/>
              </a:lnSpc>
            </a:pPr>
            <a:r>
              <a:rPr lang="en-US" sz="1200" b="1" spc="2">
                <a:solidFill>
                  <a:srgbClr val="464395"/>
                </a:solidFill>
                <a:latin typeface="Open Sans Bold"/>
                <a:ea typeface="Open Sans Bold"/>
                <a:cs typeface="Open Sans Bold"/>
                <a:sym typeface="Open Sans Bold"/>
              </a:rPr>
              <a:t>ENROLLMENT</a:t>
            </a:r>
          </a:p>
          <a:p>
            <a:pPr algn="l">
              <a:lnSpc>
                <a:spcPts val="1728"/>
              </a:lnSpc>
            </a:pPr>
            <a:r>
              <a:rPr lang="en-US" sz="1200" i="1" spc="2">
                <a:solidFill>
                  <a:srgbClr val="231F20"/>
                </a:solidFill>
                <a:latin typeface="Open Sans Italics"/>
                <a:ea typeface="Open Sans Italics"/>
                <a:cs typeface="Open Sans Italics"/>
                <a:sym typeface="Open Sans Italics"/>
              </a:rPr>
              <a:t>Written application</a:t>
            </a:r>
          </a:p>
          <a:p>
            <a:pPr algn="l">
              <a:lnSpc>
                <a:spcPts val="1152"/>
              </a:lnSpc>
            </a:pPr>
            <a:r>
              <a:rPr lang="en-US" sz="1200" i="1" spc="2">
                <a:solidFill>
                  <a:srgbClr val="231F20"/>
                </a:solidFill>
                <a:latin typeface="Open Sans Italics"/>
                <a:ea typeface="Open Sans Italics"/>
                <a:cs typeface="Open Sans Italics"/>
                <a:sym typeface="Open Sans Italics"/>
              </a:rPr>
              <a:t>and interview</a:t>
            </a:r>
          </a:p>
        </p:txBody>
      </p:sp>
      <p:sp>
        <p:nvSpPr>
          <p:cNvPr id="19" name="TextBox 19"/>
          <p:cNvSpPr txBox="1"/>
          <p:nvPr/>
        </p:nvSpPr>
        <p:spPr>
          <a:xfrm>
            <a:off x="762848" y="7057558"/>
            <a:ext cx="5290995" cy="1103605"/>
          </a:xfrm>
          <a:prstGeom prst="rect">
            <a:avLst/>
          </a:prstGeom>
        </p:spPr>
        <p:txBody>
          <a:bodyPr lIns="0" tIns="0" rIns="0" bIns="0" rtlCol="0" anchor="t">
            <a:spAutoFit/>
          </a:bodyPr>
          <a:lstStyle/>
          <a:p>
            <a:pPr algn="l">
              <a:lnSpc>
                <a:spcPts val="1439"/>
              </a:lnSpc>
            </a:pPr>
            <a:r>
              <a:rPr lang="en-US" sz="1200" i="1" spc="2">
                <a:solidFill>
                  <a:srgbClr val="231F20"/>
                </a:solidFill>
                <a:latin typeface="Open Sans Italics"/>
                <a:ea typeface="Open Sans Italics"/>
                <a:cs typeface="Open Sans Italics"/>
                <a:sym typeface="Open Sans Italics"/>
              </a:rPr>
              <a:t>Let’s talk about your study goal so we can prepare the best journey for you The program is composed of 20 hours of French every week during 9 months Additionnal Management and Marketing courses will start at the second term We add cultural visits to make you discover Paris</a:t>
            </a:r>
          </a:p>
          <a:p>
            <a:pPr algn="l">
              <a:lnSpc>
                <a:spcPts val="1439"/>
              </a:lnSpc>
            </a:pPr>
            <a:r>
              <a:rPr lang="en-US" sz="1200" i="1" spc="2">
                <a:solidFill>
                  <a:srgbClr val="231F20"/>
                </a:solidFill>
                <a:latin typeface="Open Sans Italics"/>
                <a:ea typeface="Open Sans Italics"/>
                <a:cs typeface="Open Sans Italics"/>
                <a:sym typeface="Open Sans Italics"/>
              </a:rPr>
              <a:t>Classes in small groups</a:t>
            </a:r>
          </a:p>
          <a:p>
            <a:pPr algn="l">
              <a:lnSpc>
                <a:spcPts val="1439"/>
              </a:lnSpc>
            </a:pPr>
            <a:r>
              <a:rPr lang="en-US" sz="1200" i="1" spc="2">
                <a:solidFill>
                  <a:srgbClr val="231F20"/>
                </a:solidFill>
                <a:latin typeface="Open Sans Italics"/>
                <a:ea typeface="Open Sans Italics"/>
                <a:cs typeface="Open Sans Italics"/>
                <a:sym typeface="Open Sans Italics"/>
              </a:rPr>
              <a:t>Teachers are all professionnal French native speakers</a:t>
            </a:r>
          </a:p>
        </p:txBody>
      </p:sp>
      <p:sp>
        <p:nvSpPr>
          <p:cNvPr id="20" name="TextBox 20"/>
          <p:cNvSpPr txBox="1"/>
          <p:nvPr/>
        </p:nvSpPr>
        <p:spPr>
          <a:xfrm>
            <a:off x="1233002" y="3745944"/>
            <a:ext cx="5168398" cy="1286485"/>
          </a:xfrm>
          <a:prstGeom prst="rect">
            <a:avLst/>
          </a:prstGeom>
        </p:spPr>
        <p:txBody>
          <a:bodyPr lIns="0" tIns="0" rIns="0" bIns="0" rtlCol="0" anchor="t">
            <a:spAutoFit/>
          </a:bodyPr>
          <a:lstStyle/>
          <a:p>
            <a:pPr algn="just">
              <a:lnSpc>
                <a:spcPts val="1439"/>
              </a:lnSpc>
            </a:pPr>
            <a:r>
              <a:rPr lang="en-US" sz="1200" spc="16">
                <a:solidFill>
                  <a:srgbClr val="FFFFFF"/>
                </a:solidFill>
                <a:latin typeface="IBM Plex Sans"/>
                <a:ea typeface="IBM Plex Sans"/>
                <a:cs typeface="IBM Plex Sans"/>
                <a:sym typeface="IBM Plex Sans"/>
              </a:rPr>
              <a:t>You wish to continue your studies in a training course and acquire all the linguistic and methodological knowledge to succeed.</a:t>
            </a:r>
          </a:p>
          <a:p>
            <a:pPr algn="just" rtl="1">
              <a:lnSpc>
                <a:spcPts val="1439"/>
              </a:lnSpc>
            </a:pPr>
            <a:endParaRPr lang="en-US" sz="1200" spc="16">
              <a:solidFill>
                <a:srgbClr val="FFFFFF"/>
              </a:solidFill>
              <a:latin typeface="IBM Plex Sans"/>
              <a:ea typeface="IBM Plex Sans"/>
              <a:cs typeface="IBM Plex Sans"/>
              <a:sym typeface="IBM Plex Sans"/>
            </a:endParaRPr>
          </a:p>
          <a:p>
            <a:pPr algn="just">
              <a:lnSpc>
                <a:spcPts val="1439"/>
              </a:lnSpc>
            </a:pPr>
            <a:r>
              <a:rPr lang="en-US" sz="1200" spc="4">
                <a:solidFill>
                  <a:srgbClr val="FFFFFF"/>
                </a:solidFill>
                <a:latin typeface="IBM Plex Sans"/>
                <a:ea typeface="IBM Plex Sans"/>
                <a:cs typeface="IBM Plex Sans"/>
                <a:sym typeface="IBM Plex Sans"/>
              </a:rPr>
              <a:t>The PREPS French Marketing Management (FMM) program is a one-year preparatory course for international students, with the aim of giving them a sufficient mastery of French and all the necessary methods to continue their studies within the higher education level.</a:t>
            </a:r>
          </a:p>
        </p:txBody>
      </p:sp>
      <p:sp>
        <p:nvSpPr>
          <p:cNvPr id="21" name="TextBox 21"/>
          <p:cNvSpPr txBox="1"/>
          <p:nvPr/>
        </p:nvSpPr>
        <p:spPr>
          <a:xfrm>
            <a:off x="762848" y="5749661"/>
            <a:ext cx="6043860" cy="554965"/>
          </a:xfrm>
          <a:prstGeom prst="rect">
            <a:avLst/>
          </a:prstGeom>
        </p:spPr>
        <p:txBody>
          <a:bodyPr lIns="0" tIns="0" rIns="0" bIns="0" rtlCol="0" anchor="t">
            <a:spAutoFit/>
          </a:bodyPr>
          <a:lstStyle/>
          <a:p>
            <a:pPr algn="l">
              <a:lnSpc>
                <a:spcPts val="1439"/>
              </a:lnSpc>
            </a:pPr>
            <a:r>
              <a:rPr lang="en-US" sz="1200" b="1" i="1" spc="2">
                <a:solidFill>
                  <a:srgbClr val="231F20"/>
                </a:solidFill>
                <a:latin typeface="Open Sans Bold Italics"/>
                <a:ea typeface="Open Sans Bold Italics"/>
                <a:cs typeface="Open Sans Bold Italics"/>
                <a:sym typeface="Open Sans Bold Italics"/>
              </a:rPr>
              <a:t>Enable students to improve by 2 steps their CECRL level in daily French</a:t>
            </a:r>
          </a:p>
          <a:p>
            <a:pPr algn="just">
              <a:lnSpc>
                <a:spcPts val="1439"/>
              </a:lnSpc>
            </a:pPr>
            <a:r>
              <a:rPr lang="en-US" sz="1200" b="1" i="1" spc="2">
                <a:solidFill>
                  <a:srgbClr val="231F20"/>
                </a:solidFill>
                <a:latin typeface="Open Sans Bold Italics"/>
                <a:ea typeface="Open Sans Bold Italics"/>
                <a:cs typeface="Open Sans Bold Italics"/>
                <a:sym typeface="Open Sans Bold Italics"/>
              </a:rPr>
              <a:t>Eventually achieve a B2 Lv. required for most of the higher education programes in French Masters in Management and Marketing</a:t>
            </a:r>
          </a:p>
        </p:txBody>
      </p:sp>
      <p:sp>
        <p:nvSpPr>
          <p:cNvPr id="22" name="TextBox 22"/>
          <p:cNvSpPr txBox="1"/>
          <p:nvPr/>
        </p:nvSpPr>
        <p:spPr>
          <a:xfrm>
            <a:off x="762848" y="8916838"/>
            <a:ext cx="6043803" cy="737845"/>
          </a:xfrm>
          <a:prstGeom prst="rect">
            <a:avLst/>
          </a:prstGeom>
        </p:spPr>
        <p:txBody>
          <a:bodyPr lIns="0" tIns="0" rIns="0" bIns="0" rtlCol="0" anchor="t">
            <a:spAutoFit/>
          </a:bodyPr>
          <a:lstStyle/>
          <a:p>
            <a:pPr algn="just">
              <a:lnSpc>
                <a:spcPts val="1439"/>
              </a:lnSpc>
            </a:pPr>
            <a:r>
              <a:rPr lang="en-US" sz="1200" i="1" spc="2">
                <a:solidFill>
                  <a:srgbClr val="231F20"/>
                </a:solidFill>
                <a:latin typeface="Open Sans Italics"/>
                <a:ea typeface="Open Sans Italics"/>
                <a:cs typeface="Open Sans Italics"/>
                <a:sym typeface="Open Sans Italics"/>
              </a:rPr>
              <a:t>French culture, Business French, Communication, Oral practice exercices, Listening exer- cices, Grammar, Vocabularies, Marketing Fundamentals, Introduction to management</a:t>
            </a:r>
          </a:p>
          <a:p>
            <a:pPr algn="just" rtl="1">
              <a:lnSpc>
                <a:spcPts val="1439"/>
              </a:lnSpc>
            </a:pPr>
            <a:endParaRPr lang="en-US" sz="1200" i="1" spc="2">
              <a:solidFill>
                <a:srgbClr val="231F20"/>
              </a:solidFill>
              <a:latin typeface="Open Sans Italics"/>
              <a:ea typeface="Open Sans Italics"/>
              <a:cs typeface="Open Sans Italics"/>
              <a:sym typeface="Open Sans Italics"/>
            </a:endParaRPr>
          </a:p>
          <a:p>
            <a:pPr algn="l">
              <a:lnSpc>
                <a:spcPts val="1439"/>
              </a:lnSpc>
            </a:pPr>
            <a:r>
              <a:rPr lang="en-US" sz="1200" i="1" spc="2">
                <a:solidFill>
                  <a:srgbClr val="231F20"/>
                </a:solidFill>
                <a:latin typeface="Open Sans Italics"/>
                <a:ea typeface="Open Sans Italics"/>
                <a:cs typeface="Open Sans Italics"/>
                <a:sym typeface="Open Sans Italics"/>
              </a:rPr>
              <a:t>Cultural visits : Orsay and Louvre Museums, Montmartre, Opéra etc.</a:t>
            </a:r>
          </a:p>
        </p:txBody>
      </p:sp>
      <p:sp>
        <p:nvSpPr>
          <p:cNvPr id="23" name="TextBox 23"/>
          <p:cNvSpPr txBox="1"/>
          <p:nvPr/>
        </p:nvSpPr>
        <p:spPr>
          <a:xfrm>
            <a:off x="762848" y="6583566"/>
            <a:ext cx="1213980" cy="322589"/>
          </a:xfrm>
          <a:prstGeom prst="rect">
            <a:avLst/>
          </a:prstGeom>
        </p:spPr>
        <p:txBody>
          <a:bodyPr wrap="square" lIns="0" tIns="0" rIns="0" bIns="0" rtlCol="0" anchor="t">
            <a:spAutoFit/>
          </a:bodyPr>
          <a:lstStyle/>
          <a:p>
            <a:pPr algn="l">
              <a:lnSpc>
                <a:spcPts val="2660"/>
              </a:lnSpc>
            </a:pPr>
            <a:r>
              <a:rPr lang="en-US" sz="1900" b="1" i="1" spc="3" dirty="0">
                <a:solidFill>
                  <a:srgbClr val="464395"/>
                </a:solidFill>
                <a:latin typeface="Open Sans Bold Italics"/>
                <a:ea typeface="Open Sans Bold Italics"/>
                <a:cs typeface="Open Sans Bold Italics"/>
                <a:sym typeface="Open Sans Bold Italics"/>
              </a:rPr>
              <a:t>Key points</a:t>
            </a:r>
          </a:p>
        </p:txBody>
      </p:sp>
      <p:sp>
        <p:nvSpPr>
          <p:cNvPr id="24" name="TextBox 24"/>
          <p:cNvSpPr txBox="1"/>
          <p:nvPr/>
        </p:nvSpPr>
        <p:spPr>
          <a:xfrm>
            <a:off x="762848" y="8442846"/>
            <a:ext cx="1339002" cy="322589"/>
          </a:xfrm>
          <a:prstGeom prst="rect">
            <a:avLst/>
          </a:prstGeom>
        </p:spPr>
        <p:txBody>
          <a:bodyPr wrap="square" lIns="0" tIns="0" rIns="0" bIns="0" rtlCol="0" anchor="t">
            <a:spAutoFit/>
          </a:bodyPr>
          <a:lstStyle/>
          <a:p>
            <a:pPr algn="l">
              <a:lnSpc>
                <a:spcPts val="2660"/>
              </a:lnSpc>
            </a:pPr>
            <a:r>
              <a:rPr lang="en-US" sz="1900" b="1" i="1" spc="3" dirty="0">
                <a:solidFill>
                  <a:srgbClr val="464395"/>
                </a:solidFill>
                <a:latin typeface="Open Sans Bold Italics"/>
                <a:ea typeface="Open Sans Bold Italics"/>
                <a:cs typeface="Open Sans Bold Italics"/>
                <a:sym typeface="Open Sans Bold Italics"/>
              </a:rPr>
              <a:t>Curriculum</a:t>
            </a:r>
          </a:p>
        </p:txBody>
      </p:sp>
      <p:sp>
        <p:nvSpPr>
          <p:cNvPr id="25" name="TextBox 25"/>
          <p:cNvSpPr txBox="1"/>
          <p:nvPr/>
        </p:nvSpPr>
        <p:spPr>
          <a:xfrm>
            <a:off x="762848" y="5272926"/>
            <a:ext cx="1796202" cy="322589"/>
          </a:xfrm>
          <a:prstGeom prst="rect">
            <a:avLst/>
          </a:prstGeom>
        </p:spPr>
        <p:txBody>
          <a:bodyPr wrap="square" lIns="0" tIns="0" rIns="0" bIns="0" rtlCol="0" anchor="t">
            <a:spAutoFit/>
          </a:bodyPr>
          <a:lstStyle/>
          <a:p>
            <a:pPr algn="l">
              <a:lnSpc>
                <a:spcPts val="2660"/>
              </a:lnSpc>
            </a:pPr>
            <a:r>
              <a:rPr lang="en-US" sz="1900" b="1" i="1" spc="3" dirty="0">
                <a:solidFill>
                  <a:srgbClr val="464395"/>
                </a:solidFill>
                <a:latin typeface="Open Sans Bold Italics"/>
                <a:ea typeface="Open Sans Bold Italics"/>
                <a:cs typeface="Open Sans Bold Italics"/>
                <a:sym typeface="Open Sans Bold Italics"/>
              </a:rPr>
              <a:t>Programs goals</a:t>
            </a:r>
          </a:p>
        </p:txBody>
      </p:sp>
      <p:sp>
        <p:nvSpPr>
          <p:cNvPr id="26" name="TextBox 26"/>
          <p:cNvSpPr txBox="1"/>
          <p:nvPr/>
        </p:nvSpPr>
        <p:spPr>
          <a:xfrm>
            <a:off x="6068130" y="660330"/>
            <a:ext cx="503349" cy="434102"/>
          </a:xfrm>
          <a:prstGeom prst="rect">
            <a:avLst/>
          </a:prstGeom>
        </p:spPr>
        <p:txBody>
          <a:bodyPr lIns="0" tIns="0" rIns="0" bIns="0" rtlCol="0" anchor="t">
            <a:spAutoFit/>
          </a:bodyPr>
          <a:lstStyle/>
          <a:p>
            <a:pPr algn="ctr">
              <a:lnSpc>
                <a:spcPts val="1679"/>
              </a:lnSpc>
            </a:pPr>
            <a:r>
              <a:rPr lang="en-US" sz="1399" b="1" spc="8">
                <a:solidFill>
                  <a:srgbClr val="FFFFFF"/>
                </a:solidFill>
                <a:latin typeface="IBM Plex Sans Bold"/>
                <a:ea typeface="IBM Plex Sans Bold"/>
                <a:cs typeface="IBM Plex Sans Bold"/>
                <a:sym typeface="IBM Plex Sans Bold"/>
              </a:rPr>
              <a:t>1 YEAR</a:t>
            </a:r>
          </a:p>
        </p:txBody>
      </p:sp>
      <p:sp>
        <p:nvSpPr>
          <p:cNvPr id="27" name="TextBox 99"/>
          <p:cNvSpPr txBox="1"/>
          <p:nvPr/>
        </p:nvSpPr>
        <p:spPr>
          <a:xfrm>
            <a:off x="6672167" y="9971913"/>
            <a:ext cx="197987" cy="240665"/>
          </a:xfrm>
          <a:prstGeom prst="rect">
            <a:avLst/>
          </a:prstGeom>
        </p:spPr>
        <p:txBody>
          <a:bodyPr lIns="0" tIns="0" rIns="0" bIns="0" rtlCol="0" anchor="t">
            <a:spAutoFit/>
          </a:bodyPr>
          <a:lstStyle/>
          <a:p>
            <a:pPr algn="l">
              <a:lnSpc>
                <a:spcPts val="1959"/>
              </a:lnSpc>
            </a:pPr>
            <a:r>
              <a:rPr lang="en-US" sz="1399" b="1" spc="8">
                <a:solidFill>
                  <a:srgbClr val="231F20"/>
                </a:solidFill>
                <a:latin typeface="IBM Plex Sans Bold"/>
                <a:ea typeface="IBM Plex Sans Bold"/>
                <a:cs typeface="IBM Plex Sans Bold"/>
                <a:sym typeface="IBM Plex Sans Bold"/>
              </a:rPr>
              <a:t>7</a:t>
            </a:r>
          </a:p>
        </p:txBody>
      </p:sp>
      <p:sp>
        <p:nvSpPr>
          <p:cNvPr id="28" name="TextBox 28"/>
          <p:cNvSpPr txBox="1"/>
          <p:nvPr/>
        </p:nvSpPr>
        <p:spPr>
          <a:xfrm>
            <a:off x="2702204" y="10284476"/>
            <a:ext cx="2515629" cy="160953"/>
          </a:xfrm>
          <a:prstGeom prst="rect">
            <a:avLst/>
          </a:prstGeom>
        </p:spPr>
        <p:txBody>
          <a:bodyPr lIns="0" tIns="0" rIns="0" bIns="0" rtlCol="0" anchor="t">
            <a:spAutoFit/>
          </a:bodyPr>
          <a:lstStyle/>
          <a:p>
            <a:pPr algn="l">
              <a:lnSpc>
                <a:spcPts val="1260"/>
              </a:lnSpc>
            </a:pPr>
            <a:r>
              <a:rPr lang="en-US" sz="900" i="1" spc="23">
                <a:solidFill>
                  <a:srgbClr val="939496"/>
                </a:solidFill>
                <a:latin typeface="Open Sans Italics"/>
                <a:ea typeface="Open Sans Italics"/>
                <a:cs typeface="Open Sans Italics"/>
                <a:sym typeface="Open Sans Italics"/>
              </a:rPr>
              <a:t>Etablissement d’enseignement supérieur privé</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22546" y="4302157"/>
            <a:ext cx="4914900" cy="2457450"/>
          </a:xfrm>
          <a:custGeom>
            <a:avLst/>
            <a:gdLst/>
            <a:ahLst/>
            <a:cxnLst/>
            <a:rect l="l" t="t" r="r" b="b"/>
            <a:pathLst>
              <a:path w="4914900" h="2457450">
                <a:moveTo>
                  <a:pt x="0" y="0"/>
                </a:moveTo>
                <a:lnTo>
                  <a:pt x="4914900" y="0"/>
                </a:lnTo>
                <a:lnTo>
                  <a:pt x="4914900" y="2457450"/>
                </a:lnTo>
                <a:lnTo>
                  <a:pt x="0" y="2457450"/>
                </a:lnTo>
                <a:lnTo>
                  <a:pt x="0" y="0"/>
                </a:lnTo>
                <a:close/>
              </a:path>
            </a:pathLst>
          </a:custGeom>
          <a:blipFill>
            <a:blip r:embed="rId2"/>
            <a:stretch>
              <a:fillRect/>
            </a:stretch>
          </a:blipFill>
        </p:spPr>
        <p:txBody>
          <a:bodyPr/>
          <a:lstStyle/>
          <a:p>
            <a:endParaRPr lang="fr-FR"/>
          </a:p>
        </p:txBody>
      </p:sp>
      <p:grpSp>
        <p:nvGrpSpPr>
          <p:cNvPr id="3" name="Group 3"/>
          <p:cNvGrpSpPr>
            <a:grpSpLocks noChangeAspect="1"/>
          </p:cNvGrpSpPr>
          <p:nvPr/>
        </p:nvGrpSpPr>
        <p:grpSpPr>
          <a:xfrm>
            <a:off x="663507" y="538923"/>
            <a:ext cx="6180306" cy="1779394"/>
            <a:chOff x="0" y="0"/>
            <a:chExt cx="6180303" cy="1779397"/>
          </a:xfrm>
        </p:grpSpPr>
        <p:sp>
          <p:nvSpPr>
            <p:cNvPr id="4" name="Freeform 4"/>
            <p:cNvSpPr/>
            <p:nvPr/>
          </p:nvSpPr>
          <p:spPr>
            <a:xfrm>
              <a:off x="63500" y="345313"/>
              <a:ext cx="6053328" cy="1370584"/>
            </a:xfrm>
            <a:custGeom>
              <a:avLst/>
              <a:gdLst/>
              <a:ahLst/>
              <a:cxnLst/>
              <a:rect l="l" t="t" r="r" b="b"/>
              <a:pathLst>
                <a:path w="6053328" h="1370584">
                  <a:moveTo>
                    <a:pt x="12700" y="1345184"/>
                  </a:moveTo>
                  <a:lnTo>
                    <a:pt x="6040628" y="1345184"/>
                  </a:lnTo>
                  <a:lnTo>
                    <a:pt x="6040628" y="1357884"/>
                  </a:lnTo>
                  <a:lnTo>
                    <a:pt x="6027928" y="1357884"/>
                  </a:lnTo>
                  <a:lnTo>
                    <a:pt x="6027928" y="12700"/>
                  </a:lnTo>
                  <a:lnTo>
                    <a:pt x="6040628" y="12700"/>
                  </a:lnTo>
                  <a:lnTo>
                    <a:pt x="6040628" y="25400"/>
                  </a:lnTo>
                  <a:lnTo>
                    <a:pt x="12700" y="25400"/>
                  </a:lnTo>
                  <a:lnTo>
                    <a:pt x="12700" y="12700"/>
                  </a:lnTo>
                  <a:lnTo>
                    <a:pt x="25400" y="12700"/>
                  </a:lnTo>
                  <a:lnTo>
                    <a:pt x="25400" y="1357884"/>
                  </a:lnTo>
                  <a:lnTo>
                    <a:pt x="12700" y="1357884"/>
                  </a:lnTo>
                  <a:lnTo>
                    <a:pt x="12700" y="1345184"/>
                  </a:lnTo>
                  <a:moveTo>
                    <a:pt x="12700" y="1370584"/>
                  </a:moveTo>
                  <a:lnTo>
                    <a:pt x="0" y="1370584"/>
                  </a:lnTo>
                  <a:lnTo>
                    <a:pt x="0" y="0"/>
                  </a:lnTo>
                  <a:lnTo>
                    <a:pt x="6053328" y="0"/>
                  </a:lnTo>
                  <a:lnTo>
                    <a:pt x="6053328" y="1370584"/>
                  </a:lnTo>
                  <a:lnTo>
                    <a:pt x="12700" y="1370584"/>
                  </a:lnTo>
                  <a:close/>
                </a:path>
              </a:pathLst>
            </a:custGeom>
            <a:solidFill>
              <a:srgbClr val="1A1447"/>
            </a:solidFill>
          </p:spPr>
          <p:txBody>
            <a:bodyPr/>
            <a:lstStyle/>
            <a:p>
              <a:endParaRPr lang="fr-FR"/>
            </a:p>
          </p:txBody>
        </p:sp>
        <p:sp>
          <p:nvSpPr>
            <p:cNvPr id="5" name="Freeform 5"/>
            <p:cNvSpPr/>
            <p:nvPr/>
          </p:nvSpPr>
          <p:spPr>
            <a:xfrm>
              <a:off x="665480" y="192278"/>
              <a:ext cx="595884" cy="312293"/>
            </a:xfrm>
            <a:custGeom>
              <a:avLst/>
              <a:gdLst/>
              <a:ahLst/>
              <a:cxnLst/>
              <a:rect l="l" t="t" r="r" b="b"/>
              <a:pathLst>
                <a:path w="595884" h="312293">
                  <a:moveTo>
                    <a:pt x="0" y="312293"/>
                  </a:moveTo>
                  <a:lnTo>
                    <a:pt x="595884" y="312293"/>
                  </a:lnTo>
                  <a:lnTo>
                    <a:pt x="595884" y="0"/>
                  </a:lnTo>
                  <a:lnTo>
                    <a:pt x="0" y="0"/>
                  </a:lnTo>
                  <a:close/>
                </a:path>
              </a:pathLst>
            </a:custGeom>
            <a:solidFill>
              <a:srgbClr val="FFFFFF"/>
            </a:solidFill>
          </p:spPr>
          <p:txBody>
            <a:bodyPr/>
            <a:lstStyle/>
            <a:p>
              <a:endParaRPr lang="fr-FR"/>
            </a:p>
          </p:txBody>
        </p:sp>
        <p:sp>
          <p:nvSpPr>
            <p:cNvPr id="6" name="Freeform 6"/>
            <p:cNvSpPr/>
            <p:nvPr/>
          </p:nvSpPr>
          <p:spPr>
            <a:xfrm>
              <a:off x="3870960" y="1206627"/>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7" name="Freeform 7"/>
            <p:cNvSpPr/>
            <p:nvPr/>
          </p:nvSpPr>
          <p:spPr>
            <a:xfrm>
              <a:off x="2249424" y="1206627"/>
              <a:ext cx="25400" cy="367157"/>
            </a:xfrm>
            <a:custGeom>
              <a:avLst/>
              <a:gdLst/>
              <a:ahLst/>
              <a:cxnLst/>
              <a:rect l="l" t="t" r="r" b="b"/>
              <a:pathLst>
                <a:path w="25400" h="367157">
                  <a:moveTo>
                    <a:pt x="25400" y="0"/>
                  </a:moveTo>
                  <a:lnTo>
                    <a:pt x="25400" y="367157"/>
                  </a:lnTo>
                  <a:lnTo>
                    <a:pt x="0" y="367157"/>
                  </a:lnTo>
                  <a:lnTo>
                    <a:pt x="0" y="0"/>
                  </a:lnTo>
                  <a:close/>
                </a:path>
              </a:pathLst>
            </a:custGeom>
            <a:solidFill>
              <a:srgbClr val="EA8C4C"/>
            </a:solidFill>
          </p:spPr>
          <p:txBody>
            <a:bodyPr/>
            <a:lstStyle/>
            <a:p>
              <a:endParaRPr lang="fr-FR"/>
            </a:p>
          </p:txBody>
        </p:sp>
        <p:sp>
          <p:nvSpPr>
            <p:cNvPr id="8" name="Freeform 8"/>
            <p:cNvSpPr/>
            <p:nvPr/>
          </p:nvSpPr>
          <p:spPr>
            <a:xfrm>
              <a:off x="665480" y="1206627"/>
              <a:ext cx="25400" cy="367157"/>
            </a:xfrm>
            <a:custGeom>
              <a:avLst/>
              <a:gdLst/>
              <a:ahLst/>
              <a:cxnLst/>
              <a:rect l="l" t="t" r="r" b="b"/>
              <a:pathLst>
                <a:path w="25400" h="367157">
                  <a:moveTo>
                    <a:pt x="25400" y="0"/>
                  </a:moveTo>
                  <a:lnTo>
                    <a:pt x="25400" y="367157"/>
                  </a:lnTo>
                  <a:lnTo>
                    <a:pt x="0" y="367157"/>
                  </a:lnTo>
                  <a:lnTo>
                    <a:pt x="0" y="0"/>
                  </a:lnTo>
                  <a:close/>
                </a:path>
              </a:pathLst>
            </a:custGeom>
            <a:solidFill>
              <a:srgbClr val="EA8C4C"/>
            </a:solidFill>
          </p:spPr>
          <p:txBody>
            <a:bodyPr/>
            <a:lstStyle/>
            <a:p>
              <a:endParaRPr lang="fr-FR"/>
            </a:p>
          </p:txBody>
        </p:sp>
        <p:sp>
          <p:nvSpPr>
            <p:cNvPr id="9" name="Freeform 9"/>
            <p:cNvSpPr/>
            <p:nvPr/>
          </p:nvSpPr>
          <p:spPr>
            <a:xfrm>
              <a:off x="5292598" y="63500"/>
              <a:ext cx="680212" cy="646176"/>
            </a:xfrm>
            <a:custGeom>
              <a:avLst/>
              <a:gdLst/>
              <a:ahLst/>
              <a:cxnLst/>
              <a:rect l="l" t="t" r="r" b="b"/>
              <a:pathLst>
                <a:path w="680212" h="646176">
                  <a:moveTo>
                    <a:pt x="340106" y="646049"/>
                  </a:moveTo>
                  <a:cubicBezTo>
                    <a:pt x="527939" y="646049"/>
                    <a:pt x="680212" y="501396"/>
                    <a:pt x="680212" y="322961"/>
                  </a:cubicBezTo>
                  <a:cubicBezTo>
                    <a:pt x="680212" y="144526"/>
                    <a:pt x="527939" y="0"/>
                    <a:pt x="340106" y="0"/>
                  </a:cubicBezTo>
                  <a:cubicBezTo>
                    <a:pt x="152273" y="0"/>
                    <a:pt x="0" y="144653"/>
                    <a:pt x="0" y="323088"/>
                  </a:cubicBezTo>
                  <a:cubicBezTo>
                    <a:pt x="0" y="501523"/>
                    <a:pt x="152273" y="646176"/>
                    <a:pt x="340106" y="646176"/>
                  </a:cubicBezTo>
                </a:path>
              </a:pathLst>
            </a:custGeom>
            <a:solidFill>
              <a:srgbClr val="1A1447"/>
            </a:solidFill>
          </p:spPr>
          <p:txBody>
            <a:bodyPr/>
            <a:lstStyle/>
            <a:p>
              <a:endParaRPr lang="fr-FR"/>
            </a:p>
          </p:txBody>
        </p:sp>
      </p:grpSp>
      <p:sp>
        <p:nvSpPr>
          <p:cNvPr id="10" name="Freeform 10"/>
          <p:cNvSpPr/>
          <p:nvPr/>
        </p:nvSpPr>
        <p:spPr>
          <a:xfrm>
            <a:off x="124501" y="3598307"/>
            <a:ext cx="2632405" cy="1903286"/>
          </a:xfrm>
          <a:custGeom>
            <a:avLst/>
            <a:gdLst/>
            <a:ahLst/>
            <a:cxnLst/>
            <a:rect l="l" t="t" r="r" b="b"/>
            <a:pathLst>
              <a:path w="2632405" h="1903286">
                <a:moveTo>
                  <a:pt x="0" y="0"/>
                </a:moveTo>
                <a:lnTo>
                  <a:pt x="2632405" y="0"/>
                </a:lnTo>
                <a:lnTo>
                  <a:pt x="2632405" y="1903285"/>
                </a:lnTo>
                <a:lnTo>
                  <a:pt x="0" y="1903285"/>
                </a:lnTo>
                <a:lnTo>
                  <a:pt x="0" y="0"/>
                </a:lnTo>
                <a:close/>
              </a:path>
            </a:pathLst>
          </a:custGeom>
          <a:blipFill>
            <a:blip r:embed="rId3"/>
            <a:stretch>
              <a:fillRect l="-517" r="-551"/>
            </a:stretch>
          </a:blipFill>
        </p:spPr>
        <p:txBody>
          <a:bodyPr/>
          <a:lstStyle/>
          <a:p>
            <a:endParaRPr lang="fr-FR"/>
          </a:p>
        </p:txBody>
      </p:sp>
      <p:sp>
        <p:nvSpPr>
          <p:cNvPr id="11" name="TextBox 11"/>
          <p:cNvSpPr txBox="1"/>
          <p:nvPr/>
        </p:nvSpPr>
        <p:spPr>
          <a:xfrm>
            <a:off x="737016" y="7563202"/>
            <a:ext cx="2885770" cy="1103605"/>
          </a:xfrm>
          <a:prstGeom prst="rect">
            <a:avLst/>
          </a:prstGeom>
        </p:spPr>
        <p:txBody>
          <a:bodyPr lIns="0" tIns="0" rIns="0" bIns="0" rtlCol="0" anchor="t">
            <a:spAutoFit/>
          </a:bodyPr>
          <a:lstStyle/>
          <a:p>
            <a:pPr algn="just">
              <a:lnSpc>
                <a:spcPts val="1439"/>
              </a:lnSpc>
            </a:pPr>
            <a:r>
              <a:rPr lang="en-US" sz="1200" i="1" spc="2">
                <a:solidFill>
                  <a:srgbClr val="231F20"/>
                </a:solidFill>
                <a:latin typeface="Open Sans Italics"/>
                <a:ea typeface="Open Sans Italics"/>
                <a:cs typeface="Open Sans Italics"/>
                <a:sym typeface="Open Sans Italics"/>
              </a:rPr>
              <a:t>To help international students improve their French proficiency. Mastering French language will make it easier to immerse yourself into French culture. It will en- hance more opportunities for your future academic &amp; professionnal life.</a:t>
            </a:r>
          </a:p>
        </p:txBody>
      </p:sp>
      <p:sp>
        <p:nvSpPr>
          <p:cNvPr id="12" name="TextBox 12"/>
          <p:cNvSpPr txBox="1"/>
          <p:nvPr/>
        </p:nvSpPr>
        <p:spPr>
          <a:xfrm>
            <a:off x="1440704" y="1472889"/>
            <a:ext cx="1191206" cy="430149"/>
          </a:xfrm>
          <a:prstGeom prst="rect">
            <a:avLst/>
          </a:prstGeom>
        </p:spPr>
        <p:txBody>
          <a:bodyPr lIns="0" tIns="0" rIns="0" bIns="0" rtlCol="0" anchor="t">
            <a:spAutoFit/>
          </a:bodyPr>
          <a:lstStyle/>
          <a:p>
            <a:pPr algn="l">
              <a:lnSpc>
                <a:spcPts val="1728"/>
              </a:lnSpc>
            </a:pPr>
            <a:r>
              <a:rPr lang="en-US" sz="1200" b="1" spc="4">
                <a:solidFill>
                  <a:srgbClr val="464395"/>
                </a:solidFill>
                <a:latin typeface="IBM Plex Sans Bold"/>
                <a:ea typeface="IBM Plex Sans Bold"/>
                <a:cs typeface="IBM Plex Sans Bold"/>
                <a:sym typeface="IBM Plex Sans Bold"/>
              </a:rPr>
              <a:t>INTAKES</a:t>
            </a:r>
          </a:p>
          <a:p>
            <a:pPr algn="l">
              <a:lnSpc>
                <a:spcPts val="1728"/>
              </a:lnSpc>
            </a:pPr>
            <a:r>
              <a:rPr lang="en-US" sz="1200" i="1" spc="2">
                <a:solidFill>
                  <a:srgbClr val="231F20"/>
                </a:solidFill>
                <a:latin typeface="Open Sans Italics"/>
                <a:ea typeface="Open Sans Italics"/>
                <a:cs typeface="Open Sans Italics"/>
                <a:sym typeface="Open Sans Italics"/>
              </a:rPr>
              <a:t>All year</a:t>
            </a:r>
          </a:p>
        </p:txBody>
      </p:sp>
      <p:sp>
        <p:nvSpPr>
          <p:cNvPr id="13" name="TextBox 13"/>
          <p:cNvSpPr txBox="1"/>
          <p:nvPr/>
        </p:nvSpPr>
        <p:spPr>
          <a:xfrm>
            <a:off x="2139915" y="9236240"/>
            <a:ext cx="3366945" cy="372085"/>
          </a:xfrm>
          <a:prstGeom prst="rect">
            <a:avLst/>
          </a:prstGeom>
        </p:spPr>
        <p:txBody>
          <a:bodyPr lIns="0" tIns="0" rIns="0" bIns="0" rtlCol="0" anchor="t">
            <a:spAutoFit/>
          </a:bodyPr>
          <a:lstStyle/>
          <a:p>
            <a:pPr algn="ctr">
              <a:lnSpc>
                <a:spcPts val="1439"/>
              </a:lnSpc>
            </a:pPr>
            <a:r>
              <a:rPr lang="en-US" sz="1200" i="1" spc="2">
                <a:solidFill>
                  <a:srgbClr val="231F20"/>
                </a:solidFill>
                <a:latin typeface="Open Sans Italics"/>
                <a:ea typeface="Open Sans Italics"/>
                <a:cs typeface="Open Sans Italics"/>
                <a:sym typeface="Open Sans Italics"/>
              </a:rPr>
              <a:t>The best improvements comes with a good start. So let’s start with a tiny test !</a:t>
            </a:r>
          </a:p>
        </p:txBody>
      </p:sp>
      <p:sp>
        <p:nvSpPr>
          <p:cNvPr id="14" name="TextBox 14"/>
          <p:cNvSpPr txBox="1"/>
          <p:nvPr/>
        </p:nvSpPr>
        <p:spPr>
          <a:xfrm>
            <a:off x="4636713" y="1472889"/>
            <a:ext cx="1373896" cy="612543"/>
          </a:xfrm>
          <a:prstGeom prst="rect">
            <a:avLst/>
          </a:prstGeom>
        </p:spPr>
        <p:txBody>
          <a:bodyPr lIns="0" tIns="0" rIns="0" bIns="0" rtlCol="0" anchor="t">
            <a:spAutoFit/>
          </a:bodyPr>
          <a:lstStyle/>
          <a:p>
            <a:pPr algn="l">
              <a:lnSpc>
                <a:spcPts val="1728"/>
              </a:lnSpc>
            </a:pPr>
            <a:r>
              <a:rPr lang="en-US" sz="1200" b="1" spc="4">
                <a:solidFill>
                  <a:srgbClr val="464395"/>
                </a:solidFill>
                <a:latin typeface="IBM Plex Sans Bold"/>
                <a:ea typeface="IBM Plex Sans Bold"/>
                <a:cs typeface="IBM Plex Sans Bold"/>
                <a:sym typeface="IBM Plex Sans Bold"/>
              </a:rPr>
              <a:t>ENROLMENT</a:t>
            </a:r>
          </a:p>
          <a:p>
            <a:pPr algn="l">
              <a:lnSpc>
                <a:spcPts val="1728"/>
              </a:lnSpc>
            </a:pPr>
            <a:r>
              <a:rPr lang="en-US" sz="1200" i="1" spc="2">
                <a:solidFill>
                  <a:srgbClr val="231F20"/>
                </a:solidFill>
                <a:latin typeface="Open Sans Italics"/>
                <a:ea typeface="Open Sans Italics"/>
                <a:cs typeface="Open Sans Italics"/>
                <a:sym typeface="Open Sans Italics"/>
              </a:rPr>
              <a:t>Written application</a:t>
            </a:r>
          </a:p>
          <a:p>
            <a:pPr algn="l">
              <a:lnSpc>
                <a:spcPts val="1152"/>
              </a:lnSpc>
            </a:pPr>
            <a:r>
              <a:rPr lang="en-US" sz="1200" i="1" spc="2">
                <a:solidFill>
                  <a:srgbClr val="231F20"/>
                </a:solidFill>
                <a:latin typeface="Open Sans Italics"/>
                <a:ea typeface="Open Sans Italics"/>
                <a:cs typeface="Open Sans Italics"/>
                <a:sym typeface="Open Sans Italics"/>
              </a:rPr>
              <a:t>and interview</a:t>
            </a:r>
          </a:p>
        </p:txBody>
      </p:sp>
      <p:sp>
        <p:nvSpPr>
          <p:cNvPr id="15" name="TextBox 15"/>
          <p:cNvSpPr txBox="1"/>
          <p:nvPr/>
        </p:nvSpPr>
        <p:spPr>
          <a:xfrm>
            <a:off x="988695" y="2824553"/>
            <a:ext cx="5529929" cy="554965"/>
          </a:xfrm>
          <a:prstGeom prst="rect">
            <a:avLst/>
          </a:prstGeom>
        </p:spPr>
        <p:txBody>
          <a:bodyPr lIns="0" tIns="0" rIns="0" bIns="0" rtlCol="0" anchor="t">
            <a:spAutoFit/>
          </a:bodyPr>
          <a:lstStyle/>
          <a:p>
            <a:pPr algn="ctr">
              <a:lnSpc>
                <a:spcPts val="1439"/>
              </a:lnSpc>
            </a:pPr>
            <a:r>
              <a:rPr lang="en-US" sz="1200" spc="4">
                <a:solidFill>
                  <a:srgbClr val="231F20"/>
                </a:solidFill>
                <a:latin typeface="IBM Plex Sans"/>
                <a:ea typeface="IBM Plex Sans"/>
                <a:cs typeface="IBM Plex Sans"/>
                <a:sym typeface="IBM Plex Sans"/>
              </a:rPr>
              <a:t>At ILCI, you can start from Full Beginner and achieve a working proficiency level. New sessions start every 12 weeks.</a:t>
            </a:r>
          </a:p>
          <a:p>
            <a:pPr algn="l">
              <a:lnSpc>
                <a:spcPts val="1439"/>
              </a:lnSpc>
            </a:pPr>
            <a:r>
              <a:rPr lang="en-US" sz="1200" spc="4">
                <a:solidFill>
                  <a:srgbClr val="231F20"/>
                </a:solidFill>
                <a:latin typeface="IBM Plex Sans"/>
                <a:ea typeface="IBM Plex Sans"/>
                <a:cs typeface="IBM Plex Sans"/>
                <a:sym typeface="IBM Plex Sans"/>
              </a:rPr>
              <a:t>You can apply directly as a FLE student or with the 1 year preparation program.</a:t>
            </a:r>
          </a:p>
        </p:txBody>
      </p:sp>
      <p:sp>
        <p:nvSpPr>
          <p:cNvPr id="16" name="TextBox 16"/>
          <p:cNvSpPr txBox="1"/>
          <p:nvPr/>
        </p:nvSpPr>
        <p:spPr>
          <a:xfrm>
            <a:off x="3796332" y="7406992"/>
            <a:ext cx="2867844" cy="1198855"/>
          </a:xfrm>
          <a:prstGeom prst="rect">
            <a:avLst/>
          </a:prstGeom>
        </p:spPr>
        <p:txBody>
          <a:bodyPr lIns="0" tIns="0" rIns="0" bIns="0" rtlCol="0" anchor="t">
            <a:spAutoFit/>
          </a:bodyPr>
          <a:lstStyle/>
          <a:p>
            <a:pPr algn="l">
              <a:lnSpc>
                <a:spcPts val="2400"/>
              </a:lnSpc>
            </a:pPr>
            <a:r>
              <a:rPr lang="en-US" sz="1200" i="1" spc="2">
                <a:solidFill>
                  <a:srgbClr val="231F20"/>
                </a:solidFill>
                <a:latin typeface="Open Sans Italics"/>
                <a:ea typeface="Open Sans Italics"/>
                <a:cs typeface="Open Sans Italics"/>
                <a:sym typeface="Open Sans Italics"/>
              </a:rPr>
              <a:t>• Half day classes</a:t>
            </a:r>
          </a:p>
          <a:p>
            <a:pPr algn="just">
              <a:lnSpc>
                <a:spcPts val="2400"/>
              </a:lnSpc>
            </a:pPr>
            <a:r>
              <a:rPr lang="en-US" sz="1200" i="1" spc="2">
                <a:solidFill>
                  <a:srgbClr val="231F20"/>
                </a:solidFill>
                <a:latin typeface="Open Sans Italics"/>
                <a:ea typeface="Open Sans Italics"/>
                <a:cs typeface="Open Sans Italics"/>
                <a:sym typeface="Open Sans Italics"/>
              </a:rPr>
              <a:t>• Optional speaking workshop everyday • Teachers with 10+ years experiences</a:t>
            </a:r>
          </a:p>
          <a:p>
            <a:pPr algn="l">
              <a:lnSpc>
                <a:spcPts val="2400"/>
              </a:lnSpc>
            </a:pPr>
            <a:r>
              <a:rPr lang="en-US" sz="1200" i="1" spc="2">
                <a:solidFill>
                  <a:srgbClr val="231F20"/>
                </a:solidFill>
                <a:latin typeface="Open Sans Italics"/>
                <a:ea typeface="Open Sans Italics"/>
                <a:cs typeface="Open Sans Italics"/>
                <a:sym typeface="Open Sans Italics"/>
              </a:rPr>
              <a:t>• Various cultural events</a:t>
            </a:r>
          </a:p>
        </p:txBody>
      </p:sp>
      <p:sp>
        <p:nvSpPr>
          <p:cNvPr id="17" name="TextBox 17"/>
          <p:cNvSpPr txBox="1"/>
          <p:nvPr/>
        </p:nvSpPr>
        <p:spPr>
          <a:xfrm>
            <a:off x="737016" y="7107622"/>
            <a:ext cx="1698955" cy="321907"/>
          </a:xfrm>
          <a:prstGeom prst="rect">
            <a:avLst/>
          </a:prstGeom>
        </p:spPr>
        <p:txBody>
          <a:bodyPr lIns="0" tIns="0" rIns="0" bIns="0" rtlCol="0" anchor="t">
            <a:spAutoFit/>
          </a:bodyPr>
          <a:lstStyle/>
          <a:p>
            <a:pPr algn="l">
              <a:lnSpc>
                <a:spcPts val="2520"/>
              </a:lnSpc>
            </a:pPr>
            <a:r>
              <a:rPr lang="en-US" sz="1800" b="1" i="1" spc="7">
                <a:solidFill>
                  <a:srgbClr val="EA8C39"/>
                </a:solidFill>
                <a:latin typeface="IBM Plex Sans Bold Italics"/>
                <a:ea typeface="IBM Plex Sans Bold Italics"/>
                <a:cs typeface="IBM Plex Sans Bold Italics"/>
                <a:sym typeface="IBM Plex Sans Bold Italics"/>
              </a:rPr>
              <a:t>OUR MISSIONS</a:t>
            </a:r>
          </a:p>
        </p:txBody>
      </p:sp>
      <p:sp>
        <p:nvSpPr>
          <p:cNvPr id="18" name="TextBox 18"/>
          <p:cNvSpPr txBox="1"/>
          <p:nvPr/>
        </p:nvSpPr>
        <p:spPr>
          <a:xfrm>
            <a:off x="1355303" y="715366"/>
            <a:ext cx="3281410" cy="606400"/>
          </a:xfrm>
          <a:prstGeom prst="rect">
            <a:avLst/>
          </a:prstGeom>
        </p:spPr>
        <p:txBody>
          <a:bodyPr lIns="0" tIns="0" rIns="0" bIns="0" rtlCol="0" anchor="t">
            <a:spAutoFit/>
          </a:bodyPr>
          <a:lstStyle/>
          <a:p>
            <a:pPr algn="l">
              <a:lnSpc>
                <a:spcPts val="2410"/>
              </a:lnSpc>
            </a:pPr>
            <a:r>
              <a:rPr lang="en-US" sz="1800" b="1" spc="7">
                <a:solidFill>
                  <a:srgbClr val="0047C4"/>
                </a:solidFill>
                <a:latin typeface="IBM Plex Sans Bold"/>
                <a:ea typeface="IBM Plex Sans Bold"/>
                <a:cs typeface="IBM Plex Sans Bold"/>
                <a:sym typeface="IBM Plex Sans Bold"/>
              </a:rPr>
              <a:t>[</a:t>
            </a:r>
            <a:r>
              <a:rPr lang="en-US" sz="1800" b="1" spc="7">
                <a:solidFill>
                  <a:srgbClr val="231F20"/>
                </a:solidFill>
                <a:latin typeface="IBM Plex Sans Bold"/>
                <a:ea typeface="IBM Plex Sans Bold"/>
                <a:cs typeface="IBM Plex Sans Bold"/>
                <a:sym typeface="IBM Plex Sans Bold"/>
              </a:rPr>
              <a:t>FLE</a:t>
            </a:r>
            <a:r>
              <a:rPr lang="en-US" sz="1800" b="1" spc="7">
                <a:solidFill>
                  <a:srgbClr val="D2232A"/>
                </a:solidFill>
                <a:latin typeface="IBM Plex Sans Bold"/>
                <a:ea typeface="IBM Plex Sans Bold"/>
                <a:cs typeface="IBM Plex Sans Bold"/>
                <a:sym typeface="IBM Plex Sans Bold"/>
              </a:rPr>
              <a:t>]</a:t>
            </a:r>
          </a:p>
          <a:p>
            <a:pPr algn="l">
              <a:lnSpc>
                <a:spcPts val="2410"/>
              </a:lnSpc>
            </a:pPr>
            <a:r>
              <a:rPr lang="en-US" sz="1800" b="1" spc="7">
                <a:solidFill>
                  <a:srgbClr val="1A1447"/>
                </a:solidFill>
                <a:latin typeface="IBM Plex Sans Bold"/>
                <a:ea typeface="IBM Plex Sans Bold"/>
                <a:cs typeface="IBM Plex Sans Bold"/>
                <a:sym typeface="IBM Plex Sans Bold"/>
              </a:rPr>
              <a:t>Français Langue Etrangère*</a:t>
            </a:r>
          </a:p>
        </p:txBody>
      </p:sp>
      <p:sp>
        <p:nvSpPr>
          <p:cNvPr id="19" name="TextBox 19"/>
          <p:cNvSpPr txBox="1"/>
          <p:nvPr/>
        </p:nvSpPr>
        <p:spPr>
          <a:xfrm>
            <a:off x="3796332" y="7107622"/>
            <a:ext cx="1605001" cy="321907"/>
          </a:xfrm>
          <a:prstGeom prst="rect">
            <a:avLst/>
          </a:prstGeom>
        </p:spPr>
        <p:txBody>
          <a:bodyPr lIns="0" tIns="0" rIns="0" bIns="0" rtlCol="0" anchor="t">
            <a:spAutoFit/>
          </a:bodyPr>
          <a:lstStyle/>
          <a:p>
            <a:pPr algn="l">
              <a:lnSpc>
                <a:spcPts val="2520"/>
              </a:lnSpc>
            </a:pPr>
            <a:r>
              <a:rPr lang="en-US" sz="1800" b="1" i="1" spc="7">
                <a:solidFill>
                  <a:srgbClr val="EA8C39"/>
                </a:solidFill>
                <a:latin typeface="IBM Plex Sans Bold Italics"/>
                <a:ea typeface="IBM Plex Sans Bold Italics"/>
                <a:cs typeface="IBM Plex Sans Bold Italics"/>
                <a:sym typeface="IBM Plex Sans Bold Italics"/>
              </a:rPr>
              <a:t>KEY FEATURES</a:t>
            </a:r>
          </a:p>
        </p:txBody>
      </p:sp>
      <p:sp>
        <p:nvSpPr>
          <p:cNvPr id="20" name="TextBox 20"/>
          <p:cNvSpPr txBox="1"/>
          <p:nvPr/>
        </p:nvSpPr>
        <p:spPr>
          <a:xfrm>
            <a:off x="6010608" y="660330"/>
            <a:ext cx="618392" cy="434102"/>
          </a:xfrm>
          <a:prstGeom prst="rect">
            <a:avLst/>
          </a:prstGeom>
        </p:spPr>
        <p:txBody>
          <a:bodyPr lIns="0" tIns="0" rIns="0" bIns="0" rtlCol="0" anchor="t">
            <a:spAutoFit/>
          </a:bodyPr>
          <a:lstStyle/>
          <a:p>
            <a:pPr algn="ctr">
              <a:lnSpc>
                <a:spcPts val="1679"/>
              </a:lnSpc>
            </a:pPr>
            <a:r>
              <a:rPr lang="en-US" sz="1399" b="1" spc="8">
                <a:solidFill>
                  <a:srgbClr val="FFFFFF"/>
                </a:solidFill>
                <a:latin typeface="IBM Plex Sans Bold"/>
                <a:ea typeface="IBM Plex Sans Bold"/>
                <a:cs typeface="IBM Plex Sans Bold"/>
                <a:sym typeface="IBM Plex Sans Bold"/>
              </a:rPr>
              <a:t>12 Weeks</a:t>
            </a:r>
          </a:p>
        </p:txBody>
      </p:sp>
      <p:sp>
        <p:nvSpPr>
          <p:cNvPr id="21" name="TextBox 99"/>
          <p:cNvSpPr txBox="1"/>
          <p:nvPr/>
        </p:nvSpPr>
        <p:spPr>
          <a:xfrm>
            <a:off x="6641763" y="9971913"/>
            <a:ext cx="341344" cy="240665"/>
          </a:xfrm>
          <a:prstGeom prst="rect">
            <a:avLst/>
          </a:prstGeom>
        </p:spPr>
        <p:txBody>
          <a:bodyPr lIns="0" tIns="0" rIns="0" bIns="0" rtlCol="0" anchor="t">
            <a:spAutoFit/>
          </a:bodyPr>
          <a:lstStyle/>
          <a:p>
            <a:pPr algn="l">
              <a:lnSpc>
                <a:spcPts val="1959"/>
              </a:lnSpc>
            </a:pPr>
            <a:r>
              <a:rPr lang="en-US" sz="1399" b="1" spc="8">
                <a:solidFill>
                  <a:srgbClr val="231F20"/>
                </a:solidFill>
                <a:latin typeface="IBM Plex Sans Bold"/>
                <a:ea typeface="IBM Plex Sans Bold"/>
                <a:cs typeface="IBM Plex Sans Bold"/>
                <a:sym typeface="IBM Plex Sans Bold"/>
              </a:rPr>
              <a:t>8</a:t>
            </a:r>
          </a:p>
        </p:txBody>
      </p:sp>
      <p:sp>
        <p:nvSpPr>
          <p:cNvPr id="22" name="TextBox 22"/>
          <p:cNvSpPr txBox="1"/>
          <p:nvPr/>
        </p:nvSpPr>
        <p:spPr>
          <a:xfrm>
            <a:off x="2637320" y="10283076"/>
            <a:ext cx="2515629" cy="160953"/>
          </a:xfrm>
          <a:prstGeom prst="rect">
            <a:avLst/>
          </a:prstGeom>
        </p:spPr>
        <p:txBody>
          <a:bodyPr lIns="0" tIns="0" rIns="0" bIns="0" rtlCol="0" anchor="t">
            <a:spAutoFit/>
          </a:bodyPr>
          <a:lstStyle/>
          <a:p>
            <a:pPr algn="l">
              <a:lnSpc>
                <a:spcPts val="1260"/>
              </a:lnSpc>
            </a:pPr>
            <a:r>
              <a:rPr lang="en-US" sz="900" i="1" spc="23">
                <a:solidFill>
                  <a:srgbClr val="939496"/>
                </a:solidFill>
                <a:latin typeface="Open Sans Italics"/>
                <a:ea typeface="Open Sans Italics"/>
                <a:cs typeface="Open Sans Italics"/>
                <a:sym typeface="Open Sans Italics"/>
              </a:rPr>
              <a:t>Etablissement d’enseignement supérieur privé</a:t>
            </a:r>
          </a:p>
        </p:txBody>
      </p:sp>
      <p:sp>
        <p:nvSpPr>
          <p:cNvPr id="23" name="TextBox 23"/>
          <p:cNvSpPr txBox="1"/>
          <p:nvPr/>
        </p:nvSpPr>
        <p:spPr>
          <a:xfrm>
            <a:off x="2086175" y="9890798"/>
            <a:ext cx="3342618" cy="186242"/>
          </a:xfrm>
          <a:prstGeom prst="rect">
            <a:avLst/>
          </a:prstGeom>
        </p:spPr>
        <p:txBody>
          <a:bodyPr lIns="0" tIns="0" rIns="0" bIns="0" rtlCol="0" anchor="t">
            <a:spAutoFit/>
          </a:bodyPr>
          <a:lstStyle/>
          <a:p>
            <a:pPr algn="l">
              <a:lnSpc>
                <a:spcPts val="1400"/>
              </a:lnSpc>
            </a:pPr>
            <a:r>
              <a:rPr lang="en-US" sz="1000" i="1" spc="2">
                <a:solidFill>
                  <a:srgbClr val="231F20"/>
                </a:solidFill>
                <a:latin typeface="Open Sans Italics"/>
                <a:ea typeface="Open Sans Italics"/>
                <a:cs typeface="Open Sans Italics"/>
                <a:sym typeface="Open Sans Italics"/>
              </a:rPr>
              <a:t>Get more information on our website www.ilci-education.fr</a:t>
            </a:r>
          </a:p>
        </p:txBody>
      </p:sp>
      <p:sp>
        <p:nvSpPr>
          <p:cNvPr id="24" name="TextBox 24"/>
          <p:cNvSpPr txBox="1"/>
          <p:nvPr/>
        </p:nvSpPr>
        <p:spPr>
          <a:xfrm>
            <a:off x="2998266" y="1472889"/>
            <a:ext cx="1510787" cy="430149"/>
          </a:xfrm>
          <a:prstGeom prst="rect">
            <a:avLst/>
          </a:prstGeom>
        </p:spPr>
        <p:txBody>
          <a:bodyPr lIns="0" tIns="0" rIns="0" bIns="0" rtlCol="0" anchor="t">
            <a:spAutoFit/>
          </a:bodyPr>
          <a:lstStyle/>
          <a:p>
            <a:pPr algn="l">
              <a:lnSpc>
                <a:spcPts val="1728"/>
              </a:lnSpc>
            </a:pPr>
            <a:r>
              <a:rPr lang="en-US" sz="1200" b="1" spc="4">
                <a:solidFill>
                  <a:srgbClr val="464395"/>
                </a:solidFill>
                <a:latin typeface="IBM Plex Sans Bold"/>
                <a:ea typeface="IBM Plex Sans Bold"/>
                <a:cs typeface="IBM Plex Sans Bold"/>
                <a:sym typeface="IBM Plex Sans Bold"/>
              </a:rPr>
              <a:t>REQUIREMENTS</a:t>
            </a:r>
          </a:p>
          <a:p>
            <a:pPr algn="l">
              <a:lnSpc>
                <a:spcPts val="1728"/>
              </a:lnSpc>
            </a:pPr>
            <a:r>
              <a:rPr lang="en-US" sz="1200" i="1" spc="2">
                <a:solidFill>
                  <a:srgbClr val="231F20"/>
                </a:solidFill>
                <a:latin typeface="Open Sans Italics"/>
                <a:ea typeface="Open Sans Italics"/>
                <a:cs typeface="Open Sans Italics"/>
                <a:sym typeface="Open Sans Italics"/>
              </a:rPr>
              <a:t>Age 18+</a:t>
            </a:r>
          </a:p>
        </p:txBody>
      </p:sp>
      <p:sp>
        <p:nvSpPr>
          <p:cNvPr id="25" name="TextBox 25"/>
          <p:cNvSpPr txBox="1"/>
          <p:nvPr/>
        </p:nvSpPr>
        <p:spPr>
          <a:xfrm>
            <a:off x="1031367" y="2414692"/>
            <a:ext cx="5529929" cy="180975"/>
          </a:xfrm>
          <a:prstGeom prst="rect">
            <a:avLst/>
          </a:prstGeom>
        </p:spPr>
        <p:txBody>
          <a:bodyPr lIns="0" tIns="0" rIns="0" bIns="0" rtlCol="0" anchor="t">
            <a:spAutoFit/>
          </a:bodyPr>
          <a:lstStyle/>
          <a:p>
            <a:pPr algn="l">
              <a:lnSpc>
                <a:spcPts val="1439"/>
              </a:lnSpc>
            </a:pPr>
            <a:r>
              <a:rPr lang="en-US" sz="1200" spc="4">
                <a:solidFill>
                  <a:srgbClr val="231F20"/>
                </a:solidFill>
                <a:latin typeface="IBM Plex Sans"/>
                <a:ea typeface="IBM Plex Sans"/>
                <a:cs typeface="IBM Plex Sans"/>
                <a:sym typeface="IBM Plex Sans"/>
              </a:rPr>
              <a:t>*French language for international student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447"/>
        </a:solidFill>
        <a:effectLst/>
      </p:bgPr>
    </p:bg>
    <p:spTree>
      <p:nvGrpSpPr>
        <p:cNvPr id="1" name=""/>
        <p:cNvGrpSpPr/>
        <p:nvPr/>
      </p:nvGrpSpPr>
      <p:grpSpPr>
        <a:xfrm>
          <a:off x="0" y="0"/>
          <a:ext cx="0" cy="0"/>
          <a:chOff x="0" y="0"/>
          <a:chExt cx="0" cy="0"/>
        </a:xfrm>
      </p:grpSpPr>
      <p:sp>
        <p:nvSpPr>
          <p:cNvPr id="2" name="Freeform 2"/>
          <p:cNvSpPr/>
          <p:nvPr/>
        </p:nvSpPr>
        <p:spPr>
          <a:xfrm>
            <a:off x="-2071975" y="2822610"/>
            <a:ext cx="11804085" cy="7869390"/>
          </a:xfrm>
          <a:custGeom>
            <a:avLst/>
            <a:gdLst/>
            <a:ahLst/>
            <a:cxnLst/>
            <a:rect l="l" t="t" r="r" b="b"/>
            <a:pathLst>
              <a:path w="11804085" h="7869390">
                <a:moveTo>
                  <a:pt x="0" y="0"/>
                </a:moveTo>
                <a:lnTo>
                  <a:pt x="11804085" y="0"/>
                </a:lnTo>
                <a:lnTo>
                  <a:pt x="11804085" y="7869390"/>
                </a:lnTo>
                <a:lnTo>
                  <a:pt x="0" y="7869390"/>
                </a:lnTo>
                <a:lnTo>
                  <a:pt x="0" y="0"/>
                </a:lnTo>
                <a:close/>
              </a:path>
            </a:pathLst>
          </a:custGeom>
          <a:blipFill>
            <a:blip r:embed="rId2"/>
            <a:stretch>
              <a:fillRect/>
            </a:stretch>
          </a:blipFill>
        </p:spPr>
        <p:txBody>
          <a:bodyPr/>
          <a:lstStyle/>
          <a:p>
            <a:endParaRPr lang="fr-FR"/>
          </a:p>
        </p:txBody>
      </p:sp>
      <p:grpSp>
        <p:nvGrpSpPr>
          <p:cNvPr id="3" name="Group 3"/>
          <p:cNvGrpSpPr>
            <a:grpSpLocks noChangeAspect="1"/>
          </p:cNvGrpSpPr>
          <p:nvPr/>
        </p:nvGrpSpPr>
        <p:grpSpPr>
          <a:xfrm>
            <a:off x="4364507" y="-63503"/>
            <a:ext cx="2409292" cy="4578696"/>
            <a:chOff x="0" y="0"/>
            <a:chExt cx="2409292" cy="4578693"/>
          </a:xfrm>
        </p:grpSpPr>
        <p:sp>
          <p:nvSpPr>
            <p:cNvPr id="4" name="Freeform 4"/>
            <p:cNvSpPr/>
            <p:nvPr/>
          </p:nvSpPr>
          <p:spPr>
            <a:xfrm>
              <a:off x="63500" y="63500"/>
              <a:ext cx="2282317" cy="4451731"/>
            </a:xfrm>
            <a:custGeom>
              <a:avLst/>
              <a:gdLst/>
              <a:ahLst/>
              <a:cxnLst/>
              <a:rect l="l" t="t" r="r" b="b"/>
              <a:pathLst>
                <a:path w="2282317" h="4451731">
                  <a:moveTo>
                    <a:pt x="0" y="4451731"/>
                  </a:moveTo>
                  <a:lnTo>
                    <a:pt x="2282317" y="4451731"/>
                  </a:lnTo>
                  <a:lnTo>
                    <a:pt x="2282317" y="0"/>
                  </a:lnTo>
                  <a:lnTo>
                    <a:pt x="0" y="0"/>
                  </a:lnTo>
                  <a:close/>
                </a:path>
              </a:pathLst>
            </a:custGeom>
            <a:solidFill>
              <a:srgbClr val="EA8C39"/>
            </a:solidFill>
          </p:spPr>
          <p:txBody>
            <a:bodyPr/>
            <a:lstStyle/>
            <a:p>
              <a:endParaRPr lang="fr-FR"/>
            </a:p>
          </p:txBody>
        </p:sp>
        <p:sp>
          <p:nvSpPr>
            <p:cNvPr id="5" name="Freeform 5"/>
            <p:cNvSpPr/>
            <p:nvPr/>
          </p:nvSpPr>
          <p:spPr>
            <a:xfrm>
              <a:off x="1175258" y="63500"/>
              <a:ext cx="76200" cy="2352929"/>
            </a:xfrm>
            <a:custGeom>
              <a:avLst/>
              <a:gdLst/>
              <a:ahLst/>
              <a:cxnLst/>
              <a:rect l="l" t="t" r="r" b="b"/>
              <a:pathLst>
                <a:path w="76200" h="2352929">
                  <a:moveTo>
                    <a:pt x="0" y="0"/>
                  </a:moveTo>
                  <a:lnTo>
                    <a:pt x="0" y="2352929"/>
                  </a:lnTo>
                  <a:lnTo>
                    <a:pt x="76200" y="2352929"/>
                  </a:lnTo>
                  <a:lnTo>
                    <a:pt x="76200" y="0"/>
                  </a:lnTo>
                  <a:close/>
                </a:path>
              </a:pathLst>
            </a:custGeom>
            <a:solidFill>
              <a:srgbClr val="EA8C43"/>
            </a:solidFill>
          </p:spPr>
          <p:txBody>
            <a:bodyPr/>
            <a:lstStyle/>
            <a:p>
              <a:endParaRPr lang="fr-FR"/>
            </a:p>
          </p:txBody>
        </p:sp>
      </p:grpSp>
      <p:sp>
        <p:nvSpPr>
          <p:cNvPr id="6" name="TextBox 6"/>
          <p:cNvSpPr txBox="1"/>
          <p:nvPr/>
        </p:nvSpPr>
        <p:spPr>
          <a:xfrm>
            <a:off x="4616996" y="2822610"/>
            <a:ext cx="1822240" cy="1447800"/>
          </a:xfrm>
          <a:prstGeom prst="rect">
            <a:avLst/>
          </a:prstGeom>
        </p:spPr>
        <p:txBody>
          <a:bodyPr lIns="0" tIns="0" rIns="0" bIns="0" rtlCol="0" anchor="t">
            <a:spAutoFit/>
          </a:bodyPr>
          <a:lstStyle/>
          <a:p>
            <a:pPr algn="l">
              <a:lnSpc>
                <a:spcPts val="2879"/>
              </a:lnSpc>
            </a:pPr>
            <a:r>
              <a:rPr lang="en-US" sz="2400" b="1" spc="9">
                <a:solidFill>
                  <a:srgbClr val="FFFFFF"/>
                </a:solidFill>
                <a:latin typeface="IBM Plex Sans Bold"/>
                <a:ea typeface="IBM Plex Sans Bold"/>
                <a:cs typeface="IBM Plex Sans Bold"/>
                <a:sym typeface="IBM Plex Sans Bold"/>
              </a:rPr>
              <a:t>NOTRE OBJECTIF, VOTRE RÉUSSITE !</a:t>
            </a:r>
          </a:p>
        </p:txBody>
      </p:sp>
      <p:grpSp>
        <p:nvGrpSpPr>
          <p:cNvPr id="7" name="Group 7"/>
          <p:cNvGrpSpPr/>
          <p:nvPr/>
        </p:nvGrpSpPr>
        <p:grpSpPr>
          <a:xfrm rot="-5400000">
            <a:off x="3306312" y="6411535"/>
            <a:ext cx="947376" cy="7973798"/>
            <a:chOff x="0" y="0"/>
            <a:chExt cx="339518" cy="2857629"/>
          </a:xfrm>
        </p:grpSpPr>
        <p:sp>
          <p:nvSpPr>
            <p:cNvPr id="8" name="Freeform 8"/>
            <p:cNvSpPr/>
            <p:nvPr/>
          </p:nvSpPr>
          <p:spPr>
            <a:xfrm>
              <a:off x="0" y="0"/>
              <a:ext cx="339518" cy="2857629"/>
            </a:xfrm>
            <a:custGeom>
              <a:avLst/>
              <a:gdLst/>
              <a:ahLst/>
              <a:cxnLst/>
              <a:rect l="l" t="t" r="r" b="b"/>
              <a:pathLst>
                <a:path w="339518" h="2857629">
                  <a:moveTo>
                    <a:pt x="0" y="0"/>
                  </a:moveTo>
                  <a:lnTo>
                    <a:pt x="339518" y="0"/>
                  </a:lnTo>
                  <a:lnTo>
                    <a:pt x="339518" y="2857629"/>
                  </a:lnTo>
                  <a:lnTo>
                    <a:pt x="0" y="2857629"/>
                  </a:lnTo>
                  <a:close/>
                </a:path>
              </a:pathLst>
            </a:custGeom>
            <a:solidFill>
              <a:srgbClr val="1A1447"/>
            </a:solidFill>
          </p:spPr>
          <p:txBody>
            <a:bodyPr/>
            <a:lstStyle/>
            <a:p>
              <a:endParaRPr lang="fr-FR"/>
            </a:p>
          </p:txBody>
        </p:sp>
        <p:sp>
          <p:nvSpPr>
            <p:cNvPr id="9" name="TextBox 9"/>
            <p:cNvSpPr txBox="1"/>
            <p:nvPr/>
          </p:nvSpPr>
          <p:spPr>
            <a:xfrm>
              <a:off x="0" y="-28575"/>
              <a:ext cx="339518" cy="2886204"/>
            </a:xfrm>
            <a:prstGeom prst="rect">
              <a:avLst/>
            </a:prstGeom>
          </p:spPr>
          <p:txBody>
            <a:bodyPr lIns="50800" tIns="50800" rIns="50800" bIns="50800" rtlCol="0" anchor="ctr"/>
            <a:lstStyle/>
            <a:p>
              <a:pPr algn="ctr">
                <a:lnSpc>
                  <a:spcPts val="1960"/>
                </a:lnSpc>
              </a:pPr>
              <a:endParaRPr/>
            </a:p>
          </p:txBody>
        </p:sp>
      </p:grpSp>
      <p:sp>
        <p:nvSpPr>
          <p:cNvPr id="10" name="TextBox 10"/>
          <p:cNvSpPr txBox="1"/>
          <p:nvPr/>
        </p:nvSpPr>
        <p:spPr>
          <a:xfrm>
            <a:off x="2522201" y="10329205"/>
            <a:ext cx="2515629" cy="151428"/>
          </a:xfrm>
          <a:prstGeom prst="rect">
            <a:avLst/>
          </a:prstGeom>
        </p:spPr>
        <p:txBody>
          <a:bodyPr lIns="0" tIns="0" rIns="0" bIns="0" rtlCol="0" anchor="t">
            <a:spAutoFit/>
          </a:bodyPr>
          <a:lstStyle/>
          <a:p>
            <a:pPr algn="l">
              <a:lnSpc>
                <a:spcPts val="1260"/>
              </a:lnSpc>
            </a:pPr>
            <a:r>
              <a:rPr lang="en-US" sz="900" i="1" spc="25">
                <a:solidFill>
                  <a:srgbClr val="FFFFFF"/>
                </a:solidFill>
                <a:latin typeface="IBM Plex Sans Italics"/>
                <a:ea typeface="IBM Plex Sans Italics"/>
                <a:cs typeface="IBM Plex Sans Italics"/>
                <a:sym typeface="IBM Plex Sans Italics"/>
              </a:rPr>
              <a:t>Etablissement d’enseignement supérieur privé</a:t>
            </a:r>
          </a:p>
        </p:txBody>
      </p:sp>
      <p:sp>
        <p:nvSpPr>
          <p:cNvPr id="11" name="TextBox 11"/>
          <p:cNvSpPr txBox="1"/>
          <p:nvPr/>
        </p:nvSpPr>
        <p:spPr>
          <a:xfrm>
            <a:off x="419171" y="525188"/>
            <a:ext cx="2551290" cy="1885950"/>
          </a:xfrm>
          <a:prstGeom prst="rect">
            <a:avLst/>
          </a:prstGeom>
        </p:spPr>
        <p:txBody>
          <a:bodyPr lIns="0" tIns="0" rIns="0" bIns="0" rtlCol="0" anchor="t">
            <a:spAutoFit/>
          </a:bodyPr>
          <a:lstStyle/>
          <a:p>
            <a:pPr algn="ctr">
              <a:lnSpc>
                <a:spcPts val="4954"/>
              </a:lnSpc>
            </a:pPr>
            <a:r>
              <a:rPr lang="en-US" sz="4128" b="1" spc="16">
                <a:solidFill>
                  <a:srgbClr val="FFFFFF"/>
                </a:solidFill>
                <a:latin typeface="IBM Plex Sans Bold"/>
                <a:ea typeface="IBM Plex Sans Bold"/>
                <a:cs typeface="IBM Plex Sans Bold"/>
                <a:sym typeface="IBM Plex Sans Bold"/>
              </a:rPr>
              <a:t>BAC+1</a:t>
            </a:r>
          </a:p>
          <a:p>
            <a:pPr algn="ctr">
              <a:lnSpc>
                <a:spcPts val="4954"/>
              </a:lnSpc>
            </a:pPr>
            <a:r>
              <a:rPr lang="en-US" sz="4128" b="1" spc="16">
                <a:solidFill>
                  <a:srgbClr val="FFFFFF"/>
                </a:solidFill>
                <a:latin typeface="IBM Plex Sans Bold"/>
                <a:ea typeface="IBM Plex Sans Bold"/>
                <a:cs typeface="IBM Plex Sans Bold"/>
                <a:sym typeface="IBM Plex Sans Bold"/>
              </a:rPr>
              <a:t>BAC+2</a:t>
            </a:r>
          </a:p>
          <a:p>
            <a:pPr algn="ctr">
              <a:lnSpc>
                <a:spcPts val="4954"/>
              </a:lnSpc>
              <a:spcBef>
                <a:spcPct val="0"/>
              </a:spcBef>
            </a:pPr>
            <a:r>
              <a:rPr lang="en-US" sz="4128" b="1" spc="16">
                <a:solidFill>
                  <a:srgbClr val="FFFFFF"/>
                </a:solidFill>
                <a:latin typeface="IBM Plex Sans Bold"/>
                <a:ea typeface="IBM Plex Sans Bold"/>
                <a:cs typeface="IBM Plex Sans Bold"/>
                <a:sym typeface="IBM Plex Sans Bold"/>
              </a:rPr>
              <a:t>BAC+3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644409" y="2212368"/>
            <a:ext cx="5702398" cy="2140010"/>
            <a:chOff x="0" y="0"/>
            <a:chExt cx="5702402" cy="2140014"/>
          </a:xfrm>
        </p:grpSpPr>
        <p:sp>
          <p:nvSpPr>
            <p:cNvPr id="3" name="Freeform 3"/>
            <p:cNvSpPr/>
            <p:nvPr/>
          </p:nvSpPr>
          <p:spPr>
            <a:xfrm>
              <a:off x="63500" y="2051050"/>
              <a:ext cx="1345438" cy="25400"/>
            </a:xfrm>
            <a:custGeom>
              <a:avLst/>
              <a:gdLst/>
              <a:ahLst/>
              <a:cxnLst/>
              <a:rect l="l" t="t" r="r" b="b"/>
              <a:pathLst>
                <a:path w="1345438" h="25400">
                  <a:moveTo>
                    <a:pt x="1345438" y="25400"/>
                  </a:moveTo>
                  <a:lnTo>
                    <a:pt x="0" y="25400"/>
                  </a:lnTo>
                  <a:lnTo>
                    <a:pt x="0" y="0"/>
                  </a:lnTo>
                  <a:lnTo>
                    <a:pt x="1345438" y="0"/>
                  </a:lnTo>
                  <a:close/>
                </a:path>
              </a:pathLst>
            </a:custGeom>
            <a:solidFill>
              <a:srgbClr val="EA8C39"/>
            </a:solidFill>
          </p:spPr>
          <p:txBody>
            <a:bodyPr/>
            <a:lstStyle/>
            <a:p>
              <a:endParaRPr lang="fr-FR"/>
            </a:p>
          </p:txBody>
        </p:sp>
        <p:sp>
          <p:nvSpPr>
            <p:cNvPr id="4" name="Freeform 4"/>
            <p:cNvSpPr/>
            <p:nvPr/>
          </p:nvSpPr>
          <p:spPr>
            <a:xfrm>
              <a:off x="63500" y="63500"/>
              <a:ext cx="25400" cy="2012950"/>
            </a:xfrm>
            <a:custGeom>
              <a:avLst/>
              <a:gdLst/>
              <a:ahLst/>
              <a:cxnLst/>
              <a:rect l="l" t="t" r="r" b="b"/>
              <a:pathLst>
                <a:path w="25400" h="2012950">
                  <a:moveTo>
                    <a:pt x="0" y="2012950"/>
                  </a:moveTo>
                  <a:lnTo>
                    <a:pt x="0" y="0"/>
                  </a:lnTo>
                  <a:lnTo>
                    <a:pt x="25400" y="0"/>
                  </a:lnTo>
                  <a:lnTo>
                    <a:pt x="25400" y="2012950"/>
                  </a:lnTo>
                  <a:close/>
                </a:path>
              </a:pathLst>
            </a:custGeom>
            <a:solidFill>
              <a:srgbClr val="EA8C39"/>
            </a:solidFill>
          </p:spPr>
          <p:txBody>
            <a:bodyPr/>
            <a:lstStyle/>
            <a:p>
              <a:endParaRPr lang="fr-FR"/>
            </a:p>
          </p:txBody>
        </p:sp>
        <p:sp>
          <p:nvSpPr>
            <p:cNvPr id="5" name="Freeform 5"/>
            <p:cNvSpPr/>
            <p:nvPr/>
          </p:nvSpPr>
          <p:spPr>
            <a:xfrm>
              <a:off x="63500" y="63500"/>
              <a:ext cx="5568442" cy="25400"/>
            </a:xfrm>
            <a:custGeom>
              <a:avLst/>
              <a:gdLst/>
              <a:ahLst/>
              <a:cxnLst/>
              <a:rect l="l" t="t" r="r" b="b"/>
              <a:pathLst>
                <a:path w="5568442" h="25400">
                  <a:moveTo>
                    <a:pt x="0" y="0"/>
                  </a:moveTo>
                  <a:lnTo>
                    <a:pt x="5568442" y="0"/>
                  </a:lnTo>
                  <a:lnTo>
                    <a:pt x="5568442" y="25400"/>
                  </a:lnTo>
                  <a:lnTo>
                    <a:pt x="0" y="25400"/>
                  </a:lnTo>
                  <a:close/>
                </a:path>
              </a:pathLst>
            </a:custGeom>
            <a:solidFill>
              <a:srgbClr val="EA8C39"/>
            </a:solidFill>
          </p:spPr>
          <p:txBody>
            <a:bodyPr/>
            <a:lstStyle/>
            <a:p>
              <a:endParaRPr lang="fr-FR"/>
            </a:p>
          </p:txBody>
        </p:sp>
        <p:sp>
          <p:nvSpPr>
            <p:cNvPr id="6" name="Freeform 6"/>
            <p:cNvSpPr/>
            <p:nvPr/>
          </p:nvSpPr>
          <p:spPr>
            <a:xfrm>
              <a:off x="5606542" y="63500"/>
              <a:ext cx="25400" cy="2012950"/>
            </a:xfrm>
            <a:custGeom>
              <a:avLst/>
              <a:gdLst/>
              <a:ahLst/>
              <a:cxnLst/>
              <a:rect l="l" t="t" r="r" b="b"/>
              <a:pathLst>
                <a:path w="25400" h="2012950">
                  <a:moveTo>
                    <a:pt x="25400" y="0"/>
                  </a:moveTo>
                  <a:lnTo>
                    <a:pt x="25400" y="2012950"/>
                  </a:lnTo>
                  <a:lnTo>
                    <a:pt x="0" y="2012950"/>
                  </a:lnTo>
                  <a:lnTo>
                    <a:pt x="0" y="0"/>
                  </a:lnTo>
                  <a:close/>
                </a:path>
              </a:pathLst>
            </a:custGeom>
            <a:solidFill>
              <a:srgbClr val="EA8C39"/>
            </a:solidFill>
          </p:spPr>
          <p:txBody>
            <a:bodyPr/>
            <a:lstStyle/>
            <a:p>
              <a:endParaRPr lang="fr-FR"/>
            </a:p>
          </p:txBody>
        </p:sp>
        <p:sp>
          <p:nvSpPr>
            <p:cNvPr id="7" name="Freeform 7"/>
            <p:cNvSpPr/>
            <p:nvPr/>
          </p:nvSpPr>
          <p:spPr>
            <a:xfrm>
              <a:off x="5356606" y="2051050"/>
              <a:ext cx="282321" cy="25400"/>
            </a:xfrm>
            <a:custGeom>
              <a:avLst/>
              <a:gdLst/>
              <a:ahLst/>
              <a:cxnLst/>
              <a:rect l="l" t="t" r="r" b="b"/>
              <a:pathLst>
                <a:path w="282321" h="25400">
                  <a:moveTo>
                    <a:pt x="282321" y="25400"/>
                  </a:moveTo>
                  <a:lnTo>
                    <a:pt x="0" y="25400"/>
                  </a:lnTo>
                  <a:lnTo>
                    <a:pt x="0" y="0"/>
                  </a:lnTo>
                  <a:lnTo>
                    <a:pt x="282194" y="0"/>
                  </a:lnTo>
                  <a:close/>
                </a:path>
              </a:pathLst>
            </a:custGeom>
            <a:solidFill>
              <a:srgbClr val="EA8C39"/>
            </a:solidFill>
          </p:spPr>
          <p:txBody>
            <a:bodyPr/>
            <a:lstStyle/>
            <a:p>
              <a:endParaRPr lang="fr-FR"/>
            </a:p>
          </p:txBody>
        </p:sp>
      </p:grpSp>
      <p:sp>
        <p:nvSpPr>
          <p:cNvPr id="8" name="TextBox 8"/>
          <p:cNvSpPr txBox="1"/>
          <p:nvPr/>
        </p:nvSpPr>
        <p:spPr>
          <a:xfrm>
            <a:off x="2794502" y="10342407"/>
            <a:ext cx="2515629" cy="151428"/>
          </a:xfrm>
          <a:prstGeom prst="rect">
            <a:avLst/>
          </a:prstGeom>
        </p:spPr>
        <p:txBody>
          <a:bodyPr lIns="0" tIns="0" rIns="0" bIns="0" rtlCol="0" anchor="t">
            <a:spAutoFit/>
          </a:bodyPr>
          <a:lstStyle/>
          <a:p>
            <a:pPr algn="l">
              <a:lnSpc>
                <a:spcPts val="1260"/>
              </a:lnSpc>
            </a:pPr>
            <a:r>
              <a:rPr lang="en-US" sz="900" i="1" spc="25">
                <a:solidFill>
                  <a:srgbClr val="939496"/>
                </a:solidFill>
                <a:latin typeface="IBM Plex Sans Italics"/>
                <a:ea typeface="IBM Plex Sans Italics"/>
                <a:cs typeface="IBM Plex Sans Italics"/>
                <a:sym typeface="IBM Plex Sans Italics"/>
              </a:rPr>
              <a:t>Etablissement d’enseignement supérieur privé</a:t>
            </a:r>
          </a:p>
        </p:txBody>
      </p:sp>
      <p:sp>
        <p:nvSpPr>
          <p:cNvPr id="9" name="TextBox 9"/>
          <p:cNvSpPr txBox="1"/>
          <p:nvPr/>
        </p:nvSpPr>
        <p:spPr>
          <a:xfrm>
            <a:off x="2148838" y="2480053"/>
            <a:ext cx="5211032" cy="2139315"/>
          </a:xfrm>
          <a:prstGeom prst="rect">
            <a:avLst/>
          </a:prstGeom>
        </p:spPr>
        <p:txBody>
          <a:bodyPr lIns="0" tIns="0" rIns="0" bIns="0" rtlCol="0" anchor="t">
            <a:spAutoFit/>
          </a:bodyPr>
          <a:lstStyle/>
          <a:p>
            <a:pPr algn="l">
              <a:lnSpc>
                <a:spcPts val="5640"/>
              </a:lnSpc>
            </a:pPr>
            <a:r>
              <a:rPr lang="en-US" sz="4800" b="1" i="1" spc="19">
                <a:solidFill>
                  <a:srgbClr val="1A1447"/>
                </a:solidFill>
                <a:latin typeface="IBM Plex Sans Bold Italics"/>
                <a:ea typeface="IBM Plex Sans Bold Italics"/>
                <a:cs typeface="IBM Plex Sans Bold Italics"/>
                <a:sym typeface="IBM Plex Sans Bold Italics"/>
              </a:rPr>
              <a:t>NOS FORMATIONS</a:t>
            </a:r>
          </a:p>
          <a:p>
            <a:pPr algn="l">
              <a:lnSpc>
                <a:spcPts val="5640"/>
              </a:lnSpc>
            </a:pPr>
            <a:r>
              <a:rPr lang="en-US" sz="4800" b="1" i="1" spc="19">
                <a:solidFill>
                  <a:srgbClr val="EA8C43"/>
                </a:solidFill>
                <a:latin typeface="IBM Plex Sans Bold Italics"/>
                <a:ea typeface="IBM Plex Sans Bold Italics"/>
                <a:cs typeface="IBM Plex Sans Bold Italics"/>
                <a:sym typeface="IBM Plex Sans Bold Italics"/>
              </a:rPr>
              <a:t>BTS (bac+2)</a:t>
            </a:r>
          </a:p>
        </p:txBody>
      </p:sp>
      <p:sp>
        <p:nvSpPr>
          <p:cNvPr id="10" name="TextBox 10"/>
          <p:cNvSpPr txBox="1"/>
          <p:nvPr/>
        </p:nvSpPr>
        <p:spPr>
          <a:xfrm>
            <a:off x="992305" y="8971559"/>
            <a:ext cx="2948007" cy="297180"/>
          </a:xfrm>
          <a:prstGeom prst="rect">
            <a:avLst/>
          </a:prstGeom>
        </p:spPr>
        <p:txBody>
          <a:bodyPr lIns="0" tIns="0" rIns="0" bIns="0" rtlCol="0" anchor="t">
            <a:spAutoFit/>
          </a:bodyPr>
          <a:lstStyle/>
          <a:p>
            <a:pPr algn="l">
              <a:lnSpc>
                <a:spcPts val="2520"/>
              </a:lnSpc>
            </a:pPr>
            <a:r>
              <a:rPr lang="en-US" sz="1800" b="1" i="1" spc="3">
                <a:solidFill>
                  <a:srgbClr val="EA8C39"/>
                </a:solidFill>
                <a:latin typeface="Open Sans Bold Italics"/>
                <a:ea typeface="Open Sans Bold Italics"/>
                <a:cs typeface="Open Sans Bold Italics"/>
                <a:sym typeface="Open Sans Bold Italics"/>
              </a:rPr>
              <a:t>ORGANISATION GÉNÉRALE</a:t>
            </a:r>
          </a:p>
        </p:txBody>
      </p:sp>
      <p:sp>
        <p:nvSpPr>
          <p:cNvPr id="11" name="TextBox 11"/>
          <p:cNvSpPr txBox="1"/>
          <p:nvPr/>
        </p:nvSpPr>
        <p:spPr>
          <a:xfrm>
            <a:off x="992305" y="7776801"/>
            <a:ext cx="3164262" cy="312382"/>
          </a:xfrm>
          <a:prstGeom prst="rect">
            <a:avLst/>
          </a:prstGeom>
        </p:spPr>
        <p:txBody>
          <a:bodyPr lIns="0" tIns="0" rIns="0" bIns="0" rtlCol="0" anchor="t">
            <a:spAutoFit/>
          </a:bodyPr>
          <a:lstStyle/>
          <a:p>
            <a:pPr algn="l">
              <a:lnSpc>
                <a:spcPts val="2520"/>
              </a:lnSpc>
            </a:pPr>
            <a:r>
              <a:rPr lang="en-US" sz="1800" b="1" i="1" spc="3">
                <a:solidFill>
                  <a:srgbClr val="EA8C39"/>
                </a:solidFill>
                <a:latin typeface="Open Sans Bold Italics"/>
                <a:ea typeface="Open Sans Bold Italics"/>
                <a:cs typeface="Open Sans Bold Italics"/>
                <a:sym typeface="Open Sans Bold Italics"/>
              </a:rPr>
              <a:t>CONDITIONS D’ADMISSIONS</a:t>
            </a:r>
          </a:p>
        </p:txBody>
      </p:sp>
      <p:sp>
        <p:nvSpPr>
          <p:cNvPr id="12" name="TextBox 12"/>
          <p:cNvSpPr txBox="1"/>
          <p:nvPr/>
        </p:nvSpPr>
        <p:spPr>
          <a:xfrm>
            <a:off x="992305" y="9425159"/>
            <a:ext cx="114300" cy="723900"/>
          </a:xfrm>
          <a:prstGeom prst="rect">
            <a:avLst/>
          </a:prstGeom>
        </p:spPr>
        <p:txBody>
          <a:bodyPr lIns="0" tIns="0" rIns="0" bIns="0" rtlCol="0" anchor="t">
            <a:spAutoFit/>
          </a:bodyPr>
          <a:lstStyle/>
          <a:p>
            <a:pPr algn="just">
              <a:lnSpc>
                <a:spcPts val="1439"/>
              </a:lnSpc>
            </a:pPr>
            <a:r>
              <a:rPr lang="en-US" sz="1200" i="1" spc="4">
                <a:solidFill>
                  <a:srgbClr val="231F20"/>
                </a:solidFill>
                <a:latin typeface="IBM Plex Sans Italics"/>
                <a:ea typeface="IBM Plex Sans Italics"/>
                <a:cs typeface="IBM Plex Sans Italics"/>
                <a:sym typeface="IBM Plex Sans Italics"/>
              </a:rPr>
              <a:t>• • •  </a:t>
            </a:r>
          </a:p>
        </p:txBody>
      </p:sp>
      <p:sp>
        <p:nvSpPr>
          <p:cNvPr id="13" name="TextBox 13"/>
          <p:cNvSpPr txBox="1"/>
          <p:nvPr/>
        </p:nvSpPr>
        <p:spPr>
          <a:xfrm>
            <a:off x="992305" y="8181889"/>
            <a:ext cx="2503303" cy="542925"/>
          </a:xfrm>
          <a:prstGeom prst="rect">
            <a:avLst/>
          </a:prstGeom>
        </p:spPr>
        <p:txBody>
          <a:bodyPr lIns="0" tIns="0" rIns="0" bIns="0" rtlCol="0" anchor="t">
            <a:spAutoFit/>
          </a:bodyPr>
          <a:lstStyle/>
          <a:p>
            <a:pPr algn="l">
              <a:lnSpc>
                <a:spcPts val="1439"/>
              </a:lnSpc>
            </a:pPr>
            <a:r>
              <a:rPr lang="en-US" sz="1200" i="1" spc="4">
                <a:solidFill>
                  <a:srgbClr val="231F20"/>
                </a:solidFill>
                <a:latin typeface="IBM Plex Sans Italics"/>
                <a:ea typeface="IBM Plex Sans Italics"/>
                <a:cs typeface="IBM Plex Sans Italics"/>
                <a:sym typeface="IBM Plex Sans Italics"/>
              </a:rPr>
              <a:t>EN BAC+1</a:t>
            </a:r>
          </a:p>
          <a:p>
            <a:pPr algn="l">
              <a:lnSpc>
                <a:spcPts val="1439"/>
              </a:lnSpc>
            </a:pPr>
            <a:r>
              <a:rPr lang="en-US" sz="1200" i="1" spc="4">
                <a:solidFill>
                  <a:srgbClr val="231F20"/>
                </a:solidFill>
                <a:latin typeface="IBM Plex Sans Italics"/>
                <a:ea typeface="IBM Plex Sans Italics"/>
                <a:cs typeface="IBM Plex Sans Italics"/>
                <a:sym typeface="IBM Plex Sans Italics"/>
              </a:rPr>
              <a:t>• Bac français ou équivalent</a:t>
            </a:r>
          </a:p>
          <a:p>
            <a:pPr algn="l">
              <a:lnSpc>
                <a:spcPts val="1439"/>
              </a:lnSpc>
            </a:pPr>
            <a:r>
              <a:rPr lang="en-US" sz="1200" i="1" spc="4">
                <a:solidFill>
                  <a:srgbClr val="231F20"/>
                </a:solidFill>
                <a:latin typeface="IBM Plex Sans Italics"/>
                <a:ea typeface="IBM Plex Sans Italics"/>
                <a:cs typeface="IBM Plex Sans Italics"/>
                <a:sym typeface="IBM Plex Sans Italics"/>
              </a:rPr>
              <a:t>• Etudiants internationaux : TCF B2</a:t>
            </a:r>
          </a:p>
        </p:txBody>
      </p:sp>
      <p:sp>
        <p:nvSpPr>
          <p:cNvPr id="14" name="TextBox 14"/>
          <p:cNvSpPr txBox="1"/>
          <p:nvPr/>
        </p:nvSpPr>
        <p:spPr>
          <a:xfrm>
            <a:off x="1220905" y="9425159"/>
            <a:ext cx="5638743" cy="542925"/>
          </a:xfrm>
          <a:prstGeom prst="rect">
            <a:avLst/>
          </a:prstGeom>
        </p:spPr>
        <p:txBody>
          <a:bodyPr lIns="0" tIns="0" rIns="0" bIns="0" rtlCol="0" anchor="t">
            <a:spAutoFit/>
          </a:bodyPr>
          <a:lstStyle/>
          <a:p>
            <a:pPr algn="just">
              <a:lnSpc>
                <a:spcPts val="1439"/>
              </a:lnSpc>
            </a:pPr>
            <a:r>
              <a:rPr lang="en-US" sz="1200" i="1" spc="4">
                <a:solidFill>
                  <a:srgbClr val="231F20"/>
                </a:solidFill>
                <a:latin typeface="IBM Plex Sans Italics"/>
                <a:ea typeface="IBM Plex Sans Italics"/>
                <a:cs typeface="IBM Plex Sans Italics"/>
                <a:sym typeface="IBM Plex Sans Italics"/>
              </a:rPr>
              <a:t>Formation Initiale en présentiel et hybride (par visioconférence) </a:t>
            </a:r>
          </a:p>
          <a:p>
            <a:pPr algn="just">
              <a:lnSpc>
                <a:spcPts val="1439"/>
              </a:lnSpc>
            </a:pPr>
            <a:r>
              <a:rPr lang="en-US" sz="1200" i="1" spc="4">
                <a:solidFill>
                  <a:srgbClr val="231F20"/>
                </a:solidFill>
                <a:latin typeface="IBM Plex Sans Italics"/>
                <a:ea typeface="IBM Plex Sans Italics"/>
                <a:cs typeface="IBM Plex Sans Italics"/>
                <a:sym typeface="IBM Plex Sans Italics"/>
              </a:rPr>
              <a:t>Rythme de cours en demi-journées</a:t>
            </a:r>
          </a:p>
          <a:p>
            <a:pPr algn="l">
              <a:lnSpc>
                <a:spcPts val="1439"/>
              </a:lnSpc>
            </a:pPr>
            <a:r>
              <a:rPr lang="en-US" sz="1200" i="1" spc="4">
                <a:solidFill>
                  <a:srgbClr val="231F20"/>
                </a:solidFill>
                <a:latin typeface="IBM Plex Sans Italics"/>
                <a:ea typeface="IBM Plex Sans Italics"/>
                <a:cs typeface="IBM Plex Sans Italics"/>
                <a:sym typeface="IBM Plex Sans Italics"/>
              </a:rPr>
              <a:t>Stage/Emploi en 1ère et 2 ème année </a:t>
            </a:r>
          </a:p>
        </p:txBody>
      </p:sp>
      <p:sp>
        <p:nvSpPr>
          <p:cNvPr id="15" name="TextBox 15"/>
          <p:cNvSpPr txBox="1"/>
          <p:nvPr/>
        </p:nvSpPr>
        <p:spPr>
          <a:xfrm>
            <a:off x="3779996" y="8181889"/>
            <a:ext cx="3255874" cy="542925"/>
          </a:xfrm>
          <a:prstGeom prst="rect">
            <a:avLst/>
          </a:prstGeom>
        </p:spPr>
        <p:txBody>
          <a:bodyPr lIns="0" tIns="0" rIns="0" bIns="0" rtlCol="0" anchor="t">
            <a:spAutoFit/>
          </a:bodyPr>
          <a:lstStyle/>
          <a:p>
            <a:pPr algn="l">
              <a:lnSpc>
                <a:spcPts val="1439"/>
              </a:lnSpc>
            </a:pPr>
            <a:r>
              <a:rPr lang="en-US" sz="1200" i="1" spc="4">
                <a:solidFill>
                  <a:srgbClr val="231F20"/>
                </a:solidFill>
                <a:latin typeface="IBM Plex Sans Italics"/>
                <a:ea typeface="IBM Plex Sans Italics"/>
                <a:cs typeface="IBM Plex Sans Italics"/>
                <a:sym typeface="IBM Plex Sans Italics"/>
              </a:rPr>
              <a:t>EN BAC+2 </a:t>
            </a:r>
          </a:p>
          <a:p>
            <a:pPr algn="just">
              <a:lnSpc>
                <a:spcPts val="1439"/>
              </a:lnSpc>
            </a:pPr>
            <a:r>
              <a:rPr lang="en-US" sz="1200" i="1" spc="4">
                <a:solidFill>
                  <a:srgbClr val="231F20"/>
                </a:solidFill>
                <a:latin typeface="IBM Plex Sans Italics"/>
                <a:ea typeface="IBM Plex Sans Italics"/>
                <a:cs typeface="IBM Plex Sans Italics"/>
                <a:sym typeface="IBM Plex Sans Italics"/>
              </a:rPr>
              <a:t>• Bac +1 avec un programme similaire</a:t>
            </a:r>
          </a:p>
          <a:p>
            <a:pPr algn="just">
              <a:lnSpc>
                <a:spcPts val="1439"/>
              </a:lnSpc>
            </a:pPr>
            <a:r>
              <a:rPr lang="en-US" sz="1200" i="1" spc="4">
                <a:solidFill>
                  <a:srgbClr val="231F20"/>
                </a:solidFill>
                <a:latin typeface="IBM Plex Sans Italics"/>
                <a:ea typeface="IBM Plex Sans Italics"/>
                <a:cs typeface="IBM Plex Sans Italics"/>
                <a:sym typeface="IBM Plex Sans Italics"/>
              </a:rPr>
              <a:t>• Etudiants internationaux : TCF B2</a:t>
            </a:r>
          </a:p>
        </p:txBody>
      </p:sp>
      <p:sp>
        <p:nvSpPr>
          <p:cNvPr id="16" name="TextBox 99"/>
          <p:cNvSpPr txBox="1"/>
          <p:nvPr/>
        </p:nvSpPr>
        <p:spPr>
          <a:xfrm>
            <a:off x="6672167" y="9971913"/>
            <a:ext cx="248917" cy="240665"/>
          </a:xfrm>
          <a:prstGeom prst="rect">
            <a:avLst/>
          </a:prstGeom>
        </p:spPr>
        <p:txBody>
          <a:bodyPr lIns="0" tIns="0" rIns="0" bIns="0" rtlCol="0" anchor="t">
            <a:spAutoFit/>
          </a:bodyPr>
          <a:lstStyle/>
          <a:p>
            <a:pPr algn="l">
              <a:lnSpc>
                <a:spcPts val="1959"/>
              </a:lnSpc>
            </a:pPr>
            <a:r>
              <a:rPr lang="en-US" sz="1399" b="1" spc="8">
                <a:solidFill>
                  <a:srgbClr val="231F20"/>
                </a:solidFill>
                <a:latin typeface="IBM Plex Sans Bold"/>
                <a:ea typeface="IBM Plex Sans Bold"/>
                <a:cs typeface="IBM Plex Sans Bold"/>
                <a:sym typeface="IBM Plex Sans Bold"/>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545C9-85D5-8E6B-7BE2-2A587AC4F50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3B98FFD-93BB-BBAE-F129-B7789436EED7}"/>
              </a:ext>
            </a:extLst>
          </p:cNvPr>
          <p:cNvGrpSpPr>
            <a:grpSpLocks noChangeAspect="1"/>
          </p:cNvGrpSpPr>
          <p:nvPr/>
        </p:nvGrpSpPr>
        <p:grpSpPr>
          <a:xfrm>
            <a:off x="1380363" y="4894745"/>
            <a:ext cx="762505" cy="679580"/>
            <a:chOff x="0" y="0"/>
            <a:chExt cx="762495" cy="679577"/>
          </a:xfrm>
        </p:grpSpPr>
        <p:sp>
          <p:nvSpPr>
            <p:cNvPr id="3" name="Freeform 3">
              <a:extLst>
                <a:ext uri="{FF2B5EF4-FFF2-40B4-BE49-F238E27FC236}">
                  <a16:creationId xmlns:a16="http://schemas.microsoft.com/office/drawing/2014/main" id="{D51F8094-7C9C-D26A-CC24-050E4F427006}"/>
                </a:ext>
              </a:extLst>
            </p:cNvPr>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a:extLst>
                <a:ext uri="{FF2B5EF4-FFF2-40B4-BE49-F238E27FC236}">
                  <a16:creationId xmlns:a16="http://schemas.microsoft.com/office/drawing/2014/main" id="{C0305C3B-D030-1D50-302D-9F4DF5805255}"/>
                </a:ext>
              </a:extLst>
            </p:cNvPr>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7112"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a:extLst>
                <a:ext uri="{FF2B5EF4-FFF2-40B4-BE49-F238E27FC236}">
                  <a16:creationId xmlns:a16="http://schemas.microsoft.com/office/drawing/2014/main" id="{48DFAD6D-3C46-1C0D-A8F5-1727A30082CD}"/>
                </a:ext>
              </a:extLst>
            </p:cNvPr>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a:extLst>
                <a:ext uri="{FF2B5EF4-FFF2-40B4-BE49-F238E27FC236}">
                  <a16:creationId xmlns:a16="http://schemas.microsoft.com/office/drawing/2014/main" id="{7BCE033A-81C4-3494-2DFB-D6DA23866793}"/>
                </a:ext>
              </a:extLst>
            </p:cNvPr>
            <p:cNvSpPr/>
            <p:nvPr/>
          </p:nvSpPr>
          <p:spPr>
            <a:xfrm>
              <a:off x="260477" y="267970"/>
              <a:ext cx="120396" cy="140081"/>
            </a:xfrm>
            <a:custGeom>
              <a:avLst/>
              <a:gdLst/>
              <a:ahLst/>
              <a:cxnLst/>
              <a:rect l="l" t="t" r="r" b="b"/>
              <a:pathLst>
                <a:path w="120396"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198" y="0"/>
                  </a:cubicBezTo>
                  <a:lnTo>
                    <a:pt x="76708" y="1778"/>
                  </a:lnTo>
                  <a:cubicBezTo>
                    <a:pt x="91440" y="8890"/>
                    <a:pt x="97790" y="13716"/>
                    <a:pt x="103251" y="19939"/>
                  </a:cubicBezTo>
                  <a:lnTo>
                    <a:pt x="115824" y="42037"/>
                  </a:lnTo>
                  <a:cubicBezTo>
                    <a:pt x="118872" y="50546"/>
                    <a:pt x="120396" y="59944"/>
                    <a:pt x="120396" y="70104"/>
                  </a:cubicBezTo>
                  <a:moveTo>
                    <a:pt x="88900" y="70104"/>
                  </a:moveTo>
                  <a:lnTo>
                    <a:pt x="88265" y="58293"/>
                  </a:lnTo>
                  <a:cubicBezTo>
                    <a:pt x="85471" y="48006"/>
                    <a:pt x="83439" y="43561"/>
                    <a:pt x="80899" y="39878"/>
                  </a:cubicBezTo>
                  <a:lnTo>
                    <a:pt x="75311" y="33401"/>
                  </a:lnTo>
                  <a:lnTo>
                    <a:pt x="64516" y="28448"/>
                  </a:lnTo>
                  <a:cubicBezTo>
                    <a:pt x="56007" y="28448"/>
                    <a:pt x="52070" y="29464"/>
                    <a:pt x="48514" y="31496"/>
                  </a:cubicBezTo>
                  <a:lnTo>
                    <a:pt x="42037" y="36322"/>
                  </a:lnTo>
                  <a:cubicBezTo>
                    <a:pt x="36957" y="43688"/>
                    <a:pt x="34925" y="48133"/>
                    <a:pt x="33528" y="53340"/>
                  </a:cubicBezTo>
                  <a:lnTo>
                    <a:pt x="31369" y="64135"/>
                  </a:lnTo>
                  <a:cubicBezTo>
                    <a:pt x="31369" y="76454"/>
                    <a:pt x="32004" y="82042"/>
                    <a:pt x="33528" y="87122"/>
                  </a:cubicBezTo>
                  <a:lnTo>
                    <a:pt x="36957" y="96520"/>
                  </a:lnTo>
                  <a:cubicBezTo>
                    <a:pt x="42037" y="103886"/>
                    <a:pt x="45085" y="106807"/>
                    <a:pt x="48641" y="108712"/>
                  </a:cubicBezTo>
                  <a:lnTo>
                    <a:pt x="56007" y="111760"/>
                  </a:lnTo>
                  <a:lnTo>
                    <a:pt x="68453" y="110744"/>
                  </a:lnTo>
                  <a:cubicBezTo>
                    <a:pt x="75438" y="106680"/>
                    <a:pt x="78486" y="103886"/>
                    <a:pt x="81026" y="100203"/>
                  </a:cubicBezTo>
                  <a:lnTo>
                    <a:pt x="85598" y="92075"/>
                  </a:lnTo>
                  <a:cubicBezTo>
                    <a:pt x="88392" y="81915"/>
                    <a:pt x="89027" y="76327"/>
                    <a:pt x="89027" y="70104"/>
                  </a:cubicBezTo>
                </a:path>
              </a:pathLst>
            </a:custGeom>
            <a:solidFill>
              <a:srgbClr val="7DE314"/>
            </a:solidFill>
          </p:spPr>
          <p:txBody>
            <a:bodyPr/>
            <a:lstStyle/>
            <a:p>
              <a:endParaRPr lang="fr-FR"/>
            </a:p>
          </p:txBody>
        </p:sp>
        <p:sp>
          <p:nvSpPr>
            <p:cNvPr id="7" name="Freeform 7">
              <a:extLst>
                <a:ext uri="{FF2B5EF4-FFF2-40B4-BE49-F238E27FC236}">
                  <a16:creationId xmlns:a16="http://schemas.microsoft.com/office/drawing/2014/main" id="{D5068E81-3083-1207-411B-0D072C1507CD}"/>
                </a:ext>
              </a:extLst>
            </p:cNvPr>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036" y="37719"/>
                    <a:pt x="31115" y="39751"/>
                  </a:cubicBezTo>
                  <a:lnTo>
                    <a:pt x="24765" y="43434"/>
                  </a:lnTo>
                  <a:lnTo>
                    <a:pt x="13970" y="48260"/>
                  </a:lnTo>
                  <a:cubicBezTo>
                    <a:pt x="6350" y="50419"/>
                    <a:pt x="2921"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a:extLst>
              <a:ext uri="{FF2B5EF4-FFF2-40B4-BE49-F238E27FC236}">
                <a16:creationId xmlns:a16="http://schemas.microsoft.com/office/drawing/2014/main" id="{6DA6103D-F76F-7515-4FA2-3288CAAE28E5}"/>
              </a:ext>
            </a:extLst>
          </p:cNvPr>
          <p:cNvGrpSpPr>
            <a:grpSpLocks noChangeAspect="1"/>
          </p:cNvGrpSpPr>
          <p:nvPr/>
        </p:nvGrpSpPr>
        <p:grpSpPr>
          <a:xfrm>
            <a:off x="3639750" y="4887516"/>
            <a:ext cx="762505" cy="686800"/>
            <a:chOff x="0" y="0"/>
            <a:chExt cx="762495" cy="686803"/>
          </a:xfrm>
        </p:grpSpPr>
        <p:sp>
          <p:nvSpPr>
            <p:cNvPr id="9" name="Freeform 9">
              <a:extLst>
                <a:ext uri="{FF2B5EF4-FFF2-40B4-BE49-F238E27FC236}">
                  <a16:creationId xmlns:a16="http://schemas.microsoft.com/office/drawing/2014/main" id="{C8998A45-0CB2-7D6C-619C-08B510218400}"/>
                </a:ext>
              </a:extLst>
            </p:cNvPr>
            <p:cNvSpPr/>
            <p:nvPr/>
          </p:nvSpPr>
          <p:spPr>
            <a:xfrm>
              <a:off x="63500" y="63500"/>
              <a:ext cx="635508" cy="559689"/>
            </a:xfrm>
            <a:custGeom>
              <a:avLst/>
              <a:gdLst/>
              <a:ahLst/>
              <a:cxnLst/>
              <a:rect l="l" t="t" r="r" b="b"/>
              <a:pathLst>
                <a:path w="635508" h="559689">
                  <a:moveTo>
                    <a:pt x="631698" y="294132"/>
                  </a:moveTo>
                  <a:lnTo>
                    <a:pt x="487045" y="545465"/>
                  </a:lnTo>
                  <a:cubicBezTo>
                    <a:pt x="481965" y="554355"/>
                    <a:pt x="472567" y="559689"/>
                    <a:pt x="462407" y="559689"/>
                  </a:cubicBezTo>
                  <a:lnTo>
                    <a:pt x="173101" y="559689"/>
                  </a:lnTo>
                  <a:cubicBezTo>
                    <a:pt x="162941" y="559689"/>
                    <a:pt x="153543" y="554228"/>
                    <a:pt x="148463" y="545465"/>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a:extLst>
                <a:ext uri="{FF2B5EF4-FFF2-40B4-BE49-F238E27FC236}">
                  <a16:creationId xmlns:a16="http://schemas.microsoft.com/office/drawing/2014/main" id="{4A03F1E8-4C95-8B60-A85E-9205AEBF0DFE}"/>
                </a:ext>
              </a:extLst>
            </p:cNvPr>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a:extLst>
                <a:ext uri="{FF2B5EF4-FFF2-40B4-BE49-F238E27FC236}">
                  <a16:creationId xmlns:a16="http://schemas.microsoft.com/office/drawing/2014/main" id="{3B9F2F4A-4613-E78C-B91F-388E4018E203}"/>
                </a:ext>
              </a:extLst>
            </p:cNvPr>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a:extLst>
                <a:ext uri="{FF2B5EF4-FFF2-40B4-BE49-F238E27FC236}">
                  <a16:creationId xmlns:a16="http://schemas.microsoft.com/office/drawing/2014/main" id="{75084FA4-FDB2-FAAD-F7C2-80E6F4C6E976}"/>
                </a:ext>
              </a:extLst>
            </p:cNvPr>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a:extLst>
                <a:ext uri="{FF2B5EF4-FFF2-40B4-BE49-F238E27FC236}">
                  <a16:creationId xmlns:a16="http://schemas.microsoft.com/office/drawing/2014/main" id="{C94DB1B2-C065-BC55-2D60-E7F3781B0FEC}"/>
                </a:ext>
              </a:extLst>
            </p:cNvPr>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a:extLst>
              <a:ext uri="{FF2B5EF4-FFF2-40B4-BE49-F238E27FC236}">
                <a16:creationId xmlns:a16="http://schemas.microsoft.com/office/drawing/2014/main" id="{4AA8095C-92FF-5ECB-B284-0B66EE28301D}"/>
              </a:ext>
            </a:extLst>
          </p:cNvPr>
          <p:cNvGrpSpPr>
            <a:grpSpLocks noChangeAspect="1"/>
          </p:cNvGrpSpPr>
          <p:nvPr/>
        </p:nvGrpSpPr>
        <p:grpSpPr>
          <a:xfrm>
            <a:off x="0" y="2592886"/>
            <a:ext cx="7559993" cy="1642539"/>
            <a:chOff x="0" y="0"/>
            <a:chExt cx="7559992" cy="1642542"/>
          </a:xfrm>
        </p:grpSpPr>
        <p:sp>
          <p:nvSpPr>
            <p:cNvPr id="15" name="Freeform 15">
              <a:extLst>
                <a:ext uri="{FF2B5EF4-FFF2-40B4-BE49-F238E27FC236}">
                  <a16:creationId xmlns:a16="http://schemas.microsoft.com/office/drawing/2014/main" id="{FF7AC6B4-B450-C509-75E6-ED75F0B5DC37}"/>
                </a:ext>
              </a:extLst>
            </p:cNvPr>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16" name="Group 16">
            <a:extLst>
              <a:ext uri="{FF2B5EF4-FFF2-40B4-BE49-F238E27FC236}">
                <a16:creationId xmlns:a16="http://schemas.microsoft.com/office/drawing/2014/main" id="{22D9AFC6-1274-F1B3-83C7-4C1939315309}"/>
              </a:ext>
            </a:extLst>
          </p:cNvPr>
          <p:cNvGrpSpPr>
            <a:grpSpLocks noChangeAspect="1"/>
          </p:cNvGrpSpPr>
          <p:nvPr/>
        </p:nvGrpSpPr>
        <p:grpSpPr>
          <a:xfrm>
            <a:off x="5653192" y="4880277"/>
            <a:ext cx="762505" cy="694058"/>
            <a:chOff x="0" y="0"/>
            <a:chExt cx="762495" cy="694055"/>
          </a:xfrm>
        </p:grpSpPr>
        <p:sp>
          <p:nvSpPr>
            <p:cNvPr id="17" name="Freeform 17">
              <a:extLst>
                <a:ext uri="{FF2B5EF4-FFF2-40B4-BE49-F238E27FC236}">
                  <a16:creationId xmlns:a16="http://schemas.microsoft.com/office/drawing/2014/main" id="{FC70F555-B832-04DD-0937-8EBC11B222CC}"/>
                </a:ext>
              </a:extLst>
            </p:cNvPr>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8" name="Freeform 18">
              <a:extLst>
                <a:ext uri="{FF2B5EF4-FFF2-40B4-BE49-F238E27FC236}">
                  <a16:creationId xmlns:a16="http://schemas.microsoft.com/office/drawing/2014/main" id="{57927DA3-7D27-39AA-1B1B-147B9C591813}"/>
                </a:ext>
              </a:extLst>
            </p:cNvPr>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9" name="Freeform 19">
              <a:extLst>
                <a:ext uri="{FF2B5EF4-FFF2-40B4-BE49-F238E27FC236}">
                  <a16:creationId xmlns:a16="http://schemas.microsoft.com/office/drawing/2014/main" id="{CACDC7C4-F856-3CB1-574D-4CCFFE74003F}"/>
                </a:ext>
              </a:extLst>
            </p:cNvPr>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20" name="Freeform 20">
              <a:extLst>
                <a:ext uri="{FF2B5EF4-FFF2-40B4-BE49-F238E27FC236}">
                  <a16:creationId xmlns:a16="http://schemas.microsoft.com/office/drawing/2014/main" id="{C70076B6-D0FC-7478-B63C-C139E86BB1F9}"/>
                </a:ext>
              </a:extLst>
            </p:cNvPr>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21" name="Freeform 21">
              <a:extLst>
                <a:ext uri="{FF2B5EF4-FFF2-40B4-BE49-F238E27FC236}">
                  <a16:creationId xmlns:a16="http://schemas.microsoft.com/office/drawing/2014/main" id="{3E9BEA80-A452-0146-BF5A-883CEB67AE31}"/>
                </a:ext>
              </a:extLst>
            </p:cNvPr>
            <p:cNvSpPr/>
            <p:nvPr/>
          </p:nvSpPr>
          <p:spPr>
            <a:xfrm>
              <a:off x="388620"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2" name="Group 22">
            <a:extLst>
              <a:ext uri="{FF2B5EF4-FFF2-40B4-BE49-F238E27FC236}">
                <a16:creationId xmlns:a16="http://schemas.microsoft.com/office/drawing/2014/main" id="{151987F5-2EB6-45B1-59DF-B1F18519E9DB}"/>
              </a:ext>
            </a:extLst>
          </p:cNvPr>
          <p:cNvGrpSpPr>
            <a:grpSpLocks noChangeAspect="1"/>
          </p:cNvGrpSpPr>
          <p:nvPr/>
        </p:nvGrpSpPr>
        <p:grpSpPr>
          <a:xfrm>
            <a:off x="623635" y="305124"/>
            <a:ext cx="6466446" cy="1976704"/>
            <a:chOff x="0" y="0"/>
            <a:chExt cx="6466446" cy="1976704"/>
          </a:xfrm>
        </p:grpSpPr>
        <p:sp>
          <p:nvSpPr>
            <p:cNvPr id="23" name="Freeform 23">
              <a:extLst>
                <a:ext uri="{FF2B5EF4-FFF2-40B4-BE49-F238E27FC236}">
                  <a16:creationId xmlns:a16="http://schemas.microsoft.com/office/drawing/2014/main" id="{A8902FF3-EC7E-7603-CCF2-896E0E1F787F}"/>
                </a:ext>
              </a:extLst>
            </p:cNvPr>
            <p:cNvSpPr/>
            <p:nvPr/>
          </p:nvSpPr>
          <p:spPr>
            <a:xfrm>
              <a:off x="63500" y="381000"/>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4" name="Freeform 24">
              <a:extLst>
                <a:ext uri="{FF2B5EF4-FFF2-40B4-BE49-F238E27FC236}">
                  <a16:creationId xmlns:a16="http://schemas.microsoft.com/office/drawing/2014/main" id="{32424F8C-3049-1611-D406-BDC25493B6CF}"/>
                </a:ext>
              </a:extLst>
            </p:cNvPr>
            <p:cNvSpPr/>
            <p:nvPr/>
          </p:nvSpPr>
          <p:spPr>
            <a:xfrm>
              <a:off x="559435" y="179451"/>
              <a:ext cx="1947672" cy="416433"/>
            </a:xfrm>
            <a:custGeom>
              <a:avLst/>
              <a:gdLst/>
              <a:ahLst/>
              <a:cxnLst/>
              <a:rect l="l" t="t" r="r" b="b"/>
              <a:pathLst>
                <a:path w="1947672" h="416433">
                  <a:moveTo>
                    <a:pt x="0" y="416433"/>
                  </a:moveTo>
                  <a:lnTo>
                    <a:pt x="1947672" y="416433"/>
                  </a:lnTo>
                  <a:lnTo>
                    <a:pt x="1947672" y="0"/>
                  </a:lnTo>
                  <a:lnTo>
                    <a:pt x="0" y="0"/>
                  </a:lnTo>
                  <a:close/>
                </a:path>
              </a:pathLst>
            </a:custGeom>
            <a:solidFill>
              <a:srgbClr val="FFFFFF"/>
            </a:solidFill>
          </p:spPr>
          <p:txBody>
            <a:bodyPr/>
            <a:lstStyle/>
            <a:p>
              <a:endParaRPr lang="fr-FR"/>
            </a:p>
          </p:txBody>
        </p:sp>
        <p:sp>
          <p:nvSpPr>
            <p:cNvPr id="25" name="Freeform 25">
              <a:extLst>
                <a:ext uri="{FF2B5EF4-FFF2-40B4-BE49-F238E27FC236}">
                  <a16:creationId xmlns:a16="http://schemas.microsoft.com/office/drawing/2014/main" id="{5AAA4A03-30FD-98D8-9B9D-BF225EC13FEE}"/>
                </a:ext>
              </a:extLst>
            </p:cNvPr>
            <p:cNvSpPr/>
            <p:nvPr/>
          </p:nvSpPr>
          <p:spPr>
            <a:xfrm>
              <a:off x="5722620" y="63500"/>
              <a:ext cx="680339" cy="646176"/>
            </a:xfrm>
            <a:custGeom>
              <a:avLst/>
              <a:gdLst/>
              <a:ahLst/>
              <a:cxnLst/>
              <a:rect l="l" t="t" r="r" b="b"/>
              <a:pathLst>
                <a:path w="680339" h="646176">
                  <a:moveTo>
                    <a:pt x="340233" y="646049"/>
                  </a:moveTo>
                  <a:cubicBezTo>
                    <a:pt x="528066" y="646049"/>
                    <a:pt x="680339" y="501396"/>
                    <a:pt x="680339" y="322961"/>
                  </a:cubicBezTo>
                  <a:cubicBezTo>
                    <a:pt x="680339" y="144526"/>
                    <a:pt x="528066" y="0"/>
                    <a:pt x="340233" y="0"/>
                  </a:cubicBezTo>
                  <a:cubicBezTo>
                    <a:pt x="152400"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6" name="Freeform 26">
              <a:extLst>
                <a:ext uri="{FF2B5EF4-FFF2-40B4-BE49-F238E27FC236}">
                  <a16:creationId xmlns:a16="http://schemas.microsoft.com/office/drawing/2014/main" id="{B1344496-733B-3A90-4361-CFDDB53C027C}"/>
                </a:ext>
              </a:extLst>
            </p:cNvPr>
            <p:cNvSpPr/>
            <p:nvPr/>
          </p:nvSpPr>
          <p:spPr>
            <a:xfrm>
              <a:off x="1884299" y="134962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7" name="Freeform 27">
              <a:extLst>
                <a:ext uri="{FF2B5EF4-FFF2-40B4-BE49-F238E27FC236}">
                  <a16:creationId xmlns:a16="http://schemas.microsoft.com/office/drawing/2014/main" id="{CEB405A9-F16C-5D3E-6021-6284BA57B9A5}"/>
                </a:ext>
              </a:extLst>
            </p:cNvPr>
            <p:cNvSpPr/>
            <p:nvPr/>
          </p:nvSpPr>
          <p:spPr>
            <a:xfrm>
              <a:off x="3229102" y="1339596"/>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8" name="Freeform 28">
              <a:extLst>
                <a:ext uri="{FF2B5EF4-FFF2-40B4-BE49-F238E27FC236}">
                  <a16:creationId xmlns:a16="http://schemas.microsoft.com/office/drawing/2014/main" id="{D1521A77-429F-AB4E-C090-F672C2F0F3CD}"/>
                </a:ext>
              </a:extLst>
            </p:cNvPr>
            <p:cNvSpPr/>
            <p:nvPr/>
          </p:nvSpPr>
          <p:spPr>
            <a:xfrm>
              <a:off x="4741037" y="1334135"/>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9" name="Freeform 29">
              <a:extLst>
                <a:ext uri="{FF2B5EF4-FFF2-40B4-BE49-F238E27FC236}">
                  <a16:creationId xmlns:a16="http://schemas.microsoft.com/office/drawing/2014/main" id="{323EA372-7B1C-F959-E269-F2CA5C10E717}"/>
                </a:ext>
              </a:extLst>
            </p:cNvPr>
            <p:cNvSpPr/>
            <p:nvPr/>
          </p:nvSpPr>
          <p:spPr>
            <a:xfrm>
              <a:off x="566674" y="134962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grpSp>
      <p:sp>
        <p:nvSpPr>
          <p:cNvPr id="30" name="TextBox 99">
            <a:extLst>
              <a:ext uri="{FF2B5EF4-FFF2-40B4-BE49-F238E27FC236}">
                <a16:creationId xmlns:a16="http://schemas.microsoft.com/office/drawing/2014/main" id="{A43B9593-CB2D-1901-B7A6-571AC8F1C154}"/>
              </a:ext>
            </a:extLst>
          </p:cNvPr>
          <p:cNvSpPr txBox="1"/>
          <p:nvPr/>
        </p:nvSpPr>
        <p:spPr>
          <a:xfrm>
            <a:off x="6672167" y="9971913"/>
            <a:ext cx="248917" cy="240665"/>
          </a:xfrm>
          <a:prstGeom prst="rect">
            <a:avLst/>
          </a:prstGeom>
        </p:spPr>
        <p:txBody>
          <a:bodyPr lIns="0" tIns="0" rIns="0" bIns="0" rtlCol="0" anchor="t">
            <a:spAutoFit/>
          </a:bodyPr>
          <a:lstStyle/>
          <a:p>
            <a:pPr algn="l">
              <a:lnSpc>
                <a:spcPts val="1959"/>
              </a:lnSpc>
            </a:pPr>
            <a:r>
              <a:rPr lang="en-US" sz="1399" b="1" spc="2" dirty="0">
                <a:solidFill>
                  <a:srgbClr val="231F20"/>
                </a:solidFill>
                <a:latin typeface="Open Sans Bold"/>
                <a:ea typeface="Open Sans Bold"/>
                <a:cs typeface="Open Sans Bold"/>
                <a:sym typeface="Open Sans Bold"/>
              </a:rPr>
              <a:t>27</a:t>
            </a:r>
          </a:p>
        </p:txBody>
      </p:sp>
      <p:sp>
        <p:nvSpPr>
          <p:cNvPr id="31" name="TextBox 46">
            <a:extLst>
              <a:ext uri="{FF2B5EF4-FFF2-40B4-BE49-F238E27FC236}">
                <a16:creationId xmlns:a16="http://schemas.microsoft.com/office/drawing/2014/main" id="{8726D5E0-8905-0EAF-DD70-8729CE70E3CF}"/>
              </a:ext>
            </a:extLst>
          </p:cNvPr>
          <p:cNvSpPr txBox="1"/>
          <p:nvPr/>
        </p:nvSpPr>
        <p:spPr>
          <a:xfrm>
            <a:off x="796119" y="6182554"/>
            <a:ext cx="3224382" cy="299056"/>
          </a:xfrm>
          <a:prstGeom prst="rect">
            <a:avLst/>
          </a:prstGeom>
        </p:spPr>
        <p:txBody>
          <a:bodyPr wrap="square" lIns="0" tIns="0" rIns="0" bIns="0" rtlCol="0" anchor="t">
            <a:spAutoFit/>
          </a:bodyPr>
          <a:lstStyle/>
          <a:p>
            <a:pPr algn="l">
              <a:lnSpc>
                <a:spcPts val="2520"/>
              </a:lnSpc>
            </a:pPr>
            <a:r>
              <a:rPr lang="en-US" sz="1800" b="1" i="1" spc="9" dirty="0">
                <a:solidFill>
                  <a:srgbClr val="EA8C39"/>
                </a:solidFill>
                <a:latin typeface="IBM Plex Sans Bold Italics"/>
                <a:ea typeface="IBM Plex Sans Bold Italics"/>
                <a:cs typeface="IBM Plex Sans Bold Italics"/>
                <a:sym typeface="IBM Plex Sans Bold Italics"/>
              </a:rPr>
              <a:t>ENSEIGNEMENTS</a:t>
            </a:r>
          </a:p>
        </p:txBody>
      </p:sp>
      <p:sp>
        <p:nvSpPr>
          <p:cNvPr id="32" name="TextBox 47">
            <a:extLst>
              <a:ext uri="{FF2B5EF4-FFF2-40B4-BE49-F238E27FC236}">
                <a16:creationId xmlns:a16="http://schemas.microsoft.com/office/drawing/2014/main" id="{691A7F5A-B327-51DF-1117-0A60CB40D79C}"/>
              </a:ext>
            </a:extLst>
          </p:cNvPr>
          <p:cNvSpPr txBox="1"/>
          <p:nvPr/>
        </p:nvSpPr>
        <p:spPr>
          <a:xfrm>
            <a:off x="778744" y="4391616"/>
            <a:ext cx="3990106" cy="299056"/>
          </a:xfrm>
          <a:prstGeom prst="rect">
            <a:avLst/>
          </a:prstGeom>
        </p:spPr>
        <p:txBody>
          <a:bodyPr wrap="square" lIns="0" tIns="0" rIns="0" bIns="0" rtlCol="0" anchor="t">
            <a:spAutoFit/>
          </a:bodyPr>
          <a:lstStyle/>
          <a:p>
            <a:pPr algn="l">
              <a:lnSpc>
                <a:spcPts val="2520"/>
              </a:lnSpc>
            </a:pPr>
            <a:r>
              <a:rPr lang="en-US" sz="1800" b="1" i="1" spc="9" dirty="0">
                <a:solidFill>
                  <a:srgbClr val="EA8C39"/>
                </a:solidFill>
                <a:latin typeface="IBM Plex Sans Bold Italics"/>
                <a:ea typeface="IBM Plex Sans Bold Italics"/>
                <a:cs typeface="IBM Plex Sans Bold Italics"/>
                <a:sym typeface="IBM Plex Sans Bold Italics"/>
              </a:rPr>
              <a:t>TOP3 - POINTS FORTS</a:t>
            </a:r>
          </a:p>
        </p:txBody>
      </p:sp>
      <p:sp>
        <p:nvSpPr>
          <p:cNvPr id="33" name="TextBox 45">
            <a:extLst>
              <a:ext uri="{FF2B5EF4-FFF2-40B4-BE49-F238E27FC236}">
                <a16:creationId xmlns:a16="http://schemas.microsoft.com/office/drawing/2014/main" id="{5B080FD5-4496-B357-5A69-1FF6E1FB2305}"/>
              </a:ext>
            </a:extLst>
          </p:cNvPr>
          <p:cNvSpPr txBox="1"/>
          <p:nvPr/>
        </p:nvSpPr>
        <p:spPr>
          <a:xfrm>
            <a:off x="804129" y="8159772"/>
            <a:ext cx="3850362" cy="299056"/>
          </a:xfrm>
          <a:prstGeom prst="rect">
            <a:avLst/>
          </a:prstGeom>
        </p:spPr>
        <p:txBody>
          <a:bodyPr lIns="0" tIns="0" rIns="0" bIns="0" rtlCol="0" anchor="t">
            <a:spAutoFit/>
          </a:bodyPr>
          <a:lstStyle/>
          <a:p>
            <a:pPr algn="l">
              <a:lnSpc>
                <a:spcPts val="2520"/>
              </a:lnSpc>
            </a:pPr>
            <a:r>
              <a:rPr lang="en-US" sz="1800" b="1" i="1" spc="9" dirty="0">
                <a:solidFill>
                  <a:srgbClr val="EA8C39"/>
                </a:solidFill>
                <a:latin typeface="IBM Plex Sans Bold Italics"/>
                <a:ea typeface="IBM Plex Sans Bold Italics"/>
                <a:cs typeface="IBM Plex Sans Bold Italics"/>
                <a:sym typeface="IBM Plex Sans Bold Italics"/>
              </a:rPr>
              <a:t>OPPORTUNITÉS MÉTIERS</a:t>
            </a:r>
          </a:p>
        </p:txBody>
      </p:sp>
      <p:sp>
        <p:nvSpPr>
          <p:cNvPr id="34" name="TextBox 48">
            <a:extLst>
              <a:ext uri="{FF2B5EF4-FFF2-40B4-BE49-F238E27FC236}">
                <a16:creationId xmlns:a16="http://schemas.microsoft.com/office/drawing/2014/main" id="{FFDAC90F-8C9D-EDA7-B6D0-2B077FC9A708}"/>
              </a:ext>
            </a:extLst>
          </p:cNvPr>
          <p:cNvSpPr txBox="1"/>
          <p:nvPr/>
        </p:nvSpPr>
        <p:spPr>
          <a:xfrm>
            <a:off x="1274693" y="911790"/>
            <a:ext cx="5145157" cy="299056"/>
          </a:xfrm>
          <a:prstGeom prst="rect">
            <a:avLst/>
          </a:prstGeom>
        </p:spPr>
        <p:txBody>
          <a:bodyPr wrap="square" lIns="0" tIns="0" rIns="0" bIns="0" rtlCol="0" anchor="t">
            <a:spAutoFit/>
          </a:bodyPr>
          <a:lstStyle/>
          <a:p>
            <a:pPr algn="l">
              <a:lnSpc>
                <a:spcPts val="2520"/>
              </a:lnSpc>
            </a:pPr>
            <a:r>
              <a:rPr lang="en-US" sz="1800" b="1" spc="7" dirty="0">
                <a:solidFill>
                  <a:srgbClr val="1A1447"/>
                </a:solidFill>
                <a:latin typeface="IBM Plex Sans Bold"/>
                <a:ea typeface="IBM Plex Sans Bold"/>
                <a:cs typeface="IBM Plex Sans Bold"/>
                <a:sym typeface="IBM Plex Sans Bold"/>
              </a:rPr>
              <a:t>Nom</a:t>
            </a:r>
          </a:p>
        </p:txBody>
      </p:sp>
      <p:sp>
        <p:nvSpPr>
          <p:cNvPr id="35" name="TextBox 50">
            <a:extLst>
              <a:ext uri="{FF2B5EF4-FFF2-40B4-BE49-F238E27FC236}">
                <a16:creationId xmlns:a16="http://schemas.microsoft.com/office/drawing/2014/main" id="{6A3D536B-B4AC-F761-42A8-7D082DBF56CF}"/>
              </a:ext>
            </a:extLst>
          </p:cNvPr>
          <p:cNvSpPr txBox="1"/>
          <p:nvPr/>
        </p:nvSpPr>
        <p:spPr>
          <a:xfrm>
            <a:off x="1274693" y="430139"/>
            <a:ext cx="1496263" cy="406458"/>
          </a:xfrm>
          <a:prstGeom prst="rect">
            <a:avLst/>
          </a:prstGeom>
        </p:spPr>
        <p:txBody>
          <a:bodyPr lIns="0" tIns="0" rIns="0" bIns="0" rtlCol="0" anchor="t">
            <a:spAutoFit/>
          </a:bodyPr>
          <a:lstStyle/>
          <a:p>
            <a:pPr algn="l">
              <a:lnSpc>
                <a:spcPts val="3359"/>
              </a:lnSpc>
            </a:pPr>
            <a:r>
              <a:rPr lang="en-US" sz="2400" b="1" spc="4" dirty="0">
                <a:solidFill>
                  <a:srgbClr val="231F20"/>
                </a:solidFill>
                <a:latin typeface="Open Sans Bold"/>
                <a:ea typeface="Open Sans Bold"/>
                <a:cs typeface="Open Sans Bold"/>
                <a:sym typeface="Open Sans Bold"/>
              </a:rPr>
              <a:t>TYPE</a:t>
            </a:r>
          </a:p>
        </p:txBody>
      </p:sp>
      <p:sp>
        <p:nvSpPr>
          <p:cNvPr id="36" name="TextBox 51">
            <a:extLst>
              <a:ext uri="{FF2B5EF4-FFF2-40B4-BE49-F238E27FC236}">
                <a16:creationId xmlns:a16="http://schemas.microsoft.com/office/drawing/2014/main" id="{FC9F297C-1557-832B-EBBF-B58783E2C820}"/>
              </a:ext>
            </a:extLst>
          </p:cNvPr>
          <p:cNvSpPr txBox="1"/>
          <p:nvPr/>
        </p:nvSpPr>
        <p:spPr>
          <a:xfrm>
            <a:off x="1302506" y="1517485"/>
            <a:ext cx="1158317" cy="192938"/>
          </a:xfrm>
          <a:prstGeom prst="rect">
            <a:avLst/>
          </a:prstGeom>
        </p:spPr>
        <p:txBody>
          <a:bodyPr wrap="square" lIns="0" tIns="0" rIns="0" bIns="0" rtlCol="0" anchor="t">
            <a:spAutoFit/>
          </a:bodyPr>
          <a:lstStyle/>
          <a:p>
            <a:pPr algn="just">
              <a:lnSpc>
                <a:spcPts val="1614"/>
              </a:lnSpc>
            </a:pPr>
            <a:r>
              <a:rPr lang="en-US" sz="1200" spc="7" dirty="0">
                <a:solidFill>
                  <a:srgbClr val="464395"/>
                </a:solidFill>
                <a:latin typeface="IBM Plex Sans"/>
                <a:ea typeface="IBM Plex Sans"/>
                <a:cs typeface="IBM Plex Sans"/>
                <a:sym typeface="IBM Plex Sans"/>
              </a:rPr>
              <a:t>2 RENTRÉES</a:t>
            </a:r>
            <a:endParaRPr lang="en-US" sz="1200" i="1" spc="6" dirty="0">
              <a:solidFill>
                <a:srgbClr val="231F20"/>
              </a:solidFill>
              <a:latin typeface="IBM Plex Sans Italics"/>
              <a:ea typeface="IBM Plex Sans Italics"/>
              <a:cs typeface="IBM Plex Sans Italics"/>
              <a:sym typeface="IBM Plex Sans Italics"/>
            </a:endParaRPr>
          </a:p>
        </p:txBody>
      </p:sp>
      <p:sp>
        <p:nvSpPr>
          <p:cNvPr id="37" name="TextBox 32">
            <a:extLst>
              <a:ext uri="{FF2B5EF4-FFF2-40B4-BE49-F238E27FC236}">
                <a16:creationId xmlns:a16="http://schemas.microsoft.com/office/drawing/2014/main" id="{017717DD-1C88-51AC-E9EC-B10BA3163BAD}"/>
              </a:ext>
            </a:extLst>
          </p:cNvPr>
          <p:cNvSpPr txBox="1"/>
          <p:nvPr/>
        </p:nvSpPr>
        <p:spPr>
          <a:xfrm>
            <a:off x="827465" y="6658127"/>
            <a:ext cx="1683477" cy="154466"/>
          </a:xfrm>
          <a:prstGeom prst="rect">
            <a:avLst/>
          </a:prstGeom>
        </p:spPr>
        <p:txBody>
          <a:bodyPr lIns="0" tIns="0" rIns="0" bIns="0" rtlCol="0" anchor="t">
            <a:spAutoFit/>
          </a:bodyPr>
          <a:lstStyle/>
          <a:p>
            <a:pPr marL="0" lvl="0" indent="0" algn="l">
              <a:lnSpc>
                <a:spcPts val="1200"/>
              </a:lnSpc>
              <a:spcBef>
                <a:spcPct val="0"/>
              </a:spcBef>
            </a:pPr>
            <a:r>
              <a:rPr lang="en-US" sz="1200" i="1" spc="6" dirty="0">
                <a:solidFill>
                  <a:srgbClr val="231F20"/>
                </a:solidFill>
                <a:latin typeface="IBM Plex Sans Italics"/>
                <a:ea typeface="IBM Plex Sans Italics"/>
                <a:cs typeface="IBM Plex Sans Italics"/>
                <a:sym typeface="IBM Plex Sans Italics"/>
              </a:rPr>
              <a:t>Enseignement1</a:t>
            </a:r>
            <a:endParaRPr lang="en-US" sz="1200" i="1" u="none" strike="noStrike" spc="6" dirty="0">
              <a:solidFill>
                <a:srgbClr val="231F20"/>
              </a:solidFill>
              <a:latin typeface="IBM Plex Sans Italics"/>
              <a:ea typeface="IBM Plex Sans Italics"/>
              <a:cs typeface="IBM Plex Sans Italics"/>
              <a:sym typeface="IBM Plex Sans Italics"/>
            </a:endParaRPr>
          </a:p>
        </p:txBody>
      </p:sp>
      <p:sp>
        <p:nvSpPr>
          <p:cNvPr id="38" name="TextBox 33">
            <a:extLst>
              <a:ext uri="{FF2B5EF4-FFF2-40B4-BE49-F238E27FC236}">
                <a16:creationId xmlns:a16="http://schemas.microsoft.com/office/drawing/2014/main" id="{5DE26973-C152-4876-6709-C0883AEE3CB4}"/>
              </a:ext>
            </a:extLst>
          </p:cNvPr>
          <p:cNvSpPr txBox="1"/>
          <p:nvPr/>
        </p:nvSpPr>
        <p:spPr>
          <a:xfrm>
            <a:off x="687136" y="5577573"/>
            <a:ext cx="2176714" cy="179536"/>
          </a:xfrm>
          <a:prstGeom prst="rect">
            <a:avLst/>
          </a:prstGeom>
        </p:spPr>
        <p:txBody>
          <a:bodyPr wrap="square" lIns="0" tIns="0" rIns="0" bIns="0" rtlCol="0" anchor="t">
            <a:spAutoFit/>
          </a:bodyPr>
          <a:lstStyle/>
          <a:p>
            <a:pPr algn="ctr">
              <a:lnSpc>
                <a:spcPts val="1439"/>
              </a:lnSpc>
            </a:pPr>
            <a:r>
              <a:rPr lang="en-US" sz="1200" i="1" spc="6" dirty="0">
                <a:solidFill>
                  <a:srgbClr val="1A1447"/>
                </a:solidFill>
                <a:latin typeface="IBM Plex Sans Italics"/>
                <a:ea typeface="IBM Plex Sans Italics"/>
                <a:cs typeface="IBM Plex Sans Italics"/>
                <a:sym typeface="IBM Plex Sans Italics"/>
              </a:rPr>
              <a:t>PointFort1</a:t>
            </a:r>
          </a:p>
        </p:txBody>
      </p:sp>
      <p:sp>
        <p:nvSpPr>
          <p:cNvPr id="39" name="TextBox 52">
            <a:extLst>
              <a:ext uri="{FF2B5EF4-FFF2-40B4-BE49-F238E27FC236}">
                <a16:creationId xmlns:a16="http://schemas.microsoft.com/office/drawing/2014/main" id="{8FC396EE-7373-E8F5-7253-8191E5C8F920}"/>
              </a:ext>
            </a:extLst>
          </p:cNvPr>
          <p:cNvSpPr txBox="1"/>
          <p:nvPr/>
        </p:nvSpPr>
        <p:spPr>
          <a:xfrm>
            <a:off x="2664000" y="1485071"/>
            <a:ext cx="723062" cy="212174"/>
          </a:xfrm>
          <a:prstGeom prst="rect">
            <a:avLst/>
          </a:prstGeom>
        </p:spPr>
        <p:txBody>
          <a:bodyPr lIns="0" tIns="0" rIns="0" bIns="0" rtlCol="0" anchor="t">
            <a:spAutoFit/>
          </a:bodyPr>
          <a:lstStyle/>
          <a:p>
            <a:pPr algn="l">
              <a:lnSpc>
                <a:spcPts val="1783"/>
              </a:lnSpc>
            </a:pPr>
            <a:r>
              <a:rPr lang="en-US" sz="1200" spc="6" dirty="0">
                <a:solidFill>
                  <a:srgbClr val="464395"/>
                </a:solidFill>
                <a:latin typeface="IBM Plex Sans"/>
                <a:ea typeface="IBM Plex Sans"/>
                <a:cs typeface="IBM Plex Sans"/>
                <a:sym typeface="IBM Plex Sans"/>
              </a:rPr>
              <a:t>LANGUE</a:t>
            </a:r>
            <a:endParaRPr lang="en-US" sz="1200" i="1" spc="6" dirty="0">
              <a:solidFill>
                <a:srgbClr val="231F20"/>
              </a:solidFill>
              <a:latin typeface="IBM Plex Sans Italics"/>
              <a:ea typeface="IBM Plex Sans Italics"/>
              <a:cs typeface="IBM Plex Sans Italics"/>
              <a:sym typeface="IBM Plex Sans Italics"/>
            </a:endParaRPr>
          </a:p>
        </p:txBody>
      </p:sp>
      <p:sp>
        <p:nvSpPr>
          <p:cNvPr id="40" name="TextBox 35">
            <a:extLst>
              <a:ext uri="{FF2B5EF4-FFF2-40B4-BE49-F238E27FC236}">
                <a16:creationId xmlns:a16="http://schemas.microsoft.com/office/drawing/2014/main" id="{C0B0A14E-FFDC-08E4-DF18-8BB5737AAAB0}"/>
              </a:ext>
            </a:extLst>
          </p:cNvPr>
          <p:cNvSpPr txBox="1"/>
          <p:nvPr/>
        </p:nvSpPr>
        <p:spPr>
          <a:xfrm>
            <a:off x="796119" y="8528914"/>
            <a:ext cx="2997689" cy="179536"/>
          </a:xfrm>
          <a:prstGeom prst="rect">
            <a:avLst/>
          </a:prstGeom>
        </p:spPr>
        <p:txBody>
          <a:bodyPr lIns="0" tIns="0" rIns="0" bIns="0" rtlCol="0" anchor="t">
            <a:spAutoFit/>
          </a:bodyPr>
          <a:lstStyle/>
          <a:p>
            <a:pPr marL="129540" lvl="1" algn="just">
              <a:lnSpc>
                <a:spcPts val="1439"/>
              </a:lnSpc>
            </a:pPr>
            <a:r>
              <a:rPr lang="en-US" sz="1200" i="1" spc="6" dirty="0" err="1">
                <a:solidFill>
                  <a:srgbClr val="1A1447"/>
                </a:solidFill>
                <a:latin typeface="IBM Plex Sans Italics"/>
                <a:ea typeface="IBM Plex Sans Italics"/>
                <a:cs typeface="IBM Plex Sans Italics"/>
                <a:sym typeface="IBM Plex Sans Italics"/>
              </a:rPr>
              <a:t>Metier</a:t>
            </a:r>
            <a:endParaRPr lang="en-US" sz="1200" i="1" spc="6" dirty="0">
              <a:solidFill>
                <a:srgbClr val="1A1447"/>
              </a:solidFill>
              <a:latin typeface="IBM Plex Sans Italics"/>
              <a:ea typeface="IBM Plex Sans Italics"/>
              <a:cs typeface="IBM Plex Sans Italics"/>
              <a:sym typeface="IBM Plex Sans Italics"/>
            </a:endParaRPr>
          </a:p>
        </p:txBody>
      </p:sp>
      <p:sp>
        <p:nvSpPr>
          <p:cNvPr id="41" name="TextBox 37">
            <a:extLst>
              <a:ext uri="{FF2B5EF4-FFF2-40B4-BE49-F238E27FC236}">
                <a16:creationId xmlns:a16="http://schemas.microsoft.com/office/drawing/2014/main" id="{D378872E-BE8D-478B-70EB-A03BDF5463AE}"/>
              </a:ext>
            </a:extLst>
          </p:cNvPr>
          <p:cNvSpPr txBox="1"/>
          <p:nvPr/>
        </p:nvSpPr>
        <p:spPr>
          <a:xfrm>
            <a:off x="3092450" y="5577573"/>
            <a:ext cx="1847297" cy="179536"/>
          </a:xfrm>
          <a:prstGeom prst="rect">
            <a:avLst/>
          </a:prstGeom>
        </p:spPr>
        <p:txBody>
          <a:bodyPr wrap="square" lIns="0" tIns="0" rIns="0" bIns="0" rtlCol="0" anchor="t">
            <a:spAutoFit/>
          </a:bodyPr>
          <a:lstStyle/>
          <a:p>
            <a:pPr algn="ctr">
              <a:lnSpc>
                <a:spcPts val="1439"/>
              </a:lnSpc>
            </a:pPr>
            <a:r>
              <a:rPr lang="en-US" sz="1200" i="1" spc="6" dirty="0">
                <a:solidFill>
                  <a:srgbClr val="1A1447"/>
                </a:solidFill>
                <a:latin typeface="IBM Plex Sans Italics"/>
                <a:ea typeface="IBM Plex Sans Italics"/>
                <a:cs typeface="IBM Plex Sans Italics"/>
                <a:sym typeface="IBM Plex Sans Italics"/>
              </a:rPr>
              <a:t>PointFort2</a:t>
            </a:r>
          </a:p>
        </p:txBody>
      </p:sp>
      <p:sp>
        <p:nvSpPr>
          <p:cNvPr id="42" name="TextBox 36">
            <a:extLst>
              <a:ext uri="{FF2B5EF4-FFF2-40B4-BE49-F238E27FC236}">
                <a16:creationId xmlns:a16="http://schemas.microsoft.com/office/drawing/2014/main" id="{2DDEB1C5-CBCD-537E-18DE-A4DBFEDDF161}"/>
              </a:ext>
            </a:extLst>
          </p:cNvPr>
          <p:cNvSpPr txBox="1"/>
          <p:nvPr/>
        </p:nvSpPr>
        <p:spPr>
          <a:xfrm>
            <a:off x="3135649" y="6640468"/>
            <a:ext cx="1766992"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6" dirty="0">
                <a:solidFill>
                  <a:srgbClr val="231F20"/>
                </a:solidFill>
                <a:latin typeface="IBM Plex Sans Italics"/>
                <a:ea typeface="IBM Plex Sans Italics"/>
                <a:cs typeface="IBM Plex Sans Italics"/>
                <a:sym typeface="IBM Plex Sans Italics"/>
              </a:rPr>
              <a:t>Enseignement2</a:t>
            </a:r>
          </a:p>
        </p:txBody>
      </p:sp>
      <p:sp>
        <p:nvSpPr>
          <p:cNvPr id="43" name="TextBox 53">
            <a:extLst>
              <a:ext uri="{FF2B5EF4-FFF2-40B4-BE49-F238E27FC236}">
                <a16:creationId xmlns:a16="http://schemas.microsoft.com/office/drawing/2014/main" id="{EB90C4C5-D8EF-A0A4-6CFF-0EA91FE8FD31}"/>
              </a:ext>
            </a:extLst>
          </p:cNvPr>
          <p:cNvSpPr txBox="1"/>
          <p:nvPr/>
        </p:nvSpPr>
        <p:spPr>
          <a:xfrm>
            <a:off x="3925248" y="1507960"/>
            <a:ext cx="983504" cy="212174"/>
          </a:xfrm>
          <a:prstGeom prst="rect">
            <a:avLst/>
          </a:prstGeom>
        </p:spPr>
        <p:txBody>
          <a:bodyPr lIns="0" tIns="0" rIns="0" bIns="0" rtlCol="0" anchor="t">
            <a:spAutoFit/>
          </a:bodyPr>
          <a:lstStyle/>
          <a:p>
            <a:pPr algn="l">
              <a:lnSpc>
                <a:spcPts val="1796"/>
              </a:lnSpc>
            </a:pPr>
            <a:r>
              <a:rPr lang="en-US" sz="1200" spc="7" dirty="0">
                <a:solidFill>
                  <a:srgbClr val="464395"/>
                </a:solidFill>
                <a:latin typeface="IBM Plex Sans"/>
                <a:ea typeface="IBM Plex Sans"/>
                <a:cs typeface="IBM Plex Sans"/>
                <a:sym typeface="IBM Plex Sans"/>
              </a:rPr>
              <a:t>STAGE</a:t>
            </a:r>
          </a:p>
        </p:txBody>
      </p:sp>
      <p:sp>
        <p:nvSpPr>
          <p:cNvPr id="44" name="TextBox 39">
            <a:extLst>
              <a:ext uri="{FF2B5EF4-FFF2-40B4-BE49-F238E27FC236}">
                <a16:creationId xmlns:a16="http://schemas.microsoft.com/office/drawing/2014/main" id="{827D9C88-FDD3-794D-D078-E2F3BCCF413F}"/>
              </a:ext>
            </a:extLst>
          </p:cNvPr>
          <p:cNvSpPr txBox="1"/>
          <p:nvPr/>
        </p:nvSpPr>
        <p:spPr>
          <a:xfrm>
            <a:off x="5446938" y="1716900"/>
            <a:ext cx="788670" cy="179536"/>
          </a:xfrm>
          <a:prstGeom prst="rect">
            <a:avLst/>
          </a:prstGeom>
        </p:spPr>
        <p:txBody>
          <a:bodyPr lIns="0" tIns="0" rIns="0" bIns="0" rtlCol="0" anchor="t">
            <a:spAutoFit/>
          </a:bodyPr>
          <a:lstStyle/>
          <a:p>
            <a:pPr>
              <a:lnSpc>
                <a:spcPts val="1439"/>
              </a:lnSpc>
            </a:pPr>
            <a:r>
              <a:rPr lang="en-US" sz="1200" i="1" spc="6" dirty="0">
                <a:solidFill>
                  <a:srgbClr val="231F20"/>
                </a:solidFill>
                <a:latin typeface="IBM Plex Sans Italics"/>
                <a:ea typeface="IBM Plex Sans Italics"/>
                <a:cs typeface="IBM Plex Sans Italics"/>
                <a:sym typeface="IBM Plex Sans Italics"/>
              </a:rPr>
              <a:t>Admission</a:t>
            </a:r>
          </a:p>
        </p:txBody>
      </p:sp>
      <p:sp>
        <p:nvSpPr>
          <p:cNvPr id="45" name="TextBox 40">
            <a:extLst>
              <a:ext uri="{FF2B5EF4-FFF2-40B4-BE49-F238E27FC236}">
                <a16:creationId xmlns:a16="http://schemas.microsoft.com/office/drawing/2014/main" id="{EA7E1A34-12BC-9C85-E1BE-17C95AF75F40}"/>
              </a:ext>
            </a:extLst>
          </p:cNvPr>
          <p:cNvSpPr txBox="1"/>
          <p:nvPr/>
        </p:nvSpPr>
        <p:spPr>
          <a:xfrm>
            <a:off x="5233226" y="5577573"/>
            <a:ext cx="1766350" cy="179536"/>
          </a:xfrm>
          <a:prstGeom prst="rect">
            <a:avLst/>
          </a:prstGeom>
        </p:spPr>
        <p:txBody>
          <a:bodyPr wrap="square" lIns="0" tIns="0" rIns="0" bIns="0" rtlCol="0" anchor="t">
            <a:spAutoFit/>
          </a:bodyPr>
          <a:lstStyle/>
          <a:p>
            <a:pPr algn="ctr">
              <a:lnSpc>
                <a:spcPts val="1439"/>
              </a:lnSpc>
            </a:pPr>
            <a:r>
              <a:rPr lang="en-US" sz="1200" i="1" spc="6" dirty="0">
                <a:solidFill>
                  <a:srgbClr val="1A1447"/>
                </a:solidFill>
                <a:latin typeface="IBM Plex Sans Italics"/>
                <a:ea typeface="IBM Plex Sans Italics"/>
                <a:cs typeface="IBM Plex Sans Italics"/>
                <a:sym typeface="IBM Plex Sans Italics"/>
              </a:rPr>
              <a:t>PointFort3</a:t>
            </a:r>
          </a:p>
        </p:txBody>
      </p:sp>
      <p:sp>
        <p:nvSpPr>
          <p:cNvPr id="46" name="TextBox 43">
            <a:extLst>
              <a:ext uri="{FF2B5EF4-FFF2-40B4-BE49-F238E27FC236}">
                <a16:creationId xmlns:a16="http://schemas.microsoft.com/office/drawing/2014/main" id="{ECCCAF5F-947E-4133-8286-0EDEB08D30F3}"/>
              </a:ext>
            </a:extLst>
          </p:cNvPr>
          <p:cNvSpPr txBox="1"/>
          <p:nvPr/>
        </p:nvSpPr>
        <p:spPr>
          <a:xfrm>
            <a:off x="6505746" y="468239"/>
            <a:ext cx="332842" cy="397545"/>
          </a:xfrm>
          <a:prstGeom prst="rect">
            <a:avLst/>
          </a:prstGeom>
        </p:spPr>
        <p:txBody>
          <a:bodyPr lIns="0" tIns="0" rIns="0" bIns="0" rtlCol="0" anchor="t">
            <a:spAutoFit/>
          </a:bodyPr>
          <a:lstStyle/>
          <a:p>
            <a:pPr algn="ctr">
              <a:lnSpc>
                <a:spcPts val="1660"/>
              </a:lnSpc>
            </a:pPr>
            <a:r>
              <a:rPr lang="en-US" sz="1399" b="1" spc="2" dirty="0">
                <a:solidFill>
                  <a:srgbClr val="FFFFFF"/>
                </a:solidFill>
                <a:latin typeface="Open Sans Bold"/>
                <a:ea typeface="Open Sans Bold"/>
                <a:cs typeface="Open Sans Bold"/>
                <a:sym typeface="Open Sans Bold"/>
              </a:rPr>
              <a:t>2 </a:t>
            </a:r>
          </a:p>
          <a:p>
            <a:pPr algn="ctr">
              <a:lnSpc>
                <a:spcPts val="1423"/>
              </a:lnSpc>
            </a:pPr>
            <a:r>
              <a:rPr lang="en-US" sz="1200" b="1" spc="2" dirty="0">
                <a:solidFill>
                  <a:srgbClr val="FFFFFF"/>
                </a:solidFill>
                <a:latin typeface="Open Sans Bold"/>
                <a:ea typeface="Open Sans Bold"/>
                <a:cs typeface="Open Sans Bold"/>
                <a:sym typeface="Open Sans Bold"/>
              </a:rPr>
              <a:t>ANS</a:t>
            </a:r>
          </a:p>
        </p:txBody>
      </p:sp>
      <p:sp>
        <p:nvSpPr>
          <p:cNvPr id="47" name="TextBox 42">
            <a:extLst>
              <a:ext uri="{FF2B5EF4-FFF2-40B4-BE49-F238E27FC236}">
                <a16:creationId xmlns:a16="http://schemas.microsoft.com/office/drawing/2014/main" id="{F1B74C6B-F705-6B81-5AF0-B1577D8ADB35}"/>
              </a:ext>
            </a:extLst>
          </p:cNvPr>
          <p:cNvSpPr txBox="1"/>
          <p:nvPr/>
        </p:nvSpPr>
        <p:spPr>
          <a:xfrm>
            <a:off x="756000" y="2631872"/>
            <a:ext cx="6040626" cy="179536"/>
          </a:xfrm>
          <a:prstGeom prst="rect">
            <a:avLst/>
          </a:prstGeom>
        </p:spPr>
        <p:txBody>
          <a:bodyPr lIns="0" tIns="0" rIns="0" bIns="0" rtlCol="0" anchor="t">
            <a:spAutoFit/>
          </a:bodyPr>
          <a:lstStyle/>
          <a:p>
            <a:pPr algn="l">
              <a:lnSpc>
                <a:spcPts val="1439"/>
              </a:lnSpc>
            </a:pPr>
            <a:r>
              <a:rPr lang="en-US" sz="1200" spc="7" dirty="0">
                <a:solidFill>
                  <a:srgbClr val="FFFFFF"/>
                </a:solidFill>
                <a:latin typeface="IBM Plex Sans"/>
                <a:ea typeface="IBM Plex Sans"/>
                <a:cs typeface="IBM Plex Sans"/>
                <a:sym typeface="IBM Plex Sans"/>
              </a:rPr>
              <a:t>Description</a:t>
            </a:r>
          </a:p>
        </p:txBody>
      </p:sp>
      <p:sp>
        <p:nvSpPr>
          <p:cNvPr id="48" name="TextBox 41">
            <a:extLst>
              <a:ext uri="{FF2B5EF4-FFF2-40B4-BE49-F238E27FC236}">
                <a16:creationId xmlns:a16="http://schemas.microsoft.com/office/drawing/2014/main" id="{8E0093FA-C47C-25C7-D59B-435F312B08A9}"/>
              </a:ext>
            </a:extLst>
          </p:cNvPr>
          <p:cNvSpPr txBox="1"/>
          <p:nvPr/>
        </p:nvSpPr>
        <p:spPr>
          <a:xfrm>
            <a:off x="5311045" y="6618761"/>
            <a:ext cx="1610039" cy="154466"/>
          </a:xfrm>
          <a:prstGeom prst="rect">
            <a:avLst/>
          </a:prstGeom>
        </p:spPr>
        <p:txBody>
          <a:bodyPr lIns="0" tIns="0" rIns="0" bIns="0" rtlCol="0" anchor="t">
            <a:spAutoFit/>
          </a:bodyPr>
          <a:lstStyle/>
          <a:p>
            <a:pPr algn="just">
              <a:lnSpc>
                <a:spcPts val="1200"/>
              </a:lnSpc>
            </a:pPr>
            <a:r>
              <a:rPr lang="en-US" sz="1200" i="1" spc="6" dirty="0">
                <a:solidFill>
                  <a:srgbClr val="231F20"/>
                </a:solidFill>
                <a:latin typeface="IBM Plex Sans Italics"/>
                <a:ea typeface="IBM Plex Sans Italics"/>
                <a:cs typeface="IBM Plex Sans Italics"/>
                <a:sym typeface="IBM Plex Sans Italics"/>
              </a:rPr>
              <a:t>Enseignement3</a:t>
            </a:r>
          </a:p>
        </p:txBody>
      </p:sp>
      <p:sp>
        <p:nvSpPr>
          <p:cNvPr id="49" name="TextBox 44">
            <a:extLst>
              <a:ext uri="{FF2B5EF4-FFF2-40B4-BE49-F238E27FC236}">
                <a16:creationId xmlns:a16="http://schemas.microsoft.com/office/drawing/2014/main" id="{EDAAFF42-D414-AA60-9DCD-4740F69D58BC}"/>
              </a:ext>
            </a:extLst>
          </p:cNvPr>
          <p:cNvSpPr txBox="1"/>
          <p:nvPr/>
        </p:nvSpPr>
        <p:spPr>
          <a:xfrm>
            <a:off x="2497055" y="10250005"/>
            <a:ext cx="2515629" cy="151428"/>
          </a:xfrm>
          <a:prstGeom prst="rect">
            <a:avLst/>
          </a:prstGeom>
        </p:spPr>
        <p:txBody>
          <a:bodyPr lIns="0" tIns="0" rIns="0" bIns="0" rtlCol="0" anchor="t">
            <a:spAutoFit/>
          </a:bodyPr>
          <a:lstStyle/>
          <a:p>
            <a:pPr algn="l">
              <a:lnSpc>
                <a:spcPts val="1260"/>
              </a:lnSpc>
            </a:pPr>
            <a:r>
              <a:rPr lang="en-US" sz="900" i="1" spc="26">
                <a:solidFill>
                  <a:srgbClr val="939496"/>
                </a:solidFill>
                <a:latin typeface="IBM Plex Sans Italics"/>
                <a:ea typeface="IBM Plex Sans Italics"/>
                <a:cs typeface="IBM Plex Sans Italics"/>
                <a:sym typeface="IBM Plex Sans Italics"/>
              </a:rPr>
              <a:t>Etablissement d’enseignement supérieur privé</a:t>
            </a:r>
          </a:p>
        </p:txBody>
      </p:sp>
      <p:sp>
        <p:nvSpPr>
          <p:cNvPr id="50" name="TextBox 49">
            <a:extLst>
              <a:ext uri="{FF2B5EF4-FFF2-40B4-BE49-F238E27FC236}">
                <a16:creationId xmlns:a16="http://schemas.microsoft.com/office/drawing/2014/main" id="{CACE8705-6751-B83C-5F08-0947E12278A6}"/>
              </a:ext>
            </a:extLst>
          </p:cNvPr>
          <p:cNvSpPr txBox="1"/>
          <p:nvPr/>
        </p:nvSpPr>
        <p:spPr>
          <a:xfrm>
            <a:off x="5452586" y="1494596"/>
            <a:ext cx="783022" cy="192491"/>
          </a:xfrm>
          <a:prstGeom prst="rect">
            <a:avLst/>
          </a:prstGeom>
        </p:spPr>
        <p:txBody>
          <a:bodyPr lIns="0" tIns="0" rIns="0" bIns="0" rtlCol="0" anchor="t">
            <a:spAutoFit/>
          </a:bodyPr>
          <a:lstStyle/>
          <a:p>
            <a:pPr algn="l">
              <a:lnSpc>
                <a:spcPts val="1539"/>
              </a:lnSpc>
            </a:pPr>
            <a:r>
              <a:rPr lang="en-US" sz="1100" spc="6" dirty="0">
                <a:solidFill>
                  <a:srgbClr val="464395"/>
                </a:solidFill>
                <a:latin typeface="IBM Plex Sans"/>
                <a:ea typeface="IBM Plex Sans"/>
                <a:cs typeface="IBM Plex Sans"/>
                <a:sym typeface="IBM Plex Sans"/>
              </a:rPr>
              <a:t>ADMISSION</a:t>
            </a:r>
          </a:p>
        </p:txBody>
      </p:sp>
      <p:sp>
        <p:nvSpPr>
          <p:cNvPr id="51" name="TextBox 34">
            <a:extLst>
              <a:ext uri="{FF2B5EF4-FFF2-40B4-BE49-F238E27FC236}">
                <a16:creationId xmlns:a16="http://schemas.microsoft.com/office/drawing/2014/main" id="{AEBFAF10-85F4-7A59-D43C-C69A77618A72}"/>
              </a:ext>
            </a:extLst>
          </p:cNvPr>
          <p:cNvSpPr txBox="1"/>
          <p:nvPr/>
        </p:nvSpPr>
        <p:spPr>
          <a:xfrm>
            <a:off x="2661175" y="1713840"/>
            <a:ext cx="723062" cy="212174"/>
          </a:xfrm>
          <a:prstGeom prst="rect">
            <a:avLst/>
          </a:prstGeom>
        </p:spPr>
        <p:txBody>
          <a:bodyPr lIns="0" tIns="0" rIns="0" bIns="0" rtlCol="0" anchor="t">
            <a:spAutoFit/>
          </a:bodyPr>
          <a:lstStyle/>
          <a:p>
            <a:pPr algn="l">
              <a:lnSpc>
                <a:spcPts val="1783"/>
              </a:lnSpc>
            </a:pPr>
            <a:r>
              <a:rPr lang="en-US" sz="1200" i="1" spc="6" dirty="0">
                <a:solidFill>
                  <a:srgbClr val="231F20"/>
                </a:solidFill>
                <a:latin typeface="IBM Plex Sans Italics"/>
                <a:ea typeface="IBM Plex Sans Italics"/>
                <a:cs typeface="IBM Plex Sans Italics"/>
                <a:sym typeface="IBM Plex Sans Italics"/>
              </a:rPr>
              <a:t>Langue</a:t>
            </a:r>
          </a:p>
        </p:txBody>
      </p:sp>
      <p:sp>
        <p:nvSpPr>
          <p:cNvPr id="52" name="TextBox 38">
            <a:extLst>
              <a:ext uri="{FF2B5EF4-FFF2-40B4-BE49-F238E27FC236}">
                <a16:creationId xmlns:a16="http://schemas.microsoft.com/office/drawing/2014/main" id="{E6A687A3-4E6E-A90E-ACFA-6C7B1172AE49}"/>
              </a:ext>
            </a:extLst>
          </p:cNvPr>
          <p:cNvSpPr txBox="1"/>
          <p:nvPr/>
        </p:nvSpPr>
        <p:spPr>
          <a:xfrm>
            <a:off x="3924805" y="1694420"/>
            <a:ext cx="1022483" cy="212174"/>
          </a:xfrm>
          <a:prstGeom prst="rect">
            <a:avLst/>
          </a:prstGeom>
        </p:spPr>
        <p:txBody>
          <a:bodyPr wrap="square" lIns="0" tIns="0" rIns="0" bIns="0" rtlCol="0" anchor="t">
            <a:spAutoFit/>
          </a:bodyPr>
          <a:lstStyle/>
          <a:p>
            <a:pPr>
              <a:lnSpc>
                <a:spcPts val="1796"/>
              </a:lnSpc>
            </a:pPr>
            <a:r>
              <a:rPr lang="en-US" sz="1200" i="1" spc="6" dirty="0">
                <a:solidFill>
                  <a:srgbClr val="231F20"/>
                </a:solidFill>
                <a:latin typeface="IBM Plex Sans Italics"/>
                <a:ea typeface="IBM Plex Sans Italics"/>
                <a:cs typeface="IBM Plex Sans Italics"/>
                <a:sym typeface="IBM Plex Sans Italics"/>
              </a:rPr>
              <a:t>Stage</a:t>
            </a:r>
          </a:p>
        </p:txBody>
      </p:sp>
      <p:sp>
        <p:nvSpPr>
          <p:cNvPr id="53" name="TextBox 31">
            <a:extLst>
              <a:ext uri="{FF2B5EF4-FFF2-40B4-BE49-F238E27FC236}">
                <a16:creationId xmlns:a16="http://schemas.microsoft.com/office/drawing/2014/main" id="{0CAF67BB-C9D2-68CA-870C-9A8CCCCEE879}"/>
              </a:ext>
            </a:extLst>
          </p:cNvPr>
          <p:cNvSpPr txBox="1"/>
          <p:nvPr/>
        </p:nvSpPr>
        <p:spPr>
          <a:xfrm>
            <a:off x="1302506" y="1722168"/>
            <a:ext cx="918219" cy="192938"/>
          </a:xfrm>
          <a:prstGeom prst="rect">
            <a:avLst/>
          </a:prstGeom>
        </p:spPr>
        <p:txBody>
          <a:bodyPr lIns="0" tIns="0" rIns="0" bIns="0" rtlCol="0" anchor="t">
            <a:spAutoFit/>
          </a:bodyPr>
          <a:lstStyle/>
          <a:p>
            <a:pPr>
              <a:lnSpc>
                <a:spcPts val="1614"/>
              </a:lnSpc>
            </a:pPr>
            <a:r>
              <a:rPr lang="en-US" sz="1200" i="1" spc="7" dirty="0">
                <a:solidFill>
                  <a:srgbClr val="231F20"/>
                </a:solidFill>
                <a:latin typeface="IBM Plex Sans Italics"/>
                <a:ea typeface="IBM Plex Sans Italics"/>
                <a:cs typeface="IBM Plex Sans Italics"/>
                <a:sym typeface="IBM Plex Sans Italics"/>
              </a:rPr>
              <a:t>Fall</a:t>
            </a:r>
            <a:endParaRPr lang="en-US" sz="1200" i="1" spc="6" dirty="0">
              <a:solidFill>
                <a:srgbClr val="231F20"/>
              </a:solidFill>
              <a:latin typeface="IBM Plex Sans Italics"/>
              <a:ea typeface="IBM Plex Sans Italics"/>
              <a:cs typeface="IBM Plex Sans Italics"/>
              <a:sym typeface="IBM Plex Sans Italics"/>
            </a:endParaRPr>
          </a:p>
        </p:txBody>
      </p:sp>
    </p:spTree>
    <p:extLst>
      <p:ext uri="{BB962C8B-B14F-4D97-AF65-F5344CB8AC3E}">
        <p14:creationId xmlns:p14="http://schemas.microsoft.com/office/powerpoint/2010/main" val="4252960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644409" y="2104368"/>
            <a:ext cx="5702398" cy="2140010"/>
            <a:chOff x="0" y="0"/>
            <a:chExt cx="5702402" cy="2140014"/>
          </a:xfrm>
        </p:grpSpPr>
        <p:sp>
          <p:nvSpPr>
            <p:cNvPr id="3" name="Freeform 3"/>
            <p:cNvSpPr/>
            <p:nvPr/>
          </p:nvSpPr>
          <p:spPr>
            <a:xfrm>
              <a:off x="63500" y="2051050"/>
              <a:ext cx="1345438" cy="25400"/>
            </a:xfrm>
            <a:custGeom>
              <a:avLst/>
              <a:gdLst/>
              <a:ahLst/>
              <a:cxnLst/>
              <a:rect l="l" t="t" r="r" b="b"/>
              <a:pathLst>
                <a:path w="1345438" h="25400">
                  <a:moveTo>
                    <a:pt x="1345438" y="25400"/>
                  </a:moveTo>
                  <a:lnTo>
                    <a:pt x="0" y="25400"/>
                  </a:lnTo>
                  <a:lnTo>
                    <a:pt x="0" y="0"/>
                  </a:lnTo>
                  <a:lnTo>
                    <a:pt x="1345438" y="0"/>
                  </a:lnTo>
                  <a:close/>
                </a:path>
              </a:pathLst>
            </a:custGeom>
            <a:solidFill>
              <a:srgbClr val="EA8C39"/>
            </a:solidFill>
          </p:spPr>
          <p:txBody>
            <a:bodyPr/>
            <a:lstStyle/>
            <a:p>
              <a:endParaRPr lang="fr-FR"/>
            </a:p>
          </p:txBody>
        </p:sp>
        <p:sp>
          <p:nvSpPr>
            <p:cNvPr id="4" name="Freeform 4"/>
            <p:cNvSpPr/>
            <p:nvPr/>
          </p:nvSpPr>
          <p:spPr>
            <a:xfrm>
              <a:off x="63500" y="63500"/>
              <a:ext cx="25400" cy="2012950"/>
            </a:xfrm>
            <a:custGeom>
              <a:avLst/>
              <a:gdLst/>
              <a:ahLst/>
              <a:cxnLst/>
              <a:rect l="l" t="t" r="r" b="b"/>
              <a:pathLst>
                <a:path w="25400" h="2012950">
                  <a:moveTo>
                    <a:pt x="0" y="2012950"/>
                  </a:moveTo>
                  <a:lnTo>
                    <a:pt x="0" y="0"/>
                  </a:lnTo>
                  <a:lnTo>
                    <a:pt x="25400" y="0"/>
                  </a:lnTo>
                  <a:lnTo>
                    <a:pt x="25400" y="2012950"/>
                  </a:lnTo>
                  <a:close/>
                </a:path>
              </a:pathLst>
            </a:custGeom>
            <a:solidFill>
              <a:srgbClr val="EA8C39"/>
            </a:solidFill>
          </p:spPr>
          <p:txBody>
            <a:bodyPr/>
            <a:lstStyle/>
            <a:p>
              <a:endParaRPr lang="fr-FR"/>
            </a:p>
          </p:txBody>
        </p:sp>
        <p:sp>
          <p:nvSpPr>
            <p:cNvPr id="5" name="Freeform 5"/>
            <p:cNvSpPr/>
            <p:nvPr/>
          </p:nvSpPr>
          <p:spPr>
            <a:xfrm>
              <a:off x="63500" y="63500"/>
              <a:ext cx="5568442" cy="25400"/>
            </a:xfrm>
            <a:custGeom>
              <a:avLst/>
              <a:gdLst/>
              <a:ahLst/>
              <a:cxnLst/>
              <a:rect l="l" t="t" r="r" b="b"/>
              <a:pathLst>
                <a:path w="5568442" h="25400">
                  <a:moveTo>
                    <a:pt x="0" y="0"/>
                  </a:moveTo>
                  <a:lnTo>
                    <a:pt x="5568442" y="0"/>
                  </a:lnTo>
                  <a:lnTo>
                    <a:pt x="5568442" y="25400"/>
                  </a:lnTo>
                  <a:lnTo>
                    <a:pt x="0" y="25400"/>
                  </a:lnTo>
                  <a:close/>
                </a:path>
              </a:pathLst>
            </a:custGeom>
            <a:solidFill>
              <a:srgbClr val="EA8C39"/>
            </a:solidFill>
          </p:spPr>
          <p:txBody>
            <a:bodyPr/>
            <a:lstStyle/>
            <a:p>
              <a:endParaRPr lang="fr-FR"/>
            </a:p>
          </p:txBody>
        </p:sp>
        <p:sp>
          <p:nvSpPr>
            <p:cNvPr id="6" name="Freeform 6"/>
            <p:cNvSpPr/>
            <p:nvPr/>
          </p:nvSpPr>
          <p:spPr>
            <a:xfrm>
              <a:off x="5606542" y="63500"/>
              <a:ext cx="25400" cy="2012950"/>
            </a:xfrm>
            <a:custGeom>
              <a:avLst/>
              <a:gdLst/>
              <a:ahLst/>
              <a:cxnLst/>
              <a:rect l="l" t="t" r="r" b="b"/>
              <a:pathLst>
                <a:path w="25400" h="2012950">
                  <a:moveTo>
                    <a:pt x="25400" y="0"/>
                  </a:moveTo>
                  <a:lnTo>
                    <a:pt x="25400" y="2012950"/>
                  </a:lnTo>
                  <a:lnTo>
                    <a:pt x="0" y="2012950"/>
                  </a:lnTo>
                  <a:lnTo>
                    <a:pt x="0" y="0"/>
                  </a:lnTo>
                  <a:close/>
                </a:path>
              </a:pathLst>
            </a:custGeom>
            <a:solidFill>
              <a:srgbClr val="EA8C39"/>
            </a:solidFill>
          </p:spPr>
          <p:txBody>
            <a:bodyPr/>
            <a:lstStyle/>
            <a:p>
              <a:endParaRPr lang="fr-FR"/>
            </a:p>
          </p:txBody>
        </p:sp>
        <p:sp>
          <p:nvSpPr>
            <p:cNvPr id="7" name="Freeform 7"/>
            <p:cNvSpPr/>
            <p:nvPr/>
          </p:nvSpPr>
          <p:spPr>
            <a:xfrm>
              <a:off x="5356606" y="2051050"/>
              <a:ext cx="282321" cy="25400"/>
            </a:xfrm>
            <a:custGeom>
              <a:avLst/>
              <a:gdLst/>
              <a:ahLst/>
              <a:cxnLst/>
              <a:rect l="l" t="t" r="r" b="b"/>
              <a:pathLst>
                <a:path w="282321" h="25400">
                  <a:moveTo>
                    <a:pt x="282321" y="25400"/>
                  </a:moveTo>
                  <a:lnTo>
                    <a:pt x="0" y="25400"/>
                  </a:lnTo>
                  <a:lnTo>
                    <a:pt x="0" y="0"/>
                  </a:lnTo>
                  <a:lnTo>
                    <a:pt x="282194" y="0"/>
                  </a:lnTo>
                  <a:close/>
                </a:path>
              </a:pathLst>
            </a:custGeom>
            <a:solidFill>
              <a:srgbClr val="EA8C39"/>
            </a:solidFill>
          </p:spPr>
          <p:txBody>
            <a:bodyPr/>
            <a:lstStyle/>
            <a:p>
              <a:endParaRPr lang="fr-FR"/>
            </a:p>
          </p:txBody>
        </p:sp>
      </p:grpSp>
      <p:sp>
        <p:nvSpPr>
          <p:cNvPr id="8" name="TextBox 8"/>
          <p:cNvSpPr txBox="1"/>
          <p:nvPr/>
        </p:nvSpPr>
        <p:spPr>
          <a:xfrm>
            <a:off x="2794502" y="10342407"/>
            <a:ext cx="2515629" cy="151428"/>
          </a:xfrm>
          <a:prstGeom prst="rect">
            <a:avLst/>
          </a:prstGeom>
        </p:spPr>
        <p:txBody>
          <a:bodyPr lIns="0" tIns="0" rIns="0" bIns="0" rtlCol="0" anchor="t">
            <a:spAutoFit/>
          </a:bodyPr>
          <a:lstStyle/>
          <a:p>
            <a:pPr algn="l">
              <a:lnSpc>
                <a:spcPts val="1260"/>
              </a:lnSpc>
            </a:pPr>
            <a:r>
              <a:rPr lang="en-US" sz="900" i="1" spc="25">
                <a:solidFill>
                  <a:srgbClr val="939496"/>
                </a:solidFill>
                <a:latin typeface="IBM Plex Sans Italics"/>
                <a:ea typeface="IBM Plex Sans Italics"/>
                <a:cs typeface="IBM Plex Sans Italics"/>
                <a:sym typeface="IBM Plex Sans Italics"/>
              </a:rPr>
              <a:t>Etablissement d’enseignement supérieur privé</a:t>
            </a:r>
          </a:p>
        </p:txBody>
      </p:sp>
      <p:sp>
        <p:nvSpPr>
          <p:cNvPr id="9" name="TextBox 9"/>
          <p:cNvSpPr txBox="1"/>
          <p:nvPr/>
        </p:nvSpPr>
        <p:spPr>
          <a:xfrm>
            <a:off x="2148838" y="2480053"/>
            <a:ext cx="5211032" cy="2510142"/>
          </a:xfrm>
          <a:prstGeom prst="rect">
            <a:avLst/>
          </a:prstGeom>
        </p:spPr>
        <p:txBody>
          <a:bodyPr lIns="0" tIns="0" rIns="0" bIns="0" rtlCol="0" anchor="t">
            <a:spAutoFit/>
          </a:bodyPr>
          <a:lstStyle/>
          <a:p>
            <a:pPr algn="l">
              <a:lnSpc>
                <a:spcPts val="5640"/>
              </a:lnSpc>
            </a:pPr>
            <a:r>
              <a:rPr lang="en-US" sz="4800" b="1" i="1" spc="19">
                <a:solidFill>
                  <a:srgbClr val="1A1447"/>
                </a:solidFill>
                <a:latin typeface="IBM Plex Sans Bold Italics"/>
                <a:ea typeface="IBM Plex Sans Bold Italics"/>
                <a:cs typeface="IBM Plex Sans Bold Italics"/>
                <a:sym typeface="IBM Plex Sans Bold Italics"/>
              </a:rPr>
              <a:t>NOS FORMATIONS</a:t>
            </a:r>
          </a:p>
          <a:p>
            <a:pPr algn="l">
              <a:lnSpc>
                <a:spcPts val="5640"/>
              </a:lnSpc>
            </a:pPr>
            <a:r>
              <a:rPr lang="en-US" sz="4800" b="1" i="1" spc="19">
                <a:solidFill>
                  <a:srgbClr val="EA8C43"/>
                </a:solidFill>
                <a:latin typeface="IBM Plex Sans Bold Italics"/>
                <a:ea typeface="IBM Plex Sans Bold Italics"/>
                <a:cs typeface="IBM Plex Sans Bold Italics"/>
                <a:sym typeface="IBM Plex Sans Bold Italics"/>
              </a:rPr>
              <a:t>BACHELORS</a:t>
            </a:r>
          </a:p>
          <a:p>
            <a:pPr algn="r">
              <a:lnSpc>
                <a:spcPts val="3850"/>
              </a:lnSpc>
            </a:pPr>
            <a:r>
              <a:rPr lang="en-US" sz="1800" i="1" spc="7">
                <a:solidFill>
                  <a:srgbClr val="231F20"/>
                </a:solidFill>
                <a:latin typeface="IBM Plex Sans Italics"/>
                <a:ea typeface="IBM Plex Sans Italics"/>
                <a:cs typeface="IBM Plex Sans Italics"/>
                <a:sym typeface="IBM Plex Sans Italics"/>
              </a:rPr>
              <a:t>SPÉCIALISÉS (Spé.)</a:t>
            </a:r>
          </a:p>
        </p:txBody>
      </p:sp>
      <p:sp>
        <p:nvSpPr>
          <p:cNvPr id="10" name="TextBox 10"/>
          <p:cNvSpPr txBox="1"/>
          <p:nvPr/>
        </p:nvSpPr>
        <p:spPr>
          <a:xfrm>
            <a:off x="992305" y="8971559"/>
            <a:ext cx="2948007" cy="297180"/>
          </a:xfrm>
          <a:prstGeom prst="rect">
            <a:avLst/>
          </a:prstGeom>
        </p:spPr>
        <p:txBody>
          <a:bodyPr lIns="0" tIns="0" rIns="0" bIns="0" rtlCol="0" anchor="t">
            <a:spAutoFit/>
          </a:bodyPr>
          <a:lstStyle/>
          <a:p>
            <a:pPr algn="l">
              <a:lnSpc>
                <a:spcPts val="2520"/>
              </a:lnSpc>
            </a:pPr>
            <a:r>
              <a:rPr lang="en-US" sz="1800" b="1" i="1" spc="3">
                <a:solidFill>
                  <a:srgbClr val="EA8C39"/>
                </a:solidFill>
                <a:latin typeface="Open Sans Bold Italics"/>
                <a:ea typeface="Open Sans Bold Italics"/>
                <a:cs typeface="Open Sans Bold Italics"/>
                <a:sym typeface="Open Sans Bold Italics"/>
              </a:rPr>
              <a:t>ORGANISATION GÉNÉRALE</a:t>
            </a:r>
          </a:p>
        </p:txBody>
      </p:sp>
      <p:sp>
        <p:nvSpPr>
          <p:cNvPr id="11" name="TextBox 11"/>
          <p:cNvSpPr txBox="1"/>
          <p:nvPr/>
        </p:nvSpPr>
        <p:spPr>
          <a:xfrm>
            <a:off x="992305" y="7776801"/>
            <a:ext cx="3164262" cy="312382"/>
          </a:xfrm>
          <a:prstGeom prst="rect">
            <a:avLst/>
          </a:prstGeom>
        </p:spPr>
        <p:txBody>
          <a:bodyPr lIns="0" tIns="0" rIns="0" bIns="0" rtlCol="0" anchor="t">
            <a:spAutoFit/>
          </a:bodyPr>
          <a:lstStyle/>
          <a:p>
            <a:pPr algn="l">
              <a:lnSpc>
                <a:spcPts val="2520"/>
              </a:lnSpc>
            </a:pPr>
            <a:r>
              <a:rPr lang="en-US" sz="1800" b="1" i="1" spc="3">
                <a:solidFill>
                  <a:srgbClr val="EA8C39"/>
                </a:solidFill>
                <a:latin typeface="Open Sans Bold Italics"/>
                <a:ea typeface="Open Sans Bold Italics"/>
                <a:cs typeface="Open Sans Bold Italics"/>
                <a:sym typeface="Open Sans Bold Italics"/>
              </a:rPr>
              <a:t>CONDITIONS D’ADMISSIONS</a:t>
            </a:r>
          </a:p>
        </p:txBody>
      </p:sp>
      <p:sp>
        <p:nvSpPr>
          <p:cNvPr id="12" name="TextBox 12"/>
          <p:cNvSpPr txBox="1"/>
          <p:nvPr/>
        </p:nvSpPr>
        <p:spPr>
          <a:xfrm>
            <a:off x="992305" y="9425159"/>
            <a:ext cx="114300" cy="737845"/>
          </a:xfrm>
          <a:prstGeom prst="rect">
            <a:avLst/>
          </a:prstGeom>
        </p:spPr>
        <p:txBody>
          <a:bodyPr lIns="0" tIns="0" rIns="0" bIns="0" rtlCol="0" anchor="t">
            <a:spAutoFit/>
          </a:bodyPr>
          <a:lstStyle/>
          <a:p>
            <a:pPr algn="just">
              <a:lnSpc>
                <a:spcPts val="1439"/>
              </a:lnSpc>
            </a:pPr>
            <a:r>
              <a:rPr lang="en-US" sz="1200" i="1" spc="4">
                <a:solidFill>
                  <a:srgbClr val="231F20"/>
                </a:solidFill>
                <a:latin typeface="IBM Plex Sans Italics"/>
                <a:ea typeface="IBM Plex Sans Italics"/>
                <a:cs typeface="IBM Plex Sans Italics"/>
                <a:sym typeface="IBM Plex Sans Italics"/>
              </a:rPr>
              <a:t>• • • • </a:t>
            </a:r>
          </a:p>
        </p:txBody>
      </p:sp>
      <p:sp>
        <p:nvSpPr>
          <p:cNvPr id="13" name="TextBox 13"/>
          <p:cNvSpPr txBox="1"/>
          <p:nvPr/>
        </p:nvSpPr>
        <p:spPr>
          <a:xfrm>
            <a:off x="992305" y="8181889"/>
            <a:ext cx="2503303" cy="554965"/>
          </a:xfrm>
          <a:prstGeom prst="rect">
            <a:avLst/>
          </a:prstGeom>
        </p:spPr>
        <p:txBody>
          <a:bodyPr lIns="0" tIns="0" rIns="0" bIns="0" rtlCol="0" anchor="t">
            <a:spAutoFit/>
          </a:bodyPr>
          <a:lstStyle/>
          <a:p>
            <a:pPr algn="l">
              <a:lnSpc>
                <a:spcPts val="1439"/>
              </a:lnSpc>
            </a:pPr>
            <a:r>
              <a:rPr lang="en-US" sz="1200" i="1" spc="4">
                <a:solidFill>
                  <a:srgbClr val="231F20"/>
                </a:solidFill>
                <a:latin typeface="IBM Plex Sans Italics"/>
                <a:ea typeface="IBM Plex Sans Italics"/>
                <a:cs typeface="IBM Plex Sans Italics"/>
                <a:sym typeface="IBM Plex Sans Italics"/>
              </a:rPr>
              <a:t>BACHELOR 1</a:t>
            </a:r>
          </a:p>
          <a:p>
            <a:pPr algn="l">
              <a:lnSpc>
                <a:spcPts val="1439"/>
              </a:lnSpc>
            </a:pPr>
            <a:r>
              <a:rPr lang="en-US" sz="1200" i="1" spc="4">
                <a:solidFill>
                  <a:srgbClr val="231F20"/>
                </a:solidFill>
                <a:latin typeface="IBM Plex Sans Italics"/>
                <a:ea typeface="IBM Plex Sans Italics"/>
                <a:cs typeface="IBM Plex Sans Italics"/>
                <a:sym typeface="IBM Plex Sans Italics"/>
              </a:rPr>
              <a:t>• Bac français ou équivalent</a:t>
            </a:r>
          </a:p>
          <a:p>
            <a:pPr algn="l">
              <a:lnSpc>
                <a:spcPts val="1439"/>
              </a:lnSpc>
            </a:pPr>
            <a:r>
              <a:rPr lang="en-US" sz="1200" i="1" spc="4">
                <a:solidFill>
                  <a:srgbClr val="231F20"/>
                </a:solidFill>
                <a:latin typeface="IBM Plex Sans Italics"/>
                <a:ea typeface="IBM Plex Sans Italics"/>
                <a:cs typeface="IBM Plex Sans Italics"/>
                <a:sym typeface="IBM Plex Sans Italics"/>
              </a:rPr>
              <a:t>• Etudiants internationaux : TCF B2</a:t>
            </a:r>
          </a:p>
        </p:txBody>
      </p:sp>
      <p:sp>
        <p:nvSpPr>
          <p:cNvPr id="14" name="TextBox 14"/>
          <p:cNvSpPr txBox="1"/>
          <p:nvPr/>
        </p:nvSpPr>
        <p:spPr>
          <a:xfrm>
            <a:off x="1220905" y="9425159"/>
            <a:ext cx="5638743" cy="723900"/>
          </a:xfrm>
          <a:prstGeom prst="rect">
            <a:avLst/>
          </a:prstGeom>
        </p:spPr>
        <p:txBody>
          <a:bodyPr lIns="0" tIns="0" rIns="0" bIns="0" rtlCol="0" anchor="t">
            <a:spAutoFit/>
          </a:bodyPr>
          <a:lstStyle/>
          <a:p>
            <a:pPr algn="just">
              <a:lnSpc>
                <a:spcPts val="1439"/>
              </a:lnSpc>
            </a:pPr>
            <a:r>
              <a:rPr lang="en-US" sz="1200" i="1" spc="4">
                <a:solidFill>
                  <a:srgbClr val="231F20"/>
                </a:solidFill>
                <a:latin typeface="IBM Plex Sans Italics"/>
                <a:ea typeface="IBM Plex Sans Italics"/>
                <a:cs typeface="IBM Plex Sans Italics"/>
                <a:sym typeface="IBM Plex Sans Italics"/>
              </a:rPr>
              <a:t>Formation Initiale en présentiel et hybride (par visioconférence) </a:t>
            </a:r>
          </a:p>
          <a:p>
            <a:pPr algn="just">
              <a:lnSpc>
                <a:spcPts val="1439"/>
              </a:lnSpc>
            </a:pPr>
            <a:r>
              <a:rPr lang="en-US" sz="1200" i="1" spc="4">
                <a:solidFill>
                  <a:srgbClr val="231F20"/>
                </a:solidFill>
                <a:latin typeface="IBM Plex Sans Italics"/>
                <a:ea typeface="IBM Plex Sans Italics"/>
                <a:cs typeface="IBM Plex Sans Italics"/>
                <a:sym typeface="IBM Plex Sans Italics"/>
              </a:rPr>
              <a:t> Rythme de cours en demi-journées</a:t>
            </a:r>
          </a:p>
          <a:p>
            <a:pPr algn="l">
              <a:lnSpc>
                <a:spcPts val="1439"/>
              </a:lnSpc>
            </a:pPr>
            <a:r>
              <a:rPr lang="en-US" sz="1200" i="1" spc="4">
                <a:solidFill>
                  <a:srgbClr val="231F20"/>
                </a:solidFill>
                <a:latin typeface="IBM Plex Sans Italics"/>
                <a:ea typeface="IBM Plex Sans Italics"/>
                <a:cs typeface="IBM Plex Sans Italics"/>
                <a:sym typeface="IBM Plex Sans Italics"/>
              </a:rPr>
              <a:t>Stage optionnel en 1ère et 2 ème année (fortement conseillé)</a:t>
            </a:r>
          </a:p>
          <a:p>
            <a:pPr algn="l">
              <a:lnSpc>
                <a:spcPts val="1439"/>
              </a:lnSpc>
            </a:pPr>
            <a:r>
              <a:rPr lang="en-US" sz="1200" i="1" spc="4">
                <a:solidFill>
                  <a:srgbClr val="231F20"/>
                </a:solidFill>
                <a:latin typeface="IBM Plex Sans Italics"/>
                <a:ea typeface="IBM Plex Sans Italics"/>
                <a:cs typeface="IBM Plex Sans Italics"/>
                <a:sym typeface="IBM Plex Sans Italics"/>
              </a:rPr>
              <a:t>Stage obligatoire de 2 mois minimum en 3ème année</a:t>
            </a:r>
          </a:p>
        </p:txBody>
      </p:sp>
      <p:sp>
        <p:nvSpPr>
          <p:cNvPr id="15" name="TextBox 15"/>
          <p:cNvSpPr txBox="1"/>
          <p:nvPr/>
        </p:nvSpPr>
        <p:spPr>
          <a:xfrm>
            <a:off x="3779996" y="8181889"/>
            <a:ext cx="3255874" cy="542925"/>
          </a:xfrm>
          <a:prstGeom prst="rect">
            <a:avLst/>
          </a:prstGeom>
        </p:spPr>
        <p:txBody>
          <a:bodyPr lIns="0" tIns="0" rIns="0" bIns="0" rtlCol="0" anchor="t">
            <a:spAutoFit/>
          </a:bodyPr>
          <a:lstStyle/>
          <a:p>
            <a:pPr algn="l">
              <a:lnSpc>
                <a:spcPts val="1439"/>
              </a:lnSpc>
            </a:pPr>
            <a:r>
              <a:rPr lang="en-US" sz="1200" i="1" spc="4">
                <a:solidFill>
                  <a:srgbClr val="231F20"/>
                </a:solidFill>
                <a:latin typeface="IBM Plex Sans Italics"/>
                <a:ea typeface="IBM Plex Sans Italics"/>
                <a:cs typeface="IBM Plex Sans Italics"/>
                <a:sym typeface="IBM Plex Sans Italics"/>
              </a:rPr>
              <a:t>BACHELOR 2 ou 3</a:t>
            </a:r>
          </a:p>
          <a:p>
            <a:pPr algn="just">
              <a:lnSpc>
                <a:spcPts val="1439"/>
              </a:lnSpc>
            </a:pPr>
            <a:r>
              <a:rPr lang="en-US" sz="1200" i="1" spc="4">
                <a:solidFill>
                  <a:srgbClr val="231F20"/>
                </a:solidFill>
                <a:latin typeface="IBM Plex Sans Italics"/>
                <a:ea typeface="IBM Plex Sans Italics"/>
                <a:cs typeface="IBM Plex Sans Italics"/>
                <a:sym typeface="IBM Plex Sans Italics"/>
              </a:rPr>
              <a:t>• Bac +1/+2 en sciences humaines et sociales </a:t>
            </a:r>
          </a:p>
          <a:p>
            <a:pPr algn="just">
              <a:lnSpc>
                <a:spcPts val="1439"/>
              </a:lnSpc>
            </a:pPr>
            <a:r>
              <a:rPr lang="en-US" sz="1200" i="1" spc="4">
                <a:solidFill>
                  <a:srgbClr val="231F20"/>
                </a:solidFill>
                <a:latin typeface="IBM Plex Sans Italics"/>
                <a:ea typeface="IBM Plex Sans Italics"/>
                <a:cs typeface="IBM Plex Sans Italics"/>
                <a:sym typeface="IBM Plex Sans Italics"/>
              </a:rPr>
              <a:t>• Etudiants internationaux : TCF B2</a:t>
            </a:r>
          </a:p>
        </p:txBody>
      </p:sp>
      <p:sp>
        <p:nvSpPr>
          <p:cNvPr id="16" name="TextBox 99"/>
          <p:cNvSpPr txBox="1"/>
          <p:nvPr/>
        </p:nvSpPr>
        <p:spPr>
          <a:xfrm>
            <a:off x="6672167" y="9971913"/>
            <a:ext cx="248917" cy="240665"/>
          </a:xfrm>
          <a:prstGeom prst="rect">
            <a:avLst/>
          </a:prstGeom>
        </p:spPr>
        <p:txBody>
          <a:bodyPr lIns="0" tIns="0" rIns="0" bIns="0" rtlCol="0" anchor="t">
            <a:spAutoFit/>
          </a:bodyPr>
          <a:lstStyle/>
          <a:p>
            <a:pPr algn="l">
              <a:lnSpc>
                <a:spcPts val="1959"/>
              </a:lnSpc>
            </a:pPr>
            <a:r>
              <a:rPr lang="en-US" sz="1399" b="1" spc="8">
                <a:solidFill>
                  <a:srgbClr val="231F20"/>
                </a:solidFill>
                <a:latin typeface="IBM Plex Sans Bold"/>
                <a:ea typeface="IBM Plex Sans Bold"/>
                <a:cs typeface="IBM Plex Sans Bold"/>
                <a:sym typeface="IBM Plex Sans Bold"/>
              </a:rPr>
              <a:t>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1079383" y="4764424"/>
            <a:ext cx="762505" cy="679580"/>
            <a:chOff x="0" y="0"/>
            <a:chExt cx="762495" cy="679577"/>
          </a:xfrm>
        </p:grpSpPr>
        <p:sp>
          <p:nvSpPr>
            <p:cNvPr id="3" name="Freeform 3"/>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6985"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p:cNvSpPr/>
            <p:nvPr/>
          </p:nvSpPr>
          <p:spPr>
            <a:xfrm>
              <a:off x="260477" y="267970"/>
              <a:ext cx="120269" cy="140081"/>
            </a:xfrm>
            <a:custGeom>
              <a:avLst/>
              <a:gdLst/>
              <a:ahLst/>
              <a:cxnLst/>
              <a:rect l="l" t="t" r="r" b="b"/>
              <a:pathLst>
                <a:path w="120269"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071" y="0"/>
                  </a:cubicBezTo>
                  <a:lnTo>
                    <a:pt x="76581" y="1778"/>
                  </a:lnTo>
                  <a:cubicBezTo>
                    <a:pt x="91313" y="8890"/>
                    <a:pt x="97663" y="13716"/>
                    <a:pt x="103124" y="19939"/>
                  </a:cubicBezTo>
                  <a:lnTo>
                    <a:pt x="115697" y="42037"/>
                  </a:lnTo>
                  <a:cubicBezTo>
                    <a:pt x="118745" y="50546"/>
                    <a:pt x="120269" y="59944"/>
                    <a:pt x="120269" y="70104"/>
                  </a:cubicBezTo>
                  <a:moveTo>
                    <a:pt x="88773" y="70104"/>
                  </a:moveTo>
                  <a:lnTo>
                    <a:pt x="88011" y="58293"/>
                  </a:lnTo>
                  <a:cubicBezTo>
                    <a:pt x="85217" y="48006"/>
                    <a:pt x="83185" y="43561"/>
                    <a:pt x="80645" y="39878"/>
                  </a:cubicBezTo>
                  <a:lnTo>
                    <a:pt x="75057" y="33401"/>
                  </a:lnTo>
                  <a:lnTo>
                    <a:pt x="64262" y="28448"/>
                  </a:lnTo>
                  <a:cubicBezTo>
                    <a:pt x="55753" y="28448"/>
                    <a:pt x="51816" y="29464"/>
                    <a:pt x="48260" y="31496"/>
                  </a:cubicBezTo>
                  <a:lnTo>
                    <a:pt x="41783" y="36322"/>
                  </a:lnTo>
                  <a:cubicBezTo>
                    <a:pt x="36703" y="43688"/>
                    <a:pt x="34671" y="48133"/>
                    <a:pt x="33274" y="53340"/>
                  </a:cubicBezTo>
                  <a:lnTo>
                    <a:pt x="31115" y="64135"/>
                  </a:lnTo>
                  <a:cubicBezTo>
                    <a:pt x="31115" y="76454"/>
                    <a:pt x="31877" y="82042"/>
                    <a:pt x="33274" y="87122"/>
                  </a:cubicBezTo>
                  <a:lnTo>
                    <a:pt x="36703" y="96520"/>
                  </a:lnTo>
                  <a:cubicBezTo>
                    <a:pt x="41783" y="103886"/>
                    <a:pt x="44831" y="106807"/>
                    <a:pt x="48387" y="108712"/>
                  </a:cubicBezTo>
                  <a:lnTo>
                    <a:pt x="55753" y="111760"/>
                  </a:lnTo>
                  <a:lnTo>
                    <a:pt x="68199" y="110744"/>
                  </a:lnTo>
                  <a:cubicBezTo>
                    <a:pt x="75184" y="106680"/>
                    <a:pt x="78232" y="103886"/>
                    <a:pt x="80772" y="100203"/>
                  </a:cubicBezTo>
                  <a:lnTo>
                    <a:pt x="85344" y="92075"/>
                  </a:lnTo>
                  <a:cubicBezTo>
                    <a:pt x="88138" y="81915"/>
                    <a:pt x="88900" y="76327"/>
                    <a:pt x="88900" y="70104"/>
                  </a:cubicBezTo>
                </a:path>
              </a:pathLst>
            </a:custGeom>
            <a:solidFill>
              <a:srgbClr val="7DE314"/>
            </a:solidFill>
          </p:spPr>
          <p:txBody>
            <a:bodyPr/>
            <a:lstStyle/>
            <a:p>
              <a:endParaRPr lang="fr-FR"/>
            </a:p>
          </p:txBody>
        </p:sp>
        <p:sp>
          <p:nvSpPr>
            <p:cNvPr id="7" name="Freeform 7"/>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163" y="37719"/>
                    <a:pt x="31115" y="39751"/>
                  </a:cubicBezTo>
                  <a:lnTo>
                    <a:pt x="24765" y="43434"/>
                  </a:lnTo>
                  <a:lnTo>
                    <a:pt x="13970" y="48260"/>
                  </a:lnTo>
                  <a:cubicBezTo>
                    <a:pt x="6350" y="50419"/>
                    <a:pt x="3048"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p:cNvGrpSpPr>
            <a:grpSpLocks noChangeAspect="1"/>
          </p:cNvGrpSpPr>
          <p:nvPr/>
        </p:nvGrpSpPr>
        <p:grpSpPr>
          <a:xfrm>
            <a:off x="3338779" y="4757195"/>
            <a:ext cx="762505" cy="686800"/>
            <a:chOff x="0" y="0"/>
            <a:chExt cx="762495" cy="686803"/>
          </a:xfrm>
        </p:grpSpPr>
        <p:sp>
          <p:nvSpPr>
            <p:cNvPr id="9" name="Freeform 9"/>
            <p:cNvSpPr/>
            <p:nvPr/>
          </p:nvSpPr>
          <p:spPr>
            <a:xfrm>
              <a:off x="63500" y="63500"/>
              <a:ext cx="635508" cy="559689"/>
            </a:xfrm>
            <a:custGeom>
              <a:avLst/>
              <a:gdLst/>
              <a:ahLst/>
              <a:cxnLst/>
              <a:rect l="l" t="t" r="r" b="b"/>
              <a:pathLst>
                <a:path w="635508" h="559689">
                  <a:moveTo>
                    <a:pt x="631698" y="294132"/>
                  </a:moveTo>
                  <a:lnTo>
                    <a:pt x="487045" y="545465"/>
                  </a:lnTo>
                  <a:cubicBezTo>
                    <a:pt x="481965" y="554355"/>
                    <a:pt x="472567" y="559689"/>
                    <a:pt x="462407" y="559689"/>
                  </a:cubicBezTo>
                  <a:lnTo>
                    <a:pt x="173101" y="559689"/>
                  </a:lnTo>
                  <a:cubicBezTo>
                    <a:pt x="162941" y="559689"/>
                    <a:pt x="153543" y="554228"/>
                    <a:pt x="148463" y="545465"/>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p:cNvGrpSpPr>
            <a:grpSpLocks noChangeAspect="1"/>
          </p:cNvGrpSpPr>
          <p:nvPr/>
        </p:nvGrpSpPr>
        <p:grpSpPr>
          <a:xfrm>
            <a:off x="5424068" y="4749946"/>
            <a:ext cx="762505" cy="694058"/>
            <a:chOff x="0" y="0"/>
            <a:chExt cx="762495" cy="694055"/>
          </a:xfrm>
        </p:grpSpPr>
        <p:sp>
          <p:nvSpPr>
            <p:cNvPr id="15" name="Freeform 15"/>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6" name="Freeform 16"/>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7" name="Freeform 17"/>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18" name="Freeform 18"/>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19" name="Freeform 19"/>
            <p:cNvSpPr/>
            <p:nvPr/>
          </p:nvSpPr>
          <p:spPr>
            <a:xfrm>
              <a:off x="388493"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0" name="Group 20"/>
          <p:cNvGrpSpPr>
            <a:grpSpLocks noChangeAspect="1"/>
          </p:cNvGrpSpPr>
          <p:nvPr/>
        </p:nvGrpSpPr>
        <p:grpSpPr>
          <a:xfrm>
            <a:off x="0" y="2680973"/>
            <a:ext cx="7559993" cy="1642539"/>
            <a:chOff x="0" y="0"/>
            <a:chExt cx="7559992" cy="1642542"/>
          </a:xfrm>
        </p:grpSpPr>
        <p:sp>
          <p:nvSpPr>
            <p:cNvPr id="21" name="Freeform 21"/>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22" name="Group 22"/>
          <p:cNvGrpSpPr>
            <a:grpSpLocks noChangeAspect="1"/>
          </p:cNvGrpSpPr>
          <p:nvPr/>
        </p:nvGrpSpPr>
        <p:grpSpPr>
          <a:xfrm>
            <a:off x="756000" y="269119"/>
            <a:ext cx="6476448" cy="1983229"/>
            <a:chOff x="0" y="0"/>
            <a:chExt cx="6476454" cy="1983232"/>
          </a:xfrm>
        </p:grpSpPr>
        <p:sp>
          <p:nvSpPr>
            <p:cNvPr id="23" name="Freeform 23"/>
            <p:cNvSpPr/>
            <p:nvPr/>
          </p:nvSpPr>
          <p:spPr>
            <a:xfrm>
              <a:off x="63500" y="387477"/>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4" name="Freeform 24"/>
            <p:cNvSpPr/>
            <p:nvPr/>
          </p:nvSpPr>
          <p:spPr>
            <a:xfrm>
              <a:off x="582422" y="137871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5" name="Freeform 25"/>
            <p:cNvSpPr/>
            <p:nvPr/>
          </p:nvSpPr>
          <p:spPr>
            <a:xfrm>
              <a:off x="1836928" y="138899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6" name="Freeform 26"/>
            <p:cNvSpPr/>
            <p:nvPr/>
          </p:nvSpPr>
          <p:spPr>
            <a:xfrm>
              <a:off x="3118358" y="1374648"/>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7" name="Freeform 27"/>
            <p:cNvSpPr/>
            <p:nvPr/>
          </p:nvSpPr>
          <p:spPr>
            <a:xfrm>
              <a:off x="4558411" y="1370330"/>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8" name="Freeform 28"/>
            <p:cNvSpPr/>
            <p:nvPr/>
          </p:nvSpPr>
          <p:spPr>
            <a:xfrm>
              <a:off x="5732653" y="63500"/>
              <a:ext cx="680212" cy="646176"/>
            </a:xfrm>
            <a:custGeom>
              <a:avLst/>
              <a:gdLst/>
              <a:ahLst/>
              <a:cxnLst/>
              <a:rect l="l" t="t" r="r" b="b"/>
              <a:pathLst>
                <a:path w="680212" h="646176">
                  <a:moveTo>
                    <a:pt x="340106" y="646049"/>
                  </a:moveTo>
                  <a:cubicBezTo>
                    <a:pt x="527939" y="646049"/>
                    <a:pt x="680212" y="501396"/>
                    <a:pt x="680212" y="322961"/>
                  </a:cubicBezTo>
                  <a:cubicBezTo>
                    <a:pt x="680212" y="144526"/>
                    <a:pt x="528066" y="0"/>
                    <a:pt x="340106" y="0"/>
                  </a:cubicBezTo>
                  <a:cubicBezTo>
                    <a:pt x="152146"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9" name="Freeform 29"/>
            <p:cNvSpPr/>
            <p:nvPr/>
          </p:nvSpPr>
          <p:spPr>
            <a:xfrm>
              <a:off x="559435" y="186055"/>
              <a:ext cx="1947672" cy="416306"/>
            </a:xfrm>
            <a:custGeom>
              <a:avLst/>
              <a:gdLst/>
              <a:ahLst/>
              <a:cxnLst/>
              <a:rect l="l" t="t" r="r" b="b"/>
              <a:pathLst>
                <a:path w="1947672" h="416306">
                  <a:moveTo>
                    <a:pt x="0" y="416306"/>
                  </a:moveTo>
                  <a:lnTo>
                    <a:pt x="1947672" y="416306"/>
                  </a:lnTo>
                  <a:lnTo>
                    <a:pt x="1947672" y="0"/>
                  </a:lnTo>
                  <a:lnTo>
                    <a:pt x="0" y="0"/>
                  </a:lnTo>
                  <a:close/>
                </a:path>
              </a:pathLst>
            </a:custGeom>
            <a:solidFill>
              <a:srgbClr val="FFFFFF"/>
            </a:solidFill>
          </p:spPr>
          <p:txBody>
            <a:bodyPr/>
            <a:lstStyle/>
            <a:p>
              <a:endParaRPr lang="fr-FR"/>
            </a:p>
          </p:txBody>
        </p:sp>
      </p:grpSp>
      <p:sp>
        <p:nvSpPr>
          <p:cNvPr id="30" name="TextBox 99"/>
          <p:cNvSpPr txBox="1"/>
          <p:nvPr/>
        </p:nvSpPr>
        <p:spPr>
          <a:xfrm>
            <a:off x="6672167" y="9971913"/>
            <a:ext cx="248917" cy="240665"/>
          </a:xfrm>
          <a:prstGeom prst="rect">
            <a:avLst/>
          </a:prstGeom>
        </p:spPr>
        <p:txBody>
          <a:bodyPr lIns="0" tIns="0" rIns="0" bIns="0" rtlCol="0" anchor="t">
            <a:spAutoFit/>
          </a:bodyPr>
          <a:lstStyle/>
          <a:p>
            <a:pPr algn="l">
              <a:lnSpc>
                <a:spcPts val="1959"/>
              </a:lnSpc>
            </a:pPr>
            <a:r>
              <a:rPr lang="en-US" sz="1399" b="1" spc="8">
                <a:solidFill>
                  <a:srgbClr val="231F20"/>
                </a:solidFill>
                <a:latin typeface="IBM Plex Sans Bold"/>
                <a:ea typeface="IBM Plex Sans Bold"/>
                <a:cs typeface="IBM Plex Sans Bold"/>
                <a:sym typeface="IBM Plex Sans Bold"/>
              </a:rPr>
              <a:t>13</a:t>
            </a:r>
          </a:p>
        </p:txBody>
      </p:sp>
      <p:sp>
        <p:nvSpPr>
          <p:cNvPr id="31" name="TextBox 51"/>
          <p:cNvSpPr txBox="1"/>
          <p:nvPr/>
        </p:nvSpPr>
        <p:spPr>
          <a:xfrm>
            <a:off x="1474355" y="1529747"/>
            <a:ext cx="1066499" cy="202556"/>
          </a:xfrm>
          <a:prstGeom prst="rect">
            <a:avLst/>
          </a:prstGeom>
        </p:spPr>
        <p:txBody>
          <a:bodyPr wrap="square" lIns="0" tIns="0" rIns="0" bIns="0" rtlCol="0" anchor="t">
            <a:spAutoFit/>
          </a:bodyPr>
          <a:lstStyle/>
          <a:p>
            <a:pPr algn="just">
              <a:lnSpc>
                <a:spcPts val="1705"/>
              </a:lnSpc>
            </a:pPr>
            <a:r>
              <a:rPr lang="en-US" sz="1200" spc="4" dirty="0">
                <a:solidFill>
                  <a:srgbClr val="464395"/>
                </a:solidFill>
                <a:latin typeface="IBM Plex Sans"/>
                <a:ea typeface="IBM Plex Sans"/>
                <a:cs typeface="IBM Plex Sans"/>
                <a:sym typeface="IBM Plex Sans"/>
              </a:rPr>
              <a:t>2 INTAKES</a:t>
            </a:r>
            <a:endParaRPr lang="en-US" sz="1200" i="1" spc="4" dirty="0">
              <a:solidFill>
                <a:srgbClr val="231F20"/>
              </a:solidFill>
              <a:latin typeface="IBM Plex Sans Italics"/>
              <a:ea typeface="IBM Plex Sans Italics"/>
              <a:cs typeface="IBM Plex Sans Italics"/>
              <a:sym typeface="IBM Plex Sans Italics"/>
            </a:endParaRPr>
          </a:p>
        </p:txBody>
      </p:sp>
      <p:sp>
        <p:nvSpPr>
          <p:cNvPr id="32" name="TextBox 32"/>
          <p:cNvSpPr txBox="1"/>
          <p:nvPr/>
        </p:nvSpPr>
        <p:spPr>
          <a:xfrm>
            <a:off x="567738" y="6584175"/>
            <a:ext cx="1606115" cy="154466"/>
          </a:xfrm>
          <a:prstGeom prst="rect">
            <a:avLst/>
          </a:prstGeom>
        </p:spPr>
        <p:txBody>
          <a:bodyPr lIns="0" tIns="0" rIns="0" bIns="0" rtlCol="0" anchor="t">
            <a:spAutoFit/>
          </a:bodyPr>
          <a:lstStyle/>
          <a:p>
            <a:pPr>
              <a:lnSpc>
                <a:spcPts val="1200"/>
              </a:lnSpc>
            </a:pPr>
            <a:r>
              <a:rPr lang="en-US" sz="1200" i="1" spc="4" dirty="0">
                <a:solidFill>
                  <a:srgbClr val="1A1447"/>
                </a:solidFill>
                <a:latin typeface="IBM Plex Sans Italics"/>
                <a:ea typeface="IBM Plex Sans Italics"/>
                <a:cs typeface="IBM Plex Sans Italics"/>
                <a:sym typeface="IBM Plex Sans Italics"/>
              </a:rPr>
              <a:t>Enseignement1</a:t>
            </a:r>
          </a:p>
        </p:txBody>
      </p:sp>
      <p:sp>
        <p:nvSpPr>
          <p:cNvPr id="33" name="TextBox 33"/>
          <p:cNvSpPr txBox="1"/>
          <p:nvPr/>
        </p:nvSpPr>
        <p:spPr>
          <a:xfrm>
            <a:off x="618915" y="5447243"/>
            <a:ext cx="1789005"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PointFort1</a:t>
            </a:r>
          </a:p>
        </p:txBody>
      </p:sp>
      <p:sp>
        <p:nvSpPr>
          <p:cNvPr id="34" name="TextBox 52"/>
          <p:cNvSpPr txBox="1"/>
          <p:nvPr/>
        </p:nvSpPr>
        <p:spPr>
          <a:xfrm>
            <a:off x="2746506" y="1510697"/>
            <a:ext cx="838810" cy="221792"/>
          </a:xfrm>
          <a:prstGeom prst="rect">
            <a:avLst/>
          </a:prstGeom>
        </p:spPr>
        <p:txBody>
          <a:bodyPr lIns="0" tIns="0" rIns="0" bIns="0" rtlCol="0" anchor="t">
            <a:spAutoFit/>
          </a:bodyPr>
          <a:lstStyle/>
          <a:p>
            <a:pPr algn="just">
              <a:lnSpc>
                <a:spcPts val="1908"/>
              </a:lnSpc>
            </a:pPr>
            <a:r>
              <a:rPr lang="en-US" sz="1200" spc="4" dirty="0">
                <a:solidFill>
                  <a:srgbClr val="464395"/>
                </a:solidFill>
                <a:latin typeface="IBM Plex Sans"/>
                <a:ea typeface="IBM Plex Sans"/>
                <a:cs typeface="IBM Plex Sans"/>
                <a:sym typeface="IBM Plex Sans"/>
              </a:rPr>
              <a:t>LANGUAGE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5" name="TextBox 35"/>
          <p:cNvSpPr txBox="1"/>
          <p:nvPr/>
        </p:nvSpPr>
        <p:spPr>
          <a:xfrm>
            <a:off x="537734" y="9010415"/>
            <a:ext cx="3010814" cy="179536"/>
          </a:xfrm>
          <a:prstGeom prst="rect">
            <a:avLst/>
          </a:prstGeom>
        </p:spPr>
        <p:txBody>
          <a:bodyPr lIns="0" tIns="0" rIns="0" bIns="0" rtlCol="0" anchor="t">
            <a:spAutoFit/>
          </a:bodyPr>
          <a:lstStyle/>
          <a:p>
            <a:pPr algn="l">
              <a:lnSpc>
                <a:spcPts val="1439"/>
              </a:lnSpc>
            </a:pPr>
            <a:r>
              <a:rPr lang="en-US" sz="1200" i="1" spc="4" dirty="0" err="1">
                <a:solidFill>
                  <a:srgbClr val="1A1447"/>
                </a:solidFill>
                <a:latin typeface="IBM Plex Sans Italics"/>
                <a:ea typeface="IBM Plex Sans Italics"/>
                <a:cs typeface="IBM Plex Sans Italics"/>
                <a:sym typeface="IBM Plex Sans Italics"/>
              </a:rPr>
              <a:t>Metier</a:t>
            </a:r>
            <a:endParaRPr lang="en-US" sz="1200" i="1" spc="4" dirty="0">
              <a:solidFill>
                <a:srgbClr val="1A1447"/>
              </a:solidFill>
              <a:latin typeface="IBM Plex Sans Italics"/>
              <a:ea typeface="IBM Plex Sans Italics"/>
              <a:cs typeface="IBM Plex Sans Italics"/>
              <a:sym typeface="IBM Plex Sans Italics"/>
            </a:endParaRPr>
          </a:p>
        </p:txBody>
      </p:sp>
      <p:sp>
        <p:nvSpPr>
          <p:cNvPr id="36" name="TextBox 36"/>
          <p:cNvSpPr txBox="1"/>
          <p:nvPr/>
        </p:nvSpPr>
        <p:spPr>
          <a:xfrm>
            <a:off x="2754878" y="6599644"/>
            <a:ext cx="1543031"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4" dirty="0">
                <a:solidFill>
                  <a:srgbClr val="1A1447"/>
                </a:solidFill>
                <a:latin typeface="IBM Plex Sans Italics"/>
                <a:ea typeface="IBM Plex Sans Italics"/>
                <a:cs typeface="IBM Plex Sans Italics"/>
                <a:sym typeface="IBM Plex Sans Italics"/>
              </a:rPr>
              <a:t>Enseignement2</a:t>
            </a:r>
          </a:p>
        </p:txBody>
      </p:sp>
      <p:sp>
        <p:nvSpPr>
          <p:cNvPr id="37" name="TextBox 37"/>
          <p:cNvSpPr txBox="1"/>
          <p:nvPr/>
        </p:nvSpPr>
        <p:spPr>
          <a:xfrm>
            <a:off x="2932852" y="5447243"/>
            <a:ext cx="1520552"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PointFort2</a:t>
            </a:r>
          </a:p>
        </p:txBody>
      </p:sp>
      <p:sp>
        <p:nvSpPr>
          <p:cNvPr id="38" name="TextBox 53"/>
          <p:cNvSpPr txBox="1"/>
          <p:nvPr/>
        </p:nvSpPr>
        <p:spPr>
          <a:xfrm>
            <a:off x="4001006" y="1529747"/>
            <a:ext cx="1091866" cy="212174"/>
          </a:xfrm>
          <a:prstGeom prst="rect">
            <a:avLst/>
          </a:prstGeom>
        </p:spPr>
        <p:txBody>
          <a:bodyPr lIns="0" tIns="0" rIns="0" bIns="0" rtlCol="0" anchor="t">
            <a:spAutoFit/>
          </a:bodyPr>
          <a:lstStyle/>
          <a:p>
            <a:pPr algn="just">
              <a:lnSpc>
                <a:spcPts val="1796"/>
              </a:lnSpc>
            </a:pPr>
            <a:r>
              <a:rPr lang="en-US" sz="1200" spc="4" dirty="0">
                <a:solidFill>
                  <a:srgbClr val="464395"/>
                </a:solidFill>
                <a:latin typeface="IBM Plex Sans"/>
                <a:ea typeface="IBM Plex Sans"/>
                <a:cs typeface="IBM Plex Sans"/>
                <a:sym typeface="IBM Plex Sans"/>
              </a:rPr>
              <a:t>INTERNSHIP</a:t>
            </a:r>
          </a:p>
        </p:txBody>
      </p:sp>
      <p:sp>
        <p:nvSpPr>
          <p:cNvPr id="39" name="TextBox 39"/>
          <p:cNvSpPr txBox="1"/>
          <p:nvPr/>
        </p:nvSpPr>
        <p:spPr>
          <a:xfrm>
            <a:off x="5430213" y="1743483"/>
            <a:ext cx="1306830" cy="179536"/>
          </a:xfrm>
          <a:prstGeom prst="rect">
            <a:avLst/>
          </a:prstGeom>
        </p:spPr>
        <p:txBody>
          <a:bodyPr lIns="0" tIns="0" rIns="0" bIns="0" rtlCol="0" anchor="t">
            <a:spAutoFit/>
          </a:bodyPr>
          <a:lstStyle/>
          <a:p>
            <a:pPr>
              <a:lnSpc>
                <a:spcPts val="1439"/>
              </a:lnSpc>
            </a:pPr>
            <a:r>
              <a:rPr lang="en-US" sz="1200" i="1" spc="4" dirty="0">
                <a:solidFill>
                  <a:srgbClr val="231F20"/>
                </a:solidFill>
                <a:latin typeface="IBM Plex Sans Italics"/>
                <a:ea typeface="IBM Plex Sans Italics"/>
                <a:cs typeface="IBM Plex Sans Italics"/>
                <a:sym typeface="IBM Plex Sans Italics"/>
              </a:rPr>
              <a:t>Admission</a:t>
            </a:r>
          </a:p>
        </p:txBody>
      </p:sp>
      <p:sp>
        <p:nvSpPr>
          <p:cNvPr id="40" name="TextBox 40"/>
          <p:cNvSpPr txBox="1"/>
          <p:nvPr/>
        </p:nvSpPr>
        <p:spPr>
          <a:xfrm>
            <a:off x="5175047" y="5447243"/>
            <a:ext cx="1328147"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PointFort3</a:t>
            </a:r>
          </a:p>
        </p:txBody>
      </p:sp>
      <p:sp>
        <p:nvSpPr>
          <p:cNvPr id="41" name="TextBox 41"/>
          <p:cNvSpPr txBox="1"/>
          <p:nvPr/>
        </p:nvSpPr>
        <p:spPr>
          <a:xfrm>
            <a:off x="4989195" y="6599644"/>
            <a:ext cx="1699851"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4" dirty="0">
                <a:solidFill>
                  <a:srgbClr val="1A1447"/>
                </a:solidFill>
                <a:latin typeface="IBM Plex Sans Italics"/>
                <a:ea typeface="IBM Plex Sans Italics"/>
                <a:cs typeface="IBM Plex Sans Italics"/>
                <a:sym typeface="IBM Plex Sans Italics"/>
              </a:rPr>
              <a:t>Enseignement3</a:t>
            </a:r>
          </a:p>
        </p:txBody>
      </p:sp>
      <p:sp>
        <p:nvSpPr>
          <p:cNvPr id="42" name="TextBox 42"/>
          <p:cNvSpPr txBox="1"/>
          <p:nvPr/>
        </p:nvSpPr>
        <p:spPr>
          <a:xfrm>
            <a:off x="774204" y="2950440"/>
            <a:ext cx="6055900" cy="179536"/>
          </a:xfrm>
          <a:prstGeom prst="rect">
            <a:avLst/>
          </a:prstGeom>
        </p:spPr>
        <p:txBody>
          <a:bodyPr lIns="0" tIns="0" rIns="0" bIns="0" rtlCol="0" anchor="t">
            <a:spAutoFit/>
          </a:bodyPr>
          <a:lstStyle/>
          <a:p>
            <a:pPr algn="just">
              <a:lnSpc>
                <a:spcPts val="1439"/>
              </a:lnSpc>
            </a:pPr>
            <a:r>
              <a:rPr lang="en-US" sz="1200" spc="7" dirty="0">
                <a:solidFill>
                  <a:srgbClr val="FFFFFF"/>
                </a:solidFill>
                <a:latin typeface="IBM Plex Sans"/>
                <a:ea typeface="IBM Plex Sans"/>
                <a:cs typeface="IBM Plex Sans"/>
                <a:sym typeface="IBM Plex Sans"/>
              </a:rPr>
              <a:t>Description</a:t>
            </a:r>
            <a:endParaRPr lang="en-US" sz="1200" spc="4" dirty="0">
              <a:solidFill>
                <a:srgbClr val="FFFFFF"/>
              </a:solidFill>
              <a:latin typeface="IBM Plex Sans"/>
              <a:ea typeface="IBM Plex Sans"/>
              <a:cs typeface="IBM Plex Sans"/>
              <a:sym typeface="IBM Plex Sans"/>
            </a:endParaRPr>
          </a:p>
        </p:txBody>
      </p:sp>
      <p:sp>
        <p:nvSpPr>
          <p:cNvPr id="43" name="TextBox 43"/>
          <p:cNvSpPr txBox="1"/>
          <p:nvPr/>
        </p:nvSpPr>
        <p:spPr>
          <a:xfrm>
            <a:off x="6595587" y="404108"/>
            <a:ext cx="525475" cy="397269"/>
          </a:xfrm>
          <a:prstGeom prst="rect">
            <a:avLst/>
          </a:prstGeom>
        </p:spPr>
        <p:txBody>
          <a:bodyPr lIns="0" tIns="0" rIns="0" bIns="0" rtlCol="0" anchor="t">
            <a:spAutoFit/>
          </a:bodyPr>
          <a:lstStyle/>
          <a:p>
            <a:pPr algn="ctr">
              <a:lnSpc>
                <a:spcPts val="1660"/>
              </a:lnSpc>
            </a:pPr>
            <a:r>
              <a:rPr lang="en-US" sz="1399" b="1" spc="8" dirty="0">
                <a:solidFill>
                  <a:srgbClr val="FFFFFF"/>
                </a:solidFill>
                <a:latin typeface="IBM Plex Sans Bold"/>
                <a:ea typeface="IBM Plex Sans Bold"/>
                <a:cs typeface="IBM Plex Sans Bold"/>
                <a:sym typeface="IBM Plex Sans Bold"/>
              </a:rPr>
              <a:t>3 </a:t>
            </a:r>
          </a:p>
          <a:p>
            <a:pPr algn="l">
              <a:lnSpc>
                <a:spcPts val="1423"/>
              </a:lnSpc>
            </a:pPr>
            <a:r>
              <a:rPr lang="en-US" sz="1200" b="1" spc="7" dirty="0">
                <a:solidFill>
                  <a:srgbClr val="FFFFFF"/>
                </a:solidFill>
                <a:latin typeface="IBM Plex Sans Bold"/>
                <a:ea typeface="IBM Plex Sans Bold"/>
                <a:cs typeface="IBM Plex Sans Bold"/>
                <a:sym typeface="IBM Plex Sans Bold"/>
              </a:rPr>
              <a:t>YEARS</a:t>
            </a:r>
          </a:p>
        </p:txBody>
      </p:sp>
      <p:sp>
        <p:nvSpPr>
          <p:cNvPr id="44" name="TextBox 44"/>
          <p:cNvSpPr txBox="1"/>
          <p:nvPr/>
        </p:nvSpPr>
        <p:spPr>
          <a:xfrm>
            <a:off x="2597896" y="10378411"/>
            <a:ext cx="2515629" cy="151428"/>
          </a:xfrm>
          <a:prstGeom prst="rect">
            <a:avLst/>
          </a:prstGeom>
        </p:spPr>
        <p:txBody>
          <a:bodyPr lIns="0" tIns="0" rIns="0" bIns="0" rtlCol="0" anchor="t">
            <a:spAutoFit/>
          </a:bodyPr>
          <a:lstStyle/>
          <a:p>
            <a:pPr algn="l">
              <a:lnSpc>
                <a:spcPts val="1260"/>
              </a:lnSpc>
            </a:pPr>
            <a:r>
              <a:rPr lang="en-US" sz="900" i="1" spc="25">
                <a:solidFill>
                  <a:srgbClr val="939496"/>
                </a:solidFill>
                <a:latin typeface="IBM Plex Sans Italics"/>
                <a:ea typeface="IBM Plex Sans Italics"/>
                <a:cs typeface="IBM Plex Sans Italics"/>
                <a:sym typeface="IBM Plex Sans Italics"/>
              </a:rPr>
              <a:t>Etablissement d’enseignement supérieur privé</a:t>
            </a:r>
          </a:p>
        </p:txBody>
      </p:sp>
      <p:sp>
        <p:nvSpPr>
          <p:cNvPr id="45" name="TextBox 45"/>
          <p:cNvSpPr txBox="1"/>
          <p:nvPr/>
        </p:nvSpPr>
        <p:spPr>
          <a:xfrm>
            <a:off x="537734" y="8547291"/>
            <a:ext cx="354531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OCCUPATIONS</a:t>
            </a:r>
          </a:p>
        </p:txBody>
      </p:sp>
      <p:sp>
        <p:nvSpPr>
          <p:cNvPr id="46" name="TextBox 46"/>
          <p:cNvSpPr txBox="1"/>
          <p:nvPr/>
        </p:nvSpPr>
        <p:spPr>
          <a:xfrm>
            <a:off x="537734" y="6063605"/>
            <a:ext cx="3915670"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TEACHING UNITS</a:t>
            </a:r>
          </a:p>
        </p:txBody>
      </p:sp>
      <p:sp>
        <p:nvSpPr>
          <p:cNvPr id="47" name="TextBox 47"/>
          <p:cNvSpPr txBox="1"/>
          <p:nvPr/>
        </p:nvSpPr>
        <p:spPr>
          <a:xfrm>
            <a:off x="537734" y="4387205"/>
            <a:ext cx="423111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TOP3 - KEY POINTS</a:t>
            </a:r>
          </a:p>
        </p:txBody>
      </p:sp>
      <p:sp>
        <p:nvSpPr>
          <p:cNvPr id="48" name="TextBox 48"/>
          <p:cNvSpPr txBox="1"/>
          <p:nvPr/>
        </p:nvSpPr>
        <p:spPr>
          <a:xfrm>
            <a:off x="1465355" y="960787"/>
            <a:ext cx="5130232" cy="270202"/>
          </a:xfrm>
          <a:prstGeom prst="rect">
            <a:avLst/>
          </a:prstGeom>
        </p:spPr>
        <p:txBody>
          <a:bodyPr wrap="square" lIns="0" tIns="0" rIns="0" bIns="0" rtlCol="0" anchor="t">
            <a:spAutoFit/>
          </a:bodyPr>
          <a:lstStyle/>
          <a:p>
            <a:pPr algn="just">
              <a:lnSpc>
                <a:spcPts val="2160"/>
              </a:lnSpc>
            </a:pPr>
            <a:r>
              <a:rPr lang="en-US" sz="1800" b="1" spc="7" dirty="0">
                <a:solidFill>
                  <a:srgbClr val="1A1447"/>
                </a:solidFill>
                <a:latin typeface="IBM Plex Sans Bold"/>
                <a:ea typeface="IBM Plex Sans Bold"/>
                <a:cs typeface="IBM Plex Sans Bold"/>
                <a:sym typeface="IBM Plex Sans Bold"/>
              </a:rPr>
              <a:t>Nom</a:t>
            </a:r>
          </a:p>
        </p:txBody>
      </p:sp>
      <p:sp>
        <p:nvSpPr>
          <p:cNvPr id="49" name="TextBox 49"/>
          <p:cNvSpPr txBox="1"/>
          <p:nvPr/>
        </p:nvSpPr>
        <p:spPr>
          <a:xfrm>
            <a:off x="5455302" y="1547187"/>
            <a:ext cx="783022" cy="192491"/>
          </a:xfrm>
          <a:prstGeom prst="rect">
            <a:avLst/>
          </a:prstGeom>
        </p:spPr>
        <p:txBody>
          <a:bodyPr lIns="0" tIns="0" rIns="0" bIns="0" rtlCol="0" anchor="t">
            <a:spAutoFit/>
          </a:bodyPr>
          <a:lstStyle/>
          <a:p>
            <a:pPr algn="l">
              <a:lnSpc>
                <a:spcPts val="1539"/>
              </a:lnSpc>
            </a:pPr>
            <a:r>
              <a:rPr lang="en-US" sz="1100" spc="4" dirty="0">
                <a:solidFill>
                  <a:srgbClr val="464395"/>
                </a:solidFill>
                <a:latin typeface="IBM Plex Sans"/>
                <a:ea typeface="IBM Plex Sans"/>
                <a:cs typeface="IBM Plex Sans"/>
                <a:sym typeface="IBM Plex Sans"/>
              </a:rPr>
              <a:t>ADMISSION</a:t>
            </a:r>
          </a:p>
        </p:txBody>
      </p:sp>
      <p:sp>
        <p:nvSpPr>
          <p:cNvPr id="50" name="TextBox 50"/>
          <p:cNvSpPr txBox="1"/>
          <p:nvPr/>
        </p:nvSpPr>
        <p:spPr>
          <a:xfrm>
            <a:off x="1465355" y="468535"/>
            <a:ext cx="1795272" cy="405111"/>
          </a:xfrm>
          <a:prstGeom prst="rect">
            <a:avLst/>
          </a:prstGeom>
        </p:spPr>
        <p:txBody>
          <a:bodyPr lIns="0" tIns="0" rIns="0" bIns="0" rtlCol="0" anchor="t">
            <a:spAutoFit/>
          </a:bodyPr>
          <a:lstStyle/>
          <a:p>
            <a:pPr algn="l">
              <a:lnSpc>
                <a:spcPts val="3359"/>
              </a:lnSpc>
            </a:pPr>
            <a:r>
              <a:rPr lang="en-US" sz="2400" b="1" spc="14" dirty="0">
                <a:solidFill>
                  <a:srgbClr val="231F20"/>
                </a:solidFill>
                <a:latin typeface="IBM Plex Sans Bold"/>
                <a:ea typeface="IBM Plex Sans Bold"/>
                <a:cs typeface="IBM Plex Sans Bold"/>
                <a:sym typeface="IBM Plex Sans Bold"/>
              </a:rPr>
              <a:t>TYPE</a:t>
            </a:r>
          </a:p>
        </p:txBody>
      </p:sp>
      <p:sp>
        <p:nvSpPr>
          <p:cNvPr id="52" name="TextBox 31">
            <a:extLst>
              <a:ext uri="{FF2B5EF4-FFF2-40B4-BE49-F238E27FC236}">
                <a16:creationId xmlns:a16="http://schemas.microsoft.com/office/drawing/2014/main" id="{73338D7F-8308-E7F2-0829-44BBD7B44255}"/>
              </a:ext>
            </a:extLst>
          </p:cNvPr>
          <p:cNvSpPr txBox="1"/>
          <p:nvPr/>
        </p:nvSpPr>
        <p:spPr>
          <a:xfrm>
            <a:off x="1474356" y="1720247"/>
            <a:ext cx="780016" cy="202556"/>
          </a:xfrm>
          <a:prstGeom prst="rect">
            <a:avLst/>
          </a:prstGeom>
        </p:spPr>
        <p:txBody>
          <a:bodyPr lIns="0" tIns="0" rIns="0" bIns="0" rtlCol="0" anchor="t">
            <a:spAutoFit/>
          </a:bodyPr>
          <a:lstStyle/>
          <a:p>
            <a:pPr>
              <a:lnSpc>
                <a:spcPts val="1705"/>
              </a:lnSpc>
            </a:pPr>
            <a:r>
              <a:rPr lang="en-US" sz="1200" i="1" spc="4" dirty="0">
                <a:solidFill>
                  <a:srgbClr val="231F20"/>
                </a:solidFill>
                <a:latin typeface="IBM Plex Sans Italics"/>
                <a:ea typeface="IBM Plex Sans Italics"/>
                <a:cs typeface="IBM Plex Sans Italics"/>
                <a:sym typeface="IBM Plex Sans Italics"/>
              </a:rPr>
              <a:t>Fall</a:t>
            </a:r>
          </a:p>
        </p:txBody>
      </p:sp>
      <p:sp>
        <p:nvSpPr>
          <p:cNvPr id="51" name="TextBox 34">
            <a:extLst>
              <a:ext uri="{FF2B5EF4-FFF2-40B4-BE49-F238E27FC236}">
                <a16:creationId xmlns:a16="http://schemas.microsoft.com/office/drawing/2014/main" id="{3F76F06D-7C5A-115E-C327-BCA4898F60E6}"/>
              </a:ext>
            </a:extLst>
          </p:cNvPr>
          <p:cNvSpPr txBox="1"/>
          <p:nvPr/>
        </p:nvSpPr>
        <p:spPr>
          <a:xfrm>
            <a:off x="2749061" y="1716228"/>
            <a:ext cx="838811" cy="221792"/>
          </a:xfrm>
          <a:prstGeom prst="rect">
            <a:avLst/>
          </a:prstGeom>
        </p:spPr>
        <p:txBody>
          <a:bodyPr lIns="0" tIns="0" rIns="0" bIns="0" rtlCol="0" anchor="t">
            <a:spAutoFit/>
          </a:bodyPr>
          <a:lstStyle/>
          <a:p>
            <a:pPr>
              <a:lnSpc>
                <a:spcPts val="1908"/>
              </a:lnSpc>
            </a:pPr>
            <a:r>
              <a:rPr lang="en-US" sz="1200" i="1" spc="4" dirty="0" err="1">
                <a:solidFill>
                  <a:srgbClr val="231F20"/>
                </a:solidFill>
                <a:latin typeface="IBM Plex Sans Italics"/>
                <a:ea typeface="IBM Plex Sans Italics"/>
                <a:cs typeface="IBM Plex Sans Italics"/>
                <a:sym typeface="IBM Plex Sans Italics"/>
              </a:rPr>
              <a:t>Langues</a:t>
            </a:r>
            <a:r>
              <a:rPr lang="en-US" sz="1200" i="1" spc="4" dirty="0">
                <a:solidFill>
                  <a:srgbClr val="231F20"/>
                </a:solidFill>
                <a:latin typeface="IBM Plex Sans Italics"/>
                <a:ea typeface="IBM Plex Sans Italics"/>
                <a:cs typeface="IBM Plex Sans Italics"/>
                <a:sym typeface="IBM Plex Sans Italics"/>
              </a:rPr>
              <a:t> </a:t>
            </a:r>
          </a:p>
        </p:txBody>
      </p:sp>
      <p:sp>
        <p:nvSpPr>
          <p:cNvPr id="54" name="TextBox 38">
            <a:extLst>
              <a:ext uri="{FF2B5EF4-FFF2-40B4-BE49-F238E27FC236}">
                <a16:creationId xmlns:a16="http://schemas.microsoft.com/office/drawing/2014/main" id="{F4D71D31-FE13-729F-DD0F-F89716948679}"/>
              </a:ext>
            </a:extLst>
          </p:cNvPr>
          <p:cNvSpPr txBox="1"/>
          <p:nvPr/>
        </p:nvSpPr>
        <p:spPr>
          <a:xfrm>
            <a:off x="3996412" y="1738606"/>
            <a:ext cx="899438" cy="420564"/>
          </a:xfrm>
          <a:prstGeom prst="rect">
            <a:avLst/>
          </a:prstGeom>
        </p:spPr>
        <p:txBody>
          <a:bodyPr wrap="square" lIns="0" tIns="0" rIns="0" bIns="0" rtlCol="0" anchor="t">
            <a:spAutoFit/>
          </a:bodyPr>
          <a:lstStyle/>
          <a:p>
            <a:pPr>
              <a:lnSpc>
                <a:spcPts val="1705"/>
              </a:lnSpc>
            </a:pPr>
            <a:r>
              <a:rPr lang="en-US" sz="1200" i="1" spc="4" dirty="0">
                <a:solidFill>
                  <a:srgbClr val="231F20"/>
                </a:solidFill>
                <a:latin typeface="IBM Plex Sans Italics"/>
                <a:ea typeface="IBM Plex Sans Italics"/>
                <a:cs typeface="IBM Plex Sans Italics"/>
                <a:sym typeface="IBM Plex Sans Italics"/>
              </a:rPr>
              <a:t>Stage</a:t>
            </a:r>
          </a:p>
          <a:p>
            <a:pPr algn="just">
              <a:lnSpc>
                <a:spcPts val="1705"/>
              </a:lnSpc>
            </a:pPr>
            <a:endParaRPr lang="en-US" sz="1200" i="1" spc="4" dirty="0">
              <a:solidFill>
                <a:srgbClr val="231F20"/>
              </a:solidFill>
              <a:latin typeface="IBM Plex Sans Italics"/>
              <a:ea typeface="IBM Plex Sans Italics"/>
              <a:cs typeface="IBM Plex Sans Italics"/>
              <a:sym typeface="IBM Plex Sans Itali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7559993" cy="10692003"/>
          </a:xfrm>
          <a:custGeom>
            <a:avLst/>
            <a:gdLst/>
            <a:ahLst/>
            <a:cxnLst/>
            <a:rect l="l" t="t" r="r" b="b"/>
            <a:pathLst>
              <a:path w="7559993" h="10692003">
                <a:moveTo>
                  <a:pt x="0" y="0"/>
                </a:moveTo>
                <a:lnTo>
                  <a:pt x="7559993" y="0"/>
                </a:lnTo>
                <a:lnTo>
                  <a:pt x="7559993" y="10692003"/>
                </a:lnTo>
                <a:lnTo>
                  <a:pt x="0" y="10692003"/>
                </a:lnTo>
                <a:lnTo>
                  <a:pt x="0" y="0"/>
                </a:lnTo>
                <a:close/>
              </a:path>
            </a:pathLst>
          </a:custGeom>
          <a:blipFill>
            <a:blip r:embed="rId2"/>
            <a:stretch>
              <a:fillRect l="-188" t="-129" r="-171" b="-126"/>
            </a:stretch>
          </a:blipFill>
        </p:spPr>
        <p:txBody>
          <a:bodyPr/>
          <a:lstStyle/>
          <a:p>
            <a:endParaRPr lang="fr-FR"/>
          </a:p>
        </p:txBody>
      </p:sp>
      <p:grpSp>
        <p:nvGrpSpPr>
          <p:cNvPr id="3" name="Group 3"/>
          <p:cNvGrpSpPr>
            <a:grpSpLocks noChangeAspect="1"/>
          </p:cNvGrpSpPr>
          <p:nvPr/>
        </p:nvGrpSpPr>
        <p:grpSpPr>
          <a:xfrm>
            <a:off x="393697" y="2120684"/>
            <a:ext cx="4110304" cy="2514800"/>
            <a:chOff x="0" y="0"/>
            <a:chExt cx="4110304" cy="2514803"/>
          </a:xfrm>
        </p:grpSpPr>
        <p:sp>
          <p:nvSpPr>
            <p:cNvPr id="4" name="Freeform 4"/>
            <p:cNvSpPr/>
            <p:nvPr/>
          </p:nvSpPr>
          <p:spPr>
            <a:xfrm>
              <a:off x="63500" y="63500"/>
              <a:ext cx="3983355" cy="2387854"/>
            </a:xfrm>
            <a:custGeom>
              <a:avLst/>
              <a:gdLst/>
              <a:ahLst/>
              <a:cxnLst/>
              <a:rect l="l" t="t" r="r" b="b"/>
              <a:pathLst>
                <a:path w="3983355" h="2387854">
                  <a:moveTo>
                    <a:pt x="0" y="2387854"/>
                  </a:moveTo>
                  <a:lnTo>
                    <a:pt x="3983355" y="2387854"/>
                  </a:lnTo>
                  <a:lnTo>
                    <a:pt x="3983355" y="0"/>
                  </a:lnTo>
                  <a:lnTo>
                    <a:pt x="0" y="0"/>
                  </a:lnTo>
                  <a:close/>
                </a:path>
              </a:pathLst>
            </a:custGeom>
            <a:solidFill>
              <a:srgbClr val="1A1447"/>
            </a:solidFill>
          </p:spPr>
          <p:txBody>
            <a:bodyPr/>
            <a:lstStyle/>
            <a:p>
              <a:endParaRPr lang="fr-FR"/>
            </a:p>
          </p:txBody>
        </p:sp>
        <p:sp>
          <p:nvSpPr>
            <p:cNvPr id="5" name="Freeform 5"/>
            <p:cNvSpPr/>
            <p:nvPr/>
          </p:nvSpPr>
          <p:spPr>
            <a:xfrm>
              <a:off x="416306" y="2114804"/>
              <a:ext cx="998982" cy="63500"/>
            </a:xfrm>
            <a:custGeom>
              <a:avLst/>
              <a:gdLst/>
              <a:ahLst/>
              <a:cxnLst/>
              <a:rect l="l" t="t" r="r" b="b"/>
              <a:pathLst>
                <a:path w="998982" h="63500">
                  <a:moveTo>
                    <a:pt x="0" y="0"/>
                  </a:moveTo>
                  <a:lnTo>
                    <a:pt x="998982" y="0"/>
                  </a:lnTo>
                  <a:lnTo>
                    <a:pt x="998982" y="63500"/>
                  </a:lnTo>
                  <a:lnTo>
                    <a:pt x="0" y="63500"/>
                  </a:lnTo>
                  <a:close/>
                </a:path>
              </a:pathLst>
            </a:custGeom>
            <a:solidFill>
              <a:srgbClr val="EA8C4C"/>
            </a:solidFill>
          </p:spPr>
          <p:txBody>
            <a:bodyPr/>
            <a:lstStyle/>
            <a:p>
              <a:endParaRPr lang="fr-FR"/>
            </a:p>
          </p:txBody>
        </p:sp>
      </p:grpSp>
      <p:sp>
        <p:nvSpPr>
          <p:cNvPr id="6" name="TextBox 6"/>
          <p:cNvSpPr txBox="1"/>
          <p:nvPr/>
        </p:nvSpPr>
        <p:spPr>
          <a:xfrm>
            <a:off x="835093" y="2512114"/>
            <a:ext cx="2685310" cy="1344105"/>
          </a:xfrm>
          <a:prstGeom prst="rect">
            <a:avLst/>
          </a:prstGeom>
        </p:spPr>
        <p:txBody>
          <a:bodyPr lIns="0" tIns="0" rIns="0" bIns="0" rtlCol="0" anchor="t">
            <a:spAutoFit/>
          </a:bodyPr>
          <a:lstStyle/>
          <a:p>
            <a:pPr marL="0" lvl="0" indent="0" algn="ctr">
              <a:lnSpc>
                <a:spcPts val="5286"/>
              </a:lnSpc>
              <a:spcBef>
                <a:spcPct val="0"/>
              </a:spcBef>
            </a:pPr>
            <a:r>
              <a:rPr lang="en-US" sz="4850" b="1" u="none" strike="noStrike">
                <a:solidFill>
                  <a:srgbClr val="EA8C43"/>
                </a:solidFill>
                <a:latin typeface="IBM Plex Sans Bold"/>
                <a:ea typeface="IBM Plex Sans Bold"/>
                <a:cs typeface="IBM Plex Sans Bold"/>
                <a:sym typeface="IBM Plex Sans Bold"/>
              </a:rPr>
              <a:t>BAC +4 BAC +5</a:t>
            </a:r>
          </a:p>
        </p:txBody>
      </p:sp>
      <p:grpSp>
        <p:nvGrpSpPr>
          <p:cNvPr id="7" name="Group 7"/>
          <p:cNvGrpSpPr/>
          <p:nvPr/>
        </p:nvGrpSpPr>
        <p:grpSpPr>
          <a:xfrm rot="-5400000">
            <a:off x="3306312" y="6411535"/>
            <a:ext cx="947376" cy="7973798"/>
            <a:chOff x="0" y="0"/>
            <a:chExt cx="339518" cy="2857629"/>
          </a:xfrm>
        </p:grpSpPr>
        <p:sp>
          <p:nvSpPr>
            <p:cNvPr id="8" name="Freeform 8"/>
            <p:cNvSpPr/>
            <p:nvPr/>
          </p:nvSpPr>
          <p:spPr>
            <a:xfrm>
              <a:off x="0" y="0"/>
              <a:ext cx="339518" cy="2857629"/>
            </a:xfrm>
            <a:custGeom>
              <a:avLst/>
              <a:gdLst/>
              <a:ahLst/>
              <a:cxnLst/>
              <a:rect l="l" t="t" r="r" b="b"/>
              <a:pathLst>
                <a:path w="339518" h="2857629">
                  <a:moveTo>
                    <a:pt x="0" y="0"/>
                  </a:moveTo>
                  <a:lnTo>
                    <a:pt x="339518" y="0"/>
                  </a:lnTo>
                  <a:lnTo>
                    <a:pt x="339518" y="2857629"/>
                  </a:lnTo>
                  <a:lnTo>
                    <a:pt x="0" y="2857629"/>
                  </a:lnTo>
                  <a:close/>
                </a:path>
              </a:pathLst>
            </a:custGeom>
            <a:solidFill>
              <a:srgbClr val="1A1447"/>
            </a:solidFill>
          </p:spPr>
          <p:txBody>
            <a:bodyPr/>
            <a:lstStyle/>
            <a:p>
              <a:endParaRPr lang="fr-FR"/>
            </a:p>
          </p:txBody>
        </p:sp>
        <p:sp>
          <p:nvSpPr>
            <p:cNvPr id="9" name="TextBox 9"/>
            <p:cNvSpPr txBox="1"/>
            <p:nvPr/>
          </p:nvSpPr>
          <p:spPr>
            <a:xfrm>
              <a:off x="0" y="-28575"/>
              <a:ext cx="339518" cy="2886204"/>
            </a:xfrm>
            <a:prstGeom prst="rect">
              <a:avLst/>
            </a:prstGeom>
          </p:spPr>
          <p:txBody>
            <a:bodyPr lIns="50800" tIns="50800" rIns="50800" bIns="50800" rtlCol="0" anchor="ctr"/>
            <a:lstStyle/>
            <a:p>
              <a:pPr algn="ctr">
                <a:lnSpc>
                  <a:spcPts val="1960"/>
                </a:lnSpc>
              </a:pPr>
              <a:endParaRPr/>
            </a:p>
          </p:txBody>
        </p:sp>
      </p:grpSp>
      <p:sp>
        <p:nvSpPr>
          <p:cNvPr id="10" name="TextBox 10"/>
          <p:cNvSpPr txBox="1"/>
          <p:nvPr/>
        </p:nvSpPr>
        <p:spPr>
          <a:xfrm>
            <a:off x="2522201" y="10362000"/>
            <a:ext cx="2515629" cy="151428"/>
          </a:xfrm>
          <a:prstGeom prst="rect">
            <a:avLst/>
          </a:prstGeom>
        </p:spPr>
        <p:txBody>
          <a:bodyPr lIns="0" tIns="0" rIns="0" bIns="0" rtlCol="0" anchor="t">
            <a:spAutoFit/>
          </a:bodyPr>
          <a:lstStyle/>
          <a:p>
            <a:pPr algn="l">
              <a:lnSpc>
                <a:spcPts val="1260"/>
              </a:lnSpc>
            </a:pPr>
            <a:r>
              <a:rPr lang="en-US" sz="900" i="1" spc="25">
                <a:solidFill>
                  <a:srgbClr val="FFFFFF"/>
                </a:solidFill>
                <a:latin typeface="IBM Plex Sans Italics"/>
                <a:ea typeface="IBM Plex Sans Italics"/>
                <a:cs typeface="IBM Plex Sans Italics"/>
                <a:sym typeface="IBM Plex Sans Italics"/>
              </a:rPr>
              <a:t>Etablissement d’enseignement supérieur privé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883101" y="2022319"/>
            <a:ext cx="6020438" cy="1963512"/>
            <a:chOff x="0" y="0"/>
            <a:chExt cx="6020435" cy="1963509"/>
          </a:xfrm>
        </p:grpSpPr>
        <p:sp>
          <p:nvSpPr>
            <p:cNvPr id="3" name="Freeform 3"/>
            <p:cNvSpPr/>
            <p:nvPr/>
          </p:nvSpPr>
          <p:spPr>
            <a:xfrm>
              <a:off x="63500" y="1874647"/>
              <a:ext cx="2032762" cy="25400"/>
            </a:xfrm>
            <a:custGeom>
              <a:avLst/>
              <a:gdLst/>
              <a:ahLst/>
              <a:cxnLst/>
              <a:rect l="l" t="t" r="r" b="b"/>
              <a:pathLst>
                <a:path w="2032762" h="25400">
                  <a:moveTo>
                    <a:pt x="2032762" y="25400"/>
                  </a:moveTo>
                  <a:lnTo>
                    <a:pt x="0" y="25400"/>
                  </a:lnTo>
                  <a:lnTo>
                    <a:pt x="0" y="0"/>
                  </a:lnTo>
                  <a:lnTo>
                    <a:pt x="2032762" y="0"/>
                  </a:lnTo>
                  <a:close/>
                </a:path>
              </a:pathLst>
            </a:custGeom>
            <a:solidFill>
              <a:srgbClr val="EA8C39"/>
            </a:solidFill>
          </p:spPr>
          <p:txBody>
            <a:bodyPr/>
            <a:lstStyle/>
            <a:p>
              <a:endParaRPr lang="fr-FR"/>
            </a:p>
          </p:txBody>
        </p:sp>
        <p:sp>
          <p:nvSpPr>
            <p:cNvPr id="4" name="Freeform 4"/>
            <p:cNvSpPr/>
            <p:nvPr/>
          </p:nvSpPr>
          <p:spPr>
            <a:xfrm>
              <a:off x="63500" y="88900"/>
              <a:ext cx="25400" cy="1811147"/>
            </a:xfrm>
            <a:custGeom>
              <a:avLst/>
              <a:gdLst/>
              <a:ahLst/>
              <a:cxnLst/>
              <a:rect l="l" t="t" r="r" b="b"/>
              <a:pathLst>
                <a:path w="25400" h="1811147">
                  <a:moveTo>
                    <a:pt x="0" y="1811147"/>
                  </a:moveTo>
                  <a:lnTo>
                    <a:pt x="0" y="0"/>
                  </a:lnTo>
                  <a:lnTo>
                    <a:pt x="25400" y="0"/>
                  </a:lnTo>
                  <a:lnTo>
                    <a:pt x="25400" y="1811147"/>
                  </a:lnTo>
                  <a:close/>
                </a:path>
              </a:pathLst>
            </a:custGeom>
            <a:solidFill>
              <a:srgbClr val="EA8C39"/>
            </a:solidFill>
          </p:spPr>
          <p:txBody>
            <a:bodyPr/>
            <a:lstStyle/>
            <a:p>
              <a:endParaRPr lang="fr-FR"/>
            </a:p>
          </p:txBody>
        </p:sp>
        <p:sp>
          <p:nvSpPr>
            <p:cNvPr id="5" name="Freeform 5"/>
            <p:cNvSpPr/>
            <p:nvPr/>
          </p:nvSpPr>
          <p:spPr>
            <a:xfrm>
              <a:off x="63500" y="63500"/>
              <a:ext cx="5893435" cy="25400"/>
            </a:xfrm>
            <a:custGeom>
              <a:avLst/>
              <a:gdLst/>
              <a:ahLst/>
              <a:cxnLst/>
              <a:rect l="l" t="t" r="r" b="b"/>
              <a:pathLst>
                <a:path w="5893435" h="25400">
                  <a:moveTo>
                    <a:pt x="0" y="0"/>
                  </a:moveTo>
                  <a:lnTo>
                    <a:pt x="5893435" y="0"/>
                  </a:lnTo>
                  <a:lnTo>
                    <a:pt x="5893435" y="25400"/>
                  </a:lnTo>
                  <a:lnTo>
                    <a:pt x="0" y="25400"/>
                  </a:lnTo>
                  <a:close/>
                </a:path>
              </a:pathLst>
            </a:custGeom>
            <a:solidFill>
              <a:srgbClr val="EA8C39"/>
            </a:solidFill>
          </p:spPr>
          <p:txBody>
            <a:bodyPr/>
            <a:lstStyle/>
            <a:p>
              <a:endParaRPr lang="fr-FR"/>
            </a:p>
          </p:txBody>
        </p:sp>
        <p:sp>
          <p:nvSpPr>
            <p:cNvPr id="6" name="Freeform 6"/>
            <p:cNvSpPr/>
            <p:nvPr/>
          </p:nvSpPr>
          <p:spPr>
            <a:xfrm>
              <a:off x="5931535" y="63500"/>
              <a:ext cx="25400" cy="1811147"/>
            </a:xfrm>
            <a:custGeom>
              <a:avLst/>
              <a:gdLst/>
              <a:ahLst/>
              <a:cxnLst/>
              <a:rect l="l" t="t" r="r" b="b"/>
              <a:pathLst>
                <a:path w="25400" h="1811147">
                  <a:moveTo>
                    <a:pt x="25400" y="0"/>
                  </a:moveTo>
                  <a:lnTo>
                    <a:pt x="25400" y="1811147"/>
                  </a:lnTo>
                  <a:lnTo>
                    <a:pt x="0" y="1811147"/>
                  </a:lnTo>
                  <a:lnTo>
                    <a:pt x="0" y="0"/>
                  </a:lnTo>
                  <a:close/>
                </a:path>
              </a:pathLst>
            </a:custGeom>
            <a:solidFill>
              <a:srgbClr val="EA8C39"/>
            </a:solidFill>
          </p:spPr>
          <p:txBody>
            <a:bodyPr/>
            <a:lstStyle/>
            <a:p>
              <a:endParaRPr lang="fr-FR"/>
            </a:p>
          </p:txBody>
        </p:sp>
        <p:sp>
          <p:nvSpPr>
            <p:cNvPr id="7" name="Freeform 7"/>
            <p:cNvSpPr/>
            <p:nvPr/>
          </p:nvSpPr>
          <p:spPr>
            <a:xfrm>
              <a:off x="5461889" y="1849247"/>
              <a:ext cx="482346" cy="25400"/>
            </a:xfrm>
            <a:custGeom>
              <a:avLst/>
              <a:gdLst/>
              <a:ahLst/>
              <a:cxnLst/>
              <a:rect l="l" t="t" r="r" b="b"/>
              <a:pathLst>
                <a:path w="482346" h="25400">
                  <a:moveTo>
                    <a:pt x="482346" y="25400"/>
                  </a:moveTo>
                  <a:lnTo>
                    <a:pt x="0" y="25400"/>
                  </a:lnTo>
                  <a:lnTo>
                    <a:pt x="0" y="0"/>
                  </a:lnTo>
                  <a:lnTo>
                    <a:pt x="482346" y="0"/>
                  </a:lnTo>
                  <a:close/>
                </a:path>
              </a:pathLst>
            </a:custGeom>
            <a:solidFill>
              <a:srgbClr val="EA8C39"/>
            </a:solidFill>
          </p:spPr>
          <p:txBody>
            <a:bodyPr/>
            <a:lstStyle/>
            <a:p>
              <a:endParaRPr lang="fr-FR"/>
            </a:p>
          </p:txBody>
        </p:sp>
      </p:grpSp>
      <p:sp>
        <p:nvSpPr>
          <p:cNvPr id="8" name="TextBox 8"/>
          <p:cNvSpPr txBox="1"/>
          <p:nvPr/>
        </p:nvSpPr>
        <p:spPr>
          <a:xfrm>
            <a:off x="2864577" y="10378411"/>
            <a:ext cx="2515629" cy="151428"/>
          </a:xfrm>
          <a:prstGeom prst="rect">
            <a:avLst/>
          </a:prstGeom>
        </p:spPr>
        <p:txBody>
          <a:bodyPr lIns="0" tIns="0" rIns="0" bIns="0" rtlCol="0" anchor="t">
            <a:spAutoFit/>
          </a:bodyPr>
          <a:lstStyle/>
          <a:p>
            <a:pPr algn="l">
              <a:lnSpc>
                <a:spcPts val="1260"/>
              </a:lnSpc>
            </a:pPr>
            <a:r>
              <a:rPr lang="en-US" sz="900" i="1" spc="25">
                <a:solidFill>
                  <a:srgbClr val="939496"/>
                </a:solidFill>
                <a:latin typeface="IBM Plex Sans Italics"/>
                <a:ea typeface="IBM Plex Sans Italics"/>
                <a:cs typeface="IBM Plex Sans Italics"/>
                <a:sym typeface="IBM Plex Sans Italics"/>
              </a:rPr>
              <a:t>Etablissement d’enseignement supérieur privé</a:t>
            </a:r>
          </a:p>
        </p:txBody>
      </p:sp>
      <p:sp>
        <p:nvSpPr>
          <p:cNvPr id="9" name="TextBox 9"/>
          <p:cNvSpPr txBox="1"/>
          <p:nvPr/>
        </p:nvSpPr>
        <p:spPr>
          <a:xfrm>
            <a:off x="1539383" y="2235156"/>
            <a:ext cx="4734697" cy="2144592"/>
          </a:xfrm>
          <a:prstGeom prst="rect">
            <a:avLst/>
          </a:prstGeom>
        </p:spPr>
        <p:txBody>
          <a:bodyPr lIns="0" tIns="0" rIns="0" bIns="0" rtlCol="0" anchor="t">
            <a:spAutoFit/>
          </a:bodyPr>
          <a:lstStyle/>
          <a:p>
            <a:pPr algn="l">
              <a:lnSpc>
                <a:spcPts val="5515"/>
              </a:lnSpc>
            </a:pPr>
            <a:r>
              <a:rPr lang="en-US" sz="4800" b="1" i="1" spc="19">
                <a:solidFill>
                  <a:srgbClr val="1A1447"/>
                </a:solidFill>
                <a:latin typeface="IBM Plex Sans Bold Italics"/>
                <a:ea typeface="IBM Plex Sans Bold Italics"/>
                <a:cs typeface="IBM Plex Sans Bold Italics"/>
                <a:sym typeface="IBM Plex Sans Bold Italics"/>
              </a:rPr>
              <a:t>NOS FORMATIONS</a:t>
            </a:r>
          </a:p>
          <a:p>
            <a:pPr algn="r">
              <a:lnSpc>
                <a:spcPts val="5515"/>
              </a:lnSpc>
            </a:pPr>
            <a:r>
              <a:rPr lang="en-US" sz="4800" b="1" i="1" spc="19">
                <a:solidFill>
                  <a:srgbClr val="EA8C43"/>
                </a:solidFill>
                <a:latin typeface="IBM Plex Sans Bold Italics"/>
                <a:ea typeface="IBM Plex Sans Bold Italics"/>
                <a:cs typeface="IBM Plex Sans Bold Italics"/>
                <a:sym typeface="IBM Plex Sans Bold Italics"/>
              </a:rPr>
              <a:t>MASTERES</a:t>
            </a:r>
          </a:p>
        </p:txBody>
      </p:sp>
      <p:sp>
        <p:nvSpPr>
          <p:cNvPr id="10" name="TextBox 10"/>
          <p:cNvSpPr txBox="1"/>
          <p:nvPr/>
        </p:nvSpPr>
        <p:spPr>
          <a:xfrm>
            <a:off x="921353" y="9011231"/>
            <a:ext cx="2948007" cy="306705"/>
          </a:xfrm>
          <a:prstGeom prst="rect">
            <a:avLst/>
          </a:prstGeom>
        </p:spPr>
        <p:txBody>
          <a:bodyPr lIns="0" tIns="0" rIns="0" bIns="0" rtlCol="0" anchor="t">
            <a:spAutoFit/>
          </a:bodyPr>
          <a:lstStyle/>
          <a:p>
            <a:pPr algn="l">
              <a:lnSpc>
                <a:spcPts val="2520"/>
              </a:lnSpc>
            </a:pPr>
            <a:r>
              <a:rPr lang="en-US" sz="1800" b="1" i="1">
                <a:solidFill>
                  <a:srgbClr val="EA8C39"/>
                </a:solidFill>
                <a:latin typeface="IBM Plex Sans Bold Italics"/>
                <a:ea typeface="IBM Plex Sans Bold Italics"/>
                <a:cs typeface="IBM Plex Sans Bold Italics"/>
                <a:sym typeface="IBM Plex Sans Bold Italics"/>
              </a:rPr>
              <a:t>ORGANISATION GÉNÉRALE</a:t>
            </a:r>
          </a:p>
        </p:txBody>
      </p:sp>
      <p:sp>
        <p:nvSpPr>
          <p:cNvPr id="11" name="TextBox 11"/>
          <p:cNvSpPr txBox="1"/>
          <p:nvPr/>
        </p:nvSpPr>
        <p:spPr>
          <a:xfrm>
            <a:off x="921353" y="7767276"/>
            <a:ext cx="3164262" cy="321907"/>
          </a:xfrm>
          <a:prstGeom prst="rect">
            <a:avLst/>
          </a:prstGeom>
        </p:spPr>
        <p:txBody>
          <a:bodyPr lIns="0" tIns="0" rIns="0" bIns="0" rtlCol="0" anchor="t">
            <a:spAutoFit/>
          </a:bodyPr>
          <a:lstStyle/>
          <a:p>
            <a:pPr algn="l">
              <a:lnSpc>
                <a:spcPts val="2520"/>
              </a:lnSpc>
            </a:pPr>
            <a:r>
              <a:rPr lang="en-US" sz="1800" b="1" i="1">
                <a:solidFill>
                  <a:srgbClr val="EA8C39"/>
                </a:solidFill>
                <a:latin typeface="IBM Plex Sans Bold Italics"/>
                <a:ea typeface="IBM Plex Sans Bold Italics"/>
                <a:cs typeface="IBM Plex Sans Bold Italics"/>
                <a:sym typeface="IBM Plex Sans Bold Italics"/>
              </a:rPr>
              <a:t>CONDITIONS D’ADMISSIONS</a:t>
            </a:r>
          </a:p>
        </p:txBody>
      </p:sp>
      <p:sp>
        <p:nvSpPr>
          <p:cNvPr id="12" name="TextBox 12"/>
          <p:cNvSpPr txBox="1"/>
          <p:nvPr/>
        </p:nvSpPr>
        <p:spPr>
          <a:xfrm>
            <a:off x="4846930" y="4221413"/>
            <a:ext cx="2048754" cy="299056"/>
          </a:xfrm>
          <a:prstGeom prst="rect">
            <a:avLst/>
          </a:prstGeom>
        </p:spPr>
        <p:txBody>
          <a:bodyPr wrap="square" lIns="0" tIns="0" rIns="0" bIns="0" rtlCol="0" anchor="t">
            <a:spAutoFit/>
          </a:bodyPr>
          <a:lstStyle/>
          <a:p>
            <a:pPr algn="l">
              <a:lnSpc>
                <a:spcPts val="2520"/>
              </a:lnSpc>
            </a:pPr>
            <a:r>
              <a:rPr lang="en-US" sz="1800" i="1" spc="7" dirty="0">
                <a:solidFill>
                  <a:srgbClr val="231F20"/>
                </a:solidFill>
                <a:latin typeface="IBM Plex Sans Italics"/>
                <a:ea typeface="IBM Plex Sans Italics"/>
                <a:cs typeface="IBM Plex Sans Italics"/>
                <a:sym typeface="IBM Plex Sans Italics"/>
              </a:rPr>
              <a:t>SPÉCIALISÉS (</a:t>
            </a:r>
            <a:r>
              <a:rPr lang="en-US" sz="1800" i="1" spc="7" dirty="0" err="1">
                <a:solidFill>
                  <a:srgbClr val="231F20"/>
                </a:solidFill>
                <a:latin typeface="IBM Plex Sans Italics"/>
                <a:ea typeface="IBM Plex Sans Italics"/>
                <a:cs typeface="IBM Plex Sans Italics"/>
                <a:sym typeface="IBM Plex Sans Italics"/>
              </a:rPr>
              <a:t>Spé</a:t>
            </a:r>
            <a:r>
              <a:rPr lang="en-US" sz="1800" i="1" spc="7" dirty="0">
                <a:solidFill>
                  <a:srgbClr val="231F20"/>
                </a:solidFill>
                <a:latin typeface="IBM Plex Sans Italics"/>
                <a:ea typeface="IBM Plex Sans Italics"/>
                <a:cs typeface="IBM Plex Sans Italics"/>
                <a:sym typeface="IBM Plex Sans Italics"/>
              </a:rPr>
              <a:t>.)</a:t>
            </a:r>
          </a:p>
        </p:txBody>
      </p:sp>
      <p:sp>
        <p:nvSpPr>
          <p:cNvPr id="13" name="TextBox 13"/>
          <p:cNvSpPr txBox="1"/>
          <p:nvPr/>
        </p:nvSpPr>
        <p:spPr>
          <a:xfrm>
            <a:off x="921353" y="9474356"/>
            <a:ext cx="114300" cy="737845"/>
          </a:xfrm>
          <a:prstGeom prst="rect">
            <a:avLst/>
          </a:prstGeom>
        </p:spPr>
        <p:txBody>
          <a:bodyPr lIns="0" tIns="0" rIns="0" bIns="0" rtlCol="0" anchor="t">
            <a:spAutoFit/>
          </a:bodyPr>
          <a:lstStyle/>
          <a:p>
            <a:pPr algn="just">
              <a:lnSpc>
                <a:spcPts val="1439"/>
              </a:lnSpc>
            </a:pPr>
            <a:r>
              <a:rPr lang="en-US" sz="1200" i="1" spc="4">
                <a:solidFill>
                  <a:srgbClr val="231F20"/>
                </a:solidFill>
                <a:latin typeface="IBM Plex Sans Italics"/>
                <a:ea typeface="IBM Plex Sans Italics"/>
                <a:cs typeface="IBM Plex Sans Italics"/>
                <a:sym typeface="IBM Plex Sans Italics"/>
              </a:rPr>
              <a:t>• • • • </a:t>
            </a:r>
          </a:p>
        </p:txBody>
      </p:sp>
      <p:sp>
        <p:nvSpPr>
          <p:cNvPr id="14" name="TextBox 14"/>
          <p:cNvSpPr txBox="1"/>
          <p:nvPr/>
        </p:nvSpPr>
        <p:spPr>
          <a:xfrm>
            <a:off x="921353" y="8181889"/>
            <a:ext cx="2503303" cy="554965"/>
          </a:xfrm>
          <a:prstGeom prst="rect">
            <a:avLst/>
          </a:prstGeom>
        </p:spPr>
        <p:txBody>
          <a:bodyPr lIns="0" tIns="0" rIns="0" bIns="0" rtlCol="0" anchor="t">
            <a:spAutoFit/>
          </a:bodyPr>
          <a:lstStyle/>
          <a:p>
            <a:pPr algn="l">
              <a:lnSpc>
                <a:spcPts val="1439"/>
              </a:lnSpc>
            </a:pPr>
            <a:r>
              <a:rPr lang="en-US" sz="1200" i="1" spc="4">
                <a:solidFill>
                  <a:srgbClr val="231F20"/>
                </a:solidFill>
                <a:latin typeface="IBM Plex Sans Italics"/>
                <a:ea typeface="IBM Plex Sans Italics"/>
                <a:cs typeface="IBM Plex Sans Italics"/>
                <a:sym typeface="IBM Plex Sans Italics"/>
              </a:rPr>
              <a:t>M1</a:t>
            </a:r>
          </a:p>
          <a:p>
            <a:pPr algn="l">
              <a:lnSpc>
                <a:spcPts val="1439"/>
              </a:lnSpc>
            </a:pPr>
            <a:r>
              <a:rPr lang="en-US" sz="1200" i="1" spc="4">
                <a:solidFill>
                  <a:srgbClr val="231F20"/>
                </a:solidFill>
                <a:latin typeface="IBM Plex Sans Italics"/>
                <a:ea typeface="IBM Plex Sans Italics"/>
                <a:cs typeface="IBM Plex Sans Italics"/>
                <a:sym typeface="IBM Plex Sans Italics"/>
              </a:rPr>
              <a:t>• Bac+3 validé </a:t>
            </a:r>
          </a:p>
          <a:p>
            <a:pPr algn="l">
              <a:lnSpc>
                <a:spcPts val="1439"/>
              </a:lnSpc>
            </a:pPr>
            <a:r>
              <a:rPr lang="en-US" sz="1200" i="1" spc="4">
                <a:solidFill>
                  <a:srgbClr val="231F20"/>
                </a:solidFill>
                <a:latin typeface="IBM Plex Sans Italics"/>
                <a:ea typeface="IBM Plex Sans Italics"/>
                <a:cs typeface="IBM Plex Sans Italics"/>
                <a:sym typeface="IBM Plex Sans Italics"/>
              </a:rPr>
              <a:t>• Etudiants internationaux : TCF B2</a:t>
            </a:r>
          </a:p>
        </p:txBody>
      </p:sp>
      <p:sp>
        <p:nvSpPr>
          <p:cNvPr id="15" name="TextBox 15"/>
          <p:cNvSpPr txBox="1"/>
          <p:nvPr/>
        </p:nvSpPr>
        <p:spPr>
          <a:xfrm>
            <a:off x="1149953" y="9474356"/>
            <a:ext cx="5638733" cy="737845"/>
          </a:xfrm>
          <a:prstGeom prst="rect">
            <a:avLst/>
          </a:prstGeom>
        </p:spPr>
        <p:txBody>
          <a:bodyPr lIns="0" tIns="0" rIns="0" bIns="0" rtlCol="0" anchor="t">
            <a:spAutoFit/>
          </a:bodyPr>
          <a:lstStyle/>
          <a:p>
            <a:pPr algn="just">
              <a:lnSpc>
                <a:spcPts val="1439"/>
              </a:lnSpc>
            </a:pPr>
            <a:r>
              <a:rPr lang="en-US" sz="1200" i="1" spc="4">
                <a:solidFill>
                  <a:srgbClr val="231F20"/>
                </a:solidFill>
                <a:latin typeface="IBM Plex Sans Italics"/>
                <a:ea typeface="IBM Plex Sans Italics"/>
                <a:cs typeface="IBM Plex Sans Italics"/>
                <a:sym typeface="IBM Plex Sans Italics"/>
              </a:rPr>
              <a:t>Formation Initiale en présentiel et hybride (présence possible par visioconférence) Rythme de cours en demi-journées </a:t>
            </a:r>
          </a:p>
          <a:p>
            <a:pPr algn="l">
              <a:lnSpc>
                <a:spcPts val="1439"/>
              </a:lnSpc>
            </a:pPr>
            <a:r>
              <a:rPr lang="en-US" sz="1200" i="1" spc="4">
                <a:solidFill>
                  <a:srgbClr val="231F20"/>
                </a:solidFill>
                <a:latin typeface="IBM Plex Sans Italics"/>
                <a:ea typeface="IBM Plex Sans Italics"/>
                <a:cs typeface="IBM Plex Sans Italics"/>
                <a:sym typeface="IBM Plex Sans Italics"/>
              </a:rPr>
              <a:t>Stage optionnel 1ère année - obligatoire en option rncp</a:t>
            </a:r>
          </a:p>
          <a:p>
            <a:pPr algn="l">
              <a:lnSpc>
                <a:spcPts val="1439"/>
              </a:lnSpc>
            </a:pPr>
            <a:r>
              <a:rPr lang="en-US" sz="1200" i="1" spc="4">
                <a:solidFill>
                  <a:srgbClr val="231F20"/>
                </a:solidFill>
                <a:latin typeface="IBM Plex Sans Italics"/>
                <a:ea typeface="IBM Plex Sans Italics"/>
                <a:cs typeface="IBM Plex Sans Italics"/>
                <a:sym typeface="IBM Plex Sans Italics"/>
              </a:rPr>
              <a:t>Stage obligatoire de 4 mois minimum en 2ème année</a:t>
            </a:r>
          </a:p>
        </p:txBody>
      </p:sp>
      <p:sp>
        <p:nvSpPr>
          <p:cNvPr id="16" name="TextBox 16"/>
          <p:cNvSpPr txBox="1"/>
          <p:nvPr/>
        </p:nvSpPr>
        <p:spPr>
          <a:xfrm>
            <a:off x="3779996" y="8181889"/>
            <a:ext cx="3421380" cy="542925"/>
          </a:xfrm>
          <a:prstGeom prst="rect">
            <a:avLst/>
          </a:prstGeom>
        </p:spPr>
        <p:txBody>
          <a:bodyPr lIns="0" tIns="0" rIns="0" bIns="0" rtlCol="0" anchor="t">
            <a:spAutoFit/>
          </a:bodyPr>
          <a:lstStyle/>
          <a:p>
            <a:pPr algn="l">
              <a:lnSpc>
                <a:spcPts val="1439"/>
              </a:lnSpc>
            </a:pPr>
            <a:r>
              <a:rPr lang="en-US" sz="1200" i="1" spc="4">
                <a:solidFill>
                  <a:srgbClr val="231F20"/>
                </a:solidFill>
                <a:latin typeface="IBM Plex Sans Italics"/>
                <a:ea typeface="IBM Plex Sans Italics"/>
                <a:cs typeface="IBM Plex Sans Italics"/>
                <a:sym typeface="IBM Plex Sans Italics"/>
              </a:rPr>
              <a:t>M2</a:t>
            </a:r>
          </a:p>
          <a:p>
            <a:pPr algn="just">
              <a:lnSpc>
                <a:spcPts val="1439"/>
              </a:lnSpc>
            </a:pPr>
            <a:r>
              <a:rPr lang="en-US" sz="1200" i="1" spc="4">
                <a:solidFill>
                  <a:srgbClr val="231F20"/>
                </a:solidFill>
                <a:latin typeface="IBM Plex Sans Italics"/>
                <a:ea typeface="IBM Plex Sans Italics"/>
                <a:cs typeface="IBM Plex Sans Italics"/>
                <a:sym typeface="IBM Plex Sans Italics"/>
              </a:rPr>
              <a:t>• Bac+4 validé en sciences humaines et sociales</a:t>
            </a:r>
          </a:p>
          <a:p>
            <a:pPr algn="just">
              <a:lnSpc>
                <a:spcPts val="1439"/>
              </a:lnSpc>
            </a:pPr>
            <a:r>
              <a:rPr lang="en-US" sz="1200" i="1" spc="4">
                <a:solidFill>
                  <a:srgbClr val="231F20"/>
                </a:solidFill>
                <a:latin typeface="IBM Plex Sans Italics"/>
                <a:ea typeface="IBM Plex Sans Italics"/>
                <a:cs typeface="IBM Plex Sans Italics"/>
                <a:sym typeface="IBM Plex Sans Italics"/>
              </a:rPr>
              <a:t>• Etudiants internationaux : TCF B2</a:t>
            </a:r>
          </a:p>
        </p:txBody>
      </p:sp>
      <p:sp>
        <p:nvSpPr>
          <p:cNvPr id="17" name="TextBox 99"/>
          <p:cNvSpPr txBox="1"/>
          <p:nvPr/>
        </p:nvSpPr>
        <p:spPr>
          <a:xfrm>
            <a:off x="6672167" y="9971913"/>
            <a:ext cx="248917" cy="240665"/>
          </a:xfrm>
          <a:prstGeom prst="rect">
            <a:avLst/>
          </a:prstGeom>
        </p:spPr>
        <p:txBody>
          <a:bodyPr lIns="0" tIns="0" rIns="0" bIns="0" rtlCol="0" anchor="t">
            <a:spAutoFit/>
          </a:bodyPr>
          <a:lstStyle/>
          <a:p>
            <a:pPr algn="l">
              <a:lnSpc>
                <a:spcPts val="1959"/>
              </a:lnSpc>
            </a:pPr>
            <a:r>
              <a:rPr lang="en-US" sz="1399" b="1" spc="8" dirty="0">
                <a:solidFill>
                  <a:srgbClr val="231F20"/>
                </a:solidFill>
                <a:latin typeface="IBM Plex Sans Bold"/>
                <a:ea typeface="IBM Plex Sans Bold"/>
                <a:cs typeface="IBM Plex Sans Bold"/>
                <a:sym typeface="IBM Plex Sans Bold"/>
              </a:rPr>
              <a:t>20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1202512" y="4924130"/>
            <a:ext cx="762505" cy="679580"/>
            <a:chOff x="0" y="0"/>
            <a:chExt cx="762495" cy="679577"/>
          </a:xfrm>
        </p:grpSpPr>
        <p:sp>
          <p:nvSpPr>
            <p:cNvPr id="3" name="Freeform 3"/>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7112"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p:cNvSpPr/>
            <p:nvPr/>
          </p:nvSpPr>
          <p:spPr>
            <a:xfrm>
              <a:off x="260477" y="267970"/>
              <a:ext cx="120269" cy="140081"/>
            </a:xfrm>
            <a:custGeom>
              <a:avLst/>
              <a:gdLst/>
              <a:ahLst/>
              <a:cxnLst/>
              <a:rect l="l" t="t" r="r" b="b"/>
              <a:pathLst>
                <a:path w="120269"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071" y="0"/>
                  </a:cubicBezTo>
                  <a:lnTo>
                    <a:pt x="76581" y="1778"/>
                  </a:lnTo>
                  <a:cubicBezTo>
                    <a:pt x="91313" y="8890"/>
                    <a:pt x="97663" y="13716"/>
                    <a:pt x="103124" y="19939"/>
                  </a:cubicBezTo>
                  <a:lnTo>
                    <a:pt x="115697" y="42037"/>
                  </a:lnTo>
                  <a:cubicBezTo>
                    <a:pt x="118745" y="50546"/>
                    <a:pt x="120269" y="59944"/>
                    <a:pt x="120269" y="70104"/>
                  </a:cubicBezTo>
                  <a:moveTo>
                    <a:pt x="88773" y="70104"/>
                  </a:moveTo>
                  <a:lnTo>
                    <a:pt x="88011" y="58293"/>
                  </a:lnTo>
                  <a:cubicBezTo>
                    <a:pt x="85217" y="48006"/>
                    <a:pt x="83185" y="43561"/>
                    <a:pt x="80645" y="39878"/>
                  </a:cubicBezTo>
                  <a:lnTo>
                    <a:pt x="75057" y="33401"/>
                  </a:lnTo>
                  <a:lnTo>
                    <a:pt x="64262" y="28448"/>
                  </a:lnTo>
                  <a:cubicBezTo>
                    <a:pt x="55753" y="28448"/>
                    <a:pt x="51816" y="29464"/>
                    <a:pt x="48260" y="31496"/>
                  </a:cubicBezTo>
                  <a:lnTo>
                    <a:pt x="41783" y="36322"/>
                  </a:lnTo>
                  <a:cubicBezTo>
                    <a:pt x="36703" y="43688"/>
                    <a:pt x="34671" y="48133"/>
                    <a:pt x="33274" y="53340"/>
                  </a:cubicBezTo>
                  <a:lnTo>
                    <a:pt x="31115" y="64135"/>
                  </a:lnTo>
                  <a:cubicBezTo>
                    <a:pt x="31115" y="76454"/>
                    <a:pt x="31877" y="82042"/>
                    <a:pt x="33274" y="87122"/>
                  </a:cubicBezTo>
                  <a:lnTo>
                    <a:pt x="36703" y="96520"/>
                  </a:lnTo>
                  <a:cubicBezTo>
                    <a:pt x="41783" y="103886"/>
                    <a:pt x="44831" y="106807"/>
                    <a:pt x="48387" y="108712"/>
                  </a:cubicBezTo>
                  <a:lnTo>
                    <a:pt x="55753" y="111760"/>
                  </a:lnTo>
                  <a:lnTo>
                    <a:pt x="68199" y="110744"/>
                  </a:lnTo>
                  <a:cubicBezTo>
                    <a:pt x="75184" y="106680"/>
                    <a:pt x="78232" y="103886"/>
                    <a:pt x="80772" y="100203"/>
                  </a:cubicBezTo>
                  <a:lnTo>
                    <a:pt x="85344" y="92075"/>
                  </a:lnTo>
                  <a:cubicBezTo>
                    <a:pt x="88138" y="81915"/>
                    <a:pt x="88900" y="76327"/>
                    <a:pt x="88900" y="70104"/>
                  </a:cubicBezTo>
                </a:path>
              </a:pathLst>
            </a:custGeom>
            <a:solidFill>
              <a:srgbClr val="7DE314"/>
            </a:solidFill>
          </p:spPr>
          <p:txBody>
            <a:bodyPr/>
            <a:lstStyle/>
            <a:p>
              <a:endParaRPr lang="fr-FR"/>
            </a:p>
          </p:txBody>
        </p:sp>
        <p:sp>
          <p:nvSpPr>
            <p:cNvPr id="7" name="Freeform 7"/>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036" y="37719"/>
                    <a:pt x="31115" y="39751"/>
                  </a:cubicBezTo>
                  <a:lnTo>
                    <a:pt x="24765" y="43434"/>
                  </a:lnTo>
                  <a:lnTo>
                    <a:pt x="13970" y="48260"/>
                  </a:lnTo>
                  <a:cubicBezTo>
                    <a:pt x="6350" y="50419"/>
                    <a:pt x="3048"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p:cNvGrpSpPr>
            <a:grpSpLocks noChangeAspect="1"/>
          </p:cNvGrpSpPr>
          <p:nvPr/>
        </p:nvGrpSpPr>
        <p:grpSpPr>
          <a:xfrm>
            <a:off x="3461909" y="4916900"/>
            <a:ext cx="762505" cy="686800"/>
            <a:chOff x="0" y="0"/>
            <a:chExt cx="762495" cy="686803"/>
          </a:xfrm>
        </p:grpSpPr>
        <p:sp>
          <p:nvSpPr>
            <p:cNvPr id="9" name="Freeform 9"/>
            <p:cNvSpPr/>
            <p:nvPr/>
          </p:nvSpPr>
          <p:spPr>
            <a:xfrm>
              <a:off x="63500" y="63500"/>
              <a:ext cx="635508" cy="559816"/>
            </a:xfrm>
            <a:custGeom>
              <a:avLst/>
              <a:gdLst/>
              <a:ahLst/>
              <a:cxnLst/>
              <a:rect l="l" t="t" r="r" b="b"/>
              <a:pathLst>
                <a:path w="635508" h="559816">
                  <a:moveTo>
                    <a:pt x="631698" y="294132"/>
                  </a:moveTo>
                  <a:lnTo>
                    <a:pt x="487045" y="545592"/>
                  </a:lnTo>
                  <a:cubicBezTo>
                    <a:pt x="481965" y="554482"/>
                    <a:pt x="472567" y="559816"/>
                    <a:pt x="462407" y="559816"/>
                  </a:cubicBezTo>
                  <a:lnTo>
                    <a:pt x="173101" y="559816"/>
                  </a:lnTo>
                  <a:cubicBezTo>
                    <a:pt x="162941" y="559816"/>
                    <a:pt x="153543" y="554355"/>
                    <a:pt x="148463" y="545592"/>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p:cNvGrpSpPr>
            <a:grpSpLocks noChangeAspect="1"/>
          </p:cNvGrpSpPr>
          <p:nvPr/>
        </p:nvGrpSpPr>
        <p:grpSpPr>
          <a:xfrm>
            <a:off x="0" y="2584247"/>
            <a:ext cx="7559993" cy="1642539"/>
            <a:chOff x="0" y="0"/>
            <a:chExt cx="7559992" cy="1642542"/>
          </a:xfrm>
        </p:grpSpPr>
        <p:sp>
          <p:nvSpPr>
            <p:cNvPr id="15" name="Freeform 15"/>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16" name="Group 16"/>
          <p:cNvGrpSpPr>
            <a:grpSpLocks noChangeAspect="1"/>
          </p:cNvGrpSpPr>
          <p:nvPr/>
        </p:nvGrpSpPr>
        <p:grpSpPr>
          <a:xfrm>
            <a:off x="5475351" y="4909652"/>
            <a:ext cx="762505" cy="694058"/>
            <a:chOff x="0" y="0"/>
            <a:chExt cx="762495" cy="694055"/>
          </a:xfrm>
        </p:grpSpPr>
        <p:sp>
          <p:nvSpPr>
            <p:cNvPr id="17" name="Freeform 17"/>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8" name="Freeform 18"/>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9" name="Freeform 19"/>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20" name="Freeform 20"/>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21" name="Freeform 21"/>
            <p:cNvSpPr/>
            <p:nvPr/>
          </p:nvSpPr>
          <p:spPr>
            <a:xfrm>
              <a:off x="388493"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2" name="Group 22"/>
          <p:cNvGrpSpPr>
            <a:grpSpLocks noChangeAspect="1"/>
          </p:cNvGrpSpPr>
          <p:nvPr/>
        </p:nvGrpSpPr>
        <p:grpSpPr>
          <a:xfrm>
            <a:off x="454638" y="296494"/>
            <a:ext cx="6466446" cy="1976704"/>
            <a:chOff x="0" y="0"/>
            <a:chExt cx="6466446" cy="1976704"/>
          </a:xfrm>
        </p:grpSpPr>
        <p:sp>
          <p:nvSpPr>
            <p:cNvPr id="23" name="Freeform 23"/>
            <p:cNvSpPr/>
            <p:nvPr/>
          </p:nvSpPr>
          <p:spPr>
            <a:xfrm>
              <a:off x="1884299" y="123647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4" name="Freeform 24"/>
            <p:cNvSpPr/>
            <p:nvPr/>
          </p:nvSpPr>
          <p:spPr>
            <a:xfrm>
              <a:off x="3229102" y="122643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5" name="Freeform 25"/>
            <p:cNvSpPr/>
            <p:nvPr/>
          </p:nvSpPr>
          <p:spPr>
            <a:xfrm>
              <a:off x="4606036" y="1220978"/>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6" name="Freeform 26"/>
            <p:cNvSpPr/>
            <p:nvPr/>
          </p:nvSpPr>
          <p:spPr>
            <a:xfrm>
              <a:off x="63500" y="381000"/>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7" name="Freeform 27"/>
            <p:cNvSpPr/>
            <p:nvPr/>
          </p:nvSpPr>
          <p:spPr>
            <a:xfrm>
              <a:off x="559435" y="179451"/>
              <a:ext cx="1947672" cy="416433"/>
            </a:xfrm>
            <a:custGeom>
              <a:avLst/>
              <a:gdLst/>
              <a:ahLst/>
              <a:cxnLst/>
              <a:rect l="l" t="t" r="r" b="b"/>
              <a:pathLst>
                <a:path w="1947672" h="416433">
                  <a:moveTo>
                    <a:pt x="0" y="416433"/>
                  </a:moveTo>
                  <a:lnTo>
                    <a:pt x="1947672" y="416433"/>
                  </a:lnTo>
                  <a:lnTo>
                    <a:pt x="1947672" y="0"/>
                  </a:lnTo>
                  <a:lnTo>
                    <a:pt x="0" y="0"/>
                  </a:lnTo>
                  <a:close/>
                </a:path>
              </a:pathLst>
            </a:custGeom>
            <a:solidFill>
              <a:srgbClr val="FFFFFF"/>
            </a:solidFill>
          </p:spPr>
          <p:txBody>
            <a:bodyPr/>
            <a:lstStyle/>
            <a:p>
              <a:endParaRPr lang="fr-FR"/>
            </a:p>
          </p:txBody>
        </p:sp>
        <p:sp>
          <p:nvSpPr>
            <p:cNvPr id="28" name="Freeform 28"/>
            <p:cNvSpPr/>
            <p:nvPr/>
          </p:nvSpPr>
          <p:spPr>
            <a:xfrm>
              <a:off x="5722620" y="63500"/>
              <a:ext cx="680339" cy="646176"/>
            </a:xfrm>
            <a:custGeom>
              <a:avLst/>
              <a:gdLst/>
              <a:ahLst/>
              <a:cxnLst/>
              <a:rect l="l" t="t" r="r" b="b"/>
              <a:pathLst>
                <a:path w="680339" h="646176">
                  <a:moveTo>
                    <a:pt x="340233" y="646049"/>
                  </a:moveTo>
                  <a:cubicBezTo>
                    <a:pt x="528066" y="646049"/>
                    <a:pt x="680339" y="501396"/>
                    <a:pt x="680339" y="322961"/>
                  </a:cubicBezTo>
                  <a:cubicBezTo>
                    <a:pt x="680339" y="144526"/>
                    <a:pt x="528066" y="0"/>
                    <a:pt x="340233" y="0"/>
                  </a:cubicBezTo>
                  <a:cubicBezTo>
                    <a:pt x="152400"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9" name="Freeform 29"/>
            <p:cNvSpPr/>
            <p:nvPr/>
          </p:nvSpPr>
          <p:spPr>
            <a:xfrm>
              <a:off x="566674" y="123647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grpSp>
      <p:sp>
        <p:nvSpPr>
          <p:cNvPr id="30" name="TextBox 99"/>
          <p:cNvSpPr txBox="1"/>
          <p:nvPr/>
        </p:nvSpPr>
        <p:spPr>
          <a:xfrm>
            <a:off x="6672167" y="9979838"/>
            <a:ext cx="248917" cy="240665"/>
          </a:xfrm>
          <a:prstGeom prst="rect">
            <a:avLst/>
          </a:prstGeom>
        </p:spPr>
        <p:txBody>
          <a:bodyPr lIns="0" tIns="0" rIns="0" bIns="0" rtlCol="0" anchor="t">
            <a:spAutoFit/>
          </a:bodyPr>
          <a:lstStyle/>
          <a:p>
            <a:pPr algn="l">
              <a:lnSpc>
                <a:spcPts val="1959"/>
              </a:lnSpc>
            </a:pPr>
            <a:r>
              <a:rPr lang="en-US" sz="1399" b="1" spc="8" dirty="0">
                <a:solidFill>
                  <a:srgbClr val="231F20"/>
                </a:solidFill>
                <a:latin typeface="IBM Plex Sans Bold"/>
                <a:ea typeface="IBM Plex Sans Bold"/>
                <a:cs typeface="IBM Plex Sans Bold"/>
                <a:sym typeface="IBM Plex Sans Bold"/>
              </a:rPr>
              <a:t>20</a:t>
            </a:r>
          </a:p>
        </p:txBody>
      </p:sp>
      <p:sp>
        <p:nvSpPr>
          <p:cNvPr id="32" name="TextBox 32"/>
          <p:cNvSpPr txBox="1"/>
          <p:nvPr/>
        </p:nvSpPr>
        <p:spPr>
          <a:xfrm>
            <a:off x="643661" y="6581470"/>
            <a:ext cx="1773936" cy="179536"/>
          </a:xfrm>
          <a:prstGeom prst="rect">
            <a:avLst/>
          </a:prstGeom>
        </p:spPr>
        <p:txBody>
          <a:bodyPr wrap="square" lIns="0" tIns="0" rIns="0" bIns="0" rtlCol="0" anchor="t">
            <a:spAutoFit/>
          </a:bodyPr>
          <a:lstStyle/>
          <a:p>
            <a:pPr algn="l">
              <a:lnSpc>
                <a:spcPts val="1439"/>
              </a:lnSpc>
            </a:pPr>
            <a:r>
              <a:rPr lang="en-US" sz="1200" i="1" spc="4" dirty="0">
                <a:solidFill>
                  <a:srgbClr val="231F20"/>
                </a:solidFill>
                <a:latin typeface="IBM Plex Sans Italics"/>
                <a:ea typeface="IBM Plex Sans Italics"/>
                <a:cs typeface="IBM Plex Sans Italics"/>
                <a:sym typeface="IBM Plex Sans Italics"/>
              </a:rPr>
              <a:t>Enseignement1</a:t>
            </a:r>
          </a:p>
        </p:txBody>
      </p:sp>
      <p:sp>
        <p:nvSpPr>
          <p:cNvPr id="33" name="TextBox 33"/>
          <p:cNvSpPr txBox="1"/>
          <p:nvPr/>
        </p:nvSpPr>
        <p:spPr>
          <a:xfrm>
            <a:off x="798281" y="5606948"/>
            <a:ext cx="1856994" cy="179536"/>
          </a:xfrm>
          <a:prstGeom prst="rect">
            <a:avLst/>
          </a:prstGeom>
        </p:spPr>
        <p:txBody>
          <a:bodyPr wrap="square"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PointFort1</a:t>
            </a:r>
          </a:p>
        </p:txBody>
      </p:sp>
      <p:sp>
        <p:nvSpPr>
          <p:cNvPr id="34" name="TextBox 35"/>
          <p:cNvSpPr txBox="1"/>
          <p:nvPr/>
        </p:nvSpPr>
        <p:spPr>
          <a:xfrm>
            <a:off x="618277" y="8558289"/>
            <a:ext cx="3238353" cy="179536"/>
          </a:xfrm>
          <a:prstGeom prst="rect">
            <a:avLst/>
          </a:prstGeom>
        </p:spPr>
        <p:txBody>
          <a:bodyPr wrap="square" lIns="0" tIns="0" rIns="0" bIns="0" rtlCol="0" anchor="t">
            <a:spAutoFit/>
          </a:bodyPr>
          <a:lstStyle/>
          <a:p>
            <a:pPr algn="l">
              <a:lnSpc>
                <a:spcPts val="1439"/>
              </a:lnSpc>
            </a:pPr>
            <a:r>
              <a:rPr lang="en-US" sz="1200" i="1" spc="4" dirty="0" err="1">
                <a:solidFill>
                  <a:srgbClr val="1A1447"/>
                </a:solidFill>
                <a:latin typeface="IBM Plex Sans Italics"/>
                <a:ea typeface="IBM Plex Sans Italics"/>
                <a:cs typeface="IBM Plex Sans Italics"/>
                <a:sym typeface="IBM Plex Sans Italics"/>
              </a:rPr>
              <a:t>Metiers</a:t>
            </a:r>
            <a:endParaRPr lang="en-US" sz="1200" i="1" spc="4" dirty="0">
              <a:solidFill>
                <a:srgbClr val="1A1447"/>
              </a:solidFill>
              <a:latin typeface="IBM Plex Sans Italics"/>
              <a:ea typeface="IBM Plex Sans Italics"/>
              <a:cs typeface="IBM Plex Sans Italics"/>
              <a:sym typeface="IBM Plex Sans Italics"/>
            </a:endParaRPr>
          </a:p>
        </p:txBody>
      </p:sp>
      <p:sp>
        <p:nvSpPr>
          <p:cNvPr id="35" name="TextBox 52"/>
          <p:cNvSpPr txBox="1"/>
          <p:nvPr/>
        </p:nvSpPr>
        <p:spPr>
          <a:xfrm>
            <a:off x="2445344" y="1281655"/>
            <a:ext cx="838810" cy="212174"/>
          </a:xfrm>
          <a:prstGeom prst="rect">
            <a:avLst/>
          </a:prstGeom>
        </p:spPr>
        <p:txBody>
          <a:bodyPr lIns="0" tIns="0" rIns="0" bIns="0" rtlCol="0" anchor="t">
            <a:spAutoFit/>
          </a:bodyPr>
          <a:lstStyle/>
          <a:p>
            <a:pPr algn="just">
              <a:lnSpc>
                <a:spcPts val="1783"/>
              </a:lnSpc>
            </a:pPr>
            <a:r>
              <a:rPr lang="en-US" sz="1200" spc="7" dirty="0">
                <a:solidFill>
                  <a:srgbClr val="464395"/>
                </a:solidFill>
                <a:latin typeface="IBM Plex Sans"/>
                <a:ea typeface="IBM Plex Sans"/>
                <a:cs typeface="IBM Plex Sans"/>
                <a:sym typeface="IBM Plex Sans"/>
              </a:rPr>
              <a:t>LANGUAGE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6" name="TextBox 38"/>
          <p:cNvSpPr txBox="1"/>
          <p:nvPr/>
        </p:nvSpPr>
        <p:spPr>
          <a:xfrm>
            <a:off x="3923062" y="1483624"/>
            <a:ext cx="951900" cy="212174"/>
          </a:xfrm>
          <a:prstGeom prst="rect">
            <a:avLst/>
          </a:prstGeom>
        </p:spPr>
        <p:txBody>
          <a:bodyPr lIns="0" tIns="0" rIns="0" bIns="0" rtlCol="0" anchor="t">
            <a:spAutoFit/>
          </a:bodyPr>
          <a:lstStyle/>
          <a:p>
            <a:pPr>
              <a:lnSpc>
                <a:spcPts val="1796"/>
              </a:lnSpc>
            </a:pPr>
            <a:r>
              <a:rPr lang="en-US" sz="1200" i="1" spc="7" dirty="0">
                <a:solidFill>
                  <a:srgbClr val="231F20"/>
                </a:solidFill>
                <a:latin typeface="IBM Plex Sans Italics"/>
                <a:ea typeface="IBM Plex Sans Italics"/>
                <a:cs typeface="IBM Plex Sans Italics"/>
                <a:sym typeface="IBM Plex Sans Italics"/>
              </a:rPr>
              <a:t>Stage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7" name="TextBox 36"/>
          <p:cNvSpPr txBox="1"/>
          <p:nvPr/>
        </p:nvSpPr>
        <p:spPr>
          <a:xfrm>
            <a:off x="2951845" y="6563801"/>
            <a:ext cx="1773936" cy="179536"/>
          </a:xfrm>
          <a:prstGeom prst="rect">
            <a:avLst/>
          </a:prstGeom>
        </p:spPr>
        <p:txBody>
          <a:bodyPr wrap="square" lIns="0" tIns="0" rIns="0" bIns="0" rtlCol="0" anchor="t">
            <a:spAutoFit/>
          </a:bodyPr>
          <a:lstStyle/>
          <a:p>
            <a:pPr algn="just">
              <a:lnSpc>
                <a:spcPts val="1439"/>
              </a:lnSpc>
            </a:pPr>
            <a:r>
              <a:rPr lang="en-US" sz="1200" i="1" spc="4" dirty="0">
                <a:solidFill>
                  <a:srgbClr val="231F20"/>
                </a:solidFill>
                <a:latin typeface="IBM Plex Sans Italics"/>
                <a:ea typeface="IBM Plex Sans Italics"/>
                <a:cs typeface="IBM Plex Sans Italics"/>
                <a:sym typeface="IBM Plex Sans Italics"/>
              </a:rPr>
              <a:t>Enseignement2</a:t>
            </a:r>
          </a:p>
        </p:txBody>
      </p:sp>
      <p:sp>
        <p:nvSpPr>
          <p:cNvPr id="38" name="TextBox 37"/>
          <p:cNvSpPr txBox="1"/>
          <p:nvPr/>
        </p:nvSpPr>
        <p:spPr>
          <a:xfrm>
            <a:off x="2883389" y="5606948"/>
            <a:ext cx="1856994"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PointFort2</a:t>
            </a:r>
          </a:p>
        </p:txBody>
      </p:sp>
      <p:sp>
        <p:nvSpPr>
          <p:cNvPr id="39" name="TextBox 39"/>
          <p:cNvSpPr txBox="1"/>
          <p:nvPr/>
        </p:nvSpPr>
        <p:spPr>
          <a:xfrm>
            <a:off x="5196249" y="1527315"/>
            <a:ext cx="1306830" cy="179536"/>
          </a:xfrm>
          <a:prstGeom prst="rect">
            <a:avLst/>
          </a:prstGeom>
        </p:spPr>
        <p:txBody>
          <a:bodyPr lIns="0" tIns="0" rIns="0" bIns="0" rtlCol="0" anchor="t">
            <a:spAutoFit/>
          </a:bodyPr>
          <a:lstStyle/>
          <a:p>
            <a:pPr>
              <a:lnSpc>
                <a:spcPts val="1439"/>
              </a:lnSpc>
            </a:pPr>
            <a:r>
              <a:rPr lang="en-US" sz="1200" i="1" spc="4" dirty="0">
                <a:solidFill>
                  <a:srgbClr val="231F20"/>
                </a:solidFill>
                <a:latin typeface="IBM Plex Sans Italics"/>
                <a:ea typeface="IBM Plex Sans Italics"/>
                <a:cs typeface="IBM Plex Sans Italics"/>
                <a:sym typeface="IBM Plex Sans Italics"/>
              </a:rPr>
              <a:t>Admission</a:t>
            </a:r>
          </a:p>
        </p:txBody>
      </p:sp>
      <p:sp>
        <p:nvSpPr>
          <p:cNvPr id="40" name="TextBox 41"/>
          <p:cNvSpPr txBox="1"/>
          <p:nvPr/>
        </p:nvSpPr>
        <p:spPr>
          <a:xfrm>
            <a:off x="5127250" y="6542094"/>
            <a:ext cx="1456639" cy="179536"/>
          </a:xfrm>
          <a:prstGeom prst="rect">
            <a:avLst/>
          </a:prstGeom>
        </p:spPr>
        <p:txBody>
          <a:bodyPr lIns="0" tIns="0" rIns="0" bIns="0" rtlCol="0" anchor="t">
            <a:spAutoFit/>
          </a:bodyPr>
          <a:lstStyle/>
          <a:p>
            <a:pPr algn="l">
              <a:lnSpc>
                <a:spcPts val="1439"/>
              </a:lnSpc>
            </a:pPr>
            <a:r>
              <a:rPr lang="en-US" sz="1200" i="1" spc="4" dirty="0">
                <a:solidFill>
                  <a:srgbClr val="231F20"/>
                </a:solidFill>
                <a:latin typeface="IBM Plex Sans Italics"/>
                <a:ea typeface="IBM Plex Sans Italics"/>
                <a:cs typeface="IBM Plex Sans Italics"/>
                <a:sym typeface="IBM Plex Sans Italics"/>
              </a:rPr>
              <a:t>Enseignement3</a:t>
            </a:r>
          </a:p>
        </p:txBody>
      </p:sp>
      <p:sp>
        <p:nvSpPr>
          <p:cNvPr id="41" name="TextBox 40"/>
          <p:cNvSpPr txBox="1"/>
          <p:nvPr/>
        </p:nvSpPr>
        <p:spPr>
          <a:xfrm>
            <a:off x="5130670" y="5606948"/>
            <a:ext cx="1641348"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PointFort3</a:t>
            </a:r>
          </a:p>
        </p:txBody>
      </p:sp>
      <p:sp>
        <p:nvSpPr>
          <p:cNvPr id="42" name="TextBox 42"/>
          <p:cNvSpPr txBox="1"/>
          <p:nvPr/>
        </p:nvSpPr>
        <p:spPr>
          <a:xfrm>
            <a:off x="611800" y="2786767"/>
            <a:ext cx="6092133" cy="179536"/>
          </a:xfrm>
          <a:prstGeom prst="rect">
            <a:avLst/>
          </a:prstGeom>
        </p:spPr>
        <p:txBody>
          <a:bodyPr lIns="0" tIns="0" rIns="0" bIns="0" rtlCol="0" anchor="t">
            <a:spAutoFit/>
          </a:bodyPr>
          <a:lstStyle/>
          <a:p>
            <a:pPr algn="just">
              <a:lnSpc>
                <a:spcPts val="1439"/>
              </a:lnSpc>
            </a:pPr>
            <a:r>
              <a:rPr lang="en-US" sz="1200" spc="7" dirty="0">
                <a:solidFill>
                  <a:srgbClr val="FFFFFF"/>
                </a:solidFill>
                <a:latin typeface="IBM Plex Sans"/>
                <a:ea typeface="IBM Plex Sans"/>
                <a:cs typeface="IBM Plex Sans"/>
                <a:sym typeface="IBM Plex Sans"/>
              </a:rPr>
              <a:t>Description</a:t>
            </a:r>
          </a:p>
        </p:txBody>
      </p:sp>
      <p:sp>
        <p:nvSpPr>
          <p:cNvPr id="43" name="TextBox 43"/>
          <p:cNvSpPr txBox="1"/>
          <p:nvPr/>
        </p:nvSpPr>
        <p:spPr>
          <a:xfrm>
            <a:off x="6278525" y="429625"/>
            <a:ext cx="525475" cy="397269"/>
          </a:xfrm>
          <a:prstGeom prst="rect">
            <a:avLst/>
          </a:prstGeom>
        </p:spPr>
        <p:txBody>
          <a:bodyPr lIns="0" tIns="0" rIns="0" bIns="0" rtlCol="0" anchor="t">
            <a:spAutoFit/>
          </a:bodyPr>
          <a:lstStyle/>
          <a:p>
            <a:pPr algn="ctr">
              <a:lnSpc>
                <a:spcPts val="1660"/>
              </a:lnSpc>
            </a:pPr>
            <a:r>
              <a:rPr lang="en-US" sz="1399" b="1" spc="8" dirty="0">
                <a:solidFill>
                  <a:srgbClr val="FFFFFF"/>
                </a:solidFill>
                <a:latin typeface="IBM Plex Sans Bold"/>
                <a:ea typeface="IBM Plex Sans Bold"/>
                <a:cs typeface="IBM Plex Sans Bold"/>
                <a:sym typeface="IBM Plex Sans Bold"/>
              </a:rPr>
              <a:t>2 </a:t>
            </a:r>
          </a:p>
          <a:p>
            <a:pPr algn="l">
              <a:lnSpc>
                <a:spcPts val="1423"/>
              </a:lnSpc>
            </a:pPr>
            <a:r>
              <a:rPr lang="en-US" sz="1200" b="1" spc="7" dirty="0">
                <a:solidFill>
                  <a:srgbClr val="FFFFFF"/>
                </a:solidFill>
                <a:latin typeface="IBM Plex Sans Bold"/>
                <a:ea typeface="IBM Plex Sans Bold"/>
                <a:cs typeface="IBM Plex Sans Bold"/>
                <a:sym typeface="IBM Plex Sans Bold"/>
              </a:rPr>
              <a:t>YEARS</a:t>
            </a:r>
          </a:p>
        </p:txBody>
      </p:sp>
      <p:sp>
        <p:nvSpPr>
          <p:cNvPr id="44" name="TextBox 44"/>
          <p:cNvSpPr txBox="1"/>
          <p:nvPr/>
        </p:nvSpPr>
        <p:spPr>
          <a:xfrm>
            <a:off x="2560053" y="10301611"/>
            <a:ext cx="2515629" cy="151428"/>
          </a:xfrm>
          <a:prstGeom prst="rect">
            <a:avLst/>
          </a:prstGeom>
        </p:spPr>
        <p:txBody>
          <a:bodyPr lIns="0" tIns="0" rIns="0" bIns="0" rtlCol="0" anchor="t">
            <a:spAutoFit/>
          </a:bodyPr>
          <a:lstStyle/>
          <a:p>
            <a:pPr algn="l">
              <a:lnSpc>
                <a:spcPts val="1260"/>
              </a:lnSpc>
            </a:pPr>
            <a:r>
              <a:rPr lang="en-US" sz="900" i="1" spc="25" dirty="0" err="1">
                <a:solidFill>
                  <a:srgbClr val="939496"/>
                </a:solidFill>
                <a:latin typeface="IBM Plex Sans Italics"/>
                <a:ea typeface="IBM Plex Sans Italics"/>
                <a:cs typeface="IBM Plex Sans Italics"/>
                <a:sym typeface="IBM Plex Sans Italics"/>
              </a:rPr>
              <a:t>Etablissement</a:t>
            </a:r>
            <a:r>
              <a:rPr lang="en-US" sz="900" i="1" spc="25" dirty="0">
                <a:solidFill>
                  <a:srgbClr val="939496"/>
                </a:solidFill>
                <a:latin typeface="IBM Plex Sans Italics"/>
                <a:ea typeface="IBM Plex Sans Italics"/>
                <a:cs typeface="IBM Plex Sans Italics"/>
                <a:sym typeface="IBM Plex Sans Italics"/>
              </a:rPr>
              <a:t> </a:t>
            </a:r>
            <a:r>
              <a:rPr lang="en-US" sz="900" i="1" spc="25" dirty="0" err="1">
                <a:solidFill>
                  <a:srgbClr val="939496"/>
                </a:solidFill>
                <a:latin typeface="IBM Plex Sans Italics"/>
                <a:ea typeface="IBM Plex Sans Italics"/>
                <a:cs typeface="IBM Plex Sans Italics"/>
                <a:sym typeface="IBM Plex Sans Italics"/>
              </a:rPr>
              <a:t>d’enseignement</a:t>
            </a:r>
            <a:r>
              <a:rPr lang="en-US" sz="900" i="1" spc="25" dirty="0">
                <a:solidFill>
                  <a:srgbClr val="939496"/>
                </a:solidFill>
                <a:latin typeface="IBM Plex Sans Italics"/>
                <a:ea typeface="IBM Plex Sans Italics"/>
                <a:cs typeface="IBM Plex Sans Italics"/>
                <a:sym typeface="IBM Plex Sans Italics"/>
              </a:rPr>
              <a:t> supérieur </a:t>
            </a:r>
            <a:r>
              <a:rPr lang="en-US" sz="900" i="1" spc="25" dirty="0" err="1">
                <a:solidFill>
                  <a:srgbClr val="939496"/>
                </a:solidFill>
                <a:latin typeface="IBM Plex Sans Italics"/>
                <a:ea typeface="IBM Plex Sans Italics"/>
                <a:cs typeface="IBM Plex Sans Italics"/>
                <a:sym typeface="IBM Plex Sans Italics"/>
              </a:rPr>
              <a:t>privé</a:t>
            </a:r>
            <a:endParaRPr lang="en-US" sz="900" i="1" spc="25" dirty="0">
              <a:solidFill>
                <a:srgbClr val="939496"/>
              </a:solidFill>
              <a:latin typeface="IBM Plex Sans Italics"/>
              <a:ea typeface="IBM Plex Sans Italics"/>
              <a:cs typeface="IBM Plex Sans Italics"/>
              <a:sym typeface="IBM Plex Sans Italics"/>
            </a:endParaRPr>
          </a:p>
        </p:txBody>
      </p:sp>
      <p:sp>
        <p:nvSpPr>
          <p:cNvPr id="45" name="TextBox 46"/>
          <p:cNvSpPr txBox="1"/>
          <p:nvPr/>
        </p:nvSpPr>
        <p:spPr>
          <a:xfrm>
            <a:off x="626278" y="6127490"/>
            <a:ext cx="3837772"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TEACHING UNITS</a:t>
            </a:r>
          </a:p>
        </p:txBody>
      </p:sp>
      <p:sp>
        <p:nvSpPr>
          <p:cNvPr id="46" name="TextBox 45"/>
          <p:cNvSpPr txBox="1"/>
          <p:nvPr/>
        </p:nvSpPr>
        <p:spPr>
          <a:xfrm>
            <a:off x="618277" y="8095164"/>
            <a:ext cx="3464773" cy="299056"/>
          </a:xfrm>
          <a:prstGeom prst="rect">
            <a:avLst/>
          </a:prstGeom>
        </p:spPr>
        <p:txBody>
          <a:bodyPr wrap="square" lIns="0" tIns="0" rIns="0" bIns="0" rtlCol="0" anchor="t">
            <a:spAutoFit/>
          </a:bodyPr>
          <a:lstStyle/>
          <a:p>
            <a:pPr algn="l">
              <a:lnSpc>
                <a:spcPts val="2520"/>
              </a:lnSpc>
            </a:pPr>
            <a:r>
              <a:rPr lang="en-US" sz="1800" b="1" i="1">
                <a:solidFill>
                  <a:srgbClr val="EA8C39"/>
                </a:solidFill>
                <a:latin typeface="IBM Plex Sans Bold Italics"/>
                <a:ea typeface="IBM Plex Sans Bold Italics"/>
                <a:cs typeface="IBM Plex Sans Bold Italics"/>
                <a:sym typeface="IBM Plex Sans Bold Italics"/>
              </a:rPr>
              <a:t>OCCUPATIONS</a:t>
            </a:r>
          </a:p>
        </p:txBody>
      </p:sp>
      <p:sp>
        <p:nvSpPr>
          <p:cNvPr id="47" name="TextBox 47"/>
          <p:cNvSpPr txBox="1"/>
          <p:nvPr/>
        </p:nvSpPr>
        <p:spPr>
          <a:xfrm>
            <a:off x="600894" y="4421000"/>
            <a:ext cx="386315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TOP3 - KEY POINTS</a:t>
            </a:r>
          </a:p>
        </p:txBody>
      </p:sp>
      <p:sp>
        <p:nvSpPr>
          <p:cNvPr id="48" name="TextBox 48"/>
          <p:cNvSpPr txBox="1"/>
          <p:nvPr/>
        </p:nvSpPr>
        <p:spPr>
          <a:xfrm>
            <a:off x="1127645" y="915400"/>
            <a:ext cx="5150879" cy="299056"/>
          </a:xfrm>
          <a:prstGeom prst="rect">
            <a:avLst/>
          </a:prstGeom>
        </p:spPr>
        <p:txBody>
          <a:bodyPr wrap="square" lIns="0" tIns="0" rIns="0" bIns="0" rtlCol="0" anchor="t">
            <a:spAutoFit/>
          </a:bodyPr>
          <a:lstStyle/>
          <a:p>
            <a:pPr algn="l">
              <a:lnSpc>
                <a:spcPts val="2520"/>
              </a:lnSpc>
            </a:pPr>
            <a:r>
              <a:rPr lang="en-US" sz="1800" b="1" spc="7" dirty="0">
                <a:solidFill>
                  <a:srgbClr val="1A1447"/>
                </a:solidFill>
                <a:latin typeface="IBM Plex Sans Bold"/>
                <a:ea typeface="IBM Plex Sans Bold"/>
                <a:cs typeface="IBM Plex Sans Bold"/>
                <a:sym typeface="IBM Plex Sans Bold"/>
              </a:rPr>
              <a:t>Nom</a:t>
            </a:r>
          </a:p>
        </p:txBody>
      </p:sp>
      <p:sp>
        <p:nvSpPr>
          <p:cNvPr id="49" name="TextBox 49"/>
          <p:cNvSpPr txBox="1"/>
          <p:nvPr/>
        </p:nvSpPr>
        <p:spPr>
          <a:xfrm>
            <a:off x="5150644" y="1289818"/>
            <a:ext cx="783022" cy="192491"/>
          </a:xfrm>
          <a:prstGeom prst="rect">
            <a:avLst/>
          </a:prstGeom>
        </p:spPr>
        <p:txBody>
          <a:bodyPr lIns="0" tIns="0" rIns="0" bIns="0" rtlCol="0" anchor="t">
            <a:spAutoFit/>
          </a:bodyPr>
          <a:lstStyle/>
          <a:p>
            <a:pPr algn="l">
              <a:lnSpc>
                <a:spcPts val="1539"/>
              </a:lnSpc>
            </a:pPr>
            <a:r>
              <a:rPr lang="en-US" sz="1100" spc="6" dirty="0">
                <a:solidFill>
                  <a:srgbClr val="464395"/>
                </a:solidFill>
                <a:latin typeface="IBM Plex Sans"/>
                <a:ea typeface="IBM Plex Sans"/>
                <a:cs typeface="IBM Plex Sans"/>
                <a:sym typeface="IBM Plex Sans"/>
              </a:rPr>
              <a:t>ADMISSION</a:t>
            </a:r>
          </a:p>
        </p:txBody>
      </p:sp>
      <p:sp>
        <p:nvSpPr>
          <p:cNvPr id="50" name="TextBox 50"/>
          <p:cNvSpPr txBox="1"/>
          <p:nvPr/>
        </p:nvSpPr>
        <p:spPr>
          <a:xfrm>
            <a:off x="1107748" y="411985"/>
            <a:ext cx="1496263" cy="405699"/>
          </a:xfrm>
          <a:prstGeom prst="rect">
            <a:avLst/>
          </a:prstGeom>
        </p:spPr>
        <p:txBody>
          <a:bodyPr lIns="0" tIns="0" rIns="0" bIns="0" rtlCol="0" anchor="t">
            <a:spAutoFit/>
          </a:bodyPr>
          <a:lstStyle/>
          <a:p>
            <a:pPr algn="l">
              <a:lnSpc>
                <a:spcPts val="3359"/>
              </a:lnSpc>
            </a:pPr>
            <a:r>
              <a:rPr lang="en-US" sz="2400" b="1" spc="14" dirty="0">
                <a:solidFill>
                  <a:srgbClr val="231F20"/>
                </a:solidFill>
                <a:latin typeface="IBM Plex Sans Bold"/>
                <a:ea typeface="IBM Plex Sans Bold"/>
                <a:cs typeface="IBM Plex Sans Bold"/>
                <a:sym typeface="IBM Plex Sans Bold"/>
              </a:rPr>
              <a:t>TYPE</a:t>
            </a:r>
          </a:p>
        </p:txBody>
      </p:sp>
      <p:sp>
        <p:nvSpPr>
          <p:cNvPr id="52" name="TextBox 51">
            <a:extLst>
              <a:ext uri="{FF2B5EF4-FFF2-40B4-BE49-F238E27FC236}">
                <a16:creationId xmlns:a16="http://schemas.microsoft.com/office/drawing/2014/main" id="{08B6434F-E251-F3F4-A8EE-0DB40DADF62C}"/>
              </a:ext>
            </a:extLst>
          </p:cNvPr>
          <p:cNvSpPr txBox="1"/>
          <p:nvPr/>
        </p:nvSpPr>
        <p:spPr>
          <a:xfrm>
            <a:off x="1256030" y="1299715"/>
            <a:ext cx="1040102" cy="192938"/>
          </a:xfrm>
          <a:prstGeom prst="rect">
            <a:avLst/>
          </a:prstGeom>
        </p:spPr>
        <p:txBody>
          <a:bodyPr wrap="square" lIns="0" tIns="0" rIns="0" bIns="0" rtlCol="0" anchor="t">
            <a:spAutoFit/>
          </a:bodyPr>
          <a:lstStyle/>
          <a:p>
            <a:pPr algn="just">
              <a:lnSpc>
                <a:spcPts val="1614"/>
              </a:lnSpc>
            </a:pPr>
            <a:r>
              <a:rPr lang="en-US" sz="1200" spc="7" dirty="0">
                <a:solidFill>
                  <a:srgbClr val="464395"/>
                </a:solidFill>
                <a:latin typeface="IBM Plex Sans"/>
                <a:ea typeface="IBM Plex Sans"/>
                <a:cs typeface="IBM Plex Sans"/>
                <a:sym typeface="IBM Plex Sans"/>
              </a:rPr>
              <a:t>2 INTAKES</a:t>
            </a:r>
            <a:endParaRPr lang="en-US" sz="1200" i="1" spc="4" dirty="0">
              <a:solidFill>
                <a:srgbClr val="231F20"/>
              </a:solidFill>
              <a:latin typeface="IBM Plex Sans Italics"/>
              <a:ea typeface="IBM Plex Sans Italics"/>
              <a:cs typeface="IBM Plex Sans Italics"/>
              <a:sym typeface="IBM Plex Sans Italics"/>
            </a:endParaRPr>
          </a:p>
        </p:txBody>
      </p:sp>
      <p:sp>
        <p:nvSpPr>
          <p:cNvPr id="53" name="TextBox 31">
            <a:extLst>
              <a:ext uri="{FF2B5EF4-FFF2-40B4-BE49-F238E27FC236}">
                <a16:creationId xmlns:a16="http://schemas.microsoft.com/office/drawing/2014/main" id="{63339F6C-44AA-C06C-C876-B9C66129B42B}"/>
              </a:ext>
            </a:extLst>
          </p:cNvPr>
          <p:cNvSpPr txBox="1"/>
          <p:nvPr/>
        </p:nvSpPr>
        <p:spPr>
          <a:xfrm>
            <a:off x="1252559" y="1505911"/>
            <a:ext cx="812873" cy="192938"/>
          </a:xfrm>
          <a:prstGeom prst="rect">
            <a:avLst/>
          </a:prstGeom>
        </p:spPr>
        <p:txBody>
          <a:bodyPr lIns="0" tIns="0" rIns="0" bIns="0" rtlCol="0" anchor="t">
            <a:spAutoFit/>
          </a:bodyPr>
          <a:lstStyle/>
          <a:p>
            <a:pPr>
              <a:lnSpc>
                <a:spcPts val="1614"/>
              </a:lnSpc>
            </a:pPr>
            <a:r>
              <a:rPr lang="en-US" sz="1200" i="1" spc="7" dirty="0">
                <a:solidFill>
                  <a:srgbClr val="231F20"/>
                </a:solidFill>
                <a:latin typeface="IBM Plex Sans Italics"/>
                <a:ea typeface="IBM Plex Sans Italics"/>
                <a:cs typeface="IBM Plex Sans Italics"/>
                <a:sym typeface="IBM Plex Sans Italics"/>
              </a:rPr>
              <a:t>Fall</a:t>
            </a:r>
            <a:endParaRPr lang="en-US" sz="1200" i="1" spc="4" dirty="0">
              <a:solidFill>
                <a:srgbClr val="231F20"/>
              </a:solidFill>
              <a:latin typeface="IBM Plex Sans Italics"/>
              <a:ea typeface="IBM Plex Sans Italics"/>
              <a:cs typeface="IBM Plex Sans Italics"/>
              <a:sym typeface="IBM Plex Sans Italics"/>
            </a:endParaRPr>
          </a:p>
        </p:txBody>
      </p:sp>
      <p:sp>
        <p:nvSpPr>
          <p:cNvPr id="55" name="TextBox 34">
            <a:extLst>
              <a:ext uri="{FF2B5EF4-FFF2-40B4-BE49-F238E27FC236}">
                <a16:creationId xmlns:a16="http://schemas.microsoft.com/office/drawing/2014/main" id="{7F360BAA-61BF-FE8B-0AC4-A991BC941086}"/>
              </a:ext>
            </a:extLst>
          </p:cNvPr>
          <p:cNvSpPr txBox="1"/>
          <p:nvPr/>
        </p:nvSpPr>
        <p:spPr>
          <a:xfrm>
            <a:off x="2467440" y="1508374"/>
            <a:ext cx="838811" cy="221792"/>
          </a:xfrm>
          <a:prstGeom prst="rect">
            <a:avLst/>
          </a:prstGeom>
        </p:spPr>
        <p:txBody>
          <a:bodyPr lIns="0" tIns="0" rIns="0" bIns="0" rtlCol="0" anchor="t">
            <a:spAutoFit/>
          </a:bodyPr>
          <a:lstStyle/>
          <a:p>
            <a:pPr>
              <a:lnSpc>
                <a:spcPts val="1908"/>
              </a:lnSpc>
            </a:pPr>
            <a:r>
              <a:rPr lang="en-US" sz="1200" i="1" spc="4" dirty="0" err="1">
                <a:solidFill>
                  <a:srgbClr val="231F20"/>
                </a:solidFill>
                <a:latin typeface="IBM Plex Sans Italics"/>
                <a:ea typeface="IBM Plex Sans Italics"/>
                <a:cs typeface="IBM Plex Sans Italics"/>
                <a:sym typeface="IBM Plex Sans Italics"/>
              </a:rPr>
              <a:t>Langues</a:t>
            </a:r>
            <a:r>
              <a:rPr lang="en-US" sz="1200" i="1" spc="4" dirty="0">
                <a:solidFill>
                  <a:srgbClr val="231F20"/>
                </a:solidFill>
                <a:latin typeface="IBM Plex Sans Italics"/>
                <a:ea typeface="IBM Plex Sans Italics"/>
                <a:cs typeface="IBM Plex Sans Italics"/>
                <a:sym typeface="IBM Plex Sans Italics"/>
              </a:rPr>
              <a:t> </a:t>
            </a:r>
          </a:p>
        </p:txBody>
      </p:sp>
      <p:sp>
        <p:nvSpPr>
          <p:cNvPr id="56" name="TextBox 53">
            <a:extLst>
              <a:ext uri="{FF2B5EF4-FFF2-40B4-BE49-F238E27FC236}">
                <a16:creationId xmlns:a16="http://schemas.microsoft.com/office/drawing/2014/main" id="{C7B0528E-AFDC-2B75-9630-CDE5B04D540C}"/>
              </a:ext>
            </a:extLst>
          </p:cNvPr>
          <p:cNvSpPr txBox="1"/>
          <p:nvPr/>
        </p:nvSpPr>
        <p:spPr>
          <a:xfrm>
            <a:off x="3909566" y="1257967"/>
            <a:ext cx="1091866" cy="212174"/>
          </a:xfrm>
          <a:prstGeom prst="rect">
            <a:avLst/>
          </a:prstGeom>
        </p:spPr>
        <p:txBody>
          <a:bodyPr lIns="0" tIns="0" rIns="0" bIns="0" rtlCol="0" anchor="t">
            <a:spAutoFit/>
          </a:bodyPr>
          <a:lstStyle/>
          <a:p>
            <a:pPr algn="just">
              <a:lnSpc>
                <a:spcPts val="1796"/>
              </a:lnSpc>
            </a:pPr>
            <a:r>
              <a:rPr lang="en-US" sz="1200" spc="4" dirty="0">
                <a:solidFill>
                  <a:srgbClr val="464395"/>
                </a:solidFill>
                <a:latin typeface="IBM Plex Sans"/>
                <a:ea typeface="IBM Plex Sans"/>
                <a:cs typeface="IBM Plex Sans"/>
                <a:sym typeface="IBM Plex Sans"/>
              </a:rPr>
              <a:t>INTERNSHIP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3546" t="-12547" r="-3985" b="-1501"/>
            </a:stretch>
          </a:blipFill>
        </p:spPr>
        <p:txBody>
          <a:bodyPr/>
          <a:lstStyle/>
          <a:p>
            <a:endParaRPr lang="fr-FR"/>
          </a:p>
        </p:txBody>
      </p:sp>
      <p:grpSp>
        <p:nvGrpSpPr>
          <p:cNvPr id="3" name="Group 3"/>
          <p:cNvGrpSpPr/>
          <p:nvPr/>
        </p:nvGrpSpPr>
        <p:grpSpPr>
          <a:xfrm rot="-5400000">
            <a:off x="3306312" y="6411535"/>
            <a:ext cx="947376" cy="7973798"/>
            <a:chOff x="0" y="0"/>
            <a:chExt cx="339518" cy="2857629"/>
          </a:xfrm>
        </p:grpSpPr>
        <p:sp>
          <p:nvSpPr>
            <p:cNvPr id="4" name="Freeform 4"/>
            <p:cNvSpPr/>
            <p:nvPr/>
          </p:nvSpPr>
          <p:spPr>
            <a:xfrm>
              <a:off x="0" y="0"/>
              <a:ext cx="339518" cy="2857629"/>
            </a:xfrm>
            <a:custGeom>
              <a:avLst/>
              <a:gdLst/>
              <a:ahLst/>
              <a:cxnLst/>
              <a:rect l="l" t="t" r="r" b="b"/>
              <a:pathLst>
                <a:path w="339518" h="2857629">
                  <a:moveTo>
                    <a:pt x="0" y="0"/>
                  </a:moveTo>
                  <a:lnTo>
                    <a:pt x="339518" y="0"/>
                  </a:lnTo>
                  <a:lnTo>
                    <a:pt x="339518" y="2857629"/>
                  </a:lnTo>
                  <a:lnTo>
                    <a:pt x="0" y="2857629"/>
                  </a:lnTo>
                  <a:close/>
                </a:path>
              </a:pathLst>
            </a:custGeom>
            <a:solidFill>
              <a:srgbClr val="1A1447"/>
            </a:solidFill>
          </p:spPr>
          <p:txBody>
            <a:bodyPr/>
            <a:lstStyle/>
            <a:p>
              <a:endParaRPr lang="fr-FR"/>
            </a:p>
          </p:txBody>
        </p:sp>
        <p:sp>
          <p:nvSpPr>
            <p:cNvPr id="5" name="TextBox 5"/>
            <p:cNvSpPr txBox="1"/>
            <p:nvPr/>
          </p:nvSpPr>
          <p:spPr>
            <a:xfrm>
              <a:off x="0" y="-28575"/>
              <a:ext cx="339518" cy="2886204"/>
            </a:xfrm>
            <a:prstGeom prst="rect">
              <a:avLst/>
            </a:prstGeom>
          </p:spPr>
          <p:txBody>
            <a:bodyPr lIns="50800" tIns="50800" rIns="50800" bIns="50800" rtlCol="0" anchor="ctr"/>
            <a:lstStyle/>
            <a:p>
              <a:pPr algn="ctr">
                <a:lnSpc>
                  <a:spcPts val="1960"/>
                </a:lnSpc>
              </a:pPr>
              <a:endParaRPr/>
            </a:p>
          </p:txBody>
        </p:sp>
      </p:grpSp>
      <p:grpSp>
        <p:nvGrpSpPr>
          <p:cNvPr id="6" name="Group 6"/>
          <p:cNvGrpSpPr/>
          <p:nvPr/>
        </p:nvGrpSpPr>
        <p:grpSpPr>
          <a:xfrm>
            <a:off x="1893220" y="8134235"/>
            <a:ext cx="3773561" cy="385908"/>
            <a:chOff x="0" y="0"/>
            <a:chExt cx="1120924" cy="114633"/>
          </a:xfrm>
        </p:grpSpPr>
        <p:sp>
          <p:nvSpPr>
            <p:cNvPr id="7" name="Freeform 7"/>
            <p:cNvSpPr/>
            <p:nvPr/>
          </p:nvSpPr>
          <p:spPr>
            <a:xfrm>
              <a:off x="0" y="0"/>
              <a:ext cx="1120924" cy="114633"/>
            </a:xfrm>
            <a:custGeom>
              <a:avLst/>
              <a:gdLst/>
              <a:ahLst/>
              <a:cxnLst/>
              <a:rect l="l" t="t" r="r" b="b"/>
              <a:pathLst>
                <a:path w="1120924" h="114633">
                  <a:moveTo>
                    <a:pt x="0" y="0"/>
                  </a:moveTo>
                  <a:lnTo>
                    <a:pt x="1120924" y="0"/>
                  </a:lnTo>
                  <a:lnTo>
                    <a:pt x="1120924" y="114633"/>
                  </a:lnTo>
                  <a:lnTo>
                    <a:pt x="0" y="114633"/>
                  </a:lnTo>
                  <a:close/>
                </a:path>
              </a:pathLst>
            </a:custGeom>
            <a:solidFill>
              <a:srgbClr val="FFFFFF"/>
            </a:solidFill>
          </p:spPr>
          <p:txBody>
            <a:bodyPr/>
            <a:lstStyle/>
            <a:p>
              <a:endParaRPr lang="fr-FR"/>
            </a:p>
          </p:txBody>
        </p:sp>
        <p:sp>
          <p:nvSpPr>
            <p:cNvPr id="8" name="TextBox 8"/>
            <p:cNvSpPr txBox="1"/>
            <p:nvPr/>
          </p:nvSpPr>
          <p:spPr>
            <a:xfrm>
              <a:off x="0" y="-28575"/>
              <a:ext cx="1120924" cy="143208"/>
            </a:xfrm>
            <a:prstGeom prst="rect">
              <a:avLst/>
            </a:prstGeom>
          </p:spPr>
          <p:txBody>
            <a:bodyPr lIns="0" tIns="0" rIns="0" bIns="0" rtlCol="0" anchor="ctr"/>
            <a:lstStyle/>
            <a:p>
              <a:pPr algn="ctr">
                <a:lnSpc>
                  <a:spcPts val="1960"/>
                </a:lnSpc>
              </a:pPr>
              <a:r>
                <a:rPr lang="en-US" sz="1400" spc="28">
                  <a:solidFill>
                    <a:srgbClr val="1A1447"/>
                  </a:solidFill>
                  <a:latin typeface="Montserrat Classic"/>
                  <a:ea typeface="Montserrat Classic"/>
                  <a:cs typeface="Montserrat Classic"/>
                  <a:sym typeface="Montserrat Classic"/>
                </a:rPr>
                <a:t>Services + Packages + Next Steps</a:t>
              </a:r>
            </a:p>
          </p:txBody>
        </p:sp>
      </p:grpSp>
      <p:sp>
        <p:nvSpPr>
          <p:cNvPr id="9" name="TextBox 9"/>
          <p:cNvSpPr txBox="1"/>
          <p:nvPr/>
        </p:nvSpPr>
        <p:spPr>
          <a:xfrm>
            <a:off x="756000" y="7260697"/>
            <a:ext cx="6048000" cy="677355"/>
          </a:xfrm>
          <a:prstGeom prst="rect">
            <a:avLst/>
          </a:prstGeom>
        </p:spPr>
        <p:txBody>
          <a:bodyPr lIns="0" tIns="0" rIns="0" bIns="0" rtlCol="0" anchor="t">
            <a:spAutoFit/>
          </a:bodyPr>
          <a:lstStyle/>
          <a:p>
            <a:pPr algn="ctr">
              <a:lnSpc>
                <a:spcPts val="5286"/>
              </a:lnSpc>
            </a:pPr>
            <a:r>
              <a:rPr lang="en-US" sz="4850" b="1">
                <a:solidFill>
                  <a:srgbClr val="EA8C43"/>
                </a:solidFill>
                <a:latin typeface="IBM Plex Sans Bold"/>
                <a:ea typeface="IBM Plex Sans Bold"/>
                <a:cs typeface="IBM Plex Sans Bold"/>
                <a:sym typeface="IBM Plex Sans Bold"/>
              </a:rPr>
              <a:t>BAC+6</a:t>
            </a:r>
          </a:p>
        </p:txBody>
      </p:sp>
      <p:sp>
        <p:nvSpPr>
          <p:cNvPr id="10" name="TextBox 10"/>
          <p:cNvSpPr txBox="1"/>
          <p:nvPr/>
        </p:nvSpPr>
        <p:spPr>
          <a:xfrm>
            <a:off x="2522201" y="10362000"/>
            <a:ext cx="2515629" cy="151428"/>
          </a:xfrm>
          <a:prstGeom prst="rect">
            <a:avLst/>
          </a:prstGeom>
        </p:spPr>
        <p:txBody>
          <a:bodyPr lIns="0" tIns="0" rIns="0" bIns="0" rtlCol="0" anchor="t">
            <a:spAutoFit/>
          </a:bodyPr>
          <a:lstStyle/>
          <a:p>
            <a:pPr algn="l">
              <a:lnSpc>
                <a:spcPts val="1260"/>
              </a:lnSpc>
            </a:pPr>
            <a:r>
              <a:rPr lang="en-US" sz="900" i="1" spc="25">
                <a:solidFill>
                  <a:srgbClr val="FFFFFF"/>
                </a:solidFill>
                <a:latin typeface="IBM Plex Sans Italics"/>
                <a:ea typeface="IBM Plex Sans Italics"/>
                <a:cs typeface="IBM Plex Sans Italics"/>
                <a:sym typeface="IBM Plex Sans Italics"/>
              </a:rPr>
              <a:t>Etablissement d’enseignement supérieur privé</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1380363" y="4894745"/>
            <a:ext cx="762505" cy="679580"/>
            <a:chOff x="0" y="0"/>
            <a:chExt cx="762495" cy="679577"/>
          </a:xfrm>
        </p:grpSpPr>
        <p:sp>
          <p:nvSpPr>
            <p:cNvPr id="3" name="Freeform 3"/>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7112"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p:cNvSpPr/>
            <p:nvPr/>
          </p:nvSpPr>
          <p:spPr>
            <a:xfrm>
              <a:off x="260477" y="267970"/>
              <a:ext cx="120396" cy="140081"/>
            </a:xfrm>
            <a:custGeom>
              <a:avLst/>
              <a:gdLst/>
              <a:ahLst/>
              <a:cxnLst/>
              <a:rect l="l" t="t" r="r" b="b"/>
              <a:pathLst>
                <a:path w="120396"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198" y="0"/>
                  </a:cubicBezTo>
                  <a:lnTo>
                    <a:pt x="76708" y="1778"/>
                  </a:lnTo>
                  <a:cubicBezTo>
                    <a:pt x="91440" y="8890"/>
                    <a:pt x="97790" y="13716"/>
                    <a:pt x="103251" y="19939"/>
                  </a:cubicBezTo>
                  <a:lnTo>
                    <a:pt x="115824" y="42037"/>
                  </a:lnTo>
                  <a:cubicBezTo>
                    <a:pt x="118872" y="50546"/>
                    <a:pt x="120396" y="59944"/>
                    <a:pt x="120396" y="70104"/>
                  </a:cubicBezTo>
                  <a:moveTo>
                    <a:pt x="88900" y="70104"/>
                  </a:moveTo>
                  <a:lnTo>
                    <a:pt x="88265" y="58293"/>
                  </a:lnTo>
                  <a:cubicBezTo>
                    <a:pt x="85471" y="48006"/>
                    <a:pt x="83439" y="43561"/>
                    <a:pt x="80899" y="39878"/>
                  </a:cubicBezTo>
                  <a:lnTo>
                    <a:pt x="75311" y="33401"/>
                  </a:lnTo>
                  <a:lnTo>
                    <a:pt x="64516" y="28448"/>
                  </a:lnTo>
                  <a:cubicBezTo>
                    <a:pt x="56007" y="28448"/>
                    <a:pt x="52070" y="29464"/>
                    <a:pt x="48514" y="31496"/>
                  </a:cubicBezTo>
                  <a:lnTo>
                    <a:pt x="42037" y="36322"/>
                  </a:lnTo>
                  <a:cubicBezTo>
                    <a:pt x="36957" y="43688"/>
                    <a:pt x="34925" y="48133"/>
                    <a:pt x="33528" y="53340"/>
                  </a:cubicBezTo>
                  <a:lnTo>
                    <a:pt x="31369" y="64135"/>
                  </a:lnTo>
                  <a:cubicBezTo>
                    <a:pt x="31369" y="76454"/>
                    <a:pt x="32004" y="82042"/>
                    <a:pt x="33528" y="87122"/>
                  </a:cubicBezTo>
                  <a:lnTo>
                    <a:pt x="36957" y="96520"/>
                  </a:lnTo>
                  <a:cubicBezTo>
                    <a:pt x="42037" y="103886"/>
                    <a:pt x="45085" y="106807"/>
                    <a:pt x="48641" y="108712"/>
                  </a:cubicBezTo>
                  <a:lnTo>
                    <a:pt x="56007" y="111760"/>
                  </a:lnTo>
                  <a:lnTo>
                    <a:pt x="68453" y="110744"/>
                  </a:lnTo>
                  <a:cubicBezTo>
                    <a:pt x="75438" y="106680"/>
                    <a:pt x="78486" y="103886"/>
                    <a:pt x="81026" y="100203"/>
                  </a:cubicBezTo>
                  <a:lnTo>
                    <a:pt x="85598" y="92075"/>
                  </a:lnTo>
                  <a:cubicBezTo>
                    <a:pt x="88392" y="81915"/>
                    <a:pt x="89027" y="76327"/>
                    <a:pt x="89027" y="70104"/>
                  </a:cubicBezTo>
                </a:path>
              </a:pathLst>
            </a:custGeom>
            <a:solidFill>
              <a:srgbClr val="7DE314"/>
            </a:solidFill>
          </p:spPr>
          <p:txBody>
            <a:bodyPr/>
            <a:lstStyle/>
            <a:p>
              <a:endParaRPr lang="fr-FR"/>
            </a:p>
          </p:txBody>
        </p:sp>
        <p:sp>
          <p:nvSpPr>
            <p:cNvPr id="7" name="Freeform 7"/>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036" y="37719"/>
                    <a:pt x="31115" y="39751"/>
                  </a:cubicBezTo>
                  <a:lnTo>
                    <a:pt x="24765" y="43434"/>
                  </a:lnTo>
                  <a:lnTo>
                    <a:pt x="13970" y="48260"/>
                  </a:lnTo>
                  <a:cubicBezTo>
                    <a:pt x="6350" y="50419"/>
                    <a:pt x="2921"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p:cNvGrpSpPr>
            <a:grpSpLocks noChangeAspect="1"/>
          </p:cNvGrpSpPr>
          <p:nvPr/>
        </p:nvGrpSpPr>
        <p:grpSpPr>
          <a:xfrm>
            <a:off x="3639750" y="4887516"/>
            <a:ext cx="762505" cy="686800"/>
            <a:chOff x="0" y="0"/>
            <a:chExt cx="762495" cy="686803"/>
          </a:xfrm>
        </p:grpSpPr>
        <p:sp>
          <p:nvSpPr>
            <p:cNvPr id="9" name="Freeform 9"/>
            <p:cNvSpPr/>
            <p:nvPr/>
          </p:nvSpPr>
          <p:spPr>
            <a:xfrm>
              <a:off x="63500" y="63500"/>
              <a:ext cx="635508" cy="559689"/>
            </a:xfrm>
            <a:custGeom>
              <a:avLst/>
              <a:gdLst/>
              <a:ahLst/>
              <a:cxnLst/>
              <a:rect l="l" t="t" r="r" b="b"/>
              <a:pathLst>
                <a:path w="635508" h="559689">
                  <a:moveTo>
                    <a:pt x="631698" y="294132"/>
                  </a:moveTo>
                  <a:lnTo>
                    <a:pt x="487045" y="545465"/>
                  </a:lnTo>
                  <a:cubicBezTo>
                    <a:pt x="481965" y="554355"/>
                    <a:pt x="472567" y="559689"/>
                    <a:pt x="462407" y="559689"/>
                  </a:cubicBezTo>
                  <a:lnTo>
                    <a:pt x="173101" y="559689"/>
                  </a:lnTo>
                  <a:cubicBezTo>
                    <a:pt x="162941" y="559689"/>
                    <a:pt x="153543" y="554228"/>
                    <a:pt x="148463" y="545465"/>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p:cNvGrpSpPr>
            <a:grpSpLocks noChangeAspect="1"/>
          </p:cNvGrpSpPr>
          <p:nvPr/>
        </p:nvGrpSpPr>
        <p:grpSpPr>
          <a:xfrm>
            <a:off x="0" y="2592886"/>
            <a:ext cx="7559993" cy="1642539"/>
            <a:chOff x="0" y="0"/>
            <a:chExt cx="7559992" cy="1642542"/>
          </a:xfrm>
        </p:grpSpPr>
        <p:sp>
          <p:nvSpPr>
            <p:cNvPr id="15" name="Freeform 15"/>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16" name="Group 16"/>
          <p:cNvGrpSpPr>
            <a:grpSpLocks noChangeAspect="1"/>
          </p:cNvGrpSpPr>
          <p:nvPr/>
        </p:nvGrpSpPr>
        <p:grpSpPr>
          <a:xfrm>
            <a:off x="5653192" y="4880277"/>
            <a:ext cx="762505" cy="694058"/>
            <a:chOff x="0" y="0"/>
            <a:chExt cx="762495" cy="694055"/>
          </a:xfrm>
        </p:grpSpPr>
        <p:sp>
          <p:nvSpPr>
            <p:cNvPr id="17" name="Freeform 17"/>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8" name="Freeform 18"/>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9" name="Freeform 19"/>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20" name="Freeform 20"/>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21" name="Freeform 21"/>
            <p:cNvSpPr/>
            <p:nvPr/>
          </p:nvSpPr>
          <p:spPr>
            <a:xfrm>
              <a:off x="388620"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2" name="Group 22"/>
          <p:cNvGrpSpPr>
            <a:grpSpLocks noChangeAspect="1"/>
          </p:cNvGrpSpPr>
          <p:nvPr/>
        </p:nvGrpSpPr>
        <p:grpSpPr>
          <a:xfrm>
            <a:off x="623635" y="305124"/>
            <a:ext cx="6466446" cy="1976704"/>
            <a:chOff x="0" y="0"/>
            <a:chExt cx="6466446" cy="1976704"/>
          </a:xfrm>
        </p:grpSpPr>
        <p:sp>
          <p:nvSpPr>
            <p:cNvPr id="23" name="Freeform 23"/>
            <p:cNvSpPr/>
            <p:nvPr/>
          </p:nvSpPr>
          <p:spPr>
            <a:xfrm>
              <a:off x="63500" y="381000"/>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4" name="Freeform 24"/>
            <p:cNvSpPr/>
            <p:nvPr/>
          </p:nvSpPr>
          <p:spPr>
            <a:xfrm>
              <a:off x="559435" y="179451"/>
              <a:ext cx="1947672" cy="416433"/>
            </a:xfrm>
            <a:custGeom>
              <a:avLst/>
              <a:gdLst/>
              <a:ahLst/>
              <a:cxnLst/>
              <a:rect l="l" t="t" r="r" b="b"/>
              <a:pathLst>
                <a:path w="1947672" h="416433">
                  <a:moveTo>
                    <a:pt x="0" y="416433"/>
                  </a:moveTo>
                  <a:lnTo>
                    <a:pt x="1947672" y="416433"/>
                  </a:lnTo>
                  <a:lnTo>
                    <a:pt x="1947672" y="0"/>
                  </a:lnTo>
                  <a:lnTo>
                    <a:pt x="0" y="0"/>
                  </a:lnTo>
                  <a:close/>
                </a:path>
              </a:pathLst>
            </a:custGeom>
            <a:solidFill>
              <a:srgbClr val="FFFFFF"/>
            </a:solidFill>
          </p:spPr>
          <p:txBody>
            <a:bodyPr/>
            <a:lstStyle/>
            <a:p>
              <a:endParaRPr lang="fr-FR"/>
            </a:p>
          </p:txBody>
        </p:sp>
        <p:sp>
          <p:nvSpPr>
            <p:cNvPr id="25" name="Freeform 25"/>
            <p:cNvSpPr/>
            <p:nvPr/>
          </p:nvSpPr>
          <p:spPr>
            <a:xfrm>
              <a:off x="5722620" y="63500"/>
              <a:ext cx="680339" cy="646176"/>
            </a:xfrm>
            <a:custGeom>
              <a:avLst/>
              <a:gdLst/>
              <a:ahLst/>
              <a:cxnLst/>
              <a:rect l="l" t="t" r="r" b="b"/>
              <a:pathLst>
                <a:path w="680339" h="646176">
                  <a:moveTo>
                    <a:pt x="340233" y="646049"/>
                  </a:moveTo>
                  <a:cubicBezTo>
                    <a:pt x="528066" y="646049"/>
                    <a:pt x="680339" y="501396"/>
                    <a:pt x="680339" y="322961"/>
                  </a:cubicBezTo>
                  <a:cubicBezTo>
                    <a:pt x="680339" y="144526"/>
                    <a:pt x="528066" y="0"/>
                    <a:pt x="340233" y="0"/>
                  </a:cubicBezTo>
                  <a:cubicBezTo>
                    <a:pt x="152400"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6" name="Freeform 26"/>
            <p:cNvSpPr/>
            <p:nvPr/>
          </p:nvSpPr>
          <p:spPr>
            <a:xfrm>
              <a:off x="1884299" y="134962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7" name="Freeform 27"/>
            <p:cNvSpPr/>
            <p:nvPr/>
          </p:nvSpPr>
          <p:spPr>
            <a:xfrm>
              <a:off x="3229102" y="1339596"/>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8" name="Freeform 28"/>
            <p:cNvSpPr/>
            <p:nvPr/>
          </p:nvSpPr>
          <p:spPr>
            <a:xfrm>
              <a:off x="4741037" y="1334135"/>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9" name="Freeform 29"/>
            <p:cNvSpPr/>
            <p:nvPr/>
          </p:nvSpPr>
          <p:spPr>
            <a:xfrm>
              <a:off x="566674" y="134962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grpSp>
      <p:sp>
        <p:nvSpPr>
          <p:cNvPr id="30" name="TextBox 99"/>
          <p:cNvSpPr txBox="1"/>
          <p:nvPr/>
        </p:nvSpPr>
        <p:spPr>
          <a:xfrm>
            <a:off x="6672167" y="9971913"/>
            <a:ext cx="248917" cy="240665"/>
          </a:xfrm>
          <a:prstGeom prst="rect">
            <a:avLst/>
          </a:prstGeom>
        </p:spPr>
        <p:txBody>
          <a:bodyPr lIns="0" tIns="0" rIns="0" bIns="0" rtlCol="0" anchor="t">
            <a:spAutoFit/>
          </a:bodyPr>
          <a:lstStyle/>
          <a:p>
            <a:pPr algn="l">
              <a:lnSpc>
                <a:spcPts val="1959"/>
              </a:lnSpc>
            </a:pPr>
            <a:r>
              <a:rPr lang="en-US" sz="1399" b="1" spc="2">
                <a:solidFill>
                  <a:srgbClr val="231F20"/>
                </a:solidFill>
                <a:latin typeface="Open Sans Bold"/>
                <a:ea typeface="Open Sans Bold"/>
                <a:cs typeface="Open Sans Bold"/>
                <a:sym typeface="Open Sans Bold"/>
              </a:rPr>
              <a:t>27</a:t>
            </a:r>
          </a:p>
        </p:txBody>
      </p:sp>
      <p:sp>
        <p:nvSpPr>
          <p:cNvPr id="31" name="TextBox 46"/>
          <p:cNvSpPr txBox="1"/>
          <p:nvPr/>
        </p:nvSpPr>
        <p:spPr>
          <a:xfrm>
            <a:off x="796119" y="6182554"/>
            <a:ext cx="3224382" cy="299056"/>
          </a:xfrm>
          <a:prstGeom prst="rect">
            <a:avLst/>
          </a:prstGeom>
        </p:spPr>
        <p:txBody>
          <a:bodyPr wrap="square" lIns="0" tIns="0" rIns="0" bIns="0" rtlCol="0" anchor="t">
            <a:spAutoFit/>
          </a:bodyPr>
          <a:lstStyle/>
          <a:p>
            <a:pPr algn="l">
              <a:lnSpc>
                <a:spcPts val="2520"/>
              </a:lnSpc>
            </a:pPr>
            <a:r>
              <a:rPr lang="en-US" sz="1800" b="1" i="1" spc="9" dirty="0">
                <a:solidFill>
                  <a:srgbClr val="EA8C39"/>
                </a:solidFill>
                <a:latin typeface="IBM Plex Sans Bold Italics"/>
                <a:ea typeface="IBM Plex Sans Bold Italics"/>
                <a:cs typeface="IBM Plex Sans Bold Italics"/>
                <a:sym typeface="IBM Plex Sans Bold Italics"/>
              </a:rPr>
              <a:t>ENSEIGNEMENTS</a:t>
            </a:r>
          </a:p>
        </p:txBody>
      </p:sp>
      <p:sp>
        <p:nvSpPr>
          <p:cNvPr id="32" name="TextBox 47"/>
          <p:cNvSpPr txBox="1"/>
          <p:nvPr/>
        </p:nvSpPr>
        <p:spPr>
          <a:xfrm>
            <a:off x="778744" y="4391616"/>
            <a:ext cx="3990106" cy="299056"/>
          </a:xfrm>
          <a:prstGeom prst="rect">
            <a:avLst/>
          </a:prstGeom>
        </p:spPr>
        <p:txBody>
          <a:bodyPr wrap="square" lIns="0" tIns="0" rIns="0" bIns="0" rtlCol="0" anchor="t">
            <a:spAutoFit/>
          </a:bodyPr>
          <a:lstStyle/>
          <a:p>
            <a:pPr algn="l">
              <a:lnSpc>
                <a:spcPts val="2520"/>
              </a:lnSpc>
            </a:pPr>
            <a:r>
              <a:rPr lang="en-US" sz="1800" b="1" i="1" spc="9" dirty="0">
                <a:solidFill>
                  <a:srgbClr val="EA8C39"/>
                </a:solidFill>
                <a:latin typeface="IBM Plex Sans Bold Italics"/>
                <a:ea typeface="IBM Plex Sans Bold Italics"/>
                <a:cs typeface="IBM Plex Sans Bold Italics"/>
                <a:sym typeface="IBM Plex Sans Bold Italics"/>
              </a:rPr>
              <a:t>TOP3 - POINTS FORTS</a:t>
            </a:r>
          </a:p>
        </p:txBody>
      </p:sp>
      <p:sp>
        <p:nvSpPr>
          <p:cNvPr id="33" name="TextBox 45"/>
          <p:cNvSpPr txBox="1"/>
          <p:nvPr/>
        </p:nvSpPr>
        <p:spPr>
          <a:xfrm>
            <a:off x="804129" y="8159772"/>
            <a:ext cx="3850362" cy="299056"/>
          </a:xfrm>
          <a:prstGeom prst="rect">
            <a:avLst/>
          </a:prstGeom>
        </p:spPr>
        <p:txBody>
          <a:bodyPr lIns="0" tIns="0" rIns="0" bIns="0" rtlCol="0" anchor="t">
            <a:spAutoFit/>
          </a:bodyPr>
          <a:lstStyle/>
          <a:p>
            <a:pPr algn="l">
              <a:lnSpc>
                <a:spcPts val="2520"/>
              </a:lnSpc>
            </a:pPr>
            <a:r>
              <a:rPr lang="en-US" sz="1800" b="1" i="1" spc="9" dirty="0">
                <a:solidFill>
                  <a:srgbClr val="EA8C39"/>
                </a:solidFill>
                <a:latin typeface="IBM Plex Sans Bold Italics"/>
                <a:ea typeface="IBM Plex Sans Bold Italics"/>
                <a:cs typeface="IBM Plex Sans Bold Italics"/>
                <a:sym typeface="IBM Plex Sans Bold Italics"/>
              </a:rPr>
              <a:t>OPPORTUNITÉS MÉTIERS</a:t>
            </a:r>
          </a:p>
        </p:txBody>
      </p:sp>
      <p:sp>
        <p:nvSpPr>
          <p:cNvPr id="34" name="TextBox 48"/>
          <p:cNvSpPr txBox="1"/>
          <p:nvPr/>
        </p:nvSpPr>
        <p:spPr>
          <a:xfrm>
            <a:off x="1274693" y="911790"/>
            <a:ext cx="5145157" cy="299056"/>
          </a:xfrm>
          <a:prstGeom prst="rect">
            <a:avLst/>
          </a:prstGeom>
        </p:spPr>
        <p:txBody>
          <a:bodyPr wrap="square" lIns="0" tIns="0" rIns="0" bIns="0" rtlCol="0" anchor="t">
            <a:spAutoFit/>
          </a:bodyPr>
          <a:lstStyle/>
          <a:p>
            <a:pPr algn="l">
              <a:lnSpc>
                <a:spcPts val="2520"/>
              </a:lnSpc>
            </a:pPr>
            <a:r>
              <a:rPr lang="en-US" sz="1800" b="1" spc="7" dirty="0">
                <a:solidFill>
                  <a:srgbClr val="1A1447"/>
                </a:solidFill>
                <a:latin typeface="IBM Plex Sans Bold"/>
                <a:ea typeface="IBM Plex Sans Bold"/>
                <a:cs typeface="IBM Plex Sans Bold"/>
                <a:sym typeface="IBM Plex Sans Bold"/>
              </a:rPr>
              <a:t>Nom</a:t>
            </a:r>
          </a:p>
        </p:txBody>
      </p:sp>
      <p:sp>
        <p:nvSpPr>
          <p:cNvPr id="35" name="TextBox 50"/>
          <p:cNvSpPr txBox="1"/>
          <p:nvPr/>
        </p:nvSpPr>
        <p:spPr>
          <a:xfrm>
            <a:off x="1274693" y="430139"/>
            <a:ext cx="1496263" cy="406458"/>
          </a:xfrm>
          <a:prstGeom prst="rect">
            <a:avLst/>
          </a:prstGeom>
        </p:spPr>
        <p:txBody>
          <a:bodyPr lIns="0" tIns="0" rIns="0" bIns="0" rtlCol="0" anchor="t">
            <a:spAutoFit/>
          </a:bodyPr>
          <a:lstStyle/>
          <a:p>
            <a:pPr algn="l">
              <a:lnSpc>
                <a:spcPts val="3359"/>
              </a:lnSpc>
            </a:pPr>
            <a:r>
              <a:rPr lang="en-US" sz="2400" b="1" spc="4" dirty="0">
                <a:solidFill>
                  <a:srgbClr val="231F20"/>
                </a:solidFill>
                <a:latin typeface="Open Sans Bold"/>
                <a:ea typeface="Open Sans Bold"/>
                <a:cs typeface="Open Sans Bold"/>
                <a:sym typeface="Open Sans Bold"/>
              </a:rPr>
              <a:t>TYPE</a:t>
            </a:r>
          </a:p>
        </p:txBody>
      </p:sp>
      <p:sp>
        <p:nvSpPr>
          <p:cNvPr id="36" name="TextBox 51"/>
          <p:cNvSpPr txBox="1"/>
          <p:nvPr/>
        </p:nvSpPr>
        <p:spPr>
          <a:xfrm>
            <a:off x="1302506" y="1517485"/>
            <a:ext cx="1158317" cy="192938"/>
          </a:xfrm>
          <a:prstGeom prst="rect">
            <a:avLst/>
          </a:prstGeom>
        </p:spPr>
        <p:txBody>
          <a:bodyPr wrap="square" lIns="0" tIns="0" rIns="0" bIns="0" rtlCol="0" anchor="t">
            <a:spAutoFit/>
          </a:bodyPr>
          <a:lstStyle/>
          <a:p>
            <a:pPr algn="just">
              <a:lnSpc>
                <a:spcPts val="1614"/>
              </a:lnSpc>
            </a:pPr>
            <a:r>
              <a:rPr lang="en-US" sz="1200" spc="7" dirty="0">
                <a:solidFill>
                  <a:srgbClr val="464395"/>
                </a:solidFill>
                <a:latin typeface="IBM Plex Sans"/>
                <a:ea typeface="IBM Plex Sans"/>
                <a:cs typeface="IBM Plex Sans"/>
                <a:sym typeface="IBM Plex Sans"/>
              </a:rPr>
              <a:t>2 RENTRÉES</a:t>
            </a:r>
            <a:endParaRPr lang="en-US" sz="1200" i="1" spc="6" dirty="0">
              <a:solidFill>
                <a:srgbClr val="231F20"/>
              </a:solidFill>
              <a:latin typeface="IBM Plex Sans Italics"/>
              <a:ea typeface="IBM Plex Sans Italics"/>
              <a:cs typeface="IBM Plex Sans Italics"/>
              <a:sym typeface="IBM Plex Sans Italics"/>
            </a:endParaRPr>
          </a:p>
        </p:txBody>
      </p:sp>
      <p:sp>
        <p:nvSpPr>
          <p:cNvPr id="37" name="TextBox 32"/>
          <p:cNvSpPr txBox="1"/>
          <p:nvPr/>
        </p:nvSpPr>
        <p:spPr>
          <a:xfrm>
            <a:off x="827465" y="6658127"/>
            <a:ext cx="1683477" cy="154466"/>
          </a:xfrm>
          <a:prstGeom prst="rect">
            <a:avLst/>
          </a:prstGeom>
        </p:spPr>
        <p:txBody>
          <a:bodyPr lIns="0" tIns="0" rIns="0" bIns="0" rtlCol="0" anchor="t">
            <a:spAutoFit/>
          </a:bodyPr>
          <a:lstStyle/>
          <a:p>
            <a:pPr marL="0" lvl="0" indent="0" algn="l">
              <a:lnSpc>
                <a:spcPts val="1200"/>
              </a:lnSpc>
              <a:spcBef>
                <a:spcPct val="0"/>
              </a:spcBef>
            </a:pPr>
            <a:r>
              <a:rPr lang="en-US" sz="1200" i="1" spc="6" dirty="0">
                <a:solidFill>
                  <a:srgbClr val="231F20"/>
                </a:solidFill>
                <a:latin typeface="IBM Plex Sans Italics"/>
                <a:ea typeface="IBM Plex Sans Italics"/>
                <a:cs typeface="IBM Plex Sans Italics"/>
                <a:sym typeface="IBM Plex Sans Italics"/>
              </a:rPr>
              <a:t>Enseignement1</a:t>
            </a:r>
            <a:endParaRPr lang="en-US" sz="1200" i="1" u="none" strike="noStrike" spc="6" dirty="0">
              <a:solidFill>
                <a:srgbClr val="231F20"/>
              </a:solidFill>
              <a:latin typeface="IBM Plex Sans Italics"/>
              <a:ea typeface="IBM Plex Sans Italics"/>
              <a:cs typeface="IBM Plex Sans Italics"/>
              <a:sym typeface="IBM Plex Sans Italics"/>
            </a:endParaRPr>
          </a:p>
        </p:txBody>
      </p:sp>
      <p:sp>
        <p:nvSpPr>
          <p:cNvPr id="38" name="TextBox 33"/>
          <p:cNvSpPr txBox="1"/>
          <p:nvPr/>
        </p:nvSpPr>
        <p:spPr>
          <a:xfrm>
            <a:off x="922553" y="5577573"/>
            <a:ext cx="1818113" cy="179536"/>
          </a:xfrm>
          <a:prstGeom prst="rect">
            <a:avLst/>
          </a:prstGeom>
        </p:spPr>
        <p:txBody>
          <a:bodyPr lIns="0" tIns="0" rIns="0" bIns="0" rtlCol="0" anchor="t">
            <a:spAutoFit/>
          </a:bodyPr>
          <a:lstStyle/>
          <a:p>
            <a:pPr algn="ctr">
              <a:lnSpc>
                <a:spcPts val="1439"/>
              </a:lnSpc>
            </a:pPr>
            <a:r>
              <a:rPr lang="en-US" sz="1200" i="1" spc="6" dirty="0">
                <a:solidFill>
                  <a:srgbClr val="1A1447"/>
                </a:solidFill>
                <a:latin typeface="IBM Plex Sans Italics"/>
                <a:ea typeface="IBM Plex Sans Italics"/>
                <a:cs typeface="IBM Plex Sans Italics"/>
                <a:sym typeface="IBM Plex Sans Italics"/>
              </a:rPr>
              <a:t>PointFort1</a:t>
            </a:r>
          </a:p>
        </p:txBody>
      </p:sp>
      <p:sp>
        <p:nvSpPr>
          <p:cNvPr id="39" name="TextBox 52"/>
          <p:cNvSpPr txBox="1"/>
          <p:nvPr/>
        </p:nvSpPr>
        <p:spPr>
          <a:xfrm>
            <a:off x="2664000" y="1485071"/>
            <a:ext cx="723062" cy="212174"/>
          </a:xfrm>
          <a:prstGeom prst="rect">
            <a:avLst/>
          </a:prstGeom>
        </p:spPr>
        <p:txBody>
          <a:bodyPr lIns="0" tIns="0" rIns="0" bIns="0" rtlCol="0" anchor="t">
            <a:spAutoFit/>
          </a:bodyPr>
          <a:lstStyle/>
          <a:p>
            <a:pPr algn="l">
              <a:lnSpc>
                <a:spcPts val="1783"/>
              </a:lnSpc>
            </a:pPr>
            <a:r>
              <a:rPr lang="en-US" sz="1200" spc="6" dirty="0">
                <a:solidFill>
                  <a:srgbClr val="464395"/>
                </a:solidFill>
                <a:latin typeface="IBM Plex Sans"/>
                <a:ea typeface="IBM Plex Sans"/>
                <a:cs typeface="IBM Plex Sans"/>
                <a:sym typeface="IBM Plex Sans"/>
              </a:rPr>
              <a:t>LANGUE</a:t>
            </a:r>
            <a:endParaRPr lang="en-US" sz="1200" i="1" spc="6" dirty="0">
              <a:solidFill>
                <a:srgbClr val="231F20"/>
              </a:solidFill>
              <a:latin typeface="IBM Plex Sans Italics"/>
              <a:ea typeface="IBM Plex Sans Italics"/>
              <a:cs typeface="IBM Plex Sans Italics"/>
              <a:sym typeface="IBM Plex Sans Italics"/>
            </a:endParaRPr>
          </a:p>
        </p:txBody>
      </p:sp>
      <p:sp>
        <p:nvSpPr>
          <p:cNvPr id="40" name="TextBox 35"/>
          <p:cNvSpPr txBox="1"/>
          <p:nvPr/>
        </p:nvSpPr>
        <p:spPr>
          <a:xfrm>
            <a:off x="796119" y="8528914"/>
            <a:ext cx="2997689" cy="179536"/>
          </a:xfrm>
          <a:prstGeom prst="rect">
            <a:avLst/>
          </a:prstGeom>
        </p:spPr>
        <p:txBody>
          <a:bodyPr lIns="0" tIns="0" rIns="0" bIns="0" rtlCol="0" anchor="t">
            <a:spAutoFit/>
          </a:bodyPr>
          <a:lstStyle/>
          <a:p>
            <a:pPr marL="129540" lvl="1" algn="just">
              <a:lnSpc>
                <a:spcPts val="1439"/>
              </a:lnSpc>
            </a:pPr>
            <a:r>
              <a:rPr lang="en-US" sz="1200" i="1" spc="6" dirty="0" err="1">
                <a:solidFill>
                  <a:srgbClr val="1A1447"/>
                </a:solidFill>
                <a:latin typeface="IBM Plex Sans Italics"/>
                <a:ea typeface="IBM Plex Sans Italics"/>
                <a:cs typeface="IBM Plex Sans Italics"/>
                <a:sym typeface="IBM Plex Sans Italics"/>
              </a:rPr>
              <a:t>Metier</a:t>
            </a:r>
            <a:endParaRPr lang="en-US" sz="1200" i="1" spc="6" dirty="0">
              <a:solidFill>
                <a:srgbClr val="1A1447"/>
              </a:solidFill>
              <a:latin typeface="IBM Plex Sans Italics"/>
              <a:ea typeface="IBM Plex Sans Italics"/>
              <a:cs typeface="IBM Plex Sans Italics"/>
              <a:sym typeface="IBM Plex Sans Italics"/>
            </a:endParaRPr>
          </a:p>
        </p:txBody>
      </p:sp>
      <p:sp>
        <p:nvSpPr>
          <p:cNvPr id="41" name="TextBox 37"/>
          <p:cNvSpPr txBox="1"/>
          <p:nvPr/>
        </p:nvSpPr>
        <p:spPr>
          <a:xfrm>
            <a:off x="3173397" y="5577573"/>
            <a:ext cx="1632661" cy="179536"/>
          </a:xfrm>
          <a:prstGeom prst="rect">
            <a:avLst/>
          </a:prstGeom>
        </p:spPr>
        <p:txBody>
          <a:bodyPr lIns="0" tIns="0" rIns="0" bIns="0" rtlCol="0" anchor="t">
            <a:spAutoFit/>
          </a:bodyPr>
          <a:lstStyle/>
          <a:p>
            <a:pPr algn="ctr">
              <a:lnSpc>
                <a:spcPts val="1439"/>
              </a:lnSpc>
            </a:pPr>
            <a:r>
              <a:rPr lang="en-US" sz="1200" i="1" spc="6" dirty="0">
                <a:solidFill>
                  <a:srgbClr val="1A1447"/>
                </a:solidFill>
                <a:latin typeface="IBM Plex Sans Italics"/>
                <a:ea typeface="IBM Plex Sans Italics"/>
                <a:cs typeface="IBM Plex Sans Italics"/>
                <a:sym typeface="IBM Plex Sans Italics"/>
              </a:rPr>
              <a:t>PointFort2</a:t>
            </a:r>
          </a:p>
        </p:txBody>
      </p:sp>
      <p:sp>
        <p:nvSpPr>
          <p:cNvPr id="42" name="TextBox 36"/>
          <p:cNvSpPr txBox="1"/>
          <p:nvPr/>
        </p:nvSpPr>
        <p:spPr>
          <a:xfrm>
            <a:off x="3135649" y="6640468"/>
            <a:ext cx="1766992"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6" dirty="0">
                <a:solidFill>
                  <a:srgbClr val="231F20"/>
                </a:solidFill>
                <a:latin typeface="IBM Plex Sans Italics"/>
                <a:ea typeface="IBM Plex Sans Italics"/>
                <a:cs typeface="IBM Plex Sans Italics"/>
                <a:sym typeface="IBM Plex Sans Italics"/>
              </a:rPr>
              <a:t>Enseignement2</a:t>
            </a:r>
          </a:p>
        </p:txBody>
      </p:sp>
      <p:sp>
        <p:nvSpPr>
          <p:cNvPr id="43" name="TextBox 53"/>
          <p:cNvSpPr txBox="1"/>
          <p:nvPr/>
        </p:nvSpPr>
        <p:spPr>
          <a:xfrm>
            <a:off x="3925248" y="1507960"/>
            <a:ext cx="983504" cy="212174"/>
          </a:xfrm>
          <a:prstGeom prst="rect">
            <a:avLst/>
          </a:prstGeom>
        </p:spPr>
        <p:txBody>
          <a:bodyPr lIns="0" tIns="0" rIns="0" bIns="0" rtlCol="0" anchor="t">
            <a:spAutoFit/>
          </a:bodyPr>
          <a:lstStyle/>
          <a:p>
            <a:pPr algn="l">
              <a:lnSpc>
                <a:spcPts val="1796"/>
              </a:lnSpc>
            </a:pPr>
            <a:r>
              <a:rPr lang="en-US" sz="1200" spc="7" dirty="0">
                <a:solidFill>
                  <a:srgbClr val="464395"/>
                </a:solidFill>
                <a:latin typeface="IBM Plex Sans"/>
                <a:ea typeface="IBM Plex Sans"/>
                <a:cs typeface="IBM Plex Sans"/>
                <a:sym typeface="IBM Plex Sans"/>
              </a:rPr>
              <a:t>STAGE</a:t>
            </a:r>
          </a:p>
        </p:txBody>
      </p:sp>
      <p:sp>
        <p:nvSpPr>
          <p:cNvPr id="44" name="TextBox 39"/>
          <p:cNvSpPr txBox="1"/>
          <p:nvPr/>
        </p:nvSpPr>
        <p:spPr>
          <a:xfrm>
            <a:off x="5446938" y="1716900"/>
            <a:ext cx="788670" cy="179536"/>
          </a:xfrm>
          <a:prstGeom prst="rect">
            <a:avLst/>
          </a:prstGeom>
        </p:spPr>
        <p:txBody>
          <a:bodyPr lIns="0" tIns="0" rIns="0" bIns="0" rtlCol="0" anchor="t">
            <a:spAutoFit/>
          </a:bodyPr>
          <a:lstStyle/>
          <a:p>
            <a:pPr>
              <a:lnSpc>
                <a:spcPts val="1439"/>
              </a:lnSpc>
            </a:pPr>
            <a:r>
              <a:rPr lang="en-US" sz="1200" i="1" spc="6" dirty="0">
                <a:solidFill>
                  <a:srgbClr val="231F20"/>
                </a:solidFill>
                <a:latin typeface="IBM Plex Sans Italics"/>
                <a:ea typeface="IBM Plex Sans Italics"/>
                <a:cs typeface="IBM Plex Sans Italics"/>
                <a:sym typeface="IBM Plex Sans Italics"/>
              </a:rPr>
              <a:t>Admission</a:t>
            </a:r>
          </a:p>
        </p:txBody>
      </p:sp>
      <p:sp>
        <p:nvSpPr>
          <p:cNvPr id="45" name="TextBox 40"/>
          <p:cNvSpPr txBox="1"/>
          <p:nvPr/>
        </p:nvSpPr>
        <p:spPr>
          <a:xfrm>
            <a:off x="5294186" y="5577573"/>
            <a:ext cx="1766350" cy="179536"/>
          </a:xfrm>
          <a:prstGeom prst="rect">
            <a:avLst/>
          </a:prstGeom>
        </p:spPr>
        <p:txBody>
          <a:bodyPr lIns="0" tIns="0" rIns="0" bIns="0" rtlCol="0" anchor="t">
            <a:spAutoFit/>
          </a:bodyPr>
          <a:lstStyle/>
          <a:p>
            <a:pPr algn="ctr">
              <a:lnSpc>
                <a:spcPts val="1439"/>
              </a:lnSpc>
            </a:pPr>
            <a:r>
              <a:rPr lang="en-US" sz="1200" i="1" spc="6" dirty="0">
                <a:solidFill>
                  <a:srgbClr val="1A1447"/>
                </a:solidFill>
                <a:latin typeface="IBM Plex Sans Italics"/>
                <a:ea typeface="IBM Plex Sans Italics"/>
                <a:cs typeface="IBM Plex Sans Italics"/>
                <a:sym typeface="IBM Plex Sans Italics"/>
              </a:rPr>
              <a:t>PointFort3</a:t>
            </a:r>
          </a:p>
        </p:txBody>
      </p:sp>
      <p:sp>
        <p:nvSpPr>
          <p:cNvPr id="46" name="TextBox 43"/>
          <p:cNvSpPr txBox="1"/>
          <p:nvPr/>
        </p:nvSpPr>
        <p:spPr>
          <a:xfrm>
            <a:off x="6505746" y="468239"/>
            <a:ext cx="332842" cy="383311"/>
          </a:xfrm>
          <a:prstGeom prst="rect">
            <a:avLst/>
          </a:prstGeom>
        </p:spPr>
        <p:txBody>
          <a:bodyPr lIns="0" tIns="0" rIns="0" bIns="0" rtlCol="0" anchor="t">
            <a:spAutoFit/>
          </a:bodyPr>
          <a:lstStyle/>
          <a:p>
            <a:pPr algn="ctr">
              <a:lnSpc>
                <a:spcPts val="1660"/>
              </a:lnSpc>
            </a:pPr>
            <a:r>
              <a:rPr lang="en-US" sz="1399" b="1" spc="2" dirty="0">
                <a:solidFill>
                  <a:srgbClr val="FFFFFF"/>
                </a:solidFill>
                <a:latin typeface="Open Sans Bold"/>
                <a:ea typeface="Open Sans Bold"/>
                <a:cs typeface="Open Sans Bold"/>
                <a:sym typeface="Open Sans Bold"/>
              </a:rPr>
              <a:t>1 </a:t>
            </a:r>
          </a:p>
          <a:p>
            <a:pPr algn="ctr">
              <a:lnSpc>
                <a:spcPts val="1423"/>
              </a:lnSpc>
            </a:pPr>
            <a:r>
              <a:rPr lang="en-US" sz="1200" b="1" spc="2" dirty="0">
                <a:solidFill>
                  <a:srgbClr val="FFFFFF"/>
                </a:solidFill>
                <a:latin typeface="Open Sans Bold"/>
                <a:ea typeface="Open Sans Bold"/>
                <a:cs typeface="Open Sans Bold"/>
                <a:sym typeface="Open Sans Bold"/>
              </a:rPr>
              <a:t>AN</a:t>
            </a:r>
          </a:p>
        </p:txBody>
      </p:sp>
      <p:sp>
        <p:nvSpPr>
          <p:cNvPr id="47" name="TextBox 42"/>
          <p:cNvSpPr txBox="1"/>
          <p:nvPr/>
        </p:nvSpPr>
        <p:spPr>
          <a:xfrm>
            <a:off x="756000" y="2631872"/>
            <a:ext cx="6040626" cy="179536"/>
          </a:xfrm>
          <a:prstGeom prst="rect">
            <a:avLst/>
          </a:prstGeom>
        </p:spPr>
        <p:txBody>
          <a:bodyPr lIns="0" tIns="0" rIns="0" bIns="0" rtlCol="0" anchor="t">
            <a:spAutoFit/>
          </a:bodyPr>
          <a:lstStyle/>
          <a:p>
            <a:pPr algn="l">
              <a:lnSpc>
                <a:spcPts val="1439"/>
              </a:lnSpc>
            </a:pPr>
            <a:r>
              <a:rPr lang="en-US" sz="1200" spc="7" dirty="0">
                <a:solidFill>
                  <a:srgbClr val="FFFFFF"/>
                </a:solidFill>
                <a:latin typeface="IBM Plex Sans"/>
                <a:ea typeface="IBM Plex Sans"/>
                <a:cs typeface="IBM Plex Sans"/>
                <a:sym typeface="IBM Plex Sans"/>
              </a:rPr>
              <a:t>Description</a:t>
            </a:r>
          </a:p>
        </p:txBody>
      </p:sp>
      <p:sp>
        <p:nvSpPr>
          <p:cNvPr id="48" name="TextBox 41"/>
          <p:cNvSpPr txBox="1"/>
          <p:nvPr/>
        </p:nvSpPr>
        <p:spPr>
          <a:xfrm>
            <a:off x="5311045" y="6618761"/>
            <a:ext cx="1610039" cy="154466"/>
          </a:xfrm>
          <a:prstGeom prst="rect">
            <a:avLst/>
          </a:prstGeom>
        </p:spPr>
        <p:txBody>
          <a:bodyPr lIns="0" tIns="0" rIns="0" bIns="0" rtlCol="0" anchor="t">
            <a:spAutoFit/>
          </a:bodyPr>
          <a:lstStyle/>
          <a:p>
            <a:pPr algn="just">
              <a:lnSpc>
                <a:spcPts val="1200"/>
              </a:lnSpc>
            </a:pPr>
            <a:r>
              <a:rPr lang="en-US" sz="1200" i="1" spc="6" dirty="0">
                <a:solidFill>
                  <a:srgbClr val="231F20"/>
                </a:solidFill>
                <a:latin typeface="IBM Plex Sans Italics"/>
                <a:ea typeface="IBM Plex Sans Italics"/>
                <a:cs typeface="IBM Plex Sans Italics"/>
                <a:sym typeface="IBM Plex Sans Italics"/>
              </a:rPr>
              <a:t>Enseignement3</a:t>
            </a:r>
          </a:p>
        </p:txBody>
      </p:sp>
      <p:sp>
        <p:nvSpPr>
          <p:cNvPr id="49" name="TextBox 44"/>
          <p:cNvSpPr txBox="1"/>
          <p:nvPr/>
        </p:nvSpPr>
        <p:spPr>
          <a:xfrm>
            <a:off x="2497055" y="10250005"/>
            <a:ext cx="2515629" cy="151428"/>
          </a:xfrm>
          <a:prstGeom prst="rect">
            <a:avLst/>
          </a:prstGeom>
        </p:spPr>
        <p:txBody>
          <a:bodyPr lIns="0" tIns="0" rIns="0" bIns="0" rtlCol="0" anchor="t">
            <a:spAutoFit/>
          </a:bodyPr>
          <a:lstStyle/>
          <a:p>
            <a:pPr algn="l">
              <a:lnSpc>
                <a:spcPts val="1260"/>
              </a:lnSpc>
            </a:pPr>
            <a:r>
              <a:rPr lang="en-US" sz="900" i="1" spc="26">
                <a:solidFill>
                  <a:srgbClr val="939496"/>
                </a:solidFill>
                <a:latin typeface="IBM Plex Sans Italics"/>
                <a:ea typeface="IBM Plex Sans Italics"/>
                <a:cs typeface="IBM Plex Sans Italics"/>
                <a:sym typeface="IBM Plex Sans Italics"/>
              </a:rPr>
              <a:t>Etablissement d’enseignement supérieur privé</a:t>
            </a:r>
          </a:p>
        </p:txBody>
      </p:sp>
      <p:sp>
        <p:nvSpPr>
          <p:cNvPr id="50" name="TextBox 49"/>
          <p:cNvSpPr txBox="1"/>
          <p:nvPr/>
        </p:nvSpPr>
        <p:spPr>
          <a:xfrm>
            <a:off x="5452586" y="1494596"/>
            <a:ext cx="783022" cy="192491"/>
          </a:xfrm>
          <a:prstGeom prst="rect">
            <a:avLst/>
          </a:prstGeom>
        </p:spPr>
        <p:txBody>
          <a:bodyPr lIns="0" tIns="0" rIns="0" bIns="0" rtlCol="0" anchor="t">
            <a:spAutoFit/>
          </a:bodyPr>
          <a:lstStyle/>
          <a:p>
            <a:pPr algn="l">
              <a:lnSpc>
                <a:spcPts val="1539"/>
              </a:lnSpc>
            </a:pPr>
            <a:r>
              <a:rPr lang="en-US" sz="1100" spc="6" dirty="0">
                <a:solidFill>
                  <a:srgbClr val="464395"/>
                </a:solidFill>
                <a:latin typeface="IBM Plex Sans"/>
                <a:ea typeface="IBM Plex Sans"/>
                <a:cs typeface="IBM Plex Sans"/>
                <a:sym typeface="IBM Plex Sans"/>
              </a:rPr>
              <a:t>ADMISSION</a:t>
            </a:r>
          </a:p>
        </p:txBody>
      </p:sp>
      <p:sp>
        <p:nvSpPr>
          <p:cNvPr id="51" name="TextBox 34">
            <a:extLst>
              <a:ext uri="{FF2B5EF4-FFF2-40B4-BE49-F238E27FC236}">
                <a16:creationId xmlns:a16="http://schemas.microsoft.com/office/drawing/2014/main" id="{CC0210CA-C893-8B54-7DCC-26ECCB5BBD5E}"/>
              </a:ext>
            </a:extLst>
          </p:cNvPr>
          <p:cNvSpPr txBox="1"/>
          <p:nvPr/>
        </p:nvSpPr>
        <p:spPr>
          <a:xfrm>
            <a:off x="2661175" y="1713840"/>
            <a:ext cx="723062" cy="212174"/>
          </a:xfrm>
          <a:prstGeom prst="rect">
            <a:avLst/>
          </a:prstGeom>
        </p:spPr>
        <p:txBody>
          <a:bodyPr lIns="0" tIns="0" rIns="0" bIns="0" rtlCol="0" anchor="t">
            <a:spAutoFit/>
          </a:bodyPr>
          <a:lstStyle/>
          <a:p>
            <a:pPr algn="l">
              <a:lnSpc>
                <a:spcPts val="1783"/>
              </a:lnSpc>
            </a:pPr>
            <a:r>
              <a:rPr lang="en-US" sz="1200" i="1" spc="6" dirty="0">
                <a:solidFill>
                  <a:srgbClr val="231F20"/>
                </a:solidFill>
                <a:latin typeface="IBM Plex Sans Italics"/>
                <a:ea typeface="IBM Plex Sans Italics"/>
                <a:cs typeface="IBM Plex Sans Italics"/>
                <a:sym typeface="IBM Plex Sans Italics"/>
              </a:rPr>
              <a:t>Langue</a:t>
            </a:r>
          </a:p>
        </p:txBody>
      </p:sp>
      <p:sp>
        <p:nvSpPr>
          <p:cNvPr id="52" name="TextBox 38">
            <a:extLst>
              <a:ext uri="{FF2B5EF4-FFF2-40B4-BE49-F238E27FC236}">
                <a16:creationId xmlns:a16="http://schemas.microsoft.com/office/drawing/2014/main" id="{0571E810-DE32-3ED7-2CF5-8369BB9F97AE}"/>
              </a:ext>
            </a:extLst>
          </p:cNvPr>
          <p:cNvSpPr txBox="1"/>
          <p:nvPr/>
        </p:nvSpPr>
        <p:spPr>
          <a:xfrm>
            <a:off x="3924805" y="1694420"/>
            <a:ext cx="1022483" cy="212174"/>
          </a:xfrm>
          <a:prstGeom prst="rect">
            <a:avLst/>
          </a:prstGeom>
        </p:spPr>
        <p:txBody>
          <a:bodyPr wrap="square" lIns="0" tIns="0" rIns="0" bIns="0" rtlCol="0" anchor="t">
            <a:spAutoFit/>
          </a:bodyPr>
          <a:lstStyle/>
          <a:p>
            <a:pPr algn="l">
              <a:lnSpc>
                <a:spcPts val="1796"/>
              </a:lnSpc>
            </a:pPr>
            <a:r>
              <a:rPr lang="en-US" sz="1200" i="1" spc="6" dirty="0">
                <a:solidFill>
                  <a:srgbClr val="231F20"/>
                </a:solidFill>
                <a:latin typeface="IBM Plex Sans Italics"/>
                <a:ea typeface="IBM Plex Sans Italics"/>
                <a:cs typeface="IBM Plex Sans Italics"/>
                <a:sym typeface="IBM Plex Sans Italics"/>
              </a:rPr>
              <a:t>Stage</a:t>
            </a:r>
          </a:p>
        </p:txBody>
      </p:sp>
      <p:sp>
        <p:nvSpPr>
          <p:cNvPr id="53" name="TextBox 31">
            <a:extLst>
              <a:ext uri="{FF2B5EF4-FFF2-40B4-BE49-F238E27FC236}">
                <a16:creationId xmlns:a16="http://schemas.microsoft.com/office/drawing/2014/main" id="{59F2F614-DB59-88D3-F06C-A9764E0F35CD}"/>
              </a:ext>
            </a:extLst>
          </p:cNvPr>
          <p:cNvSpPr txBox="1"/>
          <p:nvPr/>
        </p:nvSpPr>
        <p:spPr>
          <a:xfrm>
            <a:off x="1302506" y="1722168"/>
            <a:ext cx="918219" cy="192938"/>
          </a:xfrm>
          <a:prstGeom prst="rect">
            <a:avLst/>
          </a:prstGeom>
        </p:spPr>
        <p:txBody>
          <a:bodyPr lIns="0" tIns="0" rIns="0" bIns="0" rtlCol="0" anchor="t">
            <a:spAutoFit/>
          </a:bodyPr>
          <a:lstStyle/>
          <a:p>
            <a:pPr>
              <a:lnSpc>
                <a:spcPts val="1614"/>
              </a:lnSpc>
            </a:pPr>
            <a:r>
              <a:rPr lang="en-US" sz="1200" i="1" spc="7" dirty="0">
                <a:solidFill>
                  <a:srgbClr val="231F20"/>
                </a:solidFill>
                <a:latin typeface="IBM Plex Sans Italics"/>
                <a:ea typeface="IBM Plex Sans Italics"/>
                <a:cs typeface="IBM Plex Sans Italics"/>
                <a:sym typeface="IBM Plex Sans Italics"/>
              </a:rPr>
              <a:t>Fall</a:t>
            </a:r>
            <a:endParaRPr lang="en-US" sz="1200" i="1" spc="6" dirty="0">
              <a:solidFill>
                <a:srgbClr val="231F20"/>
              </a:solidFill>
              <a:latin typeface="IBM Plex Sans Italics"/>
              <a:ea typeface="IBM Plex Sans Italics"/>
              <a:cs typeface="IBM Plex Sans Italics"/>
              <a:sym typeface="IBM Plex Sans Itali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7559993" cy="10692003"/>
          </a:xfrm>
          <a:custGeom>
            <a:avLst/>
            <a:gdLst/>
            <a:ahLst/>
            <a:cxnLst/>
            <a:rect l="l" t="t" r="r" b="b"/>
            <a:pathLst>
              <a:path w="7559993" h="10692003">
                <a:moveTo>
                  <a:pt x="0" y="0"/>
                </a:moveTo>
                <a:lnTo>
                  <a:pt x="7559993" y="0"/>
                </a:lnTo>
                <a:lnTo>
                  <a:pt x="7559993" y="10692003"/>
                </a:lnTo>
                <a:lnTo>
                  <a:pt x="0" y="10692003"/>
                </a:lnTo>
                <a:lnTo>
                  <a:pt x="0" y="0"/>
                </a:lnTo>
                <a:close/>
              </a:path>
            </a:pathLst>
          </a:custGeom>
          <a:blipFill>
            <a:blip r:embed="rId2"/>
            <a:stretch>
              <a:fillRect l="-193" t="-135" b="-136"/>
            </a:stretch>
          </a:blipFill>
        </p:spPr>
        <p:txBody>
          <a:bodyPr/>
          <a:lstStyle/>
          <a:p>
            <a:endParaRPr lang="fr-FR"/>
          </a:p>
        </p:txBody>
      </p:sp>
      <p:grpSp>
        <p:nvGrpSpPr>
          <p:cNvPr id="3" name="Group 3"/>
          <p:cNvGrpSpPr/>
          <p:nvPr/>
        </p:nvGrpSpPr>
        <p:grpSpPr>
          <a:xfrm rot="-5400000">
            <a:off x="3306312" y="6411535"/>
            <a:ext cx="947376" cy="7973798"/>
            <a:chOff x="0" y="0"/>
            <a:chExt cx="339518" cy="2857629"/>
          </a:xfrm>
        </p:grpSpPr>
        <p:sp>
          <p:nvSpPr>
            <p:cNvPr id="4" name="Freeform 4"/>
            <p:cNvSpPr/>
            <p:nvPr/>
          </p:nvSpPr>
          <p:spPr>
            <a:xfrm>
              <a:off x="0" y="0"/>
              <a:ext cx="339518" cy="2857629"/>
            </a:xfrm>
            <a:custGeom>
              <a:avLst/>
              <a:gdLst/>
              <a:ahLst/>
              <a:cxnLst/>
              <a:rect l="l" t="t" r="r" b="b"/>
              <a:pathLst>
                <a:path w="339518" h="2857629">
                  <a:moveTo>
                    <a:pt x="0" y="0"/>
                  </a:moveTo>
                  <a:lnTo>
                    <a:pt x="339518" y="0"/>
                  </a:lnTo>
                  <a:lnTo>
                    <a:pt x="339518" y="2857629"/>
                  </a:lnTo>
                  <a:lnTo>
                    <a:pt x="0" y="2857629"/>
                  </a:lnTo>
                  <a:close/>
                </a:path>
              </a:pathLst>
            </a:custGeom>
            <a:solidFill>
              <a:srgbClr val="1A1447"/>
            </a:solidFill>
          </p:spPr>
          <p:txBody>
            <a:bodyPr/>
            <a:lstStyle/>
            <a:p>
              <a:endParaRPr lang="fr-FR"/>
            </a:p>
          </p:txBody>
        </p:sp>
        <p:sp>
          <p:nvSpPr>
            <p:cNvPr id="5" name="TextBox 5"/>
            <p:cNvSpPr txBox="1"/>
            <p:nvPr/>
          </p:nvSpPr>
          <p:spPr>
            <a:xfrm>
              <a:off x="0" y="-28575"/>
              <a:ext cx="339518" cy="2886204"/>
            </a:xfrm>
            <a:prstGeom prst="rect">
              <a:avLst/>
            </a:prstGeom>
          </p:spPr>
          <p:txBody>
            <a:bodyPr lIns="50800" tIns="50800" rIns="50800" bIns="50800" rtlCol="0" anchor="ctr"/>
            <a:lstStyle/>
            <a:p>
              <a:pPr algn="ctr">
                <a:lnSpc>
                  <a:spcPts val="1960"/>
                </a:lnSpc>
              </a:pPr>
              <a:endParaRPr/>
            </a:p>
          </p:txBody>
        </p:sp>
      </p:grpSp>
      <p:grpSp>
        <p:nvGrpSpPr>
          <p:cNvPr id="6" name="Group 6"/>
          <p:cNvGrpSpPr>
            <a:grpSpLocks noChangeAspect="1"/>
          </p:cNvGrpSpPr>
          <p:nvPr/>
        </p:nvGrpSpPr>
        <p:grpSpPr>
          <a:xfrm>
            <a:off x="437502" y="9488087"/>
            <a:ext cx="998992" cy="63503"/>
            <a:chOff x="0" y="0"/>
            <a:chExt cx="998995" cy="63500"/>
          </a:xfrm>
        </p:grpSpPr>
        <p:sp>
          <p:nvSpPr>
            <p:cNvPr id="7" name="Freeform 7"/>
            <p:cNvSpPr/>
            <p:nvPr/>
          </p:nvSpPr>
          <p:spPr>
            <a:xfrm>
              <a:off x="0" y="0"/>
              <a:ext cx="998982" cy="63500"/>
            </a:xfrm>
            <a:custGeom>
              <a:avLst/>
              <a:gdLst/>
              <a:ahLst/>
              <a:cxnLst/>
              <a:rect l="l" t="t" r="r" b="b"/>
              <a:pathLst>
                <a:path w="998982" h="63500">
                  <a:moveTo>
                    <a:pt x="0" y="0"/>
                  </a:moveTo>
                  <a:lnTo>
                    <a:pt x="998982" y="0"/>
                  </a:lnTo>
                  <a:lnTo>
                    <a:pt x="998982" y="63500"/>
                  </a:lnTo>
                  <a:lnTo>
                    <a:pt x="0" y="63500"/>
                  </a:lnTo>
                  <a:close/>
                </a:path>
              </a:pathLst>
            </a:custGeom>
            <a:solidFill>
              <a:srgbClr val="EA8C4C"/>
            </a:solidFill>
          </p:spPr>
          <p:txBody>
            <a:bodyPr/>
            <a:lstStyle/>
            <a:p>
              <a:endParaRPr lang="fr-FR"/>
            </a:p>
          </p:txBody>
        </p:sp>
      </p:grpSp>
      <p:sp>
        <p:nvSpPr>
          <p:cNvPr id="8" name="Freeform 8"/>
          <p:cNvSpPr/>
          <p:nvPr/>
        </p:nvSpPr>
        <p:spPr>
          <a:xfrm>
            <a:off x="0" y="0"/>
            <a:ext cx="7559992" cy="9936000"/>
          </a:xfrm>
          <a:custGeom>
            <a:avLst/>
            <a:gdLst/>
            <a:ahLst/>
            <a:cxnLst/>
            <a:rect l="l" t="t" r="r" b="b"/>
            <a:pathLst>
              <a:path w="7559992" h="9936000">
                <a:moveTo>
                  <a:pt x="0" y="0"/>
                </a:moveTo>
                <a:lnTo>
                  <a:pt x="7559992" y="0"/>
                </a:lnTo>
                <a:lnTo>
                  <a:pt x="7559992" y="9936000"/>
                </a:lnTo>
                <a:lnTo>
                  <a:pt x="0" y="9936000"/>
                </a:lnTo>
                <a:lnTo>
                  <a:pt x="0" y="0"/>
                </a:lnTo>
                <a:close/>
              </a:path>
            </a:pathLst>
          </a:custGeom>
          <a:blipFill>
            <a:blip r:embed="rId3"/>
            <a:stretch>
              <a:fillRect l="-48448" r="-48448"/>
            </a:stretch>
          </a:blipFill>
        </p:spPr>
        <p:txBody>
          <a:bodyPr/>
          <a:lstStyle/>
          <a:p>
            <a:endParaRPr lang="fr-FR"/>
          </a:p>
        </p:txBody>
      </p:sp>
      <p:sp>
        <p:nvSpPr>
          <p:cNvPr id="9" name="TextBox 9"/>
          <p:cNvSpPr txBox="1"/>
          <p:nvPr/>
        </p:nvSpPr>
        <p:spPr>
          <a:xfrm rot="-1182670">
            <a:off x="4194592" y="1177456"/>
            <a:ext cx="2977929" cy="613410"/>
          </a:xfrm>
          <a:prstGeom prst="rect">
            <a:avLst/>
          </a:prstGeom>
        </p:spPr>
        <p:txBody>
          <a:bodyPr lIns="0" tIns="0" rIns="0" bIns="0" rtlCol="0" anchor="t">
            <a:spAutoFit/>
          </a:bodyPr>
          <a:lstStyle/>
          <a:p>
            <a:pPr algn="l">
              <a:lnSpc>
                <a:spcPts val="5040"/>
              </a:lnSpc>
            </a:pPr>
            <a:r>
              <a:rPr lang="en-US" sz="3600" b="1" spc="7">
                <a:solidFill>
                  <a:srgbClr val="1A1447"/>
                </a:solidFill>
                <a:latin typeface="Open Sans Bold"/>
                <a:ea typeface="Open Sans Bold"/>
                <a:cs typeface="Open Sans Bold"/>
                <a:sym typeface="Open Sans Bold"/>
              </a:rPr>
              <a:t>DOCTORATE</a:t>
            </a:r>
          </a:p>
        </p:txBody>
      </p:sp>
      <p:sp>
        <p:nvSpPr>
          <p:cNvPr id="10" name="TextBox 10"/>
          <p:cNvSpPr txBox="1"/>
          <p:nvPr/>
        </p:nvSpPr>
        <p:spPr>
          <a:xfrm>
            <a:off x="2427637" y="10342369"/>
            <a:ext cx="2515629" cy="151428"/>
          </a:xfrm>
          <a:prstGeom prst="rect">
            <a:avLst/>
          </a:prstGeom>
        </p:spPr>
        <p:txBody>
          <a:bodyPr lIns="0" tIns="0" rIns="0" bIns="0" rtlCol="0" anchor="t">
            <a:spAutoFit/>
          </a:bodyPr>
          <a:lstStyle/>
          <a:p>
            <a:pPr algn="l">
              <a:lnSpc>
                <a:spcPts val="1260"/>
              </a:lnSpc>
            </a:pPr>
            <a:r>
              <a:rPr lang="en-US" sz="900" i="1" spc="26">
                <a:solidFill>
                  <a:srgbClr val="FFFFFF"/>
                </a:solidFill>
                <a:latin typeface="IBM Plex Sans Italics"/>
                <a:ea typeface="IBM Plex Sans Italics"/>
                <a:cs typeface="IBM Plex Sans Italics"/>
                <a:sym typeface="IBM Plex Sans Italics"/>
              </a:rPr>
              <a:t>Etablissement d’enseignement supérieur privé</a:t>
            </a:r>
          </a:p>
        </p:txBody>
      </p:sp>
      <p:sp>
        <p:nvSpPr>
          <p:cNvPr id="11" name="TextBox 11"/>
          <p:cNvSpPr txBox="1"/>
          <p:nvPr/>
        </p:nvSpPr>
        <p:spPr>
          <a:xfrm rot="-1165300">
            <a:off x="4568742" y="2538787"/>
            <a:ext cx="2032635" cy="1566558"/>
          </a:xfrm>
          <a:prstGeom prst="rect">
            <a:avLst/>
          </a:prstGeom>
        </p:spPr>
        <p:txBody>
          <a:bodyPr lIns="0" tIns="0" rIns="0" bIns="0" rtlCol="0" anchor="t">
            <a:spAutoFit/>
          </a:bodyPr>
          <a:lstStyle/>
          <a:p>
            <a:pPr algn="ctr">
              <a:lnSpc>
                <a:spcPts val="4111"/>
              </a:lnSpc>
            </a:pPr>
            <a:r>
              <a:rPr lang="en-US" sz="3426" b="1" spc="13">
                <a:solidFill>
                  <a:srgbClr val="1A1447"/>
                </a:solidFill>
                <a:latin typeface="IBM Plex Sans Bold"/>
                <a:ea typeface="IBM Plex Sans Bold"/>
                <a:cs typeface="IBM Plex Sans Bold"/>
                <a:sym typeface="IBM Plex Sans Bold"/>
              </a:rPr>
              <a:t>BAC +6 BAC +7 BAC +8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7B2E9-DBE4-ED3D-D4C7-BA201E4F6EE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E4D447C-9A35-23A7-CFFF-2ACF59B99B8A}"/>
              </a:ext>
            </a:extLst>
          </p:cNvPr>
          <p:cNvGrpSpPr>
            <a:grpSpLocks noChangeAspect="1"/>
          </p:cNvGrpSpPr>
          <p:nvPr/>
        </p:nvGrpSpPr>
        <p:grpSpPr>
          <a:xfrm>
            <a:off x="1079383" y="4764424"/>
            <a:ext cx="762505" cy="679580"/>
            <a:chOff x="0" y="0"/>
            <a:chExt cx="762495" cy="679577"/>
          </a:xfrm>
        </p:grpSpPr>
        <p:sp>
          <p:nvSpPr>
            <p:cNvPr id="3" name="Freeform 3">
              <a:extLst>
                <a:ext uri="{FF2B5EF4-FFF2-40B4-BE49-F238E27FC236}">
                  <a16:creationId xmlns:a16="http://schemas.microsoft.com/office/drawing/2014/main" id="{7C48DA50-3FEE-E01C-DDE7-2F9DB497960B}"/>
                </a:ext>
              </a:extLst>
            </p:cNvPr>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a:extLst>
                <a:ext uri="{FF2B5EF4-FFF2-40B4-BE49-F238E27FC236}">
                  <a16:creationId xmlns:a16="http://schemas.microsoft.com/office/drawing/2014/main" id="{13535EC7-78AF-A557-67E0-E2BC82714795}"/>
                </a:ext>
              </a:extLst>
            </p:cNvPr>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6985"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a:extLst>
                <a:ext uri="{FF2B5EF4-FFF2-40B4-BE49-F238E27FC236}">
                  <a16:creationId xmlns:a16="http://schemas.microsoft.com/office/drawing/2014/main" id="{11E70F9B-984B-C3E9-59D6-942CAE9912B1}"/>
                </a:ext>
              </a:extLst>
            </p:cNvPr>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a:extLst>
                <a:ext uri="{FF2B5EF4-FFF2-40B4-BE49-F238E27FC236}">
                  <a16:creationId xmlns:a16="http://schemas.microsoft.com/office/drawing/2014/main" id="{BEA51BE9-D53D-F21F-98F6-6AEB64696F04}"/>
                </a:ext>
              </a:extLst>
            </p:cNvPr>
            <p:cNvSpPr/>
            <p:nvPr/>
          </p:nvSpPr>
          <p:spPr>
            <a:xfrm>
              <a:off x="260477" y="267970"/>
              <a:ext cx="120269" cy="140081"/>
            </a:xfrm>
            <a:custGeom>
              <a:avLst/>
              <a:gdLst/>
              <a:ahLst/>
              <a:cxnLst/>
              <a:rect l="l" t="t" r="r" b="b"/>
              <a:pathLst>
                <a:path w="120269"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071" y="0"/>
                  </a:cubicBezTo>
                  <a:lnTo>
                    <a:pt x="76581" y="1778"/>
                  </a:lnTo>
                  <a:cubicBezTo>
                    <a:pt x="91313" y="8890"/>
                    <a:pt x="97663" y="13716"/>
                    <a:pt x="103124" y="19939"/>
                  </a:cubicBezTo>
                  <a:lnTo>
                    <a:pt x="115697" y="42037"/>
                  </a:lnTo>
                  <a:cubicBezTo>
                    <a:pt x="118745" y="50546"/>
                    <a:pt x="120269" y="59944"/>
                    <a:pt x="120269" y="70104"/>
                  </a:cubicBezTo>
                  <a:moveTo>
                    <a:pt x="88773" y="70104"/>
                  </a:moveTo>
                  <a:lnTo>
                    <a:pt x="88011" y="58293"/>
                  </a:lnTo>
                  <a:cubicBezTo>
                    <a:pt x="85217" y="48006"/>
                    <a:pt x="83185" y="43561"/>
                    <a:pt x="80645" y="39878"/>
                  </a:cubicBezTo>
                  <a:lnTo>
                    <a:pt x="75057" y="33401"/>
                  </a:lnTo>
                  <a:lnTo>
                    <a:pt x="64262" y="28448"/>
                  </a:lnTo>
                  <a:cubicBezTo>
                    <a:pt x="55753" y="28448"/>
                    <a:pt x="51816" y="29464"/>
                    <a:pt x="48260" y="31496"/>
                  </a:cubicBezTo>
                  <a:lnTo>
                    <a:pt x="41783" y="36322"/>
                  </a:lnTo>
                  <a:cubicBezTo>
                    <a:pt x="36703" y="43688"/>
                    <a:pt x="34671" y="48133"/>
                    <a:pt x="33274" y="53340"/>
                  </a:cubicBezTo>
                  <a:lnTo>
                    <a:pt x="31115" y="64135"/>
                  </a:lnTo>
                  <a:cubicBezTo>
                    <a:pt x="31115" y="76454"/>
                    <a:pt x="31877" y="82042"/>
                    <a:pt x="33274" y="87122"/>
                  </a:cubicBezTo>
                  <a:lnTo>
                    <a:pt x="36703" y="96520"/>
                  </a:lnTo>
                  <a:cubicBezTo>
                    <a:pt x="41783" y="103886"/>
                    <a:pt x="44831" y="106807"/>
                    <a:pt x="48387" y="108712"/>
                  </a:cubicBezTo>
                  <a:lnTo>
                    <a:pt x="55753" y="111760"/>
                  </a:lnTo>
                  <a:lnTo>
                    <a:pt x="68199" y="110744"/>
                  </a:lnTo>
                  <a:cubicBezTo>
                    <a:pt x="75184" y="106680"/>
                    <a:pt x="78232" y="103886"/>
                    <a:pt x="80772" y="100203"/>
                  </a:cubicBezTo>
                  <a:lnTo>
                    <a:pt x="85344" y="92075"/>
                  </a:lnTo>
                  <a:cubicBezTo>
                    <a:pt x="88138" y="81915"/>
                    <a:pt x="88900" y="76327"/>
                    <a:pt x="88900" y="70104"/>
                  </a:cubicBezTo>
                </a:path>
              </a:pathLst>
            </a:custGeom>
            <a:solidFill>
              <a:srgbClr val="7DE314"/>
            </a:solidFill>
          </p:spPr>
          <p:txBody>
            <a:bodyPr/>
            <a:lstStyle/>
            <a:p>
              <a:endParaRPr lang="fr-FR"/>
            </a:p>
          </p:txBody>
        </p:sp>
        <p:sp>
          <p:nvSpPr>
            <p:cNvPr id="7" name="Freeform 7">
              <a:extLst>
                <a:ext uri="{FF2B5EF4-FFF2-40B4-BE49-F238E27FC236}">
                  <a16:creationId xmlns:a16="http://schemas.microsoft.com/office/drawing/2014/main" id="{7EA07A40-4F71-1354-3460-3A1495C327A3}"/>
                </a:ext>
              </a:extLst>
            </p:cNvPr>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163" y="37719"/>
                    <a:pt x="31115" y="39751"/>
                  </a:cubicBezTo>
                  <a:lnTo>
                    <a:pt x="24765" y="43434"/>
                  </a:lnTo>
                  <a:lnTo>
                    <a:pt x="13970" y="48260"/>
                  </a:lnTo>
                  <a:cubicBezTo>
                    <a:pt x="6350" y="50419"/>
                    <a:pt x="3048"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a:extLst>
              <a:ext uri="{FF2B5EF4-FFF2-40B4-BE49-F238E27FC236}">
                <a16:creationId xmlns:a16="http://schemas.microsoft.com/office/drawing/2014/main" id="{D35C2D44-B388-88BF-976C-45F8CF58065F}"/>
              </a:ext>
            </a:extLst>
          </p:cNvPr>
          <p:cNvGrpSpPr>
            <a:grpSpLocks noChangeAspect="1"/>
          </p:cNvGrpSpPr>
          <p:nvPr/>
        </p:nvGrpSpPr>
        <p:grpSpPr>
          <a:xfrm>
            <a:off x="3338779" y="4757195"/>
            <a:ext cx="762505" cy="686800"/>
            <a:chOff x="0" y="0"/>
            <a:chExt cx="762495" cy="686803"/>
          </a:xfrm>
        </p:grpSpPr>
        <p:sp>
          <p:nvSpPr>
            <p:cNvPr id="9" name="Freeform 9">
              <a:extLst>
                <a:ext uri="{FF2B5EF4-FFF2-40B4-BE49-F238E27FC236}">
                  <a16:creationId xmlns:a16="http://schemas.microsoft.com/office/drawing/2014/main" id="{2DBCFD6D-A1EC-7999-4548-DA767A91B5BD}"/>
                </a:ext>
              </a:extLst>
            </p:cNvPr>
            <p:cNvSpPr/>
            <p:nvPr/>
          </p:nvSpPr>
          <p:spPr>
            <a:xfrm>
              <a:off x="63500" y="63500"/>
              <a:ext cx="635508" cy="559689"/>
            </a:xfrm>
            <a:custGeom>
              <a:avLst/>
              <a:gdLst/>
              <a:ahLst/>
              <a:cxnLst/>
              <a:rect l="l" t="t" r="r" b="b"/>
              <a:pathLst>
                <a:path w="635508" h="559689">
                  <a:moveTo>
                    <a:pt x="631698" y="294132"/>
                  </a:moveTo>
                  <a:lnTo>
                    <a:pt x="487045" y="545465"/>
                  </a:lnTo>
                  <a:cubicBezTo>
                    <a:pt x="481965" y="554355"/>
                    <a:pt x="472567" y="559689"/>
                    <a:pt x="462407" y="559689"/>
                  </a:cubicBezTo>
                  <a:lnTo>
                    <a:pt x="173101" y="559689"/>
                  </a:lnTo>
                  <a:cubicBezTo>
                    <a:pt x="162941" y="559689"/>
                    <a:pt x="153543" y="554228"/>
                    <a:pt x="148463" y="545465"/>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a:extLst>
                <a:ext uri="{FF2B5EF4-FFF2-40B4-BE49-F238E27FC236}">
                  <a16:creationId xmlns:a16="http://schemas.microsoft.com/office/drawing/2014/main" id="{E8D63DEF-D31C-63D8-9394-C5D3F9E26128}"/>
                </a:ext>
              </a:extLst>
            </p:cNvPr>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a:extLst>
                <a:ext uri="{FF2B5EF4-FFF2-40B4-BE49-F238E27FC236}">
                  <a16:creationId xmlns:a16="http://schemas.microsoft.com/office/drawing/2014/main" id="{BA908B8C-EE09-579D-7AB0-78228D873688}"/>
                </a:ext>
              </a:extLst>
            </p:cNvPr>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a:extLst>
                <a:ext uri="{FF2B5EF4-FFF2-40B4-BE49-F238E27FC236}">
                  <a16:creationId xmlns:a16="http://schemas.microsoft.com/office/drawing/2014/main" id="{065CB19B-7CD4-6489-798D-96F17A56A65B}"/>
                </a:ext>
              </a:extLst>
            </p:cNvPr>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a:extLst>
                <a:ext uri="{FF2B5EF4-FFF2-40B4-BE49-F238E27FC236}">
                  <a16:creationId xmlns:a16="http://schemas.microsoft.com/office/drawing/2014/main" id="{001AC975-2062-ED09-FB5B-43297E48901C}"/>
                </a:ext>
              </a:extLst>
            </p:cNvPr>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a:extLst>
              <a:ext uri="{FF2B5EF4-FFF2-40B4-BE49-F238E27FC236}">
                <a16:creationId xmlns:a16="http://schemas.microsoft.com/office/drawing/2014/main" id="{BB18E54E-7AA1-77D9-0DCA-071B4A832796}"/>
              </a:ext>
            </a:extLst>
          </p:cNvPr>
          <p:cNvGrpSpPr>
            <a:grpSpLocks noChangeAspect="1"/>
          </p:cNvGrpSpPr>
          <p:nvPr/>
        </p:nvGrpSpPr>
        <p:grpSpPr>
          <a:xfrm>
            <a:off x="5424068" y="4749946"/>
            <a:ext cx="762505" cy="694058"/>
            <a:chOff x="0" y="0"/>
            <a:chExt cx="762495" cy="694055"/>
          </a:xfrm>
        </p:grpSpPr>
        <p:sp>
          <p:nvSpPr>
            <p:cNvPr id="15" name="Freeform 15">
              <a:extLst>
                <a:ext uri="{FF2B5EF4-FFF2-40B4-BE49-F238E27FC236}">
                  <a16:creationId xmlns:a16="http://schemas.microsoft.com/office/drawing/2014/main" id="{F6BC7DDE-11DC-8DCE-99E1-49C09A47BEF5}"/>
                </a:ext>
              </a:extLst>
            </p:cNvPr>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6" name="Freeform 16">
              <a:extLst>
                <a:ext uri="{FF2B5EF4-FFF2-40B4-BE49-F238E27FC236}">
                  <a16:creationId xmlns:a16="http://schemas.microsoft.com/office/drawing/2014/main" id="{A604A828-36A4-9CC5-4A23-17CBDA2340F2}"/>
                </a:ext>
              </a:extLst>
            </p:cNvPr>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7" name="Freeform 17">
              <a:extLst>
                <a:ext uri="{FF2B5EF4-FFF2-40B4-BE49-F238E27FC236}">
                  <a16:creationId xmlns:a16="http://schemas.microsoft.com/office/drawing/2014/main" id="{2653C037-3E83-8D23-8BE0-C3DFD30F3632}"/>
                </a:ext>
              </a:extLst>
            </p:cNvPr>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18" name="Freeform 18">
              <a:extLst>
                <a:ext uri="{FF2B5EF4-FFF2-40B4-BE49-F238E27FC236}">
                  <a16:creationId xmlns:a16="http://schemas.microsoft.com/office/drawing/2014/main" id="{66306F1E-524F-650C-596D-9C78DF728637}"/>
                </a:ext>
              </a:extLst>
            </p:cNvPr>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19" name="Freeform 19">
              <a:extLst>
                <a:ext uri="{FF2B5EF4-FFF2-40B4-BE49-F238E27FC236}">
                  <a16:creationId xmlns:a16="http://schemas.microsoft.com/office/drawing/2014/main" id="{8E3CAF79-3CA5-5D6D-C5E1-C65568788D20}"/>
                </a:ext>
              </a:extLst>
            </p:cNvPr>
            <p:cNvSpPr/>
            <p:nvPr/>
          </p:nvSpPr>
          <p:spPr>
            <a:xfrm>
              <a:off x="388493"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0" name="Group 20">
            <a:extLst>
              <a:ext uri="{FF2B5EF4-FFF2-40B4-BE49-F238E27FC236}">
                <a16:creationId xmlns:a16="http://schemas.microsoft.com/office/drawing/2014/main" id="{D5B828F8-2F97-A119-ED6B-EEF2EF7D5C3B}"/>
              </a:ext>
            </a:extLst>
          </p:cNvPr>
          <p:cNvGrpSpPr>
            <a:grpSpLocks noChangeAspect="1"/>
          </p:cNvGrpSpPr>
          <p:nvPr/>
        </p:nvGrpSpPr>
        <p:grpSpPr>
          <a:xfrm>
            <a:off x="0" y="2680973"/>
            <a:ext cx="7559993" cy="1642539"/>
            <a:chOff x="0" y="0"/>
            <a:chExt cx="7559992" cy="1642542"/>
          </a:xfrm>
        </p:grpSpPr>
        <p:sp>
          <p:nvSpPr>
            <p:cNvPr id="21" name="Freeform 21">
              <a:extLst>
                <a:ext uri="{FF2B5EF4-FFF2-40B4-BE49-F238E27FC236}">
                  <a16:creationId xmlns:a16="http://schemas.microsoft.com/office/drawing/2014/main" id="{E93E92AF-9F02-A27F-D2B5-AFC3765DF40A}"/>
                </a:ext>
              </a:extLst>
            </p:cNvPr>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sp>
        <p:nvSpPr>
          <p:cNvPr id="30" name="TextBox 99">
            <a:extLst>
              <a:ext uri="{FF2B5EF4-FFF2-40B4-BE49-F238E27FC236}">
                <a16:creationId xmlns:a16="http://schemas.microsoft.com/office/drawing/2014/main" id="{A1600B8B-AC8F-52BB-5EA5-566DA726B060}"/>
              </a:ext>
            </a:extLst>
          </p:cNvPr>
          <p:cNvSpPr txBox="1"/>
          <p:nvPr/>
        </p:nvSpPr>
        <p:spPr>
          <a:xfrm>
            <a:off x="6672167" y="9971913"/>
            <a:ext cx="248917" cy="240665"/>
          </a:xfrm>
          <a:prstGeom prst="rect">
            <a:avLst/>
          </a:prstGeom>
        </p:spPr>
        <p:txBody>
          <a:bodyPr lIns="0" tIns="0" rIns="0" bIns="0" rtlCol="0" anchor="t">
            <a:spAutoFit/>
          </a:bodyPr>
          <a:lstStyle/>
          <a:p>
            <a:pPr algn="l">
              <a:lnSpc>
                <a:spcPts val="1959"/>
              </a:lnSpc>
            </a:pPr>
            <a:r>
              <a:rPr lang="en-US" sz="1399" b="1" spc="8">
                <a:solidFill>
                  <a:srgbClr val="231F20"/>
                </a:solidFill>
                <a:latin typeface="IBM Plex Sans Bold"/>
                <a:ea typeface="IBM Plex Sans Bold"/>
                <a:cs typeface="IBM Plex Sans Bold"/>
                <a:sym typeface="IBM Plex Sans Bold"/>
              </a:rPr>
              <a:t>13</a:t>
            </a:r>
          </a:p>
        </p:txBody>
      </p:sp>
      <p:sp>
        <p:nvSpPr>
          <p:cNvPr id="32" name="TextBox 32">
            <a:extLst>
              <a:ext uri="{FF2B5EF4-FFF2-40B4-BE49-F238E27FC236}">
                <a16:creationId xmlns:a16="http://schemas.microsoft.com/office/drawing/2014/main" id="{230BBF67-3048-1BE6-0CF0-89ECE85F3C99}"/>
              </a:ext>
            </a:extLst>
          </p:cNvPr>
          <p:cNvSpPr txBox="1"/>
          <p:nvPr/>
        </p:nvSpPr>
        <p:spPr>
          <a:xfrm>
            <a:off x="567738" y="6584175"/>
            <a:ext cx="1606115" cy="154466"/>
          </a:xfrm>
          <a:prstGeom prst="rect">
            <a:avLst/>
          </a:prstGeom>
        </p:spPr>
        <p:txBody>
          <a:bodyPr lIns="0" tIns="0" rIns="0" bIns="0" rtlCol="0" anchor="t">
            <a:spAutoFit/>
          </a:bodyPr>
          <a:lstStyle/>
          <a:p>
            <a:pPr algn="l">
              <a:lnSpc>
                <a:spcPts val="1200"/>
              </a:lnSpc>
            </a:pPr>
            <a:r>
              <a:rPr lang="en-US" sz="1200" i="1" spc="4" dirty="0">
                <a:solidFill>
                  <a:srgbClr val="1A1447"/>
                </a:solidFill>
                <a:latin typeface="IBM Plex Sans Italics"/>
                <a:ea typeface="IBM Plex Sans Italics"/>
                <a:cs typeface="IBM Plex Sans Italics"/>
                <a:sym typeface="IBM Plex Sans Italics"/>
              </a:rPr>
              <a:t>Enseignement1</a:t>
            </a:r>
          </a:p>
        </p:txBody>
      </p:sp>
      <p:sp>
        <p:nvSpPr>
          <p:cNvPr id="33" name="TextBox 33">
            <a:extLst>
              <a:ext uri="{FF2B5EF4-FFF2-40B4-BE49-F238E27FC236}">
                <a16:creationId xmlns:a16="http://schemas.microsoft.com/office/drawing/2014/main" id="{536B0A26-83FB-828B-F370-69F4BC07C35A}"/>
              </a:ext>
            </a:extLst>
          </p:cNvPr>
          <p:cNvSpPr txBox="1"/>
          <p:nvPr/>
        </p:nvSpPr>
        <p:spPr>
          <a:xfrm>
            <a:off x="618915" y="5447243"/>
            <a:ext cx="1789005"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PointFort1</a:t>
            </a:r>
          </a:p>
        </p:txBody>
      </p:sp>
      <p:sp>
        <p:nvSpPr>
          <p:cNvPr id="35" name="TextBox 35">
            <a:extLst>
              <a:ext uri="{FF2B5EF4-FFF2-40B4-BE49-F238E27FC236}">
                <a16:creationId xmlns:a16="http://schemas.microsoft.com/office/drawing/2014/main" id="{41B217C9-745D-FC81-C050-CDBFCA3CB9D4}"/>
              </a:ext>
            </a:extLst>
          </p:cNvPr>
          <p:cNvSpPr txBox="1"/>
          <p:nvPr/>
        </p:nvSpPr>
        <p:spPr>
          <a:xfrm>
            <a:off x="537734" y="8485765"/>
            <a:ext cx="3010814" cy="179536"/>
          </a:xfrm>
          <a:prstGeom prst="rect">
            <a:avLst/>
          </a:prstGeom>
        </p:spPr>
        <p:txBody>
          <a:bodyPr lIns="0" tIns="0" rIns="0" bIns="0" rtlCol="0" anchor="t">
            <a:spAutoFit/>
          </a:bodyPr>
          <a:lstStyle/>
          <a:p>
            <a:pPr algn="l">
              <a:lnSpc>
                <a:spcPts val="1439"/>
              </a:lnSpc>
            </a:pPr>
            <a:r>
              <a:rPr lang="en-US" sz="1200" i="1" spc="4" dirty="0" err="1">
                <a:solidFill>
                  <a:srgbClr val="1A1447"/>
                </a:solidFill>
                <a:latin typeface="IBM Plex Sans Italics"/>
                <a:ea typeface="IBM Plex Sans Italics"/>
                <a:cs typeface="IBM Plex Sans Italics"/>
                <a:sym typeface="IBM Plex Sans Italics"/>
              </a:rPr>
              <a:t>Metier</a:t>
            </a:r>
            <a:endParaRPr lang="en-US" sz="1200" i="1" spc="4" dirty="0">
              <a:solidFill>
                <a:srgbClr val="1A1447"/>
              </a:solidFill>
              <a:latin typeface="IBM Plex Sans Italics"/>
              <a:ea typeface="IBM Plex Sans Italics"/>
              <a:cs typeface="IBM Plex Sans Italics"/>
              <a:sym typeface="IBM Plex Sans Italics"/>
            </a:endParaRPr>
          </a:p>
        </p:txBody>
      </p:sp>
      <p:sp>
        <p:nvSpPr>
          <p:cNvPr id="36" name="TextBox 36">
            <a:extLst>
              <a:ext uri="{FF2B5EF4-FFF2-40B4-BE49-F238E27FC236}">
                <a16:creationId xmlns:a16="http://schemas.microsoft.com/office/drawing/2014/main" id="{0AA1A4AD-2DCD-6328-9336-F605B97B3B97}"/>
              </a:ext>
            </a:extLst>
          </p:cNvPr>
          <p:cNvSpPr txBox="1"/>
          <p:nvPr/>
        </p:nvSpPr>
        <p:spPr>
          <a:xfrm>
            <a:off x="2754878" y="6599644"/>
            <a:ext cx="1543031"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4" dirty="0">
                <a:solidFill>
                  <a:srgbClr val="1A1447"/>
                </a:solidFill>
                <a:latin typeface="IBM Plex Sans Italics"/>
                <a:ea typeface="IBM Plex Sans Italics"/>
                <a:cs typeface="IBM Plex Sans Italics"/>
                <a:sym typeface="IBM Plex Sans Italics"/>
              </a:rPr>
              <a:t>Enseignement2</a:t>
            </a:r>
          </a:p>
        </p:txBody>
      </p:sp>
      <p:sp>
        <p:nvSpPr>
          <p:cNvPr id="37" name="TextBox 37">
            <a:extLst>
              <a:ext uri="{FF2B5EF4-FFF2-40B4-BE49-F238E27FC236}">
                <a16:creationId xmlns:a16="http://schemas.microsoft.com/office/drawing/2014/main" id="{12159E27-5543-0E3D-03B8-2BA012518EC0}"/>
              </a:ext>
            </a:extLst>
          </p:cNvPr>
          <p:cNvSpPr txBox="1"/>
          <p:nvPr/>
        </p:nvSpPr>
        <p:spPr>
          <a:xfrm>
            <a:off x="2932852" y="5447243"/>
            <a:ext cx="1520552"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PointFort2</a:t>
            </a:r>
          </a:p>
        </p:txBody>
      </p:sp>
      <p:sp>
        <p:nvSpPr>
          <p:cNvPr id="40" name="TextBox 40">
            <a:extLst>
              <a:ext uri="{FF2B5EF4-FFF2-40B4-BE49-F238E27FC236}">
                <a16:creationId xmlns:a16="http://schemas.microsoft.com/office/drawing/2014/main" id="{394D718F-43D8-211C-E64D-6FA225BD36F4}"/>
              </a:ext>
            </a:extLst>
          </p:cNvPr>
          <p:cNvSpPr txBox="1"/>
          <p:nvPr/>
        </p:nvSpPr>
        <p:spPr>
          <a:xfrm>
            <a:off x="5175047" y="5447243"/>
            <a:ext cx="1328147"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PointFort3</a:t>
            </a:r>
          </a:p>
        </p:txBody>
      </p:sp>
      <p:sp>
        <p:nvSpPr>
          <p:cNvPr id="41" name="TextBox 41">
            <a:extLst>
              <a:ext uri="{FF2B5EF4-FFF2-40B4-BE49-F238E27FC236}">
                <a16:creationId xmlns:a16="http://schemas.microsoft.com/office/drawing/2014/main" id="{E012E910-54BB-1CAC-296B-93105D19651D}"/>
              </a:ext>
            </a:extLst>
          </p:cNvPr>
          <p:cNvSpPr txBox="1"/>
          <p:nvPr/>
        </p:nvSpPr>
        <p:spPr>
          <a:xfrm>
            <a:off x="4989195" y="6599644"/>
            <a:ext cx="1699851"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4" dirty="0">
                <a:solidFill>
                  <a:srgbClr val="1A1447"/>
                </a:solidFill>
                <a:latin typeface="IBM Plex Sans Italics"/>
                <a:ea typeface="IBM Plex Sans Italics"/>
                <a:cs typeface="IBM Plex Sans Italics"/>
                <a:sym typeface="IBM Plex Sans Italics"/>
              </a:rPr>
              <a:t>Enseignement3</a:t>
            </a:r>
          </a:p>
        </p:txBody>
      </p:sp>
      <p:sp>
        <p:nvSpPr>
          <p:cNvPr id="42" name="TextBox 42">
            <a:extLst>
              <a:ext uri="{FF2B5EF4-FFF2-40B4-BE49-F238E27FC236}">
                <a16:creationId xmlns:a16="http://schemas.microsoft.com/office/drawing/2014/main" id="{7AA25F0B-A32D-A4FF-A96C-D3AF5FF07CC9}"/>
              </a:ext>
            </a:extLst>
          </p:cNvPr>
          <p:cNvSpPr txBox="1"/>
          <p:nvPr/>
        </p:nvSpPr>
        <p:spPr>
          <a:xfrm>
            <a:off x="774204" y="2950440"/>
            <a:ext cx="6055900" cy="179536"/>
          </a:xfrm>
          <a:prstGeom prst="rect">
            <a:avLst/>
          </a:prstGeom>
        </p:spPr>
        <p:txBody>
          <a:bodyPr lIns="0" tIns="0" rIns="0" bIns="0" rtlCol="0" anchor="t">
            <a:spAutoFit/>
          </a:bodyPr>
          <a:lstStyle/>
          <a:p>
            <a:pPr algn="just">
              <a:lnSpc>
                <a:spcPts val="1439"/>
              </a:lnSpc>
            </a:pPr>
            <a:r>
              <a:rPr lang="en-US" sz="1200" spc="7" dirty="0">
                <a:solidFill>
                  <a:srgbClr val="FFFFFF"/>
                </a:solidFill>
                <a:latin typeface="IBM Plex Sans"/>
                <a:ea typeface="IBM Plex Sans"/>
                <a:cs typeface="IBM Plex Sans"/>
                <a:sym typeface="IBM Plex Sans"/>
              </a:rPr>
              <a:t>Description</a:t>
            </a:r>
            <a:endParaRPr lang="en-US" sz="1200" spc="4" dirty="0">
              <a:solidFill>
                <a:srgbClr val="FFFFFF"/>
              </a:solidFill>
              <a:latin typeface="IBM Plex Sans"/>
              <a:ea typeface="IBM Plex Sans"/>
              <a:cs typeface="IBM Plex Sans"/>
              <a:sym typeface="IBM Plex Sans"/>
            </a:endParaRPr>
          </a:p>
        </p:txBody>
      </p:sp>
      <p:sp>
        <p:nvSpPr>
          <p:cNvPr id="44" name="TextBox 44">
            <a:extLst>
              <a:ext uri="{FF2B5EF4-FFF2-40B4-BE49-F238E27FC236}">
                <a16:creationId xmlns:a16="http://schemas.microsoft.com/office/drawing/2014/main" id="{C98AF855-C705-BE90-BF23-3737192E705B}"/>
              </a:ext>
            </a:extLst>
          </p:cNvPr>
          <p:cNvSpPr txBox="1"/>
          <p:nvPr/>
        </p:nvSpPr>
        <p:spPr>
          <a:xfrm>
            <a:off x="2597896" y="10378411"/>
            <a:ext cx="2515629" cy="151428"/>
          </a:xfrm>
          <a:prstGeom prst="rect">
            <a:avLst/>
          </a:prstGeom>
        </p:spPr>
        <p:txBody>
          <a:bodyPr lIns="0" tIns="0" rIns="0" bIns="0" rtlCol="0" anchor="t">
            <a:spAutoFit/>
          </a:bodyPr>
          <a:lstStyle/>
          <a:p>
            <a:pPr algn="l">
              <a:lnSpc>
                <a:spcPts val="1260"/>
              </a:lnSpc>
            </a:pPr>
            <a:r>
              <a:rPr lang="en-US" sz="900" i="1" spc="25">
                <a:solidFill>
                  <a:srgbClr val="939496"/>
                </a:solidFill>
                <a:latin typeface="IBM Plex Sans Italics"/>
                <a:ea typeface="IBM Plex Sans Italics"/>
                <a:cs typeface="IBM Plex Sans Italics"/>
                <a:sym typeface="IBM Plex Sans Italics"/>
              </a:rPr>
              <a:t>Etablissement d’enseignement supérieur privé</a:t>
            </a:r>
          </a:p>
        </p:txBody>
      </p:sp>
      <p:sp>
        <p:nvSpPr>
          <p:cNvPr id="45" name="TextBox 45">
            <a:extLst>
              <a:ext uri="{FF2B5EF4-FFF2-40B4-BE49-F238E27FC236}">
                <a16:creationId xmlns:a16="http://schemas.microsoft.com/office/drawing/2014/main" id="{5B6B8424-1168-13E6-E746-04A0750DF1E6}"/>
              </a:ext>
            </a:extLst>
          </p:cNvPr>
          <p:cNvSpPr txBox="1"/>
          <p:nvPr/>
        </p:nvSpPr>
        <p:spPr>
          <a:xfrm>
            <a:off x="537734" y="8022641"/>
            <a:ext cx="3430974"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OCCUPATIONS</a:t>
            </a:r>
          </a:p>
        </p:txBody>
      </p:sp>
      <p:sp>
        <p:nvSpPr>
          <p:cNvPr id="46" name="TextBox 46">
            <a:extLst>
              <a:ext uri="{FF2B5EF4-FFF2-40B4-BE49-F238E27FC236}">
                <a16:creationId xmlns:a16="http://schemas.microsoft.com/office/drawing/2014/main" id="{0733C7C7-20F0-CE8F-4E7F-62C79E191CB8}"/>
              </a:ext>
            </a:extLst>
          </p:cNvPr>
          <p:cNvSpPr txBox="1"/>
          <p:nvPr/>
        </p:nvSpPr>
        <p:spPr>
          <a:xfrm>
            <a:off x="537734" y="6063605"/>
            <a:ext cx="354531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TEACHING UNITS</a:t>
            </a:r>
          </a:p>
        </p:txBody>
      </p:sp>
      <p:sp>
        <p:nvSpPr>
          <p:cNvPr id="47" name="TextBox 47">
            <a:extLst>
              <a:ext uri="{FF2B5EF4-FFF2-40B4-BE49-F238E27FC236}">
                <a16:creationId xmlns:a16="http://schemas.microsoft.com/office/drawing/2014/main" id="{3BE4B9CC-5194-E081-B81E-944A9A3EC141}"/>
              </a:ext>
            </a:extLst>
          </p:cNvPr>
          <p:cNvSpPr txBox="1"/>
          <p:nvPr/>
        </p:nvSpPr>
        <p:spPr>
          <a:xfrm>
            <a:off x="537734" y="4387205"/>
            <a:ext cx="362151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TOP3 - KEY POINTS</a:t>
            </a:r>
          </a:p>
        </p:txBody>
      </p:sp>
      <p:grpSp>
        <p:nvGrpSpPr>
          <p:cNvPr id="68" name="Group 22">
            <a:extLst>
              <a:ext uri="{FF2B5EF4-FFF2-40B4-BE49-F238E27FC236}">
                <a16:creationId xmlns:a16="http://schemas.microsoft.com/office/drawing/2014/main" id="{A69010CB-B695-E644-B645-E8E378686A08}"/>
              </a:ext>
            </a:extLst>
          </p:cNvPr>
          <p:cNvGrpSpPr>
            <a:grpSpLocks noChangeAspect="1"/>
          </p:cNvGrpSpPr>
          <p:nvPr/>
        </p:nvGrpSpPr>
        <p:grpSpPr>
          <a:xfrm>
            <a:off x="747500" y="237693"/>
            <a:ext cx="6339459" cy="1849759"/>
            <a:chOff x="63500" y="63500"/>
            <a:chExt cx="6339459" cy="1849756"/>
          </a:xfrm>
        </p:grpSpPr>
        <p:sp>
          <p:nvSpPr>
            <p:cNvPr id="69" name="Freeform 23">
              <a:extLst>
                <a:ext uri="{FF2B5EF4-FFF2-40B4-BE49-F238E27FC236}">
                  <a16:creationId xmlns:a16="http://schemas.microsoft.com/office/drawing/2014/main" id="{C3A3BDE7-42E4-E1A1-6833-7AC436F4F742}"/>
                </a:ext>
              </a:extLst>
            </p:cNvPr>
            <p:cNvSpPr/>
            <p:nvPr/>
          </p:nvSpPr>
          <p:spPr>
            <a:xfrm>
              <a:off x="63500" y="381001"/>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dirty="0"/>
            </a:p>
          </p:txBody>
        </p:sp>
        <p:sp>
          <p:nvSpPr>
            <p:cNvPr id="70" name="Freeform 24">
              <a:extLst>
                <a:ext uri="{FF2B5EF4-FFF2-40B4-BE49-F238E27FC236}">
                  <a16:creationId xmlns:a16="http://schemas.microsoft.com/office/drawing/2014/main" id="{ABCA6FAF-D3A7-3DDE-6784-B4B97D868E53}"/>
                </a:ext>
              </a:extLst>
            </p:cNvPr>
            <p:cNvSpPr/>
            <p:nvPr/>
          </p:nvSpPr>
          <p:spPr>
            <a:xfrm>
              <a:off x="2613406" y="142189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71" name="Freeform 25">
              <a:extLst>
                <a:ext uri="{FF2B5EF4-FFF2-40B4-BE49-F238E27FC236}">
                  <a16:creationId xmlns:a16="http://schemas.microsoft.com/office/drawing/2014/main" id="{2CB3D91F-7DF9-E96B-F4EB-5F33ACDCD5E0}"/>
                </a:ext>
              </a:extLst>
            </p:cNvPr>
            <p:cNvSpPr/>
            <p:nvPr/>
          </p:nvSpPr>
          <p:spPr>
            <a:xfrm>
              <a:off x="4716272" y="1406271"/>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72" name="Freeform 26">
              <a:extLst>
                <a:ext uri="{FF2B5EF4-FFF2-40B4-BE49-F238E27FC236}">
                  <a16:creationId xmlns:a16="http://schemas.microsoft.com/office/drawing/2014/main" id="{6D90A3F3-1FD0-0AD5-9B30-285B09B3CE48}"/>
                </a:ext>
              </a:extLst>
            </p:cNvPr>
            <p:cNvSpPr/>
            <p:nvPr/>
          </p:nvSpPr>
          <p:spPr>
            <a:xfrm>
              <a:off x="559435" y="179451"/>
              <a:ext cx="2132330" cy="416433"/>
            </a:xfrm>
            <a:custGeom>
              <a:avLst/>
              <a:gdLst/>
              <a:ahLst/>
              <a:cxnLst/>
              <a:rect l="l" t="t" r="r" b="b"/>
              <a:pathLst>
                <a:path w="2132330" h="416433">
                  <a:moveTo>
                    <a:pt x="0" y="416433"/>
                  </a:moveTo>
                  <a:lnTo>
                    <a:pt x="2132330" y="416433"/>
                  </a:lnTo>
                  <a:lnTo>
                    <a:pt x="2132330" y="0"/>
                  </a:lnTo>
                  <a:lnTo>
                    <a:pt x="0" y="0"/>
                  </a:lnTo>
                  <a:close/>
                </a:path>
              </a:pathLst>
            </a:custGeom>
            <a:solidFill>
              <a:srgbClr val="FFFFFF"/>
            </a:solidFill>
          </p:spPr>
          <p:txBody>
            <a:bodyPr/>
            <a:lstStyle/>
            <a:p>
              <a:endParaRPr lang="fr-FR"/>
            </a:p>
          </p:txBody>
        </p:sp>
        <p:sp>
          <p:nvSpPr>
            <p:cNvPr id="73" name="Freeform 27">
              <a:extLst>
                <a:ext uri="{FF2B5EF4-FFF2-40B4-BE49-F238E27FC236}">
                  <a16:creationId xmlns:a16="http://schemas.microsoft.com/office/drawing/2014/main" id="{93ED77D6-AF0C-1F2F-89AA-B77F32AFB8DE}"/>
                </a:ext>
              </a:extLst>
            </p:cNvPr>
            <p:cNvSpPr/>
            <p:nvPr/>
          </p:nvSpPr>
          <p:spPr>
            <a:xfrm>
              <a:off x="5722620" y="63500"/>
              <a:ext cx="680339" cy="646176"/>
            </a:xfrm>
            <a:custGeom>
              <a:avLst/>
              <a:gdLst/>
              <a:ahLst/>
              <a:cxnLst/>
              <a:rect l="l" t="t" r="r" b="b"/>
              <a:pathLst>
                <a:path w="680339" h="646176">
                  <a:moveTo>
                    <a:pt x="340233" y="646049"/>
                  </a:moveTo>
                  <a:cubicBezTo>
                    <a:pt x="528066" y="646049"/>
                    <a:pt x="680339" y="501396"/>
                    <a:pt x="680339" y="322961"/>
                  </a:cubicBezTo>
                  <a:cubicBezTo>
                    <a:pt x="680339" y="144526"/>
                    <a:pt x="528066" y="0"/>
                    <a:pt x="340233" y="0"/>
                  </a:cubicBezTo>
                  <a:cubicBezTo>
                    <a:pt x="152400"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74" name="Freeform 28">
              <a:extLst>
                <a:ext uri="{FF2B5EF4-FFF2-40B4-BE49-F238E27FC236}">
                  <a16:creationId xmlns:a16="http://schemas.microsoft.com/office/drawing/2014/main" id="{23B9BCC7-1234-1BEA-1946-A873FD5B7CD8}"/>
                </a:ext>
              </a:extLst>
            </p:cNvPr>
            <p:cNvSpPr/>
            <p:nvPr/>
          </p:nvSpPr>
          <p:spPr>
            <a:xfrm>
              <a:off x="566674" y="1375410"/>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dirty="0"/>
            </a:p>
          </p:txBody>
        </p:sp>
      </p:grpSp>
      <p:sp>
        <p:nvSpPr>
          <p:cNvPr id="75" name="TextBox 51">
            <a:extLst>
              <a:ext uri="{FF2B5EF4-FFF2-40B4-BE49-F238E27FC236}">
                <a16:creationId xmlns:a16="http://schemas.microsoft.com/office/drawing/2014/main" id="{E5B6FDE4-2F4E-8A41-1612-9B9D0212FE3C}"/>
              </a:ext>
            </a:extLst>
          </p:cNvPr>
          <p:cNvSpPr txBox="1"/>
          <p:nvPr/>
        </p:nvSpPr>
        <p:spPr>
          <a:xfrm>
            <a:off x="1343644" y="1336796"/>
            <a:ext cx="1901206" cy="192938"/>
          </a:xfrm>
          <a:prstGeom prst="rect">
            <a:avLst/>
          </a:prstGeom>
        </p:spPr>
        <p:txBody>
          <a:bodyPr wrap="square" lIns="0" tIns="0" rIns="0" bIns="0" rtlCol="0" anchor="t">
            <a:spAutoFit/>
          </a:bodyPr>
          <a:lstStyle/>
          <a:p>
            <a:pPr algn="just">
              <a:lnSpc>
                <a:spcPts val="1614"/>
              </a:lnSpc>
            </a:pPr>
            <a:r>
              <a:rPr lang="en-US" sz="1200" spc="7" dirty="0">
                <a:solidFill>
                  <a:srgbClr val="464395"/>
                </a:solidFill>
                <a:latin typeface="IBM Plex Sans"/>
                <a:ea typeface="IBM Plex Sans"/>
                <a:cs typeface="IBM Plex Sans"/>
                <a:sym typeface="IBM Plex Sans"/>
              </a:rPr>
              <a:t>2 INTAKES</a:t>
            </a:r>
            <a:endParaRPr lang="en-US" sz="1200" i="1" spc="6" dirty="0">
              <a:solidFill>
                <a:srgbClr val="231F20"/>
              </a:solidFill>
              <a:latin typeface="IBM Plex Sans Italics"/>
              <a:ea typeface="IBM Plex Sans Italics"/>
              <a:cs typeface="IBM Plex Sans Italics"/>
              <a:sym typeface="IBM Plex Sans Italics"/>
            </a:endParaRPr>
          </a:p>
        </p:txBody>
      </p:sp>
      <p:sp>
        <p:nvSpPr>
          <p:cNvPr id="76" name="TextBox 52">
            <a:extLst>
              <a:ext uri="{FF2B5EF4-FFF2-40B4-BE49-F238E27FC236}">
                <a16:creationId xmlns:a16="http://schemas.microsoft.com/office/drawing/2014/main" id="{2EC9107B-FD21-53CE-B7AC-4CA71FEBA01F}"/>
              </a:ext>
            </a:extLst>
          </p:cNvPr>
          <p:cNvSpPr txBox="1"/>
          <p:nvPr/>
        </p:nvSpPr>
        <p:spPr>
          <a:xfrm>
            <a:off x="3390348" y="1359370"/>
            <a:ext cx="838810" cy="212174"/>
          </a:xfrm>
          <a:prstGeom prst="rect">
            <a:avLst/>
          </a:prstGeom>
        </p:spPr>
        <p:txBody>
          <a:bodyPr lIns="0" tIns="0" rIns="0" bIns="0" rtlCol="0" anchor="t">
            <a:spAutoFit/>
          </a:bodyPr>
          <a:lstStyle/>
          <a:p>
            <a:pPr algn="just">
              <a:lnSpc>
                <a:spcPts val="1783"/>
              </a:lnSpc>
            </a:pPr>
            <a:r>
              <a:rPr lang="en-US" sz="1200" spc="7" dirty="0">
                <a:solidFill>
                  <a:srgbClr val="464395"/>
                </a:solidFill>
                <a:latin typeface="IBM Plex Sans"/>
                <a:ea typeface="IBM Plex Sans"/>
                <a:cs typeface="IBM Plex Sans"/>
                <a:sym typeface="IBM Plex Sans"/>
              </a:rPr>
              <a:t>LANGUAGE</a:t>
            </a:r>
            <a:endParaRPr lang="en-US" sz="1200" i="1" spc="6" dirty="0">
              <a:solidFill>
                <a:srgbClr val="231F20"/>
              </a:solidFill>
              <a:latin typeface="IBM Plex Sans Italics"/>
              <a:ea typeface="IBM Plex Sans Italics"/>
              <a:cs typeface="IBM Plex Sans Italics"/>
              <a:sym typeface="IBM Plex Sans Italics"/>
            </a:endParaRPr>
          </a:p>
        </p:txBody>
      </p:sp>
      <p:sp>
        <p:nvSpPr>
          <p:cNvPr id="77" name="TextBox 39">
            <a:extLst>
              <a:ext uri="{FF2B5EF4-FFF2-40B4-BE49-F238E27FC236}">
                <a16:creationId xmlns:a16="http://schemas.microsoft.com/office/drawing/2014/main" id="{81B73878-5033-6113-4EA2-455EF63A71F5}"/>
              </a:ext>
            </a:extLst>
          </p:cNvPr>
          <p:cNvSpPr txBox="1"/>
          <p:nvPr/>
        </p:nvSpPr>
        <p:spPr>
          <a:xfrm>
            <a:off x="5536654" y="1595666"/>
            <a:ext cx="923239" cy="179536"/>
          </a:xfrm>
          <a:prstGeom prst="rect">
            <a:avLst/>
          </a:prstGeom>
        </p:spPr>
        <p:txBody>
          <a:bodyPr lIns="0" tIns="0" rIns="0" bIns="0" rtlCol="0" anchor="t">
            <a:spAutoFit/>
          </a:bodyPr>
          <a:lstStyle/>
          <a:p>
            <a:pPr algn="l">
              <a:lnSpc>
                <a:spcPts val="1439"/>
              </a:lnSpc>
            </a:pPr>
            <a:r>
              <a:rPr lang="en-US" sz="1200" i="1" spc="6" dirty="0">
                <a:solidFill>
                  <a:srgbClr val="231F20"/>
                </a:solidFill>
                <a:latin typeface="IBM Plex Sans Italics"/>
                <a:ea typeface="IBM Plex Sans Italics"/>
                <a:cs typeface="IBM Plex Sans Italics"/>
                <a:sym typeface="IBM Plex Sans Italics"/>
              </a:rPr>
              <a:t>Admission</a:t>
            </a:r>
          </a:p>
        </p:txBody>
      </p:sp>
      <p:sp>
        <p:nvSpPr>
          <p:cNvPr id="78" name="TextBox 43">
            <a:extLst>
              <a:ext uri="{FF2B5EF4-FFF2-40B4-BE49-F238E27FC236}">
                <a16:creationId xmlns:a16="http://schemas.microsoft.com/office/drawing/2014/main" id="{D4273F53-5676-F6FD-C506-A405D1E03061}"/>
              </a:ext>
            </a:extLst>
          </p:cNvPr>
          <p:cNvSpPr txBox="1"/>
          <p:nvPr/>
        </p:nvSpPr>
        <p:spPr>
          <a:xfrm>
            <a:off x="6489021" y="372689"/>
            <a:ext cx="500402" cy="397545"/>
          </a:xfrm>
          <a:prstGeom prst="rect">
            <a:avLst/>
          </a:prstGeom>
        </p:spPr>
        <p:txBody>
          <a:bodyPr wrap="square" lIns="0" tIns="0" rIns="0" bIns="0" rtlCol="0" anchor="t">
            <a:spAutoFit/>
          </a:bodyPr>
          <a:lstStyle/>
          <a:p>
            <a:pPr algn="ctr">
              <a:lnSpc>
                <a:spcPts val="1660"/>
              </a:lnSpc>
            </a:pPr>
            <a:r>
              <a:rPr lang="en-US" sz="1399" b="1" spc="2" dirty="0">
                <a:solidFill>
                  <a:srgbClr val="FFFFFF"/>
                </a:solidFill>
                <a:latin typeface="Open Sans Bold"/>
                <a:ea typeface="Open Sans Bold"/>
                <a:cs typeface="Open Sans Bold"/>
                <a:sym typeface="Open Sans Bold"/>
              </a:rPr>
              <a:t>3 </a:t>
            </a:r>
          </a:p>
          <a:p>
            <a:pPr algn="r">
              <a:lnSpc>
                <a:spcPts val="1423"/>
              </a:lnSpc>
            </a:pPr>
            <a:r>
              <a:rPr lang="en-US" sz="1200" b="1" spc="2" dirty="0">
                <a:solidFill>
                  <a:srgbClr val="FFFFFF"/>
                </a:solidFill>
                <a:latin typeface="Open Sans Bold"/>
                <a:ea typeface="Open Sans Bold"/>
                <a:cs typeface="Open Sans Bold"/>
                <a:sym typeface="Open Sans Bold"/>
              </a:rPr>
              <a:t>YEARS</a:t>
            </a:r>
          </a:p>
        </p:txBody>
      </p:sp>
      <p:sp>
        <p:nvSpPr>
          <p:cNvPr id="79" name="TextBox 48">
            <a:extLst>
              <a:ext uri="{FF2B5EF4-FFF2-40B4-BE49-F238E27FC236}">
                <a16:creationId xmlns:a16="http://schemas.microsoft.com/office/drawing/2014/main" id="{C7A730A5-DA81-F4EE-E33A-94FC5FCD34C0}"/>
              </a:ext>
            </a:extLst>
          </p:cNvPr>
          <p:cNvSpPr txBox="1"/>
          <p:nvPr/>
        </p:nvSpPr>
        <p:spPr>
          <a:xfrm>
            <a:off x="1330947" y="746141"/>
            <a:ext cx="5128946" cy="299056"/>
          </a:xfrm>
          <a:prstGeom prst="rect">
            <a:avLst/>
          </a:prstGeom>
        </p:spPr>
        <p:txBody>
          <a:bodyPr wrap="square" lIns="0" tIns="0" rIns="0" bIns="0" rtlCol="0" anchor="t">
            <a:spAutoFit/>
          </a:bodyPr>
          <a:lstStyle/>
          <a:p>
            <a:pPr algn="l">
              <a:lnSpc>
                <a:spcPts val="2520"/>
              </a:lnSpc>
            </a:pPr>
            <a:r>
              <a:rPr lang="en-US" b="1" spc="7" dirty="0">
                <a:solidFill>
                  <a:srgbClr val="1A1447"/>
                </a:solidFill>
                <a:latin typeface="IBM Plex Sans Bold"/>
                <a:ea typeface="IBM Plex Sans Bold"/>
                <a:cs typeface="IBM Plex Sans Bold"/>
                <a:sym typeface="IBM Plex Sans Bold"/>
              </a:rPr>
              <a:t>Nom</a:t>
            </a:r>
            <a:endParaRPr lang="en-US" sz="1800" b="1" spc="7" dirty="0">
              <a:solidFill>
                <a:srgbClr val="1A1447"/>
              </a:solidFill>
              <a:latin typeface="IBM Plex Sans Bold"/>
              <a:ea typeface="IBM Plex Sans Bold"/>
              <a:cs typeface="IBM Plex Sans Bold"/>
              <a:sym typeface="IBM Plex Sans Bold"/>
            </a:endParaRPr>
          </a:p>
        </p:txBody>
      </p:sp>
      <p:sp>
        <p:nvSpPr>
          <p:cNvPr id="80" name="TextBox 49">
            <a:extLst>
              <a:ext uri="{FF2B5EF4-FFF2-40B4-BE49-F238E27FC236}">
                <a16:creationId xmlns:a16="http://schemas.microsoft.com/office/drawing/2014/main" id="{C3182A99-FBDF-DD55-4096-D04935B2417F}"/>
              </a:ext>
            </a:extLst>
          </p:cNvPr>
          <p:cNvSpPr txBox="1"/>
          <p:nvPr/>
        </p:nvSpPr>
        <p:spPr>
          <a:xfrm>
            <a:off x="5471551" y="1352007"/>
            <a:ext cx="783022" cy="192491"/>
          </a:xfrm>
          <a:prstGeom prst="rect">
            <a:avLst/>
          </a:prstGeom>
        </p:spPr>
        <p:txBody>
          <a:bodyPr lIns="0" tIns="0" rIns="0" bIns="0" rtlCol="0" anchor="t">
            <a:spAutoFit/>
          </a:bodyPr>
          <a:lstStyle/>
          <a:p>
            <a:pPr algn="l">
              <a:lnSpc>
                <a:spcPts val="1539"/>
              </a:lnSpc>
            </a:pPr>
            <a:r>
              <a:rPr lang="en-US" sz="1100" spc="6" dirty="0">
                <a:solidFill>
                  <a:srgbClr val="464395"/>
                </a:solidFill>
                <a:latin typeface="IBM Plex Sans"/>
                <a:ea typeface="IBM Plex Sans"/>
                <a:cs typeface="IBM Plex Sans"/>
                <a:sym typeface="IBM Plex Sans"/>
              </a:rPr>
              <a:t>ADMISSION</a:t>
            </a:r>
          </a:p>
        </p:txBody>
      </p:sp>
      <p:sp>
        <p:nvSpPr>
          <p:cNvPr id="81" name="TextBox 50">
            <a:extLst>
              <a:ext uri="{FF2B5EF4-FFF2-40B4-BE49-F238E27FC236}">
                <a16:creationId xmlns:a16="http://schemas.microsoft.com/office/drawing/2014/main" id="{E1777E0F-5F5C-762D-303C-C6761AF393C1}"/>
              </a:ext>
            </a:extLst>
          </p:cNvPr>
          <p:cNvSpPr txBox="1"/>
          <p:nvPr/>
        </p:nvSpPr>
        <p:spPr>
          <a:xfrm>
            <a:off x="1323756" y="313858"/>
            <a:ext cx="1947977" cy="416509"/>
          </a:xfrm>
          <a:prstGeom prst="rect">
            <a:avLst/>
          </a:prstGeom>
        </p:spPr>
        <p:txBody>
          <a:bodyPr lIns="0" tIns="0" rIns="0" bIns="0" rtlCol="0" anchor="t">
            <a:spAutoFit/>
          </a:bodyPr>
          <a:lstStyle/>
          <a:p>
            <a:pPr algn="l">
              <a:lnSpc>
                <a:spcPts val="3359"/>
              </a:lnSpc>
            </a:pPr>
            <a:r>
              <a:rPr lang="en-US" sz="2400" b="1" spc="4" dirty="0">
                <a:solidFill>
                  <a:srgbClr val="231F20"/>
                </a:solidFill>
                <a:latin typeface="Open Sans Bold"/>
                <a:ea typeface="Open Sans Bold"/>
                <a:cs typeface="Open Sans Bold"/>
                <a:sym typeface="Open Sans Bold"/>
              </a:rPr>
              <a:t>TYPE</a:t>
            </a:r>
          </a:p>
        </p:txBody>
      </p:sp>
      <p:sp>
        <p:nvSpPr>
          <p:cNvPr id="82" name="TextBox 34">
            <a:extLst>
              <a:ext uri="{FF2B5EF4-FFF2-40B4-BE49-F238E27FC236}">
                <a16:creationId xmlns:a16="http://schemas.microsoft.com/office/drawing/2014/main" id="{21E4B803-2D59-F57D-DF7E-295AF3230349}"/>
              </a:ext>
            </a:extLst>
          </p:cNvPr>
          <p:cNvSpPr txBox="1"/>
          <p:nvPr/>
        </p:nvSpPr>
        <p:spPr>
          <a:xfrm>
            <a:off x="3388845" y="1592658"/>
            <a:ext cx="838810" cy="212174"/>
          </a:xfrm>
          <a:prstGeom prst="rect">
            <a:avLst/>
          </a:prstGeom>
        </p:spPr>
        <p:txBody>
          <a:bodyPr lIns="0" tIns="0" rIns="0" bIns="0" rtlCol="0" anchor="t">
            <a:spAutoFit/>
          </a:bodyPr>
          <a:lstStyle/>
          <a:p>
            <a:pPr>
              <a:lnSpc>
                <a:spcPts val="1783"/>
              </a:lnSpc>
            </a:pPr>
            <a:r>
              <a:rPr lang="en-US" sz="1200" i="1" spc="7" dirty="0" err="1">
                <a:solidFill>
                  <a:srgbClr val="231F20"/>
                </a:solidFill>
                <a:latin typeface="IBM Plex Sans Italics"/>
                <a:ea typeface="IBM Plex Sans Italics"/>
                <a:cs typeface="IBM Plex Sans Italics"/>
                <a:sym typeface="IBM Plex Sans Italics"/>
              </a:rPr>
              <a:t>Langues</a:t>
            </a:r>
            <a:endParaRPr lang="en-US" sz="1200" i="1" spc="6" dirty="0">
              <a:solidFill>
                <a:srgbClr val="231F20"/>
              </a:solidFill>
              <a:latin typeface="IBM Plex Sans Italics"/>
              <a:ea typeface="IBM Plex Sans Italics"/>
              <a:cs typeface="IBM Plex Sans Italics"/>
              <a:sym typeface="IBM Plex Sans Italics"/>
            </a:endParaRPr>
          </a:p>
        </p:txBody>
      </p:sp>
      <p:sp>
        <p:nvSpPr>
          <p:cNvPr id="22" name="TextBox 31">
            <a:extLst>
              <a:ext uri="{FF2B5EF4-FFF2-40B4-BE49-F238E27FC236}">
                <a16:creationId xmlns:a16="http://schemas.microsoft.com/office/drawing/2014/main" id="{F41D21A3-2FBC-35F0-531D-DAE1E64A35E3}"/>
              </a:ext>
            </a:extLst>
          </p:cNvPr>
          <p:cNvSpPr txBox="1"/>
          <p:nvPr/>
        </p:nvSpPr>
        <p:spPr>
          <a:xfrm>
            <a:off x="1342543" y="1538576"/>
            <a:ext cx="837371" cy="192938"/>
          </a:xfrm>
          <a:prstGeom prst="rect">
            <a:avLst/>
          </a:prstGeom>
        </p:spPr>
        <p:txBody>
          <a:bodyPr lIns="0" tIns="0" rIns="0" bIns="0" rtlCol="0" anchor="t">
            <a:spAutoFit/>
          </a:bodyPr>
          <a:lstStyle/>
          <a:p>
            <a:pPr>
              <a:lnSpc>
                <a:spcPts val="1614"/>
              </a:lnSpc>
            </a:pPr>
            <a:r>
              <a:rPr lang="en-US" sz="1200" i="1" spc="7" dirty="0">
                <a:solidFill>
                  <a:srgbClr val="231F20"/>
                </a:solidFill>
                <a:latin typeface="IBM Plex Sans Italics"/>
                <a:ea typeface="IBM Plex Sans Italics"/>
                <a:cs typeface="IBM Plex Sans Italics"/>
                <a:sym typeface="IBM Plex Sans Italics"/>
              </a:rPr>
              <a:t>Fall</a:t>
            </a:r>
            <a:endParaRPr lang="en-US" sz="1200" i="1" spc="6" dirty="0">
              <a:solidFill>
                <a:srgbClr val="231F20"/>
              </a:solidFill>
              <a:latin typeface="IBM Plex Sans Italics"/>
              <a:ea typeface="IBM Plex Sans Italics"/>
              <a:cs typeface="IBM Plex Sans Italics"/>
              <a:sym typeface="IBM Plex Sans Italics"/>
            </a:endParaRPr>
          </a:p>
        </p:txBody>
      </p:sp>
    </p:spTree>
    <p:extLst>
      <p:ext uri="{BB962C8B-B14F-4D97-AF65-F5344CB8AC3E}">
        <p14:creationId xmlns:p14="http://schemas.microsoft.com/office/powerpoint/2010/main" val="13780510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EF9F6"/>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2947502" y="5249647"/>
            <a:ext cx="1705499" cy="12697"/>
            <a:chOff x="0" y="0"/>
            <a:chExt cx="1705496" cy="12700"/>
          </a:xfrm>
        </p:grpSpPr>
        <p:sp>
          <p:nvSpPr>
            <p:cNvPr id="3" name="Freeform 3"/>
            <p:cNvSpPr/>
            <p:nvPr/>
          </p:nvSpPr>
          <p:spPr>
            <a:xfrm>
              <a:off x="0" y="0"/>
              <a:ext cx="1705483" cy="12700"/>
            </a:xfrm>
            <a:custGeom>
              <a:avLst/>
              <a:gdLst/>
              <a:ahLst/>
              <a:cxnLst/>
              <a:rect l="l" t="t" r="r" b="b"/>
              <a:pathLst>
                <a:path w="1705483" h="12700">
                  <a:moveTo>
                    <a:pt x="0" y="0"/>
                  </a:moveTo>
                  <a:lnTo>
                    <a:pt x="1705483" y="0"/>
                  </a:lnTo>
                  <a:lnTo>
                    <a:pt x="1705483" y="12700"/>
                  </a:lnTo>
                  <a:lnTo>
                    <a:pt x="0" y="12700"/>
                  </a:lnTo>
                  <a:close/>
                </a:path>
              </a:pathLst>
            </a:custGeom>
            <a:solidFill>
              <a:srgbClr val="1A1447"/>
            </a:solidFill>
          </p:spPr>
          <p:txBody>
            <a:bodyPr/>
            <a:lstStyle/>
            <a:p>
              <a:endParaRPr lang="fr-FR"/>
            </a:p>
          </p:txBody>
        </p:sp>
      </p:grpSp>
      <p:sp>
        <p:nvSpPr>
          <p:cNvPr id="4" name="TextBox 99"/>
          <p:cNvSpPr txBox="1"/>
          <p:nvPr/>
        </p:nvSpPr>
        <p:spPr>
          <a:xfrm>
            <a:off x="6672167" y="9843907"/>
            <a:ext cx="248917" cy="240665"/>
          </a:xfrm>
          <a:prstGeom prst="rect">
            <a:avLst/>
          </a:prstGeom>
        </p:spPr>
        <p:txBody>
          <a:bodyPr lIns="0" tIns="0" rIns="0" bIns="0" rtlCol="0" anchor="t">
            <a:spAutoFit/>
          </a:bodyPr>
          <a:lstStyle/>
          <a:p>
            <a:pPr algn="l">
              <a:lnSpc>
                <a:spcPts val="1959"/>
              </a:lnSpc>
            </a:pPr>
            <a:r>
              <a:rPr lang="en-US" sz="1399" b="1" spc="2" dirty="0">
                <a:solidFill>
                  <a:srgbClr val="231F20"/>
                </a:solidFill>
                <a:latin typeface="Open Sans Bold"/>
                <a:ea typeface="Open Sans Bold"/>
                <a:cs typeface="Open Sans Bold"/>
                <a:sym typeface="Open Sans Bold"/>
              </a:rPr>
              <a:t>31</a:t>
            </a:r>
          </a:p>
        </p:txBody>
      </p:sp>
      <p:sp>
        <p:nvSpPr>
          <p:cNvPr id="5" name="TextBox 5"/>
          <p:cNvSpPr txBox="1"/>
          <p:nvPr/>
        </p:nvSpPr>
        <p:spPr>
          <a:xfrm>
            <a:off x="827999" y="483803"/>
            <a:ext cx="2040941" cy="426034"/>
          </a:xfrm>
          <a:prstGeom prst="rect">
            <a:avLst/>
          </a:prstGeom>
        </p:spPr>
        <p:txBody>
          <a:bodyPr lIns="0" tIns="0" rIns="0" bIns="0" rtlCol="0" anchor="t">
            <a:spAutoFit/>
          </a:bodyPr>
          <a:lstStyle/>
          <a:p>
            <a:pPr algn="l">
              <a:lnSpc>
                <a:spcPts val="3359"/>
              </a:lnSpc>
            </a:pPr>
            <a:r>
              <a:rPr lang="en-US" sz="2400" b="1" i="1" spc="9">
                <a:solidFill>
                  <a:srgbClr val="1A1447"/>
                </a:solidFill>
                <a:latin typeface="IBM Plex Sans Bold Italics"/>
                <a:ea typeface="IBM Plex Sans Bold Italics"/>
                <a:cs typeface="IBM Plex Sans Bold Italics"/>
                <a:sym typeface="IBM Plex Sans Bold Italics"/>
              </a:rPr>
              <a:t>CANDIDATER </a:t>
            </a:r>
          </a:p>
        </p:txBody>
      </p:sp>
      <p:sp>
        <p:nvSpPr>
          <p:cNvPr id="6" name="TextBox 6"/>
          <p:cNvSpPr txBox="1"/>
          <p:nvPr/>
        </p:nvSpPr>
        <p:spPr>
          <a:xfrm>
            <a:off x="827999" y="5340401"/>
            <a:ext cx="2098215" cy="426034"/>
          </a:xfrm>
          <a:prstGeom prst="rect">
            <a:avLst/>
          </a:prstGeom>
        </p:spPr>
        <p:txBody>
          <a:bodyPr lIns="0" tIns="0" rIns="0" bIns="0" rtlCol="0" anchor="t">
            <a:spAutoFit/>
          </a:bodyPr>
          <a:lstStyle/>
          <a:p>
            <a:pPr algn="l">
              <a:lnSpc>
                <a:spcPts val="3359"/>
              </a:lnSpc>
            </a:pPr>
            <a:r>
              <a:rPr lang="en-US" sz="2400" b="1" i="1" spc="9">
                <a:solidFill>
                  <a:srgbClr val="1A1447"/>
                </a:solidFill>
                <a:latin typeface="IBM Plex Sans Bold Italics"/>
                <a:ea typeface="IBM Plex Sans Bold Italics"/>
                <a:cs typeface="IBM Plex Sans Bold Italics"/>
                <a:sym typeface="IBM Plex Sans Bold Italics"/>
              </a:rPr>
              <a:t>APPLICATION </a:t>
            </a:r>
          </a:p>
        </p:txBody>
      </p:sp>
      <p:sp>
        <p:nvSpPr>
          <p:cNvPr id="7" name="TextBox 7"/>
          <p:cNvSpPr txBox="1"/>
          <p:nvPr/>
        </p:nvSpPr>
        <p:spPr>
          <a:xfrm>
            <a:off x="5430717" y="5706161"/>
            <a:ext cx="1241450" cy="426034"/>
          </a:xfrm>
          <a:prstGeom prst="rect">
            <a:avLst/>
          </a:prstGeom>
        </p:spPr>
        <p:txBody>
          <a:bodyPr lIns="0" tIns="0" rIns="0" bIns="0" rtlCol="0" anchor="t">
            <a:spAutoFit/>
          </a:bodyPr>
          <a:lstStyle/>
          <a:p>
            <a:pPr algn="l">
              <a:lnSpc>
                <a:spcPts val="3359"/>
              </a:lnSpc>
            </a:pPr>
            <a:r>
              <a:rPr lang="en-US" sz="2400" b="1" i="1" spc="9">
                <a:solidFill>
                  <a:srgbClr val="EA8C4C"/>
                </a:solidFill>
                <a:latin typeface="IBM Plex Sans Bold Italics"/>
                <a:ea typeface="IBM Plex Sans Bold Italics"/>
                <a:cs typeface="IBM Plex Sans Bold Italics"/>
                <a:sym typeface="IBM Plex Sans Bold Italics"/>
              </a:rPr>
              <a:t>5 STEPS</a:t>
            </a:r>
          </a:p>
        </p:txBody>
      </p:sp>
      <p:sp>
        <p:nvSpPr>
          <p:cNvPr id="8" name="TextBox 8"/>
          <p:cNvSpPr txBox="1"/>
          <p:nvPr/>
        </p:nvSpPr>
        <p:spPr>
          <a:xfrm>
            <a:off x="4807115" y="849563"/>
            <a:ext cx="1865071" cy="405765"/>
          </a:xfrm>
          <a:prstGeom prst="rect">
            <a:avLst/>
          </a:prstGeom>
        </p:spPr>
        <p:txBody>
          <a:bodyPr lIns="0" tIns="0" rIns="0" bIns="0" rtlCol="0" anchor="t">
            <a:spAutoFit/>
          </a:bodyPr>
          <a:lstStyle/>
          <a:p>
            <a:pPr algn="l">
              <a:lnSpc>
                <a:spcPts val="3359"/>
              </a:lnSpc>
            </a:pPr>
            <a:r>
              <a:rPr lang="en-US" sz="2400" b="1" i="1" spc="9">
                <a:solidFill>
                  <a:srgbClr val="EA8C4C"/>
                </a:solidFill>
                <a:latin typeface="IBM Plex Sans Bold Italics"/>
                <a:ea typeface="IBM Plex Sans Bold Italics"/>
                <a:cs typeface="IBM Plex Sans Bold Italics"/>
                <a:sym typeface="IBM Plex Sans Bold Italics"/>
              </a:rPr>
              <a:t>EN 5 ÉTAPES</a:t>
            </a:r>
          </a:p>
        </p:txBody>
      </p:sp>
      <p:sp>
        <p:nvSpPr>
          <p:cNvPr id="9" name="TextBox 9"/>
          <p:cNvSpPr txBox="1"/>
          <p:nvPr/>
        </p:nvSpPr>
        <p:spPr>
          <a:xfrm>
            <a:off x="827999" y="1053055"/>
            <a:ext cx="6083132" cy="3937254"/>
          </a:xfrm>
          <a:prstGeom prst="rect">
            <a:avLst/>
          </a:prstGeom>
        </p:spPr>
        <p:txBody>
          <a:bodyPr lIns="0" tIns="0" rIns="0" bIns="0" rtlCol="0" anchor="t">
            <a:spAutoFit/>
          </a:bodyPr>
          <a:lstStyle/>
          <a:p>
            <a:pPr algn="l">
              <a:lnSpc>
                <a:spcPts val="3000"/>
              </a:lnSpc>
            </a:pPr>
            <a:r>
              <a:rPr lang="en-US" sz="1200" b="1" i="1" spc="4">
                <a:solidFill>
                  <a:srgbClr val="EA8C4C"/>
                </a:solidFill>
                <a:latin typeface="IBM Plex Sans Bold Italics"/>
                <a:ea typeface="IBM Plex Sans Bold Italics"/>
                <a:cs typeface="IBM Plex Sans Bold Italics"/>
                <a:sym typeface="IBM Plex Sans Bold Italics"/>
              </a:rPr>
              <a:t>sans concours et hors parcoursup !</a:t>
            </a:r>
          </a:p>
          <a:p>
            <a:pPr algn="l">
              <a:lnSpc>
                <a:spcPts val="3000"/>
              </a:lnSpc>
            </a:pPr>
            <a:r>
              <a:rPr lang="en-US" sz="1200" b="1" spc="4">
                <a:solidFill>
                  <a:srgbClr val="EA8C39"/>
                </a:solidFill>
                <a:latin typeface="IBM Plex Sans Bold"/>
                <a:ea typeface="IBM Plex Sans Bold"/>
                <a:cs typeface="IBM Plex Sans Bold"/>
                <a:sym typeface="IBM Plex Sans Bold"/>
              </a:rPr>
              <a:t>ÉTAPE 1 </a:t>
            </a:r>
            <a:r>
              <a:rPr lang="en-US" sz="1200" b="1" i="1" spc="4">
                <a:solidFill>
                  <a:srgbClr val="231F20"/>
                </a:solidFill>
                <a:latin typeface="IBM Plex Sans Bold Italics"/>
                <a:ea typeface="IBM Plex Sans Bold Italics"/>
                <a:cs typeface="IBM Plex Sans Bold Italics"/>
                <a:sym typeface="IBM Plex Sans Bold Italics"/>
              </a:rPr>
              <a:t>:</a:t>
            </a:r>
            <a:r>
              <a:rPr lang="en-US" sz="1200" b="1" i="1" spc="4">
                <a:solidFill>
                  <a:srgbClr val="464395"/>
                </a:solidFill>
                <a:latin typeface="IBM Plex Sans Bold Italics"/>
                <a:ea typeface="IBM Plex Sans Bold Italics"/>
                <a:cs typeface="IBM Plex Sans Bold Italics"/>
                <a:sym typeface="IBM Plex Sans Bold Italics"/>
              </a:rPr>
              <a:t> </a:t>
            </a:r>
            <a:r>
              <a:rPr lang="en-US" sz="1200" b="1" i="1" spc="4">
                <a:solidFill>
                  <a:srgbClr val="1A1447"/>
                </a:solidFill>
                <a:latin typeface="IBM Plex Sans Bold Italics"/>
                <a:ea typeface="IBM Plex Sans Bold Italics"/>
                <a:cs typeface="IBM Plex Sans Bold Italics"/>
                <a:sym typeface="IBM Plex Sans Bold Italics"/>
              </a:rPr>
              <a:t>FORMULAIRE DE CANDIDATURE 100% ONLINE ! </a:t>
            </a:r>
          </a:p>
          <a:p>
            <a:pPr algn="l">
              <a:lnSpc>
                <a:spcPts val="710"/>
              </a:lnSpc>
            </a:pPr>
            <a:r>
              <a:rPr lang="en-US" sz="1200" i="1" spc="6">
                <a:solidFill>
                  <a:srgbClr val="1A1447"/>
                </a:solidFill>
                <a:latin typeface="IBM Plex Sans Italics"/>
                <a:ea typeface="IBM Plex Sans Italics"/>
                <a:cs typeface="IBM Plex Sans Italics"/>
                <a:sym typeface="IBM Plex Sans Italics"/>
              </a:rPr>
              <a:t>Créer votre fiche de candidature sur : </a:t>
            </a:r>
            <a:r>
              <a:rPr lang="en-US" sz="1200" b="1" i="1" spc="6">
                <a:solidFill>
                  <a:srgbClr val="1A1447"/>
                </a:solidFill>
                <a:latin typeface="IBM Plex Sans Bold Italics"/>
                <a:ea typeface="IBM Plex Sans Bold Italics"/>
                <a:cs typeface="IBM Plex Sans Bold Italics"/>
                <a:sym typeface="IBM Plex Sans Bold Italics"/>
              </a:rPr>
              <a:t>www.ilci-education.fr/admissions/</a:t>
            </a:r>
          </a:p>
          <a:p>
            <a:pPr algn="l">
              <a:lnSpc>
                <a:spcPts val="2160"/>
              </a:lnSpc>
            </a:pPr>
            <a:r>
              <a:rPr lang="en-US" sz="1200" i="1" spc="6">
                <a:solidFill>
                  <a:srgbClr val="1A1447"/>
                </a:solidFill>
                <a:latin typeface="IBM Plex Sans Italics"/>
                <a:ea typeface="IBM Plex Sans Italics"/>
                <a:cs typeface="IBM Plex Sans Italics"/>
                <a:sym typeface="IBM Plex Sans Italics"/>
              </a:rPr>
              <a:t>Vous allez recevoir un e-mail, attention à </a:t>
            </a:r>
            <a:r>
              <a:rPr lang="en-US" sz="1200" b="1" i="1" spc="6">
                <a:solidFill>
                  <a:srgbClr val="1A1447"/>
                </a:solidFill>
                <a:latin typeface="IBM Plex Sans Bold Italics"/>
                <a:ea typeface="IBM Plex Sans Bold Italics"/>
                <a:cs typeface="IBM Plex Sans Bold Italics"/>
                <a:sym typeface="IBM Plex Sans Bold Italics"/>
              </a:rPr>
              <a:t>VERIFIER VOTRE BOITE DE SPAM</a:t>
            </a:r>
            <a:r>
              <a:rPr lang="en-US" sz="1200" i="1" spc="6">
                <a:solidFill>
                  <a:srgbClr val="1A1447"/>
                </a:solidFill>
                <a:latin typeface="IBM Plex Sans Italics"/>
                <a:ea typeface="IBM Plex Sans Italics"/>
                <a:cs typeface="IBM Plex Sans Italics"/>
                <a:sym typeface="IBM Plex Sans Italics"/>
              </a:rPr>
              <a:t>. </a:t>
            </a:r>
          </a:p>
          <a:p>
            <a:pPr algn="l">
              <a:lnSpc>
                <a:spcPts val="2160"/>
              </a:lnSpc>
            </a:pPr>
            <a:r>
              <a:rPr lang="en-US" sz="1200" b="1" spc="4">
                <a:solidFill>
                  <a:srgbClr val="EA8C39"/>
                </a:solidFill>
                <a:latin typeface="IBM Plex Sans Bold"/>
                <a:ea typeface="IBM Plex Sans Bold"/>
                <a:cs typeface="IBM Plex Sans Bold"/>
                <a:sym typeface="IBM Plex Sans Bold"/>
              </a:rPr>
              <a:t>ÉTAPE 2 </a:t>
            </a:r>
            <a:r>
              <a:rPr lang="en-US" sz="1200" b="1" i="1" spc="4">
                <a:solidFill>
                  <a:srgbClr val="231F20"/>
                </a:solidFill>
                <a:latin typeface="IBM Plex Sans Bold Italics"/>
                <a:ea typeface="IBM Plex Sans Bold Italics"/>
                <a:cs typeface="IBM Plex Sans Bold Italics"/>
                <a:sym typeface="IBM Plex Sans Bold Italics"/>
              </a:rPr>
              <a:t>:</a:t>
            </a:r>
            <a:r>
              <a:rPr lang="en-US" sz="1200" b="1" i="1" spc="4">
                <a:solidFill>
                  <a:srgbClr val="464395"/>
                </a:solidFill>
                <a:latin typeface="IBM Plex Sans Bold Italics"/>
                <a:ea typeface="IBM Plex Sans Bold Italics"/>
                <a:cs typeface="IBM Plex Sans Bold Italics"/>
                <a:sym typeface="IBM Plex Sans Bold Italics"/>
              </a:rPr>
              <a:t> </a:t>
            </a:r>
            <a:r>
              <a:rPr lang="en-US" sz="1200" b="1" i="1" spc="4">
                <a:solidFill>
                  <a:srgbClr val="1A1447"/>
                </a:solidFill>
                <a:latin typeface="IBM Plex Sans Bold Italics"/>
                <a:ea typeface="IBM Plex Sans Bold Italics"/>
                <a:cs typeface="IBM Plex Sans Bold Italics"/>
                <a:sym typeface="IBM Plex Sans Bold Italics"/>
              </a:rPr>
              <a:t>EVALUATION DE DOSSIER</a:t>
            </a:r>
          </a:p>
          <a:p>
            <a:pPr algn="l">
              <a:lnSpc>
                <a:spcPts val="1439"/>
              </a:lnSpc>
            </a:pPr>
            <a:r>
              <a:rPr lang="en-US" sz="1200" i="1" spc="6">
                <a:solidFill>
                  <a:srgbClr val="1A1447"/>
                </a:solidFill>
                <a:latin typeface="IBM Plex Sans Italics"/>
                <a:ea typeface="IBM Plex Sans Italics"/>
                <a:cs typeface="IBM Plex Sans Italics"/>
                <a:sym typeface="IBM Plex Sans Italics"/>
              </a:rPr>
              <a:t>Votre dossier et capacité à suivre des instructions sont évalués</a:t>
            </a:r>
          </a:p>
          <a:p>
            <a:pPr algn="l">
              <a:lnSpc>
                <a:spcPts val="1439"/>
              </a:lnSpc>
            </a:pPr>
            <a:r>
              <a:rPr lang="en-US" sz="1200" i="1" spc="6">
                <a:solidFill>
                  <a:srgbClr val="1A1447"/>
                </a:solidFill>
                <a:latin typeface="IBM Plex Sans Italics"/>
                <a:ea typeface="IBM Plex Sans Italics"/>
                <a:cs typeface="IBM Plex Sans Italics"/>
                <a:sym typeface="IBM Plex Sans Italics"/>
              </a:rPr>
              <a:t>Les commissions ont lieux chaque semaine. Vous recevrez ensuite un mail réponse.</a:t>
            </a:r>
          </a:p>
          <a:p>
            <a:pPr algn="l">
              <a:lnSpc>
                <a:spcPts val="3000"/>
              </a:lnSpc>
            </a:pPr>
            <a:r>
              <a:rPr lang="en-US" sz="1200" b="1" spc="4">
                <a:solidFill>
                  <a:srgbClr val="EA8C39"/>
                </a:solidFill>
                <a:latin typeface="IBM Plex Sans Bold"/>
                <a:ea typeface="IBM Plex Sans Bold"/>
                <a:cs typeface="IBM Plex Sans Bold"/>
                <a:sym typeface="IBM Plex Sans Bold"/>
              </a:rPr>
              <a:t>ÉTAPE 3 </a:t>
            </a:r>
            <a:r>
              <a:rPr lang="en-US" sz="1200" b="1" i="1" spc="4">
                <a:solidFill>
                  <a:srgbClr val="231F20"/>
                </a:solidFill>
                <a:latin typeface="IBM Plex Sans Bold Italics"/>
                <a:ea typeface="IBM Plex Sans Bold Italics"/>
                <a:cs typeface="IBM Plex Sans Bold Italics"/>
                <a:sym typeface="IBM Plex Sans Bold Italics"/>
              </a:rPr>
              <a:t>:</a:t>
            </a:r>
            <a:r>
              <a:rPr lang="en-US" sz="1200" b="1" i="1" spc="4">
                <a:solidFill>
                  <a:srgbClr val="464395"/>
                </a:solidFill>
                <a:latin typeface="IBM Plex Sans Bold Italics"/>
                <a:ea typeface="IBM Plex Sans Bold Italics"/>
                <a:cs typeface="IBM Plex Sans Bold Italics"/>
                <a:sym typeface="IBM Plex Sans Bold Italics"/>
              </a:rPr>
              <a:t> </a:t>
            </a:r>
            <a:r>
              <a:rPr lang="en-US" sz="1200" b="1" i="1" spc="4">
                <a:solidFill>
                  <a:srgbClr val="1A1447"/>
                </a:solidFill>
                <a:latin typeface="IBM Plex Sans Bold Italics"/>
                <a:ea typeface="IBM Plex Sans Bold Italics"/>
                <a:cs typeface="IBM Plex Sans Bold Italics"/>
                <a:sym typeface="IBM Plex Sans Bold Italics"/>
              </a:rPr>
              <a:t>ENTRETIEN D’ADMISSION</a:t>
            </a:r>
          </a:p>
          <a:p>
            <a:pPr algn="l">
              <a:lnSpc>
                <a:spcPts val="646"/>
              </a:lnSpc>
            </a:pPr>
            <a:r>
              <a:rPr lang="en-US" sz="1200" i="1" spc="6">
                <a:solidFill>
                  <a:srgbClr val="1A1447"/>
                </a:solidFill>
                <a:latin typeface="IBM Plex Sans Italics"/>
                <a:ea typeface="IBM Plex Sans Italics"/>
                <a:cs typeface="IBM Plex Sans Italics"/>
                <a:sym typeface="IBM Plex Sans Italics"/>
              </a:rPr>
              <a:t>Un </a:t>
            </a:r>
            <a:r>
              <a:rPr lang="en-US" sz="1200" b="1" i="1" spc="6">
                <a:solidFill>
                  <a:srgbClr val="1A1447"/>
                </a:solidFill>
                <a:latin typeface="IBM Plex Sans Bold Italics"/>
                <a:ea typeface="IBM Plex Sans Bold Italics"/>
                <a:cs typeface="IBM Plex Sans Bold Italics"/>
                <a:sym typeface="IBM Plex Sans Bold Italics"/>
              </a:rPr>
              <a:t>ENTRETIEN </a:t>
            </a:r>
            <a:r>
              <a:rPr lang="en-US" sz="1200" i="1" spc="6">
                <a:solidFill>
                  <a:srgbClr val="1A1447"/>
                </a:solidFill>
                <a:latin typeface="IBM Plex Sans Italics"/>
                <a:ea typeface="IBM Plex Sans Italics"/>
                <a:cs typeface="IBM Plex Sans Italics"/>
                <a:sym typeface="IBM Plex Sans Italics"/>
              </a:rPr>
              <a:t>vous sera proposé selon les disponibilités.</a:t>
            </a:r>
          </a:p>
          <a:p>
            <a:pPr algn="l">
              <a:lnSpc>
                <a:spcPts val="2348"/>
              </a:lnSpc>
            </a:pPr>
            <a:r>
              <a:rPr lang="en-US" sz="1200" i="1" spc="6">
                <a:solidFill>
                  <a:srgbClr val="1A1447"/>
                </a:solidFill>
                <a:latin typeface="IBM Plex Sans Italics"/>
                <a:ea typeface="IBM Plex Sans Italics"/>
                <a:cs typeface="IBM Plex Sans Italics"/>
                <a:sym typeface="IBM Plex Sans Italics"/>
              </a:rPr>
              <a:t>En cas de forte affluence, nous proposerons un pré-entretien au format vidéo</a:t>
            </a:r>
          </a:p>
          <a:p>
            <a:pPr algn="l">
              <a:lnSpc>
                <a:spcPts val="2348"/>
              </a:lnSpc>
            </a:pPr>
            <a:r>
              <a:rPr lang="en-US" sz="1200" b="1" spc="4">
                <a:solidFill>
                  <a:srgbClr val="EA8C39"/>
                </a:solidFill>
                <a:latin typeface="IBM Plex Sans Bold"/>
                <a:ea typeface="IBM Plex Sans Bold"/>
                <a:cs typeface="IBM Plex Sans Bold"/>
                <a:sym typeface="IBM Plex Sans Bold"/>
              </a:rPr>
              <a:t>ÉTAPE 4 </a:t>
            </a:r>
            <a:r>
              <a:rPr lang="en-US" sz="1200" b="1" i="1" spc="4">
                <a:solidFill>
                  <a:srgbClr val="231F20"/>
                </a:solidFill>
                <a:latin typeface="IBM Plex Sans Bold Italics"/>
                <a:ea typeface="IBM Plex Sans Bold Italics"/>
                <a:cs typeface="IBM Plex Sans Bold Italics"/>
                <a:sym typeface="IBM Plex Sans Bold Italics"/>
              </a:rPr>
              <a:t>: </a:t>
            </a:r>
            <a:r>
              <a:rPr lang="en-US" sz="1200" b="1" i="1" spc="4">
                <a:solidFill>
                  <a:srgbClr val="1A1447"/>
                </a:solidFill>
                <a:latin typeface="IBM Plex Sans Bold Italics"/>
                <a:ea typeface="IBM Plex Sans Bold Italics"/>
                <a:cs typeface="IBM Plex Sans Bold Italics"/>
                <a:sym typeface="IBM Plex Sans Bold Italics"/>
              </a:rPr>
              <a:t>ADMISSIBILITE ET INSCRIPTION</a:t>
            </a:r>
          </a:p>
          <a:p>
            <a:pPr algn="l">
              <a:lnSpc>
                <a:spcPts val="1101"/>
              </a:lnSpc>
            </a:pPr>
            <a:r>
              <a:rPr lang="en-US" sz="1200" i="1" spc="6">
                <a:solidFill>
                  <a:srgbClr val="1A1447"/>
                </a:solidFill>
                <a:latin typeface="IBM Plex Sans Italics"/>
                <a:ea typeface="IBM Plex Sans Italics"/>
                <a:cs typeface="IBM Plex Sans Italics"/>
                <a:sym typeface="IBM Plex Sans Italics"/>
              </a:rPr>
              <a:t>Vous recevrez un email d’admissibilité/refus avec les informations pour finaliser votre inscription. L’attestation de (pré)inscription vous sera envoyé une fois cette étape finalisée.</a:t>
            </a:r>
          </a:p>
          <a:p>
            <a:pPr algn="l">
              <a:lnSpc>
                <a:spcPts val="3000"/>
              </a:lnSpc>
            </a:pPr>
            <a:r>
              <a:rPr lang="en-US" sz="1200" b="1" spc="4">
                <a:solidFill>
                  <a:srgbClr val="EA8C39"/>
                </a:solidFill>
                <a:latin typeface="IBM Plex Sans Bold"/>
                <a:ea typeface="IBM Plex Sans Bold"/>
                <a:cs typeface="IBM Plex Sans Bold"/>
                <a:sym typeface="IBM Plex Sans Bold"/>
              </a:rPr>
              <a:t>ÉTAPE 5 </a:t>
            </a:r>
            <a:r>
              <a:rPr lang="en-US" sz="1200" b="1" i="1" spc="4">
                <a:solidFill>
                  <a:srgbClr val="231F20"/>
                </a:solidFill>
                <a:latin typeface="IBM Plex Sans Bold Italics"/>
                <a:ea typeface="IBM Plex Sans Bold Italics"/>
                <a:cs typeface="IBM Plex Sans Bold Italics"/>
                <a:sym typeface="IBM Plex Sans Bold Italics"/>
              </a:rPr>
              <a:t>: </a:t>
            </a:r>
            <a:r>
              <a:rPr lang="en-US" sz="1200" b="1" i="1" spc="4">
                <a:solidFill>
                  <a:srgbClr val="1A1447"/>
                </a:solidFill>
                <a:latin typeface="IBM Plex Sans Bold Italics"/>
                <a:ea typeface="IBM Plex Sans Bold Italics"/>
                <a:cs typeface="IBM Plex Sans Bold Italics"/>
                <a:sym typeface="IBM Plex Sans Bold Italics"/>
              </a:rPr>
              <a:t>POUR LES ÉTUDIANTS AVEC DEMANDE DE VISA</a:t>
            </a:r>
          </a:p>
          <a:p>
            <a:pPr algn="l">
              <a:lnSpc>
                <a:spcPts val="804"/>
              </a:lnSpc>
            </a:pPr>
            <a:r>
              <a:rPr lang="en-US" sz="1200" i="1" spc="6">
                <a:solidFill>
                  <a:srgbClr val="1A1447"/>
                </a:solidFill>
                <a:latin typeface="IBM Plex Sans Italics"/>
                <a:ea typeface="IBM Plex Sans Italics"/>
                <a:cs typeface="IBM Plex Sans Italics"/>
                <a:sym typeface="IBM Plex Sans Italics"/>
              </a:rPr>
              <a:t>Veuillez vous rapprocher du Campus France de votre pays pour votre demande de visa.</a:t>
            </a:r>
          </a:p>
          <a:p>
            <a:pPr algn="l">
              <a:lnSpc>
                <a:spcPts val="2076"/>
              </a:lnSpc>
            </a:pPr>
            <a:r>
              <a:rPr lang="en-US" sz="1200" i="1" spc="6">
                <a:solidFill>
                  <a:srgbClr val="1A1447"/>
                </a:solidFill>
                <a:latin typeface="IBM Plex Sans Italics"/>
                <a:ea typeface="IBM Plex Sans Italics"/>
                <a:cs typeface="IBM Plex Sans Italics"/>
                <a:sym typeface="IBM Plex Sans Italics"/>
              </a:rPr>
              <a:t>Dès réception, envoyez-nous une copie de votre visa étudiant à info@ilci.fr</a:t>
            </a:r>
          </a:p>
        </p:txBody>
      </p:sp>
      <p:sp>
        <p:nvSpPr>
          <p:cNvPr id="10" name="TextBox 10"/>
          <p:cNvSpPr txBox="1"/>
          <p:nvPr/>
        </p:nvSpPr>
        <p:spPr>
          <a:xfrm>
            <a:off x="827999" y="5909653"/>
            <a:ext cx="6193936" cy="3934347"/>
          </a:xfrm>
          <a:prstGeom prst="rect">
            <a:avLst/>
          </a:prstGeom>
        </p:spPr>
        <p:txBody>
          <a:bodyPr lIns="0" tIns="0" rIns="0" bIns="0" rtlCol="0" anchor="t">
            <a:spAutoFit/>
          </a:bodyPr>
          <a:lstStyle/>
          <a:p>
            <a:pPr algn="l">
              <a:lnSpc>
                <a:spcPts val="3000"/>
              </a:lnSpc>
            </a:pPr>
            <a:r>
              <a:rPr lang="en-US" sz="1200" b="1" i="1" spc="4" dirty="0">
                <a:solidFill>
                  <a:srgbClr val="EA8C4C"/>
                </a:solidFill>
                <a:latin typeface="IBM Plex Sans Bold Italics"/>
                <a:ea typeface="IBM Plex Sans Bold Italics"/>
                <a:cs typeface="IBM Plex Sans Bold Italics"/>
                <a:sym typeface="IBM Plex Sans Bold Italics"/>
              </a:rPr>
              <a:t>No written tests, No </a:t>
            </a:r>
            <a:r>
              <a:rPr lang="en-US" sz="1200" b="1" i="1" spc="4" dirty="0" err="1">
                <a:solidFill>
                  <a:srgbClr val="EA8C4C"/>
                </a:solidFill>
                <a:latin typeface="IBM Plex Sans Bold Italics"/>
                <a:ea typeface="IBM Plex Sans Bold Italics"/>
                <a:cs typeface="IBM Plex Sans Bold Italics"/>
                <a:sym typeface="IBM Plex Sans Bold Italics"/>
              </a:rPr>
              <a:t>parcoursup</a:t>
            </a:r>
            <a:r>
              <a:rPr lang="en-US" sz="1200" b="1" i="1" spc="4" dirty="0">
                <a:solidFill>
                  <a:srgbClr val="EA8C4C"/>
                </a:solidFill>
                <a:latin typeface="IBM Plex Sans Bold Italics"/>
                <a:ea typeface="IBM Plex Sans Bold Italics"/>
                <a:cs typeface="IBM Plex Sans Bold Italics"/>
                <a:sym typeface="IBM Plex Sans Bold Italics"/>
              </a:rPr>
              <a:t> !</a:t>
            </a:r>
          </a:p>
          <a:p>
            <a:pPr algn="l">
              <a:lnSpc>
                <a:spcPts val="3000"/>
              </a:lnSpc>
            </a:pPr>
            <a:r>
              <a:rPr lang="en-US" sz="1200" b="1" spc="4" dirty="0">
                <a:solidFill>
                  <a:srgbClr val="EA8C39"/>
                </a:solidFill>
                <a:latin typeface="IBM Plex Sans Bold"/>
                <a:ea typeface="IBM Plex Sans Bold"/>
                <a:cs typeface="IBM Plex Sans Bold"/>
                <a:sym typeface="IBM Plex Sans Bold"/>
              </a:rPr>
              <a:t>STEP 1 </a:t>
            </a:r>
            <a:r>
              <a:rPr lang="en-US" sz="1200" b="1" i="1" spc="4" dirty="0">
                <a:solidFill>
                  <a:srgbClr val="231F20"/>
                </a:solidFill>
                <a:latin typeface="IBM Plex Sans Bold Italics"/>
                <a:ea typeface="IBM Plex Sans Bold Italics"/>
                <a:cs typeface="IBM Plex Sans Bold Italics"/>
                <a:sym typeface="IBM Plex Sans Bold Italics"/>
              </a:rPr>
              <a:t>:</a:t>
            </a:r>
            <a:r>
              <a:rPr lang="en-US" sz="1200" b="1" i="1" spc="4" dirty="0">
                <a:solidFill>
                  <a:srgbClr val="464395"/>
                </a:solidFill>
                <a:latin typeface="IBM Plex Sans Bold Italics"/>
                <a:ea typeface="IBM Plex Sans Bold Italics"/>
                <a:cs typeface="IBM Plex Sans Bold Italics"/>
                <a:sym typeface="IBM Plex Sans Bold Italics"/>
              </a:rPr>
              <a:t> </a:t>
            </a:r>
            <a:r>
              <a:rPr lang="en-US" sz="1200" b="1" i="1" spc="4" dirty="0">
                <a:solidFill>
                  <a:srgbClr val="1A1447"/>
                </a:solidFill>
                <a:latin typeface="IBM Plex Sans Bold Italics"/>
                <a:ea typeface="IBM Plex Sans Bold Italics"/>
                <a:cs typeface="IBM Plex Sans Bold Italics"/>
                <a:sym typeface="IBM Plex Sans Bold Italics"/>
              </a:rPr>
              <a:t>STUDENT APPLICATION 100% ONLINE ! </a:t>
            </a:r>
          </a:p>
          <a:p>
            <a:pPr algn="l">
              <a:lnSpc>
                <a:spcPts val="710"/>
              </a:lnSpc>
            </a:pPr>
            <a:r>
              <a:rPr lang="en-US" sz="1200" i="1" dirty="0">
                <a:solidFill>
                  <a:srgbClr val="1A1447"/>
                </a:solidFill>
                <a:latin typeface="IBM Plex Sans Italics"/>
                <a:ea typeface="IBM Plex Sans Italics"/>
                <a:cs typeface="IBM Plex Sans Italics"/>
                <a:sym typeface="IBM Plex Sans Italics"/>
              </a:rPr>
              <a:t>Apply on : </a:t>
            </a:r>
            <a:r>
              <a:rPr lang="en-US" sz="1200" b="1" i="1" dirty="0">
                <a:solidFill>
                  <a:srgbClr val="1A1447"/>
                </a:solidFill>
                <a:latin typeface="IBM Plex Sans Bold Italics"/>
                <a:ea typeface="IBM Plex Sans Bold Italics"/>
                <a:cs typeface="IBM Plex Sans Bold Italics"/>
                <a:sym typeface="IBM Plex Sans Bold Italics"/>
              </a:rPr>
              <a:t>www.ilci-education.fr/admissions/</a:t>
            </a:r>
          </a:p>
          <a:p>
            <a:pPr algn="l">
              <a:lnSpc>
                <a:spcPts val="2160"/>
              </a:lnSpc>
            </a:pPr>
            <a:r>
              <a:rPr lang="en-US" sz="1200" i="1" spc="6" dirty="0">
                <a:solidFill>
                  <a:srgbClr val="1A1447"/>
                </a:solidFill>
                <a:latin typeface="IBM Plex Sans Italics"/>
                <a:ea typeface="IBM Plex Sans Italics"/>
                <a:cs typeface="IBM Plex Sans Italics"/>
                <a:sym typeface="IBM Plex Sans Italics"/>
              </a:rPr>
              <a:t>You will receive and email, </a:t>
            </a:r>
            <a:r>
              <a:rPr lang="en-US" sz="1200" b="1" i="1" spc="6" dirty="0">
                <a:solidFill>
                  <a:srgbClr val="1A1447"/>
                </a:solidFill>
                <a:latin typeface="IBM Plex Sans Bold Italics"/>
                <a:ea typeface="IBM Plex Sans Bold Italics"/>
                <a:cs typeface="IBM Plex Sans Bold Italics"/>
                <a:sym typeface="IBM Plex Sans Bold Italics"/>
              </a:rPr>
              <a:t>PAY ATTENTION TO YOUR JUNK/SPAM BOX</a:t>
            </a:r>
            <a:r>
              <a:rPr lang="en-US" sz="1200" i="1" spc="6" dirty="0">
                <a:solidFill>
                  <a:srgbClr val="1A1447"/>
                </a:solidFill>
                <a:latin typeface="IBM Plex Sans Italics"/>
                <a:ea typeface="IBM Plex Sans Italics"/>
                <a:cs typeface="IBM Plex Sans Italics"/>
                <a:sym typeface="IBM Plex Sans Italics"/>
              </a:rPr>
              <a:t>. </a:t>
            </a:r>
          </a:p>
          <a:p>
            <a:pPr algn="l">
              <a:lnSpc>
                <a:spcPts val="2160"/>
              </a:lnSpc>
            </a:pPr>
            <a:r>
              <a:rPr lang="en-US" sz="1200" b="1" spc="4" dirty="0">
                <a:solidFill>
                  <a:srgbClr val="EA8C39"/>
                </a:solidFill>
                <a:latin typeface="IBM Plex Sans Bold"/>
                <a:ea typeface="IBM Plex Sans Bold"/>
                <a:cs typeface="IBM Plex Sans Bold"/>
                <a:sym typeface="IBM Plex Sans Bold"/>
              </a:rPr>
              <a:t>STEP 2 </a:t>
            </a:r>
            <a:r>
              <a:rPr lang="en-US" sz="1200" b="1" i="1" spc="4" dirty="0">
                <a:solidFill>
                  <a:srgbClr val="231F20"/>
                </a:solidFill>
                <a:latin typeface="IBM Plex Sans Bold Italics"/>
                <a:ea typeface="IBM Plex Sans Bold Italics"/>
                <a:cs typeface="IBM Plex Sans Bold Italics"/>
                <a:sym typeface="IBM Plex Sans Bold Italics"/>
              </a:rPr>
              <a:t>:</a:t>
            </a:r>
            <a:r>
              <a:rPr lang="en-US" sz="1200" b="1" i="1" spc="4" dirty="0">
                <a:solidFill>
                  <a:srgbClr val="464395"/>
                </a:solidFill>
                <a:latin typeface="IBM Plex Sans Bold Italics"/>
                <a:ea typeface="IBM Plex Sans Bold Italics"/>
                <a:cs typeface="IBM Plex Sans Bold Italics"/>
                <a:sym typeface="IBM Plex Sans Bold Italics"/>
              </a:rPr>
              <a:t> </a:t>
            </a:r>
            <a:r>
              <a:rPr lang="en-US" sz="1200" b="1" i="1" spc="4" dirty="0">
                <a:solidFill>
                  <a:srgbClr val="1A1447"/>
                </a:solidFill>
                <a:latin typeface="IBM Plex Sans Bold Italics"/>
                <a:ea typeface="IBM Plex Sans Bold Italics"/>
                <a:cs typeface="IBM Plex Sans Bold Italics"/>
                <a:sym typeface="IBM Plex Sans Bold Italics"/>
              </a:rPr>
              <a:t>FILE EVALUATION</a:t>
            </a:r>
          </a:p>
          <a:p>
            <a:pPr algn="l">
              <a:lnSpc>
                <a:spcPts val="1439"/>
              </a:lnSpc>
            </a:pPr>
            <a:r>
              <a:rPr lang="en-US" sz="1200" i="1" spc="6" dirty="0">
                <a:solidFill>
                  <a:srgbClr val="1A1447"/>
                </a:solidFill>
                <a:latin typeface="IBM Plex Sans Italics"/>
                <a:ea typeface="IBM Plex Sans Italics"/>
                <a:cs typeface="IBM Plex Sans Italics"/>
                <a:sym typeface="IBM Plex Sans Italics"/>
              </a:rPr>
              <a:t>Your documents and capacity to follow instruction will be reviewed.</a:t>
            </a:r>
          </a:p>
          <a:p>
            <a:pPr algn="l">
              <a:lnSpc>
                <a:spcPts val="1439"/>
              </a:lnSpc>
            </a:pPr>
            <a:r>
              <a:rPr lang="en-US" sz="1200" i="1" spc="6" dirty="0">
                <a:solidFill>
                  <a:srgbClr val="1A1447"/>
                </a:solidFill>
                <a:latin typeface="IBM Plex Sans Italics"/>
                <a:ea typeface="IBM Plex Sans Italics"/>
                <a:cs typeface="IBM Plex Sans Italics"/>
                <a:sym typeface="IBM Plex Sans Italics"/>
              </a:rPr>
              <a:t>Evaluation </a:t>
            </a:r>
            <a:r>
              <a:rPr lang="en-US" sz="1200" i="1" spc="6" dirty="0" err="1">
                <a:solidFill>
                  <a:srgbClr val="1A1447"/>
                </a:solidFill>
                <a:latin typeface="IBM Plex Sans Italics"/>
                <a:ea typeface="IBM Plex Sans Italics"/>
                <a:cs typeface="IBM Plex Sans Italics"/>
                <a:sym typeface="IBM Plex Sans Italics"/>
              </a:rPr>
              <a:t>commitee</a:t>
            </a:r>
            <a:r>
              <a:rPr lang="en-US" sz="1200" i="1" spc="6" dirty="0">
                <a:solidFill>
                  <a:srgbClr val="1A1447"/>
                </a:solidFill>
                <a:latin typeface="IBM Plex Sans Italics"/>
                <a:ea typeface="IBM Plex Sans Italics"/>
                <a:cs typeface="IBM Plex Sans Italics"/>
                <a:sym typeface="IBM Plex Sans Italics"/>
              </a:rPr>
              <a:t> is organized every week. You will received an answer by email.</a:t>
            </a:r>
          </a:p>
          <a:p>
            <a:pPr algn="l">
              <a:lnSpc>
                <a:spcPts val="3000"/>
              </a:lnSpc>
            </a:pPr>
            <a:r>
              <a:rPr lang="en-US" sz="1200" b="1" spc="4" dirty="0">
                <a:solidFill>
                  <a:srgbClr val="EA8C39"/>
                </a:solidFill>
                <a:latin typeface="IBM Plex Sans Bold"/>
                <a:ea typeface="IBM Plex Sans Bold"/>
                <a:cs typeface="IBM Plex Sans Bold"/>
                <a:sym typeface="IBM Plex Sans Bold"/>
              </a:rPr>
              <a:t>STEP 3 </a:t>
            </a:r>
            <a:r>
              <a:rPr lang="en-US" sz="1200" b="1" i="1" spc="4" dirty="0">
                <a:solidFill>
                  <a:srgbClr val="231F20"/>
                </a:solidFill>
                <a:latin typeface="IBM Plex Sans Bold Italics"/>
                <a:ea typeface="IBM Plex Sans Bold Italics"/>
                <a:cs typeface="IBM Plex Sans Bold Italics"/>
                <a:sym typeface="IBM Plex Sans Bold Italics"/>
              </a:rPr>
              <a:t>:</a:t>
            </a:r>
            <a:r>
              <a:rPr lang="en-US" sz="1200" b="1" i="1" spc="4" dirty="0">
                <a:solidFill>
                  <a:srgbClr val="464395"/>
                </a:solidFill>
                <a:latin typeface="IBM Plex Sans Bold Italics"/>
                <a:ea typeface="IBM Plex Sans Bold Italics"/>
                <a:cs typeface="IBM Plex Sans Bold Italics"/>
                <a:sym typeface="IBM Plex Sans Bold Italics"/>
              </a:rPr>
              <a:t> </a:t>
            </a:r>
            <a:r>
              <a:rPr lang="en-US" sz="1200" b="1" i="1" spc="4" dirty="0">
                <a:solidFill>
                  <a:srgbClr val="1A1447"/>
                </a:solidFill>
                <a:latin typeface="IBM Plex Sans Bold Italics"/>
                <a:ea typeface="IBM Plex Sans Bold Italics"/>
                <a:cs typeface="IBM Plex Sans Bold Italics"/>
                <a:sym typeface="IBM Plex Sans Bold Italics"/>
              </a:rPr>
              <a:t>INTERVIEW</a:t>
            </a:r>
          </a:p>
          <a:p>
            <a:pPr algn="l">
              <a:lnSpc>
                <a:spcPts val="646"/>
              </a:lnSpc>
            </a:pPr>
            <a:r>
              <a:rPr lang="en-US" sz="1200" i="1" spc="6" dirty="0">
                <a:solidFill>
                  <a:srgbClr val="1A1447"/>
                </a:solidFill>
                <a:latin typeface="IBM Plex Sans Italics"/>
                <a:ea typeface="IBM Plex Sans Italics"/>
                <a:cs typeface="IBM Plex Sans Italics"/>
                <a:sym typeface="IBM Plex Sans Italics"/>
              </a:rPr>
              <a:t>We will plan an </a:t>
            </a:r>
            <a:r>
              <a:rPr lang="en-US" sz="1200" b="1" i="1" spc="6" dirty="0">
                <a:solidFill>
                  <a:srgbClr val="1A1447"/>
                </a:solidFill>
                <a:latin typeface="IBM Plex Sans Bold Italics"/>
                <a:ea typeface="IBM Plex Sans Bold Italics"/>
                <a:cs typeface="IBM Plex Sans Bold Italics"/>
                <a:sym typeface="IBM Plex Sans Bold Italics"/>
              </a:rPr>
              <a:t>INTERVIEW </a:t>
            </a:r>
            <a:r>
              <a:rPr lang="en-US" sz="1200" i="1" spc="6" dirty="0">
                <a:solidFill>
                  <a:srgbClr val="1A1447"/>
                </a:solidFill>
                <a:latin typeface="IBM Plex Sans Italics"/>
                <a:ea typeface="IBM Plex Sans Italics"/>
                <a:cs typeface="IBM Plex Sans Italics"/>
                <a:sym typeface="IBM Plex Sans Italics"/>
              </a:rPr>
              <a:t>with you. In case of high demands we will request a </a:t>
            </a:r>
            <a:r>
              <a:rPr lang="en-US" sz="1200" i="1" spc="6" dirty="0" err="1">
                <a:solidFill>
                  <a:srgbClr val="1A1447"/>
                </a:solidFill>
                <a:latin typeface="IBM Plex Sans Italics"/>
                <a:ea typeface="IBM Plex Sans Italics"/>
                <a:cs typeface="IBM Plex Sans Italics"/>
                <a:sym typeface="IBM Plex Sans Italics"/>
              </a:rPr>
              <a:t>introduc</a:t>
            </a:r>
            <a:r>
              <a:rPr lang="en-US" sz="1200" i="1" spc="6" dirty="0">
                <a:solidFill>
                  <a:srgbClr val="1A1447"/>
                </a:solidFill>
                <a:latin typeface="IBM Plex Sans Italics"/>
                <a:ea typeface="IBM Plex Sans Italics"/>
                <a:cs typeface="IBM Plex Sans Italics"/>
                <a:sym typeface="IBM Plex Sans Italics"/>
              </a:rPr>
              <a:t>-</a:t>
            </a:r>
          </a:p>
          <a:p>
            <a:pPr algn="l">
              <a:lnSpc>
                <a:spcPts val="2348"/>
              </a:lnSpc>
            </a:pPr>
            <a:r>
              <a:rPr lang="en-US" sz="1200" i="1" spc="6" dirty="0" err="1">
                <a:solidFill>
                  <a:srgbClr val="1A1447"/>
                </a:solidFill>
                <a:latin typeface="IBM Plex Sans Italics"/>
                <a:ea typeface="IBM Plex Sans Italics"/>
                <a:cs typeface="IBM Plex Sans Italics"/>
                <a:sym typeface="IBM Plex Sans Italics"/>
              </a:rPr>
              <a:t>tion</a:t>
            </a:r>
            <a:r>
              <a:rPr lang="en-US" sz="1200" i="1" spc="6" dirty="0">
                <a:solidFill>
                  <a:srgbClr val="1A1447"/>
                </a:solidFill>
                <a:latin typeface="IBM Plex Sans Italics"/>
                <a:ea typeface="IBM Plex Sans Italics"/>
                <a:cs typeface="IBM Plex Sans Italics"/>
                <a:sym typeface="IBM Plex Sans Italics"/>
              </a:rPr>
              <a:t> video and call you for additional questions if necessary only.</a:t>
            </a:r>
          </a:p>
          <a:p>
            <a:pPr algn="l">
              <a:lnSpc>
                <a:spcPts val="2348"/>
              </a:lnSpc>
            </a:pPr>
            <a:r>
              <a:rPr lang="en-US" sz="1200" b="1" spc="4" dirty="0">
                <a:solidFill>
                  <a:srgbClr val="EA8C39"/>
                </a:solidFill>
                <a:latin typeface="IBM Plex Sans Bold"/>
                <a:ea typeface="IBM Plex Sans Bold"/>
                <a:cs typeface="IBM Plex Sans Bold"/>
                <a:sym typeface="IBM Plex Sans Bold"/>
              </a:rPr>
              <a:t>STEP 4 </a:t>
            </a:r>
            <a:r>
              <a:rPr lang="en-US" sz="1200" b="1" i="1" spc="4" dirty="0">
                <a:solidFill>
                  <a:srgbClr val="231F20"/>
                </a:solidFill>
                <a:latin typeface="IBM Plex Sans Bold Italics"/>
                <a:ea typeface="IBM Plex Sans Bold Italics"/>
                <a:cs typeface="IBM Plex Sans Bold Italics"/>
                <a:sym typeface="IBM Plex Sans Bold Italics"/>
              </a:rPr>
              <a:t>: </a:t>
            </a:r>
            <a:r>
              <a:rPr lang="en-US" sz="1200" b="1" i="1" spc="4" dirty="0">
                <a:solidFill>
                  <a:srgbClr val="1A1447"/>
                </a:solidFill>
                <a:latin typeface="IBM Plex Sans Bold Italics"/>
                <a:ea typeface="IBM Plex Sans Bold Italics"/>
                <a:cs typeface="IBM Plex Sans Bold Italics"/>
                <a:sym typeface="IBM Plex Sans Bold Italics"/>
              </a:rPr>
              <a:t>DECISION AND ENROLMENT</a:t>
            </a:r>
          </a:p>
          <a:p>
            <a:pPr algn="l">
              <a:lnSpc>
                <a:spcPts val="1101"/>
              </a:lnSpc>
            </a:pPr>
            <a:r>
              <a:rPr lang="en-US" sz="1200" i="1" spc="6" dirty="0">
                <a:solidFill>
                  <a:srgbClr val="1A1447"/>
                </a:solidFill>
                <a:latin typeface="IBM Plex Sans Italics"/>
                <a:ea typeface="IBM Plex Sans Italics"/>
                <a:cs typeface="IBM Plex Sans Italics"/>
                <a:sym typeface="IBM Plex Sans Italics"/>
              </a:rPr>
              <a:t>You will received a decision email with the instruction for enrolment in case of acceptancy. </a:t>
            </a:r>
          </a:p>
          <a:p>
            <a:pPr algn="l">
              <a:lnSpc>
                <a:spcPts val="1778"/>
              </a:lnSpc>
            </a:pPr>
            <a:r>
              <a:rPr lang="en-US" sz="1200" i="1" spc="6" dirty="0">
                <a:solidFill>
                  <a:srgbClr val="1A1447"/>
                </a:solidFill>
                <a:latin typeface="IBM Plex Sans Italics"/>
                <a:ea typeface="IBM Plex Sans Italics"/>
                <a:cs typeface="IBM Plex Sans Italics"/>
                <a:sym typeface="IBM Plex Sans Italics"/>
              </a:rPr>
              <a:t>Your enrolment confirmation letter will be sent to you at this step.</a:t>
            </a:r>
          </a:p>
          <a:p>
            <a:pPr algn="l">
              <a:lnSpc>
                <a:spcPts val="3000"/>
              </a:lnSpc>
            </a:pPr>
            <a:r>
              <a:rPr lang="en-US" sz="1200" b="1" spc="4" dirty="0">
                <a:solidFill>
                  <a:srgbClr val="EA8C39"/>
                </a:solidFill>
                <a:latin typeface="IBM Plex Sans Bold"/>
                <a:ea typeface="IBM Plex Sans Bold"/>
                <a:cs typeface="IBM Plex Sans Bold"/>
                <a:sym typeface="IBM Plex Sans Bold"/>
              </a:rPr>
              <a:t>STEP 5 </a:t>
            </a:r>
            <a:r>
              <a:rPr lang="en-US" sz="1200" b="1" i="1" spc="4" dirty="0">
                <a:solidFill>
                  <a:srgbClr val="231F20"/>
                </a:solidFill>
                <a:latin typeface="IBM Plex Sans Bold Italics"/>
                <a:ea typeface="IBM Plex Sans Bold Italics"/>
                <a:cs typeface="IBM Plex Sans Bold Italics"/>
                <a:sym typeface="IBM Plex Sans Bold Italics"/>
              </a:rPr>
              <a:t>: </a:t>
            </a:r>
            <a:r>
              <a:rPr lang="en-US" sz="1200" b="1" i="1" spc="4" dirty="0">
                <a:solidFill>
                  <a:srgbClr val="1A1447"/>
                </a:solidFill>
                <a:latin typeface="IBM Plex Sans Bold Italics"/>
                <a:ea typeface="IBM Plex Sans Bold Italics"/>
                <a:cs typeface="IBM Plex Sans Bold Italics"/>
                <a:sym typeface="IBM Plex Sans Bold Italics"/>
              </a:rPr>
              <a:t>FOR STUDENT WITH VISA APPLICATION </a:t>
            </a:r>
          </a:p>
          <a:p>
            <a:pPr algn="l">
              <a:lnSpc>
                <a:spcPts val="804"/>
              </a:lnSpc>
            </a:pPr>
            <a:r>
              <a:rPr lang="en-US" sz="1200" i="1" spc="6" dirty="0">
                <a:solidFill>
                  <a:srgbClr val="1A1447"/>
                </a:solidFill>
                <a:latin typeface="IBM Plex Sans Italics"/>
                <a:ea typeface="IBM Plex Sans Italics"/>
                <a:cs typeface="IBM Plex Sans Italics"/>
                <a:sym typeface="IBM Plex Sans Italics"/>
              </a:rPr>
              <a:t>Please contact the Campus France of your country to start your visa application.</a:t>
            </a:r>
          </a:p>
          <a:p>
            <a:pPr algn="l">
              <a:lnSpc>
                <a:spcPts val="2076"/>
              </a:lnSpc>
            </a:pPr>
            <a:r>
              <a:rPr lang="en-US" sz="1200" i="1" spc="6" dirty="0">
                <a:solidFill>
                  <a:srgbClr val="1A1447"/>
                </a:solidFill>
                <a:latin typeface="IBM Plex Sans Italics"/>
                <a:ea typeface="IBM Plex Sans Italics"/>
                <a:cs typeface="IBM Plex Sans Italics"/>
                <a:sym typeface="IBM Plex Sans Italics"/>
              </a:rPr>
              <a:t>When received, please send us a copy of your visa at info@ilci.fr</a:t>
            </a:r>
          </a:p>
        </p:txBody>
      </p:sp>
      <p:sp>
        <p:nvSpPr>
          <p:cNvPr id="11" name="TextBox 11"/>
          <p:cNvSpPr txBox="1"/>
          <p:nvPr/>
        </p:nvSpPr>
        <p:spPr>
          <a:xfrm>
            <a:off x="2522201" y="10318404"/>
            <a:ext cx="2515629" cy="151428"/>
          </a:xfrm>
          <a:prstGeom prst="rect">
            <a:avLst/>
          </a:prstGeom>
        </p:spPr>
        <p:txBody>
          <a:bodyPr lIns="0" tIns="0" rIns="0" bIns="0" rtlCol="0" anchor="t">
            <a:spAutoFit/>
          </a:bodyPr>
          <a:lstStyle/>
          <a:p>
            <a:pPr algn="l">
              <a:lnSpc>
                <a:spcPts val="1260"/>
              </a:lnSpc>
            </a:pPr>
            <a:r>
              <a:rPr lang="en-US" sz="900" i="1" spc="26">
                <a:solidFill>
                  <a:srgbClr val="939496"/>
                </a:solidFill>
                <a:latin typeface="IBM Plex Sans Italics"/>
                <a:ea typeface="IBM Plex Sans Italics"/>
                <a:cs typeface="IBM Plex Sans Italics"/>
                <a:sym typeface="IBM Plex Sans Italics"/>
              </a:rPr>
              <a:t>Etablissement d’enseignement supérieur privé</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EF9F6"/>
        </a:solidFill>
        <a:effectLst/>
      </p:bgPr>
    </p:bg>
    <p:spTree>
      <p:nvGrpSpPr>
        <p:cNvPr id="1" name=""/>
        <p:cNvGrpSpPr/>
        <p:nvPr/>
      </p:nvGrpSpPr>
      <p:grpSpPr>
        <a:xfrm>
          <a:off x="0" y="0"/>
          <a:ext cx="0" cy="0"/>
          <a:chOff x="0" y="0"/>
          <a:chExt cx="0" cy="0"/>
        </a:xfrm>
      </p:grpSpPr>
      <p:sp>
        <p:nvSpPr>
          <p:cNvPr id="2" name="Freeform 2"/>
          <p:cNvSpPr/>
          <p:nvPr/>
        </p:nvSpPr>
        <p:spPr>
          <a:xfrm>
            <a:off x="15" y="3960972"/>
            <a:ext cx="7560000" cy="4723599"/>
          </a:xfrm>
          <a:custGeom>
            <a:avLst/>
            <a:gdLst/>
            <a:ahLst/>
            <a:cxnLst/>
            <a:rect l="l" t="t" r="r" b="b"/>
            <a:pathLst>
              <a:path w="7560000" h="4723599">
                <a:moveTo>
                  <a:pt x="0" y="0"/>
                </a:moveTo>
                <a:lnTo>
                  <a:pt x="7560000" y="0"/>
                </a:lnTo>
                <a:lnTo>
                  <a:pt x="7560000" y="4723599"/>
                </a:lnTo>
                <a:lnTo>
                  <a:pt x="0" y="4723599"/>
                </a:lnTo>
                <a:lnTo>
                  <a:pt x="0" y="0"/>
                </a:lnTo>
                <a:close/>
              </a:path>
            </a:pathLst>
          </a:custGeom>
          <a:blipFill>
            <a:blip r:embed="rId2"/>
            <a:stretch>
              <a:fillRect l="-13176" t="-2798" r="-13176"/>
            </a:stretch>
          </a:blipFill>
        </p:spPr>
        <p:txBody>
          <a:bodyPr/>
          <a:lstStyle/>
          <a:p>
            <a:endParaRPr lang="fr-FR"/>
          </a:p>
        </p:txBody>
      </p:sp>
      <p:grpSp>
        <p:nvGrpSpPr>
          <p:cNvPr id="3" name="Group 3"/>
          <p:cNvGrpSpPr/>
          <p:nvPr/>
        </p:nvGrpSpPr>
        <p:grpSpPr>
          <a:xfrm>
            <a:off x="5345462" y="8922696"/>
            <a:ext cx="1134000" cy="567000"/>
            <a:chOff x="0" y="0"/>
            <a:chExt cx="812800" cy="406400"/>
          </a:xfrm>
        </p:grpSpPr>
        <p:sp>
          <p:nvSpPr>
            <p:cNvPr id="4" name="Freeform 4"/>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FFFF"/>
            </a:solidFill>
          </p:spPr>
          <p:txBody>
            <a:bodyPr/>
            <a:lstStyle/>
            <a:p>
              <a:endParaRPr lang="fr-FR"/>
            </a:p>
          </p:txBody>
        </p:sp>
        <p:sp>
          <p:nvSpPr>
            <p:cNvPr id="5" name="TextBox 5"/>
            <p:cNvSpPr txBox="1"/>
            <p:nvPr/>
          </p:nvSpPr>
          <p:spPr>
            <a:xfrm>
              <a:off x="0" y="0"/>
              <a:ext cx="812800" cy="406400"/>
            </a:xfrm>
            <a:prstGeom prst="rect">
              <a:avLst/>
            </a:prstGeom>
          </p:spPr>
          <p:txBody>
            <a:bodyPr lIns="50800" tIns="50800" rIns="50800" bIns="50800" rtlCol="0" anchor="ctr"/>
            <a:lstStyle/>
            <a:p>
              <a:pPr algn="ctr">
                <a:lnSpc>
                  <a:spcPts val="1439"/>
                </a:lnSpc>
              </a:pPr>
              <a:endParaRPr/>
            </a:p>
          </p:txBody>
        </p:sp>
      </p:grpSp>
      <p:grpSp>
        <p:nvGrpSpPr>
          <p:cNvPr id="6" name="Group 6"/>
          <p:cNvGrpSpPr/>
          <p:nvPr/>
        </p:nvGrpSpPr>
        <p:grpSpPr>
          <a:xfrm>
            <a:off x="6079255" y="8922696"/>
            <a:ext cx="1134000" cy="567000"/>
            <a:chOff x="0" y="0"/>
            <a:chExt cx="812800" cy="406400"/>
          </a:xfrm>
        </p:grpSpPr>
        <p:sp>
          <p:nvSpPr>
            <p:cNvPr id="7" name="Freeform 7"/>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FFFF"/>
            </a:solidFill>
          </p:spPr>
          <p:txBody>
            <a:bodyPr/>
            <a:lstStyle/>
            <a:p>
              <a:endParaRPr lang="fr-FR"/>
            </a:p>
          </p:txBody>
        </p:sp>
        <p:sp>
          <p:nvSpPr>
            <p:cNvPr id="8" name="TextBox 8"/>
            <p:cNvSpPr txBox="1"/>
            <p:nvPr/>
          </p:nvSpPr>
          <p:spPr>
            <a:xfrm>
              <a:off x="0" y="0"/>
              <a:ext cx="812800" cy="406400"/>
            </a:xfrm>
            <a:prstGeom prst="rect">
              <a:avLst/>
            </a:prstGeom>
          </p:spPr>
          <p:txBody>
            <a:bodyPr lIns="50800" tIns="50800" rIns="50800" bIns="50800" rtlCol="0" anchor="ctr"/>
            <a:lstStyle/>
            <a:p>
              <a:pPr algn="ctr">
                <a:lnSpc>
                  <a:spcPts val="1439"/>
                </a:lnSpc>
              </a:pPr>
              <a:endParaRPr/>
            </a:p>
          </p:txBody>
        </p:sp>
      </p:grpSp>
      <p:sp>
        <p:nvSpPr>
          <p:cNvPr id="9" name="Freeform 9"/>
          <p:cNvSpPr/>
          <p:nvPr/>
        </p:nvSpPr>
        <p:spPr>
          <a:xfrm>
            <a:off x="6724383" y="9019660"/>
            <a:ext cx="373071" cy="373071"/>
          </a:xfrm>
          <a:custGeom>
            <a:avLst/>
            <a:gdLst/>
            <a:ahLst/>
            <a:cxnLst/>
            <a:rect l="l" t="t" r="r" b="b"/>
            <a:pathLst>
              <a:path w="373071" h="373071">
                <a:moveTo>
                  <a:pt x="0" y="0"/>
                </a:moveTo>
                <a:lnTo>
                  <a:pt x="373072" y="0"/>
                </a:lnTo>
                <a:lnTo>
                  <a:pt x="373072" y="373071"/>
                </a:lnTo>
                <a:lnTo>
                  <a:pt x="0" y="373071"/>
                </a:lnTo>
                <a:lnTo>
                  <a:pt x="0" y="0"/>
                </a:lnTo>
                <a:close/>
              </a:path>
            </a:pathLst>
          </a:custGeom>
          <a:blipFill>
            <a:blip r:embed="rId3"/>
            <a:stretch>
              <a:fillRect/>
            </a:stretch>
          </a:blipFill>
        </p:spPr>
        <p:txBody>
          <a:bodyPr/>
          <a:lstStyle/>
          <a:p>
            <a:endParaRPr lang="fr-FR"/>
          </a:p>
        </p:txBody>
      </p:sp>
      <p:sp>
        <p:nvSpPr>
          <p:cNvPr id="10" name="Freeform 10"/>
          <p:cNvSpPr/>
          <p:nvPr/>
        </p:nvSpPr>
        <p:spPr>
          <a:xfrm>
            <a:off x="5863308" y="8990249"/>
            <a:ext cx="431894" cy="431894"/>
          </a:xfrm>
          <a:custGeom>
            <a:avLst/>
            <a:gdLst/>
            <a:ahLst/>
            <a:cxnLst/>
            <a:rect l="l" t="t" r="r" b="b"/>
            <a:pathLst>
              <a:path w="431894" h="431894">
                <a:moveTo>
                  <a:pt x="0" y="0"/>
                </a:moveTo>
                <a:lnTo>
                  <a:pt x="431894" y="0"/>
                </a:lnTo>
                <a:lnTo>
                  <a:pt x="431894" y="431893"/>
                </a:lnTo>
                <a:lnTo>
                  <a:pt x="0" y="431893"/>
                </a:lnTo>
                <a:lnTo>
                  <a:pt x="0" y="0"/>
                </a:lnTo>
                <a:close/>
              </a:path>
            </a:pathLst>
          </a:custGeom>
          <a:blipFill>
            <a:blip r:embed="rId4"/>
            <a:stretch>
              <a:fillRect/>
            </a:stretch>
          </a:blipFill>
        </p:spPr>
        <p:txBody>
          <a:bodyPr/>
          <a:lstStyle/>
          <a:p>
            <a:endParaRPr lang="fr-FR"/>
          </a:p>
        </p:txBody>
      </p:sp>
      <p:sp>
        <p:nvSpPr>
          <p:cNvPr id="11" name="Freeform 11"/>
          <p:cNvSpPr/>
          <p:nvPr/>
        </p:nvSpPr>
        <p:spPr>
          <a:xfrm>
            <a:off x="6263515" y="8990249"/>
            <a:ext cx="431894" cy="431894"/>
          </a:xfrm>
          <a:custGeom>
            <a:avLst/>
            <a:gdLst/>
            <a:ahLst/>
            <a:cxnLst/>
            <a:rect l="l" t="t" r="r" b="b"/>
            <a:pathLst>
              <a:path w="431894" h="431894">
                <a:moveTo>
                  <a:pt x="0" y="0"/>
                </a:moveTo>
                <a:lnTo>
                  <a:pt x="431893" y="0"/>
                </a:lnTo>
                <a:lnTo>
                  <a:pt x="431893" y="431893"/>
                </a:lnTo>
                <a:lnTo>
                  <a:pt x="0" y="431893"/>
                </a:lnTo>
                <a:lnTo>
                  <a:pt x="0" y="0"/>
                </a:lnTo>
                <a:close/>
              </a:path>
            </a:pathLst>
          </a:custGeom>
          <a:blipFill>
            <a:blip r:embed="rId5"/>
            <a:stretch>
              <a:fillRect/>
            </a:stretch>
          </a:blipFill>
        </p:spPr>
        <p:txBody>
          <a:bodyPr/>
          <a:lstStyle/>
          <a:p>
            <a:endParaRPr lang="fr-FR"/>
          </a:p>
        </p:txBody>
      </p:sp>
      <p:sp>
        <p:nvSpPr>
          <p:cNvPr id="12" name="Freeform 12"/>
          <p:cNvSpPr/>
          <p:nvPr/>
        </p:nvSpPr>
        <p:spPr>
          <a:xfrm>
            <a:off x="5431415" y="8990249"/>
            <a:ext cx="431894" cy="431894"/>
          </a:xfrm>
          <a:custGeom>
            <a:avLst/>
            <a:gdLst/>
            <a:ahLst/>
            <a:cxnLst/>
            <a:rect l="l" t="t" r="r" b="b"/>
            <a:pathLst>
              <a:path w="431894" h="431894">
                <a:moveTo>
                  <a:pt x="0" y="0"/>
                </a:moveTo>
                <a:lnTo>
                  <a:pt x="431893" y="0"/>
                </a:lnTo>
                <a:lnTo>
                  <a:pt x="431893" y="431893"/>
                </a:lnTo>
                <a:lnTo>
                  <a:pt x="0" y="431893"/>
                </a:lnTo>
                <a:lnTo>
                  <a:pt x="0" y="0"/>
                </a:lnTo>
                <a:close/>
              </a:path>
            </a:pathLst>
          </a:custGeom>
          <a:blipFill>
            <a:blip r:embed="rId6"/>
            <a:stretch>
              <a:fillRect/>
            </a:stretch>
          </a:blipFill>
        </p:spPr>
        <p:txBody>
          <a:bodyPr/>
          <a:lstStyle/>
          <a:p>
            <a:endParaRPr lang="fr-FR"/>
          </a:p>
        </p:txBody>
      </p:sp>
      <p:sp>
        <p:nvSpPr>
          <p:cNvPr id="13" name="Freeform 13"/>
          <p:cNvSpPr/>
          <p:nvPr/>
        </p:nvSpPr>
        <p:spPr>
          <a:xfrm>
            <a:off x="1811071" y="4736040"/>
            <a:ext cx="388223" cy="554604"/>
          </a:xfrm>
          <a:custGeom>
            <a:avLst/>
            <a:gdLst/>
            <a:ahLst/>
            <a:cxnLst/>
            <a:rect l="l" t="t" r="r" b="b"/>
            <a:pathLst>
              <a:path w="388223" h="554604">
                <a:moveTo>
                  <a:pt x="0" y="0"/>
                </a:moveTo>
                <a:lnTo>
                  <a:pt x="388223" y="0"/>
                </a:lnTo>
                <a:lnTo>
                  <a:pt x="388223" y="554605"/>
                </a:lnTo>
                <a:lnTo>
                  <a:pt x="0" y="5546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
        <p:nvSpPr>
          <p:cNvPr id="14" name="TextBox 14"/>
          <p:cNvSpPr txBox="1"/>
          <p:nvPr/>
        </p:nvSpPr>
        <p:spPr>
          <a:xfrm>
            <a:off x="762426" y="1521590"/>
            <a:ext cx="5160812" cy="1780646"/>
          </a:xfrm>
          <a:prstGeom prst="rect">
            <a:avLst/>
          </a:prstGeom>
        </p:spPr>
        <p:txBody>
          <a:bodyPr lIns="0" tIns="0" rIns="0" bIns="0" rtlCol="0" anchor="t">
            <a:spAutoFit/>
          </a:bodyPr>
          <a:lstStyle/>
          <a:p>
            <a:pPr algn="l">
              <a:lnSpc>
                <a:spcPts val="2520"/>
              </a:lnSpc>
            </a:pPr>
            <a:r>
              <a:rPr lang="en-US" sz="1800" b="1" i="1" spc="7">
                <a:solidFill>
                  <a:srgbClr val="1A1447"/>
                </a:solidFill>
                <a:latin typeface="IBM Plex Sans Bold Italics"/>
                <a:ea typeface="IBM Plex Sans Bold Italics"/>
                <a:cs typeface="IBM Plex Sans Bold Italics"/>
                <a:sym typeface="IBM Plex Sans Bold Italics"/>
              </a:rPr>
              <a:t>CAMPUS VERONESE </a:t>
            </a:r>
          </a:p>
          <a:p>
            <a:pPr algn="l">
              <a:lnSpc>
                <a:spcPts val="1679"/>
              </a:lnSpc>
            </a:pPr>
            <a:r>
              <a:rPr lang="en-US" sz="1200" b="1" i="1" spc="4">
                <a:solidFill>
                  <a:srgbClr val="1A1447"/>
                </a:solidFill>
                <a:latin typeface="IBM Plex Sans Bold Italics"/>
                <a:ea typeface="IBM Plex Sans Bold Italics"/>
                <a:cs typeface="IBM Plex Sans Bold Italics"/>
                <a:sym typeface="IBM Plex Sans Bold Italics"/>
              </a:rPr>
              <a:t>4 rue Véronèse 75013 Paris</a:t>
            </a:r>
          </a:p>
          <a:p>
            <a:pPr algn="l">
              <a:lnSpc>
                <a:spcPts val="1679"/>
              </a:lnSpc>
            </a:pPr>
            <a:r>
              <a:rPr lang="en-US" sz="1200" i="1" spc="4">
                <a:solidFill>
                  <a:srgbClr val="1A1447"/>
                </a:solidFill>
                <a:latin typeface="IBM Plex Sans Italics"/>
                <a:ea typeface="IBM Plex Sans Italics"/>
                <a:cs typeface="IBM Plex Sans Italics"/>
                <a:sym typeface="IBM Plex Sans Italics"/>
              </a:rPr>
              <a:t>(ouvert du Lundi au Vendredi de 9h00 à 17h00)</a:t>
            </a:r>
          </a:p>
          <a:p>
            <a:pPr algn="l">
              <a:lnSpc>
                <a:spcPts val="2520"/>
              </a:lnSpc>
            </a:pPr>
            <a:endParaRPr lang="en-US" sz="1200" i="1" spc="4">
              <a:solidFill>
                <a:srgbClr val="1A1447"/>
              </a:solidFill>
              <a:latin typeface="IBM Plex Sans Italics"/>
              <a:ea typeface="IBM Plex Sans Italics"/>
              <a:cs typeface="IBM Plex Sans Italics"/>
              <a:sym typeface="IBM Plex Sans Italics"/>
            </a:endParaRPr>
          </a:p>
          <a:p>
            <a:pPr algn="l">
              <a:lnSpc>
                <a:spcPts val="2520"/>
              </a:lnSpc>
            </a:pPr>
            <a:r>
              <a:rPr lang="en-US" sz="1800" b="1" i="1" spc="7">
                <a:solidFill>
                  <a:srgbClr val="1A1447"/>
                </a:solidFill>
                <a:latin typeface="IBM Plex Sans Bold Italics"/>
                <a:ea typeface="IBM Plex Sans Bold Italics"/>
                <a:cs typeface="IBM Plex Sans Bold Italics"/>
                <a:sym typeface="IBM Plex Sans Bold Italics"/>
              </a:rPr>
              <a:t>CAMPUS DUNOIS</a:t>
            </a:r>
          </a:p>
          <a:p>
            <a:pPr algn="l">
              <a:lnSpc>
                <a:spcPts val="1679"/>
              </a:lnSpc>
            </a:pPr>
            <a:r>
              <a:rPr lang="en-US" sz="1200" b="1" i="1" spc="4">
                <a:solidFill>
                  <a:srgbClr val="1A1447"/>
                </a:solidFill>
                <a:latin typeface="IBM Plex Sans Bold Italics"/>
                <a:ea typeface="IBM Plex Sans Bold Italics"/>
                <a:cs typeface="IBM Plex Sans Bold Italics"/>
                <a:sym typeface="IBM Plex Sans Bold Italics"/>
              </a:rPr>
              <a:t>77 rue Dunois 75013 Paris</a:t>
            </a:r>
          </a:p>
          <a:p>
            <a:pPr algn="l">
              <a:lnSpc>
                <a:spcPts val="1679"/>
              </a:lnSpc>
            </a:pPr>
            <a:r>
              <a:rPr lang="en-US" sz="1200" i="1" spc="4">
                <a:solidFill>
                  <a:srgbClr val="1A1447"/>
                </a:solidFill>
                <a:latin typeface="IBM Plex Sans Italics"/>
                <a:ea typeface="IBM Plex Sans Italics"/>
                <a:cs typeface="IBM Plex Sans Italics"/>
                <a:sym typeface="IBM Plex Sans Italics"/>
              </a:rPr>
              <a:t>(ouvert du Lundi au Vendredi uniquement pendant la période scolaire)</a:t>
            </a:r>
          </a:p>
        </p:txBody>
      </p:sp>
      <p:sp>
        <p:nvSpPr>
          <p:cNvPr id="15" name="TextBox 15"/>
          <p:cNvSpPr txBox="1"/>
          <p:nvPr/>
        </p:nvSpPr>
        <p:spPr>
          <a:xfrm>
            <a:off x="756000" y="708375"/>
            <a:ext cx="6048000" cy="395678"/>
          </a:xfrm>
          <a:prstGeom prst="rect">
            <a:avLst/>
          </a:prstGeom>
        </p:spPr>
        <p:txBody>
          <a:bodyPr lIns="0" tIns="0" rIns="0" bIns="0" rtlCol="0" anchor="t">
            <a:spAutoFit/>
          </a:bodyPr>
          <a:lstStyle/>
          <a:p>
            <a:pPr algn="l">
              <a:lnSpc>
                <a:spcPts val="3265"/>
              </a:lnSpc>
            </a:pPr>
            <a:r>
              <a:rPr lang="en-US" sz="2332" b="1" i="1" spc="11">
                <a:solidFill>
                  <a:srgbClr val="EA8C39"/>
                </a:solidFill>
                <a:latin typeface="IBM Plex Sans Bold Italics"/>
                <a:ea typeface="IBM Plex Sans Bold Italics"/>
                <a:cs typeface="IBM Plex Sans Bold Italics"/>
                <a:sym typeface="IBM Plex Sans Bold Italics"/>
              </a:rPr>
              <a:t>ACCÈS PAR TRANSPORTS EN COMMUNS</a:t>
            </a:r>
          </a:p>
        </p:txBody>
      </p:sp>
      <p:sp>
        <p:nvSpPr>
          <p:cNvPr id="16" name="TextBox 16"/>
          <p:cNvSpPr txBox="1"/>
          <p:nvPr/>
        </p:nvSpPr>
        <p:spPr>
          <a:xfrm>
            <a:off x="756000" y="8922696"/>
            <a:ext cx="4063681" cy="1266362"/>
          </a:xfrm>
          <a:prstGeom prst="rect">
            <a:avLst/>
          </a:prstGeom>
        </p:spPr>
        <p:txBody>
          <a:bodyPr lIns="0" tIns="0" rIns="0" bIns="0" rtlCol="0" anchor="t">
            <a:spAutoFit/>
          </a:bodyPr>
          <a:lstStyle/>
          <a:p>
            <a:pPr algn="l">
              <a:lnSpc>
                <a:spcPts val="1439"/>
              </a:lnSpc>
            </a:pPr>
            <a:r>
              <a:rPr lang="en-US" sz="1200" i="1" spc="6">
                <a:solidFill>
                  <a:srgbClr val="002060"/>
                </a:solidFill>
                <a:latin typeface="IBM Plex Sans Italics"/>
                <a:ea typeface="IBM Plex Sans Italics"/>
                <a:cs typeface="IBM Plex Sans Italics"/>
                <a:sym typeface="IBM Plex Sans Italics"/>
              </a:rPr>
              <a:t>A moins de 10 minutes à pieds des transports en communs, notamment du Métro. </a:t>
            </a:r>
          </a:p>
          <a:p>
            <a:pPr algn="l">
              <a:lnSpc>
                <a:spcPts val="1439"/>
              </a:lnSpc>
            </a:pPr>
            <a:r>
              <a:rPr lang="en-US" sz="1200" i="1" spc="6">
                <a:solidFill>
                  <a:srgbClr val="002060"/>
                </a:solidFill>
                <a:latin typeface="IBM Plex Sans Italics"/>
                <a:ea typeface="IBM Plex Sans Italics"/>
                <a:cs typeface="IBM Plex Sans Italics"/>
                <a:sym typeface="IBM Plex Sans Italics"/>
              </a:rPr>
              <a:t>Rejoignez-nous depuis les stations de metros suivantes :</a:t>
            </a:r>
          </a:p>
          <a:p>
            <a:pPr algn="l">
              <a:lnSpc>
                <a:spcPts val="1439"/>
              </a:lnSpc>
            </a:pPr>
            <a:r>
              <a:rPr lang="en-US" sz="1200" b="1" i="1" spc="6">
                <a:solidFill>
                  <a:srgbClr val="002060"/>
                </a:solidFill>
                <a:latin typeface="IBM Plex Sans Bold Italics"/>
                <a:ea typeface="IBM Plex Sans Bold Italics"/>
                <a:cs typeface="IBM Plex Sans Bold Italics"/>
                <a:sym typeface="IBM Plex Sans Bold Italics"/>
              </a:rPr>
              <a:t>Place d’Italie</a:t>
            </a:r>
          </a:p>
          <a:p>
            <a:pPr algn="l">
              <a:lnSpc>
                <a:spcPts val="1439"/>
              </a:lnSpc>
            </a:pPr>
            <a:r>
              <a:rPr lang="en-US" sz="1200" b="1" i="1" spc="6">
                <a:solidFill>
                  <a:srgbClr val="002060"/>
                </a:solidFill>
                <a:latin typeface="IBM Plex Sans Bold Italics"/>
                <a:ea typeface="IBM Plex Sans Bold Italics"/>
                <a:cs typeface="IBM Plex Sans Bold Italics"/>
                <a:sym typeface="IBM Plex Sans Bold Italics"/>
              </a:rPr>
              <a:t>Gobelins</a:t>
            </a:r>
          </a:p>
          <a:p>
            <a:pPr algn="l">
              <a:lnSpc>
                <a:spcPts val="1439"/>
              </a:lnSpc>
            </a:pPr>
            <a:r>
              <a:rPr lang="en-US" sz="1200" b="1" i="1" spc="6">
                <a:solidFill>
                  <a:srgbClr val="002060"/>
                </a:solidFill>
                <a:latin typeface="IBM Plex Sans Bold Italics"/>
                <a:ea typeface="IBM Plex Sans Bold Italics"/>
                <a:cs typeface="IBM Plex Sans Bold Italics"/>
                <a:sym typeface="IBM Plex Sans Bold Italics"/>
              </a:rPr>
              <a:t>Campo Formio</a:t>
            </a:r>
          </a:p>
          <a:p>
            <a:pPr algn="l">
              <a:lnSpc>
                <a:spcPts val="1439"/>
              </a:lnSpc>
            </a:pPr>
            <a:r>
              <a:rPr lang="en-US" sz="1200" b="1" i="1" spc="6">
                <a:solidFill>
                  <a:srgbClr val="002060"/>
                </a:solidFill>
                <a:latin typeface="IBM Plex Sans Bold Italics"/>
                <a:ea typeface="IBM Plex Sans Bold Italics"/>
                <a:cs typeface="IBM Plex Sans Bold Italics"/>
                <a:sym typeface="IBM Plex Sans Bold Italics"/>
              </a:rPr>
              <a:t>Nationale</a:t>
            </a:r>
          </a:p>
        </p:txBody>
      </p:sp>
      <p:sp>
        <p:nvSpPr>
          <p:cNvPr id="17" name="TextBox 17"/>
          <p:cNvSpPr txBox="1"/>
          <p:nvPr/>
        </p:nvSpPr>
        <p:spPr>
          <a:xfrm>
            <a:off x="997718" y="3541938"/>
            <a:ext cx="5806282" cy="180909"/>
          </a:xfrm>
          <a:prstGeom prst="rect">
            <a:avLst/>
          </a:prstGeom>
        </p:spPr>
        <p:txBody>
          <a:bodyPr lIns="0" tIns="0" rIns="0" bIns="0" rtlCol="0" anchor="t">
            <a:spAutoFit/>
          </a:bodyPr>
          <a:lstStyle/>
          <a:p>
            <a:pPr algn="ctr">
              <a:lnSpc>
                <a:spcPts val="1439"/>
              </a:lnSpc>
              <a:spcBef>
                <a:spcPct val="0"/>
              </a:spcBef>
            </a:pPr>
            <a:r>
              <a:rPr lang="en-US" sz="1200" i="1" spc="4">
                <a:solidFill>
                  <a:srgbClr val="000000"/>
                </a:solidFill>
                <a:latin typeface="IBM Plex Sans Italics"/>
                <a:ea typeface="IBM Plex Sans Italics"/>
                <a:cs typeface="IBM Plex Sans Italics"/>
                <a:sym typeface="IBM Plex Sans Italics"/>
              </a:rPr>
              <a:t>METRO : 5h30-1h15 (2h15 les vendredis et samedis soir ainsi que les veilles de fêtes)</a:t>
            </a:r>
          </a:p>
        </p:txBody>
      </p:sp>
      <p:sp>
        <p:nvSpPr>
          <p:cNvPr id="18" name="TextBox 18"/>
          <p:cNvSpPr txBox="1"/>
          <p:nvPr/>
        </p:nvSpPr>
        <p:spPr>
          <a:xfrm>
            <a:off x="2522201" y="10318404"/>
            <a:ext cx="2515629" cy="151428"/>
          </a:xfrm>
          <a:prstGeom prst="rect">
            <a:avLst/>
          </a:prstGeom>
        </p:spPr>
        <p:txBody>
          <a:bodyPr lIns="0" tIns="0" rIns="0" bIns="0" rtlCol="0" anchor="t">
            <a:spAutoFit/>
          </a:bodyPr>
          <a:lstStyle/>
          <a:p>
            <a:pPr algn="l">
              <a:lnSpc>
                <a:spcPts val="1260"/>
              </a:lnSpc>
            </a:pPr>
            <a:r>
              <a:rPr lang="en-US" sz="900" i="1" spc="26">
                <a:solidFill>
                  <a:srgbClr val="939496"/>
                </a:solidFill>
                <a:latin typeface="IBM Plex Sans Italics"/>
                <a:ea typeface="IBM Plex Sans Italics"/>
                <a:cs typeface="IBM Plex Sans Italics"/>
                <a:sym typeface="IBM Plex Sans Italics"/>
              </a:rPr>
              <a:t>Etablissement d’enseignement supérieur privé</a:t>
            </a:r>
          </a:p>
        </p:txBody>
      </p:sp>
      <p:sp>
        <p:nvSpPr>
          <p:cNvPr id="19" name="TextBox 99"/>
          <p:cNvSpPr txBox="1"/>
          <p:nvPr/>
        </p:nvSpPr>
        <p:spPr>
          <a:xfrm>
            <a:off x="6672167" y="9843907"/>
            <a:ext cx="248917" cy="240665"/>
          </a:xfrm>
          <a:prstGeom prst="rect">
            <a:avLst/>
          </a:prstGeom>
        </p:spPr>
        <p:txBody>
          <a:bodyPr lIns="0" tIns="0" rIns="0" bIns="0" rtlCol="0" anchor="t">
            <a:spAutoFit/>
          </a:bodyPr>
          <a:lstStyle/>
          <a:p>
            <a:pPr algn="l">
              <a:lnSpc>
                <a:spcPts val="1959"/>
              </a:lnSpc>
            </a:pPr>
            <a:r>
              <a:rPr lang="en-US" sz="1399" b="1" spc="2" dirty="0">
                <a:solidFill>
                  <a:srgbClr val="231F20"/>
                </a:solidFill>
                <a:latin typeface="Open Sans Bold"/>
                <a:ea typeface="Open Sans Bold"/>
                <a:cs typeface="Open Sans Bold"/>
                <a:sym typeface="Open Sans Bold"/>
              </a:rPr>
              <a:t>32</a:t>
            </a:r>
          </a:p>
        </p:txBody>
      </p:sp>
      <p:sp>
        <p:nvSpPr>
          <p:cNvPr id="20" name="Freeform 20"/>
          <p:cNvSpPr/>
          <p:nvPr/>
        </p:nvSpPr>
        <p:spPr>
          <a:xfrm>
            <a:off x="6408403" y="5159617"/>
            <a:ext cx="388223" cy="554604"/>
          </a:xfrm>
          <a:custGeom>
            <a:avLst/>
            <a:gdLst/>
            <a:ahLst/>
            <a:cxnLst/>
            <a:rect l="l" t="t" r="r" b="b"/>
            <a:pathLst>
              <a:path w="388223" h="554604">
                <a:moveTo>
                  <a:pt x="0" y="0"/>
                </a:moveTo>
                <a:lnTo>
                  <a:pt x="388223" y="0"/>
                </a:lnTo>
                <a:lnTo>
                  <a:pt x="388223" y="554605"/>
                </a:lnTo>
                <a:lnTo>
                  <a:pt x="0" y="5546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EF9F6"/>
        </a:solidFill>
        <a:effectLst/>
      </p:bgPr>
    </p:bg>
    <p:spTree>
      <p:nvGrpSpPr>
        <p:cNvPr id="1" name=""/>
        <p:cNvGrpSpPr/>
        <p:nvPr/>
      </p:nvGrpSpPr>
      <p:grpSpPr>
        <a:xfrm>
          <a:off x="0" y="0"/>
          <a:ext cx="0" cy="0"/>
          <a:chOff x="0" y="0"/>
          <a:chExt cx="0" cy="0"/>
        </a:xfrm>
      </p:grpSpPr>
      <p:sp>
        <p:nvSpPr>
          <p:cNvPr id="2" name="Freeform 2"/>
          <p:cNvSpPr/>
          <p:nvPr/>
        </p:nvSpPr>
        <p:spPr>
          <a:xfrm>
            <a:off x="0" y="2649796"/>
            <a:ext cx="7559993" cy="5109962"/>
          </a:xfrm>
          <a:custGeom>
            <a:avLst/>
            <a:gdLst/>
            <a:ahLst/>
            <a:cxnLst/>
            <a:rect l="l" t="t" r="r" b="b"/>
            <a:pathLst>
              <a:path w="7559993" h="5109962">
                <a:moveTo>
                  <a:pt x="0" y="0"/>
                </a:moveTo>
                <a:lnTo>
                  <a:pt x="7559993" y="0"/>
                </a:lnTo>
                <a:lnTo>
                  <a:pt x="7559993" y="5109962"/>
                </a:lnTo>
                <a:lnTo>
                  <a:pt x="0" y="5109962"/>
                </a:lnTo>
                <a:lnTo>
                  <a:pt x="0" y="0"/>
                </a:lnTo>
                <a:close/>
              </a:path>
            </a:pathLst>
          </a:custGeom>
          <a:blipFill>
            <a:blip r:embed="rId2"/>
            <a:stretch>
              <a:fillRect l="-694" r="-694"/>
            </a:stretch>
          </a:blipFill>
        </p:spPr>
        <p:txBody>
          <a:bodyPr/>
          <a:lstStyle/>
          <a:p>
            <a:endParaRPr lang="fr-FR"/>
          </a:p>
        </p:txBody>
      </p:sp>
      <p:sp>
        <p:nvSpPr>
          <p:cNvPr id="3" name="TextBox 3"/>
          <p:cNvSpPr txBox="1"/>
          <p:nvPr/>
        </p:nvSpPr>
        <p:spPr>
          <a:xfrm>
            <a:off x="1878627" y="7964365"/>
            <a:ext cx="5119500" cy="638175"/>
          </a:xfrm>
          <a:prstGeom prst="rect">
            <a:avLst/>
          </a:prstGeom>
        </p:spPr>
        <p:txBody>
          <a:bodyPr lIns="0" tIns="0" rIns="0" bIns="0" rtlCol="0" anchor="t">
            <a:spAutoFit/>
          </a:bodyPr>
          <a:lstStyle/>
          <a:p>
            <a:pPr algn="r">
              <a:lnSpc>
                <a:spcPts val="2519"/>
              </a:lnSpc>
            </a:pPr>
            <a:r>
              <a:rPr lang="en-US" sz="2099" i="1" spc="10">
                <a:solidFill>
                  <a:srgbClr val="1A1447"/>
                </a:solidFill>
                <a:latin typeface="IBM Plex Sans Italics"/>
                <a:ea typeface="IBM Plex Sans Italics"/>
                <a:cs typeface="IBM Plex Sans Italics"/>
                <a:sym typeface="IBM Plex Sans Italics"/>
              </a:rPr>
              <a:t>NOTRE OBJECTIF, VOTRE RÉUSSITE ! </a:t>
            </a:r>
            <a:r>
              <a:rPr lang="en-US" sz="2099" b="1" i="1" spc="10">
                <a:solidFill>
                  <a:srgbClr val="1A1447"/>
                </a:solidFill>
                <a:latin typeface="IBM Plex Sans Bold Italics"/>
                <a:ea typeface="IBM Plex Sans Bold Italics"/>
                <a:cs typeface="IBM Plex Sans Bold Italics"/>
                <a:sym typeface="IBM Plex Sans Bold Italics"/>
              </a:rPr>
              <a:t>DREAM BIG, REACH HIGH !</a:t>
            </a:r>
          </a:p>
        </p:txBody>
      </p:sp>
      <p:sp>
        <p:nvSpPr>
          <p:cNvPr id="4" name="TextBox 4"/>
          <p:cNvSpPr txBox="1"/>
          <p:nvPr/>
        </p:nvSpPr>
        <p:spPr>
          <a:xfrm>
            <a:off x="1845438" y="1245842"/>
            <a:ext cx="5152690" cy="1956816"/>
          </a:xfrm>
          <a:prstGeom prst="rect">
            <a:avLst/>
          </a:prstGeom>
        </p:spPr>
        <p:txBody>
          <a:bodyPr lIns="0" tIns="0" rIns="0" bIns="0" rtlCol="0" anchor="t">
            <a:spAutoFit/>
          </a:bodyPr>
          <a:lstStyle/>
          <a:p>
            <a:pPr algn="r">
              <a:lnSpc>
                <a:spcPts val="7632"/>
              </a:lnSpc>
            </a:pPr>
            <a:r>
              <a:rPr lang="en-US" sz="7200" b="1">
                <a:solidFill>
                  <a:srgbClr val="1A1447"/>
                </a:solidFill>
                <a:latin typeface="Canva Sans Bold"/>
                <a:ea typeface="Canva Sans Bold"/>
                <a:cs typeface="Canva Sans Bold"/>
                <a:sym typeface="Canva Sans Bold"/>
              </a:rPr>
              <a:t>ILCI depuis 2004</a:t>
            </a:r>
          </a:p>
        </p:txBody>
      </p:sp>
      <p:sp>
        <p:nvSpPr>
          <p:cNvPr id="5" name="Freeform 5"/>
          <p:cNvSpPr/>
          <p:nvPr/>
        </p:nvSpPr>
        <p:spPr>
          <a:xfrm>
            <a:off x="5681373" y="8812090"/>
            <a:ext cx="1316755" cy="838447"/>
          </a:xfrm>
          <a:custGeom>
            <a:avLst/>
            <a:gdLst/>
            <a:ahLst/>
            <a:cxnLst/>
            <a:rect l="l" t="t" r="r" b="b"/>
            <a:pathLst>
              <a:path w="1316755" h="838447">
                <a:moveTo>
                  <a:pt x="0" y="0"/>
                </a:moveTo>
                <a:lnTo>
                  <a:pt x="1316755" y="0"/>
                </a:lnTo>
                <a:lnTo>
                  <a:pt x="1316755" y="838447"/>
                </a:lnTo>
                <a:lnTo>
                  <a:pt x="0" y="838447"/>
                </a:lnTo>
                <a:lnTo>
                  <a:pt x="0" y="0"/>
                </a:lnTo>
                <a:close/>
              </a:path>
            </a:pathLst>
          </a:custGeom>
          <a:blipFill>
            <a:blip r:embed="rId3"/>
            <a:stretch>
              <a:fillRect/>
            </a:stretch>
          </a:blipFill>
        </p:spPr>
        <p:txBody>
          <a:bodyPr/>
          <a:lstStyle/>
          <a:p>
            <a:endParaRPr lang="fr-FR"/>
          </a:p>
        </p:txBody>
      </p:sp>
      <p:grpSp>
        <p:nvGrpSpPr>
          <p:cNvPr id="6" name="Group 6"/>
          <p:cNvGrpSpPr/>
          <p:nvPr/>
        </p:nvGrpSpPr>
        <p:grpSpPr>
          <a:xfrm rot="-5400000">
            <a:off x="3306308" y="6526529"/>
            <a:ext cx="947376" cy="7973798"/>
            <a:chOff x="0" y="0"/>
            <a:chExt cx="339518" cy="2857629"/>
          </a:xfrm>
        </p:grpSpPr>
        <p:sp>
          <p:nvSpPr>
            <p:cNvPr id="7" name="Freeform 7"/>
            <p:cNvSpPr/>
            <p:nvPr/>
          </p:nvSpPr>
          <p:spPr>
            <a:xfrm>
              <a:off x="0" y="0"/>
              <a:ext cx="339518" cy="2857629"/>
            </a:xfrm>
            <a:custGeom>
              <a:avLst/>
              <a:gdLst/>
              <a:ahLst/>
              <a:cxnLst/>
              <a:rect l="l" t="t" r="r" b="b"/>
              <a:pathLst>
                <a:path w="339518" h="2857629">
                  <a:moveTo>
                    <a:pt x="0" y="0"/>
                  </a:moveTo>
                  <a:lnTo>
                    <a:pt x="339518" y="0"/>
                  </a:lnTo>
                  <a:lnTo>
                    <a:pt x="339518" y="2857629"/>
                  </a:lnTo>
                  <a:lnTo>
                    <a:pt x="0" y="2857629"/>
                  </a:lnTo>
                  <a:close/>
                </a:path>
              </a:pathLst>
            </a:custGeom>
            <a:solidFill>
              <a:srgbClr val="1A1447"/>
            </a:solidFill>
          </p:spPr>
          <p:txBody>
            <a:bodyPr/>
            <a:lstStyle/>
            <a:p>
              <a:endParaRPr lang="fr-FR"/>
            </a:p>
          </p:txBody>
        </p:sp>
        <p:sp>
          <p:nvSpPr>
            <p:cNvPr id="8" name="TextBox 8"/>
            <p:cNvSpPr txBox="1"/>
            <p:nvPr/>
          </p:nvSpPr>
          <p:spPr>
            <a:xfrm>
              <a:off x="0" y="-28575"/>
              <a:ext cx="339518" cy="2886204"/>
            </a:xfrm>
            <a:prstGeom prst="rect">
              <a:avLst/>
            </a:prstGeom>
          </p:spPr>
          <p:txBody>
            <a:bodyPr lIns="50800" tIns="50800" rIns="50800" bIns="50800" rtlCol="0" anchor="ctr"/>
            <a:lstStyle/>
            <a:p>
              <a:pPr algn="ctr">
                <a:lnSpc>
                  <a:spcPts val="1960"/>
                </a:lnSpc>
              </a:pPr>
              <a:endParaRPr/>
            </a:p>
          </p:txBody>
        </p:sp>
      </p:grpSp>
      <p:sp>
        <p:nvSpPr>
          <p:cNvPr id="9" name="TextBox 9"/>
          <p:cNvSpPr txBox="1"/>
          <p:nvPr/>
        </p:nvSpPr>
        <p:spPr>
          <a:xfrm>
            <a:off x="2522201" y="10362000"/>
            <a:ext cx="2515629" cy="151428"/>
          </a:xfrm>
          <a:prstGeom prst="rect">
            <a:avLst/>
          </a:prstGeom>
        </p:spPr>
        <p:txBody>
          <a:bodyPr lIns="0" tIns="0" rIns="0" bIns="0" rtlCol="0" anchor="t">
            <a:spAutoFit/>
          </a:bodyPr>
          <a:lstStyle/>
          <a:p>
            <a:pPr algn="l">
              <a:lnSpc>
                <a:spcPts val="1260"/>
              </a:lnSpc>
            </a:pPr>
            <a:r>
              <a:rPr lang="en-US" sz="900" i="1" spc="25">
                <a:solidFill>
                  <a:srgbClr val="FFFFFF"/>
                </a:solidFill>
                <a:latin typeface="IBM Plex Sans Italics"/>
                <a:ea typeface="IBM Plex Sans Italics"/>
                <a:cs typeface="IBM Plex Sans Italics"/>
                <a:sym typeface="IBM Plex Sans Italics"/>
              </a:rPr>
              <a:t>Etablissement d’enseignement supérieur privé</a:t>
            </a:r>
          </a:p>
        </p:txBody>
      </p:sp>
      <p:grpSp>
        <p:nvGrpSpPr>
          <p:cNvPr id="10" name="Group 10"/>
          <p:cNvGrpSpPr/>
          <p:nvPr/>
        </p:nvGrpSpPr>
        <p:grpSpPr>
          <a:xfrm rot="-5400000">
            <a:off x="3306402" y="-8919427"/>
            <a:ext cx="947376" cy="7973798"/>
            <a:chOff x="0" y="0"/>
            <a:chExt cx="339518" cy="2857629"/>
          </a:xfrm>
        </p:grpSpPr>
        <p:sp>
          <p:nvSpPr>
            <p:cNvPr id="11" name="Freeform 11"/>
            <p:cNvSpPr/>
            <p:nvPr/>
          </p:nvSpPr>
          <p:spPr>
            <a:xfrm>
              <a:off x="0" y="0"/>
              <a:ext cx="339518" cy="2857629"/>
            </a:xfrm>
            <a:custGeom>
              <a:avLst/>
              <a:gdLst/>
              <a:ahLst/>
              <a:cxnLst/>
              <a:rect l="l" t="t" r="r" b="b"/>
              <a:pathLst>
                <a:path w="339518" h="2857629">
                  <a:moveTo>
                    <a:pt x="0" y="0"/>
                  </a:moveTo>
                  <a:lnTo>
                    <a:pt x="339518" y="0"/>
                  </a:lnTo>
                  <a:lnTo>
                    <a:pt x="339518" y="2857629"/>
                  </a:lnTo>
                  <a:lnTo>
                    <a:pt x="0" y="2857629"/>
                  </a:lnTo>
                  <a:close/>
                </a:path>
              </a:pathLst>
            </a:custGeom>
            <a:solidFill>
              <a:srgbClr val="1A1447"/>
            </a:solidFill>
          </p:spPr>
          <p:txBody>
            <a:bodyPr/>
            <a:lstStyle/>
            <a:p>
              <a:endParaRPr lang="fr-FR"/>
            </a:p>
          </p:txBody>
        </p:sp>
        <p:sp>
          <p:nvSpPr>
            <p:cNvPr id="12" name="TextBox 12"/>
            <p:cNvSpPr txBox="1"/>
            <p:nvPr/>
          </p:nvSpPr>
          <p:spPr>
            <a:xfrm>
              <a:off x="0" y="-28575"/>
              <a:ext cx="339518" cy="2886204"/>
            </a:xfrm>
            <a:prstGeom prst="rect">
              <a:avLst/>
            </a:prstGeom>
          </p:spPr>
          <p:txBody>
            <a:bodyPr lIns="50800" tIns="50800" rIns="50800" bIns="50800" rtlCol="0" anchor="ctr"/>
            <a:lstStyle/>
            <a:p>
              <a:pPr algn="ctr">
                <a:lnSpc>
                  <a:spcPts val="1960"/>
                </a:lnSpc>
              </a:pPr>
              <a:endParaRPr/>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a:extLst>
              <a:ext uri="{FF2B5EF4-FFF2-40B4-BE49-F238E27FC236}">
                <a16:creationId xmlns:a16="http://schemas.microsoft.com/office/drawing/2014/main" id="{B3B98FFD-93BB-BBAE-F129-B7789436EED7}"/>
              </a:ext>
            </a:extLst>
          </p:cNvPr>
          <p:cNvGrpSpPr>
            <a:grpSpLocks noChangeAspect="1"/>
          </p:cNvGrpSpPr>
          <p:nvPr/>
        </p:nvGrpSpPr>
        <p:grpSpPr>
          <a:xfrm>
            <a:off x="1380363" y="4894745"/>
            <a:ext cx="762505" cy="679580"/>
            <a:chOff x="0" y="0"/>
            <a:chExt cx="762495" cy="679577"/>
          </a:xfrm>
        </p:grpSpPr>
        <p:sp>
          <p:nvSpPr>
            <p:cNvPr id="3" name="Freeform 3">
              <a:extLst>
                <a:ext uri="{FF2B5EF4-FFF2-40B4-BE49-F238E27FC236}">
                  <a16:creationId xmlns:a16="http://schemas.microsoft.com/office/drawing/2014/main" id="{D51F8094-7C9C-D26A-CC24-050E4F427006}"/>
                </a:ext>
              </a:extLst>
            </p:cNvPr>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a:extLst>
                <a:ext uri="{FF2B5EF4-FFF2-40B4-BE49-F238E27FC236}">
                  <a16:creationId xmlns:a16="http://schemas.microsoft.com/office/drawing/2014/main" id="{C0305C3B-D030-1D50-302D-9F4DF5805255}"/>
                </a:ext>
              </a:extLst>
            </p:cNvPr>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7112"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a:extLst>
                <a:ext uri="{FF2B5EF4-FFF2-40B4-BE49-F238E27FC236}">
                  <a16:creationId xmlns:a16="http://schemas.microsoft.com/office/drawing/2014/main" id="{48DFAD6D-3C46-1C0D-A8F5-1727A30082CD}"/>
                </a:ext>
              </a:extLst>
            </p:cNvPr>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a:extLst>
                <a:ext uri="{FF2B5EF4-FFF2-40B4-BE49-F238E27FC236}">
                  <a16:creationId xmlns:a16="http://schemas.microsoft.com/office/drawing/2014/main" id="{7BCE033A-81C4-3494-2DFB-D6DA23866793}"/>
                </a:ext>
              </a:extLst>
            </p:cNvPr>
            <p:cNvSpPr/>
            <p:nvPr/>
          </p:nvSpPr>
          <p:spPr>
            <a:xfrm>
              <a:off x="260477" y="267970"/>
              <a:ext cx="120396" cy="140081"/>
            </a:xfrm>
            <a:custGeom>
              <a:avLst/>
              <a:gdLst/>
              <a:ahLst/>
              <a:cxnLst/>
              <a:rect l="l" t="t" r="r" b="b"/>
              <a:pathLst>
                <a:path w="120396"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198" y="0"/>
                  </a:cubicBezTo>
                  <a:lnTo>
                    <a:pt x="76708" y="1778"/>
                  </a:lnTo>
                  <a:cubicBezTo>
                    <a:pt x="91440" y="8890"/>
                    <a:pt x="97790" y="13716"/>
                    <a:pt x="103251" y="19939"/>
                  </a:cubicBezTo>
                  <a:lnTo>
                    <a:pt x="115824" y="42037"/>
                  </a:lnTo>
                  <a:cubicBezTo>
                    <a:pt x="118872" y="50546"/>
                    <a:pt x="120396" y="59944"/>
                    <a:pt x="120396" y="70104"/>
                  </a:cubicBezTo>
                  <a:moveTo>
                    <a:pt x="88900" y="70104"/>
                  </a:moveTo>
                  <a:lnTo>
                    <a:pt x="88265" y="58293"/>
                  </a:lnTo>
                  <a:cubicBezTo>
                    <a:pt x="85471" y="48006"/>
                    <a:pt x="83439" y="43561"/>
                    <a:pt x="80899" y="39878"/>
                  </a:cubicBezTo>
                  <a:lnTo>
                    <a:pt x="75311" y="33401"/>
                  </a:lnTo>
                  <a:lnTo>
                    <a:pt x="64516" y="28448"/>
                  </a:lnTo>
                  <a:cubicBezTo>
                    <a:pt x="56007" y="28448"/>
                    <a:pt x="52070" y="29464"/>
                    <a:pt x="48514" y="31496"/>
                  </a:cubicBezTo>
                  <a:lnTo>
                    <a:pt x="42037" y="36322"/>
                  </a:lnTo>
                  <a:cubicBezTo>
                    <a:pt x="36957" y="43688"/>
                    <a:pt x="34925" y="48133"/>
                    <a:pt x="33528" y="53340"/>
                  </a:cubicBezTo>
                  <a:lnTo>
                    <a:pt x="31369" y="64135"/>
                  </a:lnTo>
                  <a:cubicBezTo>
                    <a:pt x="31369" y="76454"/>
                    <a:pt x="32004" y="82042"/>
                    <a:pt x="33528" y="87122"/>
                  </a:cubicBezTo>
                  <a:lnTo>
                    <a:pt x="36957" y="96520"/>
                  </a:lnTo>
                  <a:cubicBezTo>
                    <a:pt x="42037" y="103886"/>
                    <a:pt x="45085" y="106807"/>
                    <a:pt x="48641" y="108712"/>
                  </a:cubicBezTo>
                  <a:lnTo>
                    <a:pt x="56007" y="111760"/>
                  </a:lnTo>
                  <a:lnTo>
                    <a:pt x="68453" y="110744"/>
                  </a:lnTo>
                  <a:cubicBezTo>
                    <a:pt x="75438" y="106680"/>
                    <a:pt x="78486" y="103886"/>
                    <a:pt x="81026" y="100203"/>
                  </a:cubicBezTo>
                  <a:lnTo>
                    <a:pt x="85598" y="92075"/>
                  </a:lnTo>
                  <a:cubicBezTo>
                    <a:pt x="88392" y="81915"/>
                    <a:pt x="89027" y="76327"/>
                    <a:pt x="89027" y="70104"/>
                  </a:cubicBezTo>
                </a:path>
              </a:pathLst>
            </a:custGeom>
            <a:solidFill>
              <a:srgbClr val="7DE314"/>
            </a:solidFill>
          </p:spPr>
          <p:txBody>
            <a:bodyPr/>
            <a:lstStyle/>
            <a:p>
              <a:endParaRPr lang="fr-FR"/>
            </a:p>
          </p:txBody>
        </p:sp>
        <p:sp>
          <p:nvSpPr>
            <p:cNvPr id="7" name="Freeform 7">
              <a:extLst>
                <a:ext uri="{FF2B5EF4-FFF2-40B4-BE49-F238E27FC236}">
                  <a16:creationId xmlns:a16="http://schemas.microsoft.com/office/drawing/2014/main" id="{D5068E81-3083-1207-411B-0D072C1507CD}"/>
                </a:ext>
              </a:extLst>
            </p:cNvPr>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036" y="37719"/>
                    <a:pt x="31115" y="39751"/>
                  </a:cubicBezTo>
                  <a:lnTo>
                    <a:pt x="24765" y="43434"/>
                  </a:lnTo>
                  <a:lnTo>
                    <a:pt x="13970" y="48260"/>
                  </a:lnTo>
                  <a:cubicBezTo>
                    <a:pt x="6350" y="50419"/>
                    <a:pt x="2921"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a:extLst>
              <a:ext uri="{FF2B5EF4-FFF2-40B4-BE49-F238E27FC236}">
                <a16:creationId xmlns:a16="http://schemas.microsoft.com/office/drawing/2014/main" id="{6DA6103D-F76F-7515-4FA2-3288CAAE28E5}"/>
              </a:ext>
            </a:extLst>
          </p:cNvPr>
          <p:cNvGrpSpPr>
            <a:grpSpLocks noChangeAspect="1"/>
          </p:cNvGrpSpPr>
          <p:nvPr/>
        </p:nvGrpSpPr>
        <p:grpSpPr>
          <a:xfrm>
            <a:off x="3639750" y="4887516"/>
            <a:ext cx="762505" cy="686800"/>
            <a:chOff x="0" y="0"/>
            <a:chExt cx="762495" cy="686803"/>
          </a:xfrm>
        </p:grpSpPr>
        <p:sp>
          <p:nvSpPr>
            <p:cNvPr id="9" name="Freeform 9">
              <a:extLst>
                <a:ext uri="{FF2B5EF4-FFF2-40B4-BE49-F238E27FC236}">
                  <a16:creationId xmlns:a16="http://schemas.microsoft.com/office/drawing/2014/main" id="{C8998A45-0CB2-7D6C-619C-08B510218400}"/>
                </a:ext>
              </a:extLst>
            </p:cNvPr>
            <p:cNvSpPr/>
            <p:nvPr/>
          </p:nvSpPr>
          <p:spPr>
            <a:xfrm>
              <a:off x="63500" y="63500"/>
              <a:ext cx="635508" cy="559689"/>
            </a:xfrm>
            <a:custGeom>
              <a:avLst/>
              <a:gdLst/>
              <a:ahLst/>
              <a:cxnLst/>
              <a:rect l="l" t="t" r="r" b="b"/>
              <a:pathLst>
                <a:path w="635508" h="559689">
                  <a:moveTo>
                    <a:pt x="631698" y="294132"/>
                  </a:moveTo>
                  <a:lnTo>
                    <a:pt x="487045" y="545465"/>
                  </a:lnTo>
                  <a:cubicBezTo>
                    <a:pt x="481965" y="554355"/>
                    <a:pt x="472567" y="559689"/>
                    <a:pt x="462407" y="559689"/>
                  </a:cubicBezTo>
                  <a:lnTo>
                    <a:pt x="173101" y="559689"/>
                  </a:lnTo>
                  <a:cubicBezTo>
                    <a:pt x="162941" y="559689"/>
                    <a:pt x="153543" y="554228"/>
                    <a:pt x="148463" y="545465"/>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a:extLst>
                <a:ext uri="{FF2B5EF4-FFF2-40B4-BE49-F238E27FC236}">
                  <a16:creationId xmlns:a16="http://schemas.microsoft.com/office/drawing/2014/main" id="{4A03F1E8-4C95-8B60-A85E-9205AEBF0DFE}"/>
                </a:ext>
              </a:extLst>
            </p:cNvPr>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a:extLst>
                <a:ext uri="{FF2B5EF4-FFF2-40B4-BE49-F238E27FC236}">
                  <a16:creationId xmlns:a16="http://schemas.microsoft.com/office/drawing/2014/main" id="{3B9F2F4A-4613-E78C-B91F-388E4018E203}"/>
                </a:ext>
              </a:extLst>
            </p:cNvPr>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a:extLst>
                <a:ext uri="{FF2B5EF4-FFF2-40B4-BE49-F238E27FC236}">
                  <a16:creationId xmlns:a16="http://schemas.microsoft.com/office/drawing/2014/main" id="{75084FA4-FDB2-FAAD-F7C2-80E6F4C6E976}"/>
                </a:ext>
              </a:extLst>
            </p:cNvPr>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a:extLst>
                <a:ext uri="{FF2B5EF4-FFF2-40B4-BE49-F238E27FC236}">
                  <a16:creationId xmlns:a16="http://schemas.microsoft.com/office/drawing/2014/main" id="{C94DB1B2-C065-BC55-2D60-E7F3781B0FEC}"/>
                </a:ext>
              </a:extLst>
            </p:cNvPr>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a:extLst>
              <a:ext uri="{FF2B5EF4-FFF2-40B4-BE49-F238E27FC236}">
                <a16:creationId xmlns:a16="http://schemas.microsoft.com/office/drawing/2014/main" id="{4AA8095C-92FF-5ECB-B284-0B66EE28301D}"/>
              </a:ext>
            </a:extLst>
          </p:cNvPr>
          <p:cNvGrpSpPr>
            <a:grpSpLocks noChangeAspect="1"/>
          </p:cNvGrpSpPr>
          <p:nvPr/>
        </p:nvGrpSpPr>
        <p:grpSpPr>
          <a:xfrm>
            <a:off x="0" y="2592886"/>
            <a:ext cx="7559993" cy="1642539"/>
            <a:chOff x="0" y="0"/>
            <a:chExt cx="7559992" cy="1642542"/>
          </a:xfrm>
        </p:grpSpPr>
        <p:sp>
          <p:nvSpPr>
            <p:cNvPr id="15" name="Freeform 15">
              <a:extLst>
                <a:ext uri="{FF2B5EF4-FFF2-40B4-BE49-F238E27FC236}">
                  <a16:creationId xmlns:a16="http://schemas.microsoft.com/office/drawing/2014/main" id="{FF7AC6B4-B450-C509-75E6-ED75F0B5DC37}"/>
                </a:ext>
              </a:extLst>
            </p:cNvPr>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16" name="Group 16">
            <a:extLst>
              <a:ext uri="{FF2B5EF4-FFF2-40B4-BE49-F238E27FC236}">
                <a16:creationId xmlns:a16="http://schemas.microsoft.com/office/drawing/2014/main" id="{22D9AFC6-1274-F1B3-83C7-4C1939315309}"/>
              </a:ext>
            </a:extLst>
          </p:cNvPr>
          <p:cNvGrpSpPr>
            <a:grpSpLocks noChangeAspect="1"/>
          </p:cNvGrpSpPr>
          <p:nvPr/>
        </p:nvGrpSpPr>
        <p:grpSpPr>
          <a:xfrm>
            <a:off x="5653192" y="4880277"/>
            <a:ext cx="762505" cy="694058"/>
            <a:chOff x="0" y="0"/>
            <a:chExt cx="762495" cy="694055"/>
          </a:xfrm>
        </p:grpSpPr>
        <p:sp>
          <p:nvSpPr>
            <p:cNvPr id="17" name="Freeform 17">
              <a:extLst>
                <a:ext uri="{FF2B5EF4-FFF2-40B4-BE49-F238E27FC236}">
                  <a16:creationId xmlns:a16="http://schemas.microsoft.com/office/drawing/2014/main" id="{FC70F555-B832-04DD-0937-8EBC11B222CC}"/>
                </a:ext>
              </a:extLst>
            </p:cNvPr>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8" name="Freeform 18">
              <a:extLst>
                <a:ext uri="{FF2B5EF4-FFF2-40B4-BE49-F238E27FC236}">
                  <a16:creationId xmlns:a16="http://schemas.microsoft.com/office/drawing/2014/main" id="{57927DA3-7D27-39AA-1B1B-147B9C591813}"/>
                </a:ext>
              </a:extLst>
            </p:cNvPr>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9" name="Freeform 19">
              <a:extLst>
                <a:ext uri="{FF2B5EF4-FFF2-40B4-BE49-F238E27FC236}">
                  <a16:creationId xmlns:a16="http://schemas.microsoft.com/office/drawing/2014/main" id="{CACDC7C4-F856-3CB1-574D-4CCFFE74003F}"/>
                </a:ext>
              </a:extLst>
            </p:cNvPr>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20" name="Freeform 20">
              <a:extLst>
                <a:ext uri="{FF2B5EF4-FFF2-40B4-BE49-F238E27FC236}">
                  <a16:creationId xmlns:a16="http://schemas.microsoft.com/office/drawing/2014/main" id="{C70076B6-D0FC-7478-B63C-C139E86BB1F9}"/>
                </a:ext>
              </a:extLst>
            </p:cNvPr>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21" name="Freeform 21">
              <a:extLst>
                <a:ext uri="{FF2B5EF4-FFF2-40B4-BE49-F238E27FC236}">
                  <a16:creationId xmlns:a16="http://schemas.microsoft.com/office/drawing/2014/main" id="{3E9BEA80-A452-0146-BF5A-883CEB67AE31}"/>
                </a:ext>
              </a:extLst>
            </p:cNvPr>
            <p:cNvSpPr/>
            <p:nvPr/>
          </p:nvSpPr>
          <p:spPr>
            <a:xfrm>
              <a:off x="388620"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2" name="Group 22">
            <a:extLst>
              <a:ext uri="{FF2B5EF4-FFF2-40B4-BE49-F238E27FC236}">
                <a16:creationId xmlns:a16="http://schemas.microsoft.com/office/drawing/2014/main" id="{151987F5-2EB6-45B1-59DF-B1F18519E9DB}"/>
              </a:ext>
            </a:extLst>
          </p:cNvPr>
          <p:cNvGrpSpPr>
            <a:grpSpLocks noChangeAspect="1"/>
          </p:cNvGrpSpPr>
          <p:nvPr/>
        </p:nvGrpSpPr>
        <p:grpSpPr>
          <a:xfrm>
            <a:off x="623635" y="305124"/>
            <a:ext cx="6466446" cy="1976704"/>
            <a:chOff x="0" y="0"/>
            <a:chExt cx="6466446" cy="1976704"/>
          </a:xfrm>
        </p:grpSpPr>
        <p:sp>
          <p:nvSpPr>
            <p:cNvPr id="23" name="Freeform 23">
              <a:extLst>
                <a:ext uri="{FF2B5EF4-FFF2-40B4-BE49-F238E27FC236}">
                  <a16:creationId xmlns:a16="http://schemas.microsoft.com/office/drawing/2014/main" id="{A8902FF3-EC7E-7603-CCF2-896E0E1F787F}"/>
                </a:ext>
              </a:extLst>
            </p:cNvPr>
            <p:cNvSpPr/>
            <p:nvPr/>
          </p:nvSpPr>
          <p:spPr>
            <a:xfrm>
              <a:off x="63500" y="381000"/>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4" name="Freeform 24">
              <a:extLst>
                <a:ext uri="{FF2B5EF4-FFF2-40B4-BE49-F238E27FC236}">
                  <a16:creationId xmlns:a16="http://schemas.microsoft.com/office/drawing/2014/main" id="{32424F8C-3049-1611-D406-BDC25493B6CF}"/>
                </a:ext>
              </a:extLst>
            </p:cNvPr>
            <p:cNvSpPr/>
            <p:nvPr/>
          </p:nvSpPr>
          <p:spPr>
            <a:xfrm>
              <a:off x="559435" y="179451"/>
              <a:ext cx="1947672" cy="416433"/>
            </a:xfrm>
            <a:custGeom>
              <a:avLst/>
              <a:gdLst/>
              <a:ahLst/>
              <a:cxnLst/>
              <a:rect l="l" t="t" r="r" b="b"/>
              <a:pathLst>
                <a:path w="1947672" h="416433">
                  <a:moveTo>
                    <a:pt x="0" y="416433"/>
                  </a:moveTo>
                  <a:lnTo>
                    <a:pt x="1947672" y="416433"/>
                  </a:lnTo>
                  <a:lnTo>
                    <a:pt x="1947672" y="0"/>
                  </a:lnTo>
                  <a:lnTo>
                    <a:pt x="0" y="0"/>
                  </a:lnTo>
                  <a:close/>
                </a:path>
              </a:pathLst>
            </a:custGeom>
            <a:solidFill>
              <a:srgbClr val="FFFFFF"/>
            </a:solidFill>
          </p:spPr>
          <p:txBody>
            <a:bodyPr/>
            <a:lstStyle/>
            <a:p>
              <a:endParaRPr lang="fr-FR"/>
            </a:p>
          </p:txBody>
        </p:sp>
        <p:sp>
          <p:nvSpPr>
            <p:cNvPr id="25" name="Freeform 25">
              <a:extLst>
                <a:ext uri="{FF2B5EF4-FFF2-40B4-BE49-F238E27FC236}">
                  <a16:creationId xmlns:a16="http://schemas.microsoft.com/office/drawing/2014/main" id="{5AAA4A03-30FD-98D8-9B9D-BF225EC13FEE}"/>
                </a:ext>
              </a:extLst>
            </p:cNvPr>
            <p:cNvSpPr/>
            <p:nvPr/>
          </p:nvSpPr>
          <p:spPr>
            <a:xfrm>
              <a:off x="5722620" y="63500"/>
              <a:ext cx="680339" cy="646176"/>
            </a:xfrm>
            <a:custGeom>
              <a:avLst/>
              <a:gdLst/>
              <a:ahLst/>
              <a:cxnLst/>
              <a:rect l="l" t="t" r="r" b="b"/>
              <a:pathLst>
                <a:path w="680339" h="646176">
                  <a:moveTo>
                    <a:pt x="340233" y="646049"/>
                  </a:moveTo>
                  <a:cubicBezTo>
                    <a:pt x="528066" y="646049"/>
                    <a:pt x="680339" y="501396"/>
                    <a:pt x="680339" y="322961"/>
                  </a:cubicBezTo>
                  <a:cubicBezTo>
                    <a:pt x="680339" y="144526"/>
                    <a:pt x="528066" y="0"/>
                    <a:pt x="340233" y="0"/>
                  </a:cubicBezTo>
                  <a:cubicBezTo>
                    <a:pt x="152400"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6" name="Freeform 26">
              <a:extLst>
                <a:ext uri="{FF2B5EF4-FFF2-40B4-BE49-F238E27FC236}">
                  <a16:creationId xmlns:a16="http://schemas.microsoft.com/office/drawing/2014/main" id="{B1344496-733B-3A90-4361-CFDDB53C027C}"/>
                </a:ext>
              </a:extLst>
            </p:cNvPr>
            <p:cNvSpPr/>
            <p:nvPr/>
          </p:nvSpPr>
          <p:spPr>
            <a:xfrm>
              <a:off x="1884299" y="134962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7" name="Freeform 27">
              <a:extLst>
                <a:ext uri="{FF2B5EF4-FFF2-40B4-BE49-F238E27FC236}">
                  <a16:creationId xmlns:a16="http://schemas.microsoft.com/office/drawing/2014/main" id="{CEB405A9-F16C-5D3E-6021-6284BA57B9A5}"/>
                </a:ext>
              </a:extLst>
            </p:cNvPr>
            <p:cNvSpPr/>
            <p:nvPr/>
          </p:nvSpPr>
          <p:spPr>
            <a:xfrm>
              <a:off x="3229102" y="1339596"/>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8" name="Freeform 28">
              <a:extLst>
                <a:ext uri="{FF2B5EF4-FFF2-40B4-BE49-F238E27FC236}">
                  <a16:creationId xmlns:a16="http://schemas.microsoft.com/office/drawing/2014/main" id="{D1521A77-429F-AB4E-C090-F672C2F0F3CD}"/>
                </a:ext>
              </a:extLst>
            </p:cNvPr>
            <p:cNvSpPr/>
            <p:nvPr/>
          </p:nvSpPr>
          <p:spPr>
            <a:xfrm>
              <a:off x="4741037" y="1334135"/>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9" name="Freeform 29">
              <a:extLst>
                <a:ext uri="{FF2B5EF4-FFF2-40B4-BE49-F238E27FC236}">
                  <a16:creationId xmlns:a16="http://schemas.microsoft.com/office/drawing/2014/main" id="{323EA372-7B1C-F959-E269-F2CA5C10E717}"/>
                </a:ext>
              </a:extLst>
            </p:cNvPr>
            <p:cNvSpPr/>
            <p:nvPr/>
          </p:nvSpPr>
          <p:spPr>
            <a:xfrm>
              <a:off x="566674" y="134962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grpSp>
      <p:sp>
        <p:nvSpPr>
          <p:cNvPr id="30" name="TextBox 99">
            <a:extLst>
              <a:ext uri="{FF2B5EF4-FFF2-40B4-BE49-F238E27FC236}">
                <a16:creationId xmlns:a16="http://schemas.microsoft.com/office/drawing/2014/main" id="{A43B9593-CB2D-1901-B7A6-571AC8F1C154}"/>
              </a:ext>
            </a:extLst>
          </p:cNvPr>
          <p:cNvSpPr txBox="1"/>
          <p:nvPr/>
        </p:nvSpPr>
        <p:spPr>
          <a:xfrm>
            <a:off x="6672167" y="9971913"/>
            <a:ext cx="248917" cy="240665"/>
          </a:xfrm>
          <a:prstGeom prst="rect">
            <a:avLst/>
          </a:prstGeom>
        </p:spPr>
        <p:txBody>
          <a:bodyPr lIns="0" tIns="0" rIns="0" bIns="0" rtlCol="0" anchor="t">
            <a:spAutoFit/>
          </a:bodyPr>
          <a:lstStyle/>
          <a:p>
            <a:pPr algn="l">
              <a:lnSpc>
                <a:spcPts val="1959"/>
              </a:lnSpc>
            </a:pPr>
            <a:r>
              <a:rPr lang="en-US" sz="1399" b="1" spc="2" dirty="0">
                <a:solidFill>
                  <a:srgbClr val="231F20"/>
                </a:solidFill>
                <a:latin typeface="Open Sans Bold"/>
                <a:ea typeface="Open Sans Bold"/>
                <a:cs typeface="Open Sans Bold"/>
                <a:sym typeface="Open Sans Bold"/>
              </a:rPr>
              <a:t>11</a:t>
            </a:r>
          </a:p>
        </p:txBody>
      </p:sp>
      <p:sp>
        <p:nvSpPr>
          <p:cNvPr id="31" name="TextBox 46">
            <a:extLst>
              <a:ext uri="{FF2B5EF4-FFF2-40B4-BE49-F238E27FC236}">
                <a16:creationId xmlns:a16="http://schemas.microsoft.com/office/drawing/2014/main" id="{8726D5E0-8905-0EAF-DD70-8729CE70E3CF}"/>
              </a:ext>
            </a:extLst>
          </p:cNvPr>
          <p:cNvSpPr txBox="1"/>
          <p:nvPr/>
        </p:nvSpPr>
        <p:spPr>
          <a:xfrm>
            <a:off x="796119" y="6182554"/>
            <a:ext cx="3224382" cy="299056"/>
          </a:xfrm>
          <a:prstGeom prst="rect">
            <a:avLst/>
          </a:prstGeom>
        </p:spPr>
        <p:txBody>
          <a:bodyPr wrap="square" lIns="0" tIns="0" rIns="0" bIns="0" rtlCol="0" anchor="t">
            <a:spAutoFit/>
          </a:bodyPr>
          <a:lstStyle/>
          <a:p>
            <a:pPr algn="l">
              <a:lnSpc>
                <a:spcPts val="2520"/>
              </a:lnSpc>
            </a:pPr>
            <a:r>
              <a:rPr lang="en-US" sz="1800" b="1" i="1" spc="9" dirty="0">
                <a:solidFill>
                  <a:srgbClr val="EA8C39"/>
                </a:solidFill>
                <a:latin typeface="IBM Plex Sans Bold Italics"/>
                <a:ea typeface="IBM Plex Sans Bold Italics"/>
                <a:cs typeface="IBM Plex Sans Bold Italics"/>
                <a:sym typeface="IBM Plex Sans Bold Italics"/>
              </a:rPr>
              <a:t>ENSEIGNEMENTS</a:t>
            </a:r>
          </a:p>
        </p:txBody>
      </p:sp>
      <p:sp>
        <p:nvSpPr>
          <p:cNvPr id="32" name="TextBox 47">
            <a:extLst>
              <a:ext uri="{FF2B5EF4-FFF2-40B4-BE49-F238E27FC236}">
                <a16:creationId xmlns:a16="http://schemas.microsoft.com/office/drawing/2014/main" id="{691A7F5A-B327-51DF-1117-0A60CB40D79C}"/>
              </a:ext>
            </a:extLst>
          </p:cNvPr>
          <p:cNvSpPr txBox="1"/>
          <p:nvPr/>
        </p:nvSpPr>
        <p:spPr>
          <a:xfrm>
            <a:off x="778744" y="4391616"/>
            <a:ext cx="3990106" cy="299056"/>
          </a:xfrm>
          <a:prstGeom prst="rect">
            <a:avLst/>
          </a:prstGeom>
        </p:spPr>
        <p:txBody>
          <a:bodyPr wrap="square" lIns="0" tIns="0" rIns="0" bIns="0" rtlCol="0" anchor="t">
            <a:spAutoFit/>
          </a:bodyPr>
          <a:lstStyle/>
          <a:p>
            <a:pPr algn="l">
              <a:lnSpc>
                <a:spcPts val="2520"/>
              </a:lnSpc>
            </a:pPr>
            <a:r>
              <a:rPr lang="en-US" sz="1800" b="1" i="1" spc="9" dirty="0">
                <a:solidFill>
                  <a:srgbClr val="EA8C39"/>
                </a:solidFill>
                <a:latin typeface="IBM Plex Sans Bold Italics"/>
                <a:ea typeface="IBM Plex Sans Bold Italics"/>
                <a:cs typeface="IBM Plex Sans Bold Italics"/>
                <a:sym typeface="IBM Plex Sans Bold Italics"/>
              </a:rPr>
              <a:t>TOP3 - POINTS FORTS</a:t>
            </a:r>
          </a:p>
        </p:txBody>
      </p:sp>
      <p:sp>
        <p:nvSpPr>
          <p:cNvPr id="33" name="TextBox 45">
            <a:extLst>
              <a:ext uri="{FF2B5EF4-FFF2-40B4-BE49-F238E27FC236}">
                <a16:creationId xmlns:a16="http://schemas.microsoft.com/office/drawing/2014/main" id="{5B080FD5-4496-B357-5A69-1FF6E1FB2305}"/>
              </a:ext>
            </a:extLst>
          </p:cNvPr>
          <p:cNvSpPr txBox="1"/>
          <p:nvPr/>
        </p:nvSpPr>
        <p:spPr>
          <a:xfrm>
            <a:off x="804129" y="8159772"/>
            <a:ext cx="3850362" cy="299056"/>
          </a:xfrm>
          <a:prstGeom prst="rect">
            <a:avLst/>
          </a:prstGeom>
        </p:spPr>
        <p:txBody>
          <a:bodyPr lIns="0" tIns="0" rIns="0" bIns="0" rtlCol="0" anchor="t">
            <a:spAutoFit/>
          </a:bodyPr>
          <a:lstStyle/>
          <a:p>
            <a:pPr algn="l">
              <a:lnSpc>
                <a:spcPts val="2520"/>
              </a:lnSpc>
            </a:pPr>
            <a:r>
              <a:rPr lang="en-US" sz="1800" b="1" i="1" spc="9" dirty="0">
                <a:solidFill>
                  <a:srgbClr val="EA8C39"/>
                </a:solidFill>
                <a:latin typeface="IBM Plex Sans Bold Italics"/>
                <a:ea typeface="IBM Plex Sans Bold Italics"/>
                <a:cs typeface="IBM Plex Sans Bold Italics"/>
                <a:sym typeface="IBM Plex Sans Bold Italics"/>
              </a:rPr>
              <a:t>OPPORTUNITÉS MÉTIERS</a:t>
            </a:r>
          </a:p>
        </p:txBody>
      </p:sp>
      <p:sp>
        <p:nvSpPr>
          <p:cNvPr id="34" name="TextBox 48">
            <a:extLst>
              <a:ext uri="{FF2B5EF4-FFF2-40B4-BE49-F238E27FC236}">
                <a16:creationId xmlns:a16="http://schemas.microsoft.com/office/drawing/2014/main" id="{FFDAC90F-8C9D-EDA7-B6D0-2B077FC9A708}"/>
              </a:ext>
            </a:extLst>
          </p:cNvPr>
          <p:cNvSpPr txBox="1"/>
          <p:nvPr/>
        </p:nvSpPr>
        <p:spPr>
          <a:xfrm>
            <a:off x="1274693" y="911790"/>
            <a:ext cx="5145157" cy="299056"/>
          </a:xfrm>
          <a:prstGeom prst="rect">
            <a:avLst/>
          </a:prstGeom>
        </p:spPr>
        <p:txBody>
          <a:bodyPr wrap="square" lIns="0" tIns="0" rIns="0" bIns="0" rtlCol="0" anchor="t">
            <a:spAutoFit/>
          </a:bodyPr>
          <a:lstStyle/>
          <a:p>
            <a:pPr algn="l">
              <a:lnSpc>
                <a:spcPts val="2520"/>
              </a:lnSpc>
            </a:pPr>
            <a:r>
              <a:rPr lang="en-US" sz="1800" b="1" spc="7" dirty="0">
                <a:solidFill>
                  <a:srgbClr val="1A1447"/>
                </a:solidFill>
                <a:latin typeface="IBM Plex Sans Bold"/>
                <a:ea typeface="IBM Plex Sans Bold"/>
                <a:cs typeface="IBM Plex Sans Bold"/>
                <a:sym typeface="IBM Plex Sans Bold"/>
              </a:rPr>
              <a:t>Négociation et Digitalisation de la Relation Client (NRDC)</a:t>
            </a:r>
          </a:p>
        </p:txBody>
      </p:sp>
      <p:sp>
        <p:nvSpPr>
          <p:cNvPr id="35" name="TextBox 50">
            <a:extLst>
              <a:ext uri="{FF2B5EF4-FFF2-40B4-BE49-F238E27FC236}">
                <a16:creationId xmlns:a16="http://schemas.microsoft.com/office/drawing/2014/main" id="{6A3D536B-B4AC-F761-42A8-7D082DBF56CF}"/>
              </a:ext>
            </a:extLst>
          </p:cNvPr>
          <p:cNvSpPr txBox="1"/>
          <p:nvPr/>
        </p:nvSpPr>
        <p:spPr>
          <a:xfrm>
            <a:off x="1274693" y="430139"/>
            <a:ext cx="1496263" cy="406458"/>
          </a:xfrm>
          <a:prstGeom prst="rect">
            <a:avLst/>
          </a:prstGeom>
        </p:spPr>
        <p:txBody>
          <a:bodyPr lIns="0" tIns="0" rIns="0" bIns="0" rtlCol="0" anchor="t">
            <a:spAutoFit/>
          </a:bodyPr>
          <a:lstStyle/>
          <a:p>
            <a:pPr algn="l">
              <a:lnSpc>
                <a:spcPts val="3359"/>
              </a:lnSpc>
            </a:pPr>
            <a:r>
              <a:rPr lang="en-US" sz="2400" b="1" spc="4" dirty="0">
                <a:solidFill>
                  <a:srgbClr val="231F20"/>
                </a:solidFill>
                <a:latin typeface="Open Sans Bold"/>
                <a:ea typeface="Open Sans Bold"/>
                <a:cs typeface="Open Sans Bold"/>
                <a:sym typeface="Open Sans Bold"/>
              </a:rPr>
              <a:t>BTS</a:t>
            </a:r>
          </a:p>
        </p:txBody>
      </p:sp>
      <p:sp>
        <p:nvSpPr>
          <p:cNvPr id="36" name="TextBox 51">
            <a:extLst>
              <a:ext uri="{FF2B5EF4-FFF2-40B4-BE49-F238E27FC236}">
                <a16:creationId xmlns:a16="http://schemas.microsoft.com/office/drawing/2014/main" id="{FC9F297C-1557-832B-EBBF-B58783E2C820}"/>
              </a:ext>
            </a:extLst>
          </p:cNvPr>
          <p:cNvSpPr txBox="1"/>
          <p:nvPr/>
        </p:nvSpPr>
        <p:spPr>
          <a:xfrm>
            <a:off x="1302506" y="1517485"/>
            <a:ext cx="1158317" cy="192938"/>
          </a:xfrm>
          <a:prstGeom prst="rect">
            <a:avLst/>
          </a:prstGeom>
        </p:spPr>
        <p:txBody>
          <a:bodyPr wrap="square" lIns="0" tIns="0" rIns="0" bIns="0" rtlCol="0" anchor="t">
            <a:spAutoFit/>
          </a:bodyPr>
          <a:lstStyle/>
          <a:p>
            <a:pPr algn="just">
              <a:lnSpc>
                <a:spcPts val="1614"/>
              </a:lnSpc>
            </a:pPr>
            <a:r>
              <a:rPr lang="en-US" sz="1200" spc="7" dirty="0">
                <a:solidFill>
                  <a:srgbClr val="464395"/>
                </a:solidFill>
                <a:latin typeface="IBM Plex Sans"/>
                <a:ea typeface="IBM Plex Sans"/>
                <a:cs typeface="IBM Plex Sans"/>
                <a:sym typeface="IBM Plex Sans"/>
              </a:rPr>
              <a:t>2 RENTRÉES</a:t>
            </a:r>
            <a:endParaRPr lang="en-US" sz="1200" i="1" spc="6" dirty="0">
              <a:solidFill>
                <a:srgbClr val="231F20"/>
              </a:solidFill>
              <a:latin typeface="IBM Plex Sans Italics"/>
              <a:ea typeface="IBM Plex Sans Italics"/>
              <a:cs typeface="IBM Plex Sans Italics"/>
              <a:sym typeface="IBM Plex Sans Italics"/>
            </a:endParaRPr>
          </a:p>
        </p:txBody>
      </p:sp>
      <p:sp>
        <p:nvSpPr>
          <p:cNvPr id="37" name="TextBox 32">
            <a:extLst>
              <a:ext uri="{FF2B5EF4-FFF2-40B4-BE49-F238E27FC236}">
                <a16:creationId xmlns:a16="http://schemas.microsoft.com/office/drawing/2014/main" id="{017717DD-1C88-51AC-E9EC-B10BA3163BAD}"/>
              </a:ext>
            </a:extLst>
          </p:cNvPr>
          <p:cNvSpPr txBox="1"/>
          <p:nvPr/>
        </p:nvSpPr>
        <p:spPr>
          <a:xfrm>
            <a:off x="827465" y="6658127"/>
            <a:ext cx="1683477" cy="154466"/>
          </a:xfrm>
          <a:prstGeom prst="rect">
            <a:avLst/>
          </a:prstGeom>
        </p:spPr>
        <p:txBody>
          <a:bodyPr lIns="0" tIns="0" rIns="0" bIns="0" rtlCol="0" anchor="t">
            <a:spAutoFit/>
          </a:bodyPr>
          <a:lstStyle/>
          <a:p>
            <a:pPr marL="0" lvl="0" indent="0" algn="l">
              <a:lnSpc>
                <a:spcPts val="1200"/>
              </a:lnSpc>
              <a:spcBef>
                <a:spcPct val="0"/>
              </a:spcBef>
            </a:pPr>
            <a:r>
              <a:rPr lang="en-US" sz="1200" i="1" spc="6" dirty="0">
                <a:solidFill>
                  <a:srgbClr val="231F20"/>
                </a:solidFill>
                <a:latin typeface="IBM Plex Sans Italics"/>
                <a:ea typeface="IBM Plex Sans Italics"/>
                <a:cs typeface="IBM Plex Sans Italics"/>
                <a:sym typeface="IBM Plex Sans Italics"/>
              </a:rPr>
              <a:t>Langue vivante Lv.1 Anglais
Culture et Relations Internationales
Prospection, Plan commercial, Négociation 
</a:t>
            </a:r>
            <a:endParaRPr lang="en-US" sz="1200" i="1" u="none" strike="noStrike" spc="6" dirty="0">
              <a:solidFill>
                <a:srgbClr val="231F20"/>
              </a:solidFill>
              <a:latin typeface="IBM Plex Sans Italics"/>
              <a:ea typeface="IBM Plex Sans Italics"/>
              <a:cs typeface="IBM Plex Sans Italics"/>
              <a:sym typeface="IBM Plex Sans Italics"/>
            </a:endParaRPr>
          </a:p>
        </p:txBody>
      </p:sp>
      <p:sp>
        <p:nvSpPr>
          <p:cNvPr id="38" name="TextBox 33">
            <a:extLst>
              <a:ext uri="{FF2B5EF4-FFF2-40B4-BE49-F238E27FC236}">
                <a16:creationId xmlns:a16="http://schemas.microsoft.com/office/drawing/2014/main" id="{5DE26973-C152-4876-6709-C0883AEE3CB4}"/>
              </a:ext>
            </a:extLst>
          </p:cNvPr>
          <p:cNvSpPr txBox="1"/>
          <p:nvPr/>
        </p:nvSpPr>
        <p:spPr>
          <a:xfrm>
            <a:off x="687136" y="5577573"/>
            <a:ext cx="2176714" cy="179536"/>
          </a:xfrm>
          <a:prstGeom prst="rect">
            <a:avLst/>
          </a:prstGeom>
        </p:spPr>
        <p:txBody>
          <a:bodyPr wrap="square" lIns="0" tIns="0" rIns="0" bIns="0" rtlCol="0" anchor="t">
            <a:spAutoFit/>
          </a:bodyPr>
          <a:lstStyle/>
          <a:p>
            <a:pPr algn="ctr">
              <a:lnSpc>
                <a:spcPts val="1439"/>
              </a:lnSpc>
            </a:pPr>
            <a:r>
              <a:rPr lang="en-US" sz="1200" i="1" spc="6" dirty="0">
                <a:solidFill>
                  <a:srgbClr val="1A1447"/>
                </a:solidFill>
                <a:latin typeface="IBM Plex Sans Italics"/>
                <a:ea typeface="IBM Plex Sans Italics"/>
                <a:cs typeface="IBM Plex Sans Italics"/>
                <a:sym typeface="IBM Plex Sans Italics"/>
              </a:rPr>
              <a:t>COMPÉTENCES EN NÉGOCIATION COMMERCIALE</a:t>
            </a:r>
          </a:p>
        </p:txBody>
      </p:sp>
      <p:sp>
        <p:nvSpPr>
          <p:cNvPr id="39" name="TextBox 52">
            <a:extLst>
              <a:ext uri="{FF2B5EF4-FFF2-40B4-BE49-F238E27FC236}">
                <a16:creationId xmlns:a16="http://schemas.microsoft.com/office/drawing/2014/main" id="{8FC396EE-7373-E8F5-7253-8191E5C8F920}"/>
              </a:ext>
            </a:extLst>
          </p:cNvPr>
          <p:cNvSpPr txBox="1"/>
          <p:nvPr/>
        </p:nvSpPr>
        <p:spPr>
          <a:xfrm>
            <a:off x="2664000" y="1485071"/>
            <a:ext cx="723062" cy="212174"/>
          </a:xfrm>
          <a:prstGeom prst="rect">
            <a:avLst/>
          </a:prstGeom>
        </p:spPr>
        <p:txBody>
          <a:bodyPr lIns="0" tIns="0" rIns="0" bIns="0" rtlCol="0" anchor="t">
            <a:spAutoFit/>
          </a:bodyPr>
          <a:lstStyle/>
          <a:p>
            <a:pPr algn="l">
              <a:lnSpc>
                <a:spcPts val="1783"/>
              </a:lnSpc>
            </a:pPr>
            <a:r>
              <a:rPr lang="en-US" sz="1200" spc="6" dirty="0">
                <a:solidFill>
                  <a:srgbClr val="464395"/>
                </a:solidFill>
                <a:latin typeface="IBM Plex Sans"/>
                <a:ea typeface="IBM Plex Sans"/>
                <a:cs typeface="IBM Plex Sans"/>
                <a:sym typeface="IBM Plex Sans"/>
              </a:rPr>
              <a:t>LANGUE</a:t>
            </a:r>
            <a:endParaRPr lang="en-US" sz="1200" i="1" spc="6" dirty="0">
              <a:solidFill>
                <a:srgbClr val="231F20"/>
              </a:solidFill>
              <a:latin typeface="IBM Plex Sans Italics"/>
              <a:ea typeface="IBM Plex Sans Italics"/>
              <a:cs typeface="IBM Plex Sans Italics"/>
              <a:sym typeface="IBM Plex Sans Italics"/>
            </a:endParaRPr>
          </a:p>
        </p:txBody>
      </p:sp>
      <p:sp>
        <p:nvSpPr>
          <p:cNvPr id="40" name="TextBox 35">
            <a:extLst>
              <a:ext uri="{FF2B5EF4-FFF2-40B4-BE49-F238E27FC236}">
                <a16:creationId xmlns:a16="http://schemas.microsoft.com/office/drawing/2014/main" id="{C0B0A14E-FFDC-08E4-DF18-8BB5737AAAB0}"/>
              </a:ext>
            </a:extLst>
          </p:cNvPr>
          <p:cNvSpPr txBox="1"/>
          <p:nvPr/>
        </p:nvSpPr>
        <p:spPr>
          <a:xfrm>
            <a:off x="796119" y="8528914"/>
            <a:ext cx="2997689" cy="179536"/>
          </a:xfrm>
          <a:prstGeom prst="rect">
            <a:avLst/>
          </a:prstGeom>
        </p:spPr>
        <p:txBody>
          <a:bodyPr lIns="0" tIns="0" rIns="0" bIns="0" rtlCol="0" anchor="t">
            <a:spAutoFit/>
          </a:bodyPr>
          <a:lstStyle/>
          <a:p>
            <a:pPr marL="129540" lvl="1" algn="just">
              <a:lnSpc>
                <a:spcPts val="1439"/>
              </a:lnSpc>
            </a:pPr>
            <a:r>
              <a:rPr lang="en-US" sz="1200" i="1" spc="6" dirty="0" err="1">
                <a:solidFill>
                  <a:srgbClr val="1A1447"/>
                </a:solidFill>
                <a:latin typeface="IBM Plex Sans Italics"/>
                <a:ea typeface="IBM Plex Sans Italics"/>
                <a:cs typeface="IBM Plex Sans Italics"/>
                <a:sym typeface="IBM Plex Sans Italics"/>
              </a:rPr>
              <a:t>• Négociateur(trice) commercial(e)
• Technico-commercial
• Chargé d’études marketing
• Chargé de communication
• Développeur commercial
• Responsable de grands comptes
• Coordinateur de projets internationaux</a:t>
            </a:r>
            <a:endParaRPr lang="en-US" sz="1200" i="1" spc="6" dirty="0">
              <a:solidFill>
                <a:srgbClr val="1A1447"/>
              </a:solidFill>
              <a:latin typeface="IBM Plex Sans Italics"/>
              <a:ea typeface="IBM Plex Sans Italics"/>
              <a:cs typeface="IBM Plex Sans Italics"/>
              <a:sym typeface="IBM Plex Sans Italics"/>
            </a:endParaRPr>
          </a:p>
        </p:txBody>
      </p:sp>
      <p:sp>
        <p:nvSpPr>
          <p:cNvPr id="41" name="TextBox 37">
            <a:extLst>
              <a:ext uri="{FF2B5EF4-FFF2-40B4-BE49-F238E27FC236}">
                <a16:creationId xmlns:a16="http://schemas.microsoft.com/office/drawing/2014/main" id="{D378872E-BE8D-478B-70EB-A03BDF5463AE}"/>
              </a:ext>
            </a:extLst>
          </p:cNvPr>
          <p:cNvSpPr txBox="1"/>
          <p:nvPr/>
        </p:nvSpPr>
        <p:spPr>
          <a:xfrm>
            <a:off x="3092450" y="5577573"/>
            <a:ext cx="1847297" cy="179536"/>
          </a:xfrm>
          <a:prstGeom prst="rect">
            <a:avLst/>
          </a:prstGeom>
        </p:spPr>
        <p:txBody>
          <a:bodyPr wrap="square" lIns="0" tIns="0" rIns="0" bIns="0" rtlCol="0" anchor="t">
            <a:spAutoFit/>
          </a:bodyPr>
          <a:lstStyle/>
          <a:p>
            <a:pPr algn="ctr">
              <a:lnSpc>
                <a:spcPts val="1439"/>
              </a:lnSpc>
            </a:pPr>
            <a:r>
              <a:rPr lang="en-US" sz="1200" i="1" spc="6" dirty="0">
                <a:solidFill>
                  <a:srgbClr val="1A1447"/>
                </a:solidFill>
                <a:latin typeface="IBM Plex Sans Italics"/>
                <a:ea typeface="IBM Plex Sans Italics"/>
                <a:cs typeface="IBM Plex Sans Italics"/>
                <a:sym typeface="IBM Plex Sans Italics"/>
              </a:rPr>
              <a:t>FORMATION PRATIQUE ET PROFESSIONNALISANTE</a:t>
            </a:r>
          </a:p>
        </p:txBody>
      </p:sp>
      <p:sp>
        <p:nvSpPr>
          <p:cNvPr id="42" name="TextBox 36">
            <a:extLst>
              <a:ext uri="{FF2B5EF4-FFF2-40B4-BE49-F238E27FC236}">
                <a16:creationId xmlns:a16="http://schemas.microsoft.com/office/drawing/2014/main" id="{2DDEB1C5-CBCD-537E-18DE-A4DBFEDDF161}"/>
              </a:ext>
            </a:extLst>
          </p:cNvPr>
          <p:cNvSpPr txBox="1"/>
          <p:nvPr/>
        </p:nvSpPr>
        <p:spPr>
          <a:xfrm>
            <a:off x="3135649" y="6640468"/>
            <a:ext cx="1766992"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6" dirty="0">
                <a:solidFill>
                  <a:srgbClr val="231F20"/>
                </a:solidFill>
                <a:latin typeface="IBM Plex Sans Italics"/>
                <a:ea typeface="IBM Plex Sans Italics"/>
                <a:cs typeface="IBM Plex Sans Italics"/>
                <a:sym typeface="IBM Plex Sans Italics"/>
              </a:rPr>
              <a:t>Techniques de Vente et Négociation
Droit et applications dans les entreprises
Stratégies de Croissance et Scalabilité </a:t>
            </a:r>
          </a:p>
        </p:txBody>
      </p:sp>
      <p:sp>
        <p:nvSpPr>
          <p:cNvPr id="43" name="TextBox 53">
            <a:extLst>
              <a:ext uri="{FF2B5EF4-FFF2-40B4-BE49-F238E27FC236}">
                <a16:creationId xmlns:a16="http://schemas.microsoft.com/office/drawing/2014/main" id="{EB90C4C5-D8EF-A0A4-6CFF-0EA91FE8FD31}"/>
              </a:ext>
            </a:extLst>
          </p:cNvPr>
          <p:cNvSpPr txBox="1"/>
          <p:nvPr/>
        </p:nvSpPr>
        <p:spPr>
          <a:xfrm>
            <a:off x="3925248" y="1507960"/>
            <a:ext cx="983504" cy="212174"/>
          </a:xfrm>
          <a:prstGeom prst="rect">
            <a:avLst/>
          </a:prstGeom>
        </p:spPr>
        <p:txBody>
          <a:bodyPr lIns="0" tIns="0" rIns="0" bIns="0" rtlCol="0" anchor="t">
            <a:spAutoFit/>
          </a:bodyPr>
          <a:lstStyle/>
          <a:p>
            <a:pPr algn="l">
              <a:lnSpc>
                <a:spcPts val="1796"/>
              </a:lnSpc>
            </a:pPr>
            <a:r>
              <a:rPr lang="en-US" sz="1200" spc="7" dirty="0">
                <a:solidFill>
                  <a:srgbClr val="464395"/>
                </a:solidFill>
                <a:latin typeface="IBM Plex Sans"/>
                <a:ea typeface="IBM Plex Sans"/>
                <a:cs typeface="IBM Plex Sans"/>
                <a:sym typeface="IBM Plex Sans"/>
              </a:rPr>
              <a:t>STAGE</a:t>
            </a:r>
          </a:p>
        </p:txBody>
      </p:sp>
      <p:sp>
        <p:nvSpPr>
          <p:cNvPr id="44" name="TextBox 39">
            <a:extLst>
              <a:ext uri="{FF2B5EF4-FFF2-40B4-BE49-F238E27FC236}">
                <a16:creationId xmlns:a16="http://schemas.microsoft.com/office/drawing/2014/main" id="{827D9C88-FDD3-794D-D078-E2F3BCCF413F}"/>
              </a:ext>
            </a:extLst>
          </p:cNvPr>
          <p:cNvSpPr txBox="1"/>
          <p:nvPr/>
        </p:nvSpPr>
        <p:spPr>
          <a:xfrm>
            <a:off x="5446938" y="1716900"/>
            <a:ext cx="788670" cy="179536"/>
          </a:xfrm>
          <a:prstGeom prst="rect">
            <a:avLst/>
          </a:prstGeom>
        </p:spPr>
        <p:txBody>
          <a:bodyPr lIns="0" tIns="0" rIns="0" bIns="0" rtlCol="0" anchor="t">
            <a:spAutoFit/>
          </a:bodyPr>
          <a:lstStyle/>
          <a:p>
            <a:pPr>
              <a:lnSpc>
                <a:spcPts val="1439"/>
              </a:lnSpc>
            </a:pPr>
            <a:r>
              <a:rPr lang="en-US" sz="1200" i="1" spc="6" dirty="0">
                <a:solidFill>
                  <a:srgbClr val="231F20"/>
                </a:solidFill>
                <a:latin typeface="IBM Plex Sans Italics"/>
                <a:ea typeface="IBM Plex Sans Italics"/>
                <a:cs typeface="IBM Plex Sans Italics"/>
                <a:sym typeface="IBM Plex Sans Italics"/>
              </a:rPr>
              <a:t>Sur dossier et entretien</a:t>
            </a:r>
          </a:p>
        </p:txBody>
      </p:sp>
      <p:sp>
        <p:nvSpPr>
          <p:cNvPr id="45" name="TextBox 40">
            <a:extLst>
              <a:ext uri="{FF2B5EF4-FFF2-40B4-BE49-F238E27FC236}">
                <a16:creationId xmlns:a16="http://schemas.microsoft.com/office/drawing/2014/main" id="{EA7E1A34-12BC-9C85-E1BE-17C95AF75F40}"/>
              </a:ext>
            </a:extLst>
          </p:cNvPr>
          <p:cNvSpPr txBox="1"/>
          <p:nvPr/>
        </p:nvSpPr>
        <p:spPr>
          <a:xfrm>
            <a:off x="5233226" y="5577573"/>
            <a:ext cx="1766350" cy="179536"/>
          </a:xfrm>
          <a:prstGeom prst="rect">
            <a:avLst/>
          </a:prstGeom>
        </p:spPr>
        <p:txBody>
          <a:bodyPr wrap="square" lIns="0" tIns="0" rIns="0" bIns="0" rtlCol="0" anchor="t">
            <a:spAutoFit/>
          </a:bodyPr>
          <a:lstStyle/>
          <a:p>
            <a:pPr algn="ctr">
              <a:lnSpc>
                <a:spcPts val="1439"/>
              </a:lnSpc>
            </a:pPr>
            <a:r>
              <a:rPr lang="en-US" sz="1200" i="1" spc="6" dirty="0">
                <a:solidFill>
                  <a:srgbClr val="1A1447"/>
                </a:solidFill>
                <a:latin typeface="IBM Plex Sans Italics"/>
                <a:ea typeface="IBM Plex Sans Italics"/>
                <a:cs typeface="IBM Plex Sans Italics"/>
                <a:sym typeface="IBM Plex Sans Italics"/>
              </a:rPr>
              <a:t>TITRE AVEC LABEL RNCP </a:t>
            </a:r>
          </a:p>
        </p:txBody>
      </p:sp>
      <p:sp>
        <p:nvSpPr>
          <p:cNvPr id="46" name="TextBox 43">
            <a:extLst>
              <a:ext uri="{FF2B5EF4-FFF2-40B4-BE49-F238E27FC236}">
                <a16:creationId xmlns:a16="http://schemas.microsoft.com/office/drawing/2014/main" id="{ECCCAF5F-947E-4133-8286-0EDEB08D30F3}"/>
              </a:ext>
            </a:extLst>
          </p:cNvPr>
          <p:cNvSpPr txBox="1"/>
          <p:nvPr/>
        </p:nvSpPr>
        <p:spPr>
          <a:xfrm>
            <a:off x="6505746" y="468239"/>
            <a:ext cx="332842" cy="397545"/>
          </a:xfrm>
          <a:prstGeom prst="rect">
            <a:avLst/>
          </a:prstGeom>
        </p:spPr>
        <p:txBody>
          <a:bodyPr lIns="0" tIns="0" rIns="0" bIns="0" rtlCol="0" anchor="t">
            <a:spAutoFit/>
          </a:bodyPr>
          <a:lstStyle/>
          <a:p>
            <a:pPr algn="ctr">
              <a:lnSpc>
                <a:spcPts val="1660"/>
              </a:lnSpc>
            </a:pPr>
            <a:r>
              <a:rPr lang="en-US" sz="1399" b="1" spc="2" dirty="0">
                <a:solidFill>
                  <a:srgbClr val="FFFFFF"/>
                </a:solidFill>
                <a:latin typeface="Open Sans Bold"/>
                <a:ea typeface="Open Sans Bold"/>
                <a:cs typeface="Open Sans Bold"/>
                <a:sym typeface="Open Sans Bold"/>
              </a:rPr>
              <a:t>2 </a:t>
            </a:r>
          </a:p>
          <a:p>
            <a:pPr algn="ctr">
              <a:lnSpc>
                <a:spcPts val="1423"/>
              </a:lnSpc>
            </a:pPr>
            <a:r>
              <a:rPr lang="en-US" sz="1200" b="1" spc="2" dirty="0">
                <a:solidFill>
                  <a:srgbClr val="FFFFFF"/>
                </a:solidFill>
                <a:latin typeface="Open Sans Bold"/>
                <a:ea typeface="Open Sans Bold"/>
                <a:cs typeface="Open Sans Bold"/>
                <a:sym typeface="Open Sans Bold"/>
              </a:rPr>
              <a:t>ANS</a:t>
            </a:r>
          </a:p>
        </p:txBody>
      </p:sp>
      <p:sp>
        <p:nvSpPr>
          <p:cNvPr id="47" name="TextBox 42">
            <a:extLst>
              <a:ext uri="{FF2B5EF4-FFF2-40B4-BE49-F238E27FC236}">
                <a16:creationId xmlns:a16="http://schemas.microsoft.com/office/drawing/2014/main" id="{F1B74C6B-F705-6B81-5AF0-B1577D8ADB35}"/>
              </a:ext>
            </a:extLst>
          </p:cNvPr>
          <p:cNvSpPr txBox="1"/>
          <p:nvPr/>
        </p:nvSpPr>
        <p:spPr>
          <a:xfrm>
            <a:off x="756000" y="2631872"/>
            <a:ext cx="6040626" cy="179536"/>
          </a:xfrm>
          <a:prstGeom prst="rect">
            <a:avLst/>
          </a:prstGeom>
        </p:spPr>
        <p:txBody>
          <a:bodyPr lIns="0" tIns="0" rIns="0" bIns="0" rtlCol="0" anchor="t">
            <a:spAutoFit/>
          </a:bodyPr>
          <a:lstStyle/>
          <a:p>
            <a:pPr algn="l">
              <a:lnSpc>
                <a:spcPts val="1439"/>
              </a:lnSpc>
            </a:pPr>
            <a:r>
              <a:rPr lang="en-US" sz="1200" spc="7" dirty="0">
                <a:solidFill>
                  <a:srgbClr val="FFFFFF"/>
                </a:solidFill>
                <a:latin typeface="IBM Plex Sans"/>
                <a:ea typeface="IBM Plex Sans"/>
                <a:cs typeface="IBM Plex Sans"/>
                <a:sym typeface="IBM Plex Sans"/>
              </a:rPr>
              <a:t>Le BTS Négociation et Digitalisation de la Relation Client (NRDC) forme des professionnels capables de gérer et d'optimiser la relation client à l'ère numérique. Ce programme allie des compétences en négociation commerciale et en gestion des outils digitaux pour répondre aux besoins des entreprises modernes.
À l'issue de ce cursus, ils seront prêts à relever les défis du marché et à contribuer activement à la croissance de leur entreprise.</a:t>
            </a:r>
          </a:p>
        </p:txBody>
      </p:sp>
      <p:sp>
        <p:nvSpPr>
          <p:cNvPr id="48" name="TextBox 41">
            <a:extLst>
              <a:ext uri="{FF2B5EF4-FFF2-40B4-BE49-F238E27FC236}">
                <a16:creationId xmlns:a16="http://schemas.microsoft.com/office/drawing/2014/main" id="{8E0093FA-C47C-25C7-D59B-435F312B08A9}"/>
              </a:ext>
            </a:extLst>
          </p:cNvPr>
          <p:cNvSpPr txBox="1"/>
          <p:nvPr/>
        </p:nvSpPr>
        <p:spPr>
          <a:xfrm>
            <a:off x="5311045" y="6618761"/>
            <a:ext cx="1610039" cy="154466"/>
          </a:xfrm>
          <a:prstGeom prst="rect">
            <a:avLst/>
          </a:prstGeom>
        </p:spPr>
        <p:txBody>
          <a:bodyPr lIns="0" tIns="0" rIns="0" bIns="0" rtlCol="0" anchor="t">
            <a:spAutoFit/>
          </a:bodyPr>
          <a:lstStyle/>
          <a:p>
            <a:pPr algn="just">
              <a:lnSpc>
                <a:spcPts val="1200"/>
              </a:lnSpc>
            </a:pPr>
            <a:r>
              <a:rPr lang="en-US" sz="1200" i="1" spc="6" dirty="0">
                <a:solidFill>
                  <a:srgbClr val="231F20"/>
                </a:solidFill>
                <a:latin typeface="IBM Plex Sans Italics"/>
                <a:ea typeface="IBM Plex Sans Italics"/>
                <a:cs typeface="IBM Plex Sans Italics"/>
                <a:sym typeface="IBM Plex Sans Italics"/>
              </a:rPr>
              <a:t>Management d’équipe, structure d’entreprise
Analyse de Marché et Marketing International
Marketing Opérationnel et outils digitaux</a:t>
            </a:r>
          </a:p>
        </p:txBody>
      </p:sp>
      <p:sp>
        <p:nvSpPr>
          <p:cNvPr id="49" name="TextBox 44">
            <a:extLst>
              <a:ext uri="{FF2B5EF4-FFF2-40B4-BE49-F238E27FC236}">
                <a16:creationId xmlns:a16="http://schemas.microsoft.com/office/drawing/2014/main" id="{EDAAFF42-D414-AA60-9DCD-4740F69D58BC}"/>
              </a:ext>
            </a:extLst>
          </p:cNvPr>
          <p:cNvSpPr txBox="1"/>
          <p:nvPr/>
        </p:nvSpPr>
        <p:spPr>
          <a:xfrm>
            <a:off x="2497055" y="10250005"/>
            <a:ext cx="2515629" cy="151428"/>
          </a:xfrm>
          <a:prstGeom prst="rect">
            <a:avLst/>
          </a:prstGeom>
        </p:spPr>
        <p:txBody>
          <a:bodyPr lIns="0" tIns="0" rIns="0" bIns="0" rtlCol="0" anchor="t">
            <a:spAutoFit/>
          </a:bodyPr>
          <a:lstStyle/>
          <a:p>
            <a:pPr algn="l">
              <a:lnSpc>
                <a:spcPts val="1260"/>
              </a:lnSpc>
            </a:pPr>
            <a:r>
              <a:rPr lang="en-US" sz="900" i="1" spc="26">
                <a:solidFill>
                  <a:srgbClr val="939496"/>
                </a:solidFill>
                <a:latin typeface="IBM Plex Sans Italics"/>
                <a:ea typeface="IBM Plex Sans Italics"/>
                <a:cs typeface="IBM Plex Sans Italics"/>
                <a:sym typeface="IBM Plex Sans Italics"/>
              </a:rPr>
              <a:t>Etablissement d’enseignement supérieur privé</a:t>
            </a:r>
          </a:p>
        </p:txBody>
      </p:sp>
      <p:sp>
        <p:nvSpPr>
          <p:cNvPr id="50" name="TextBox 49">
            <a:extLst>
              <a:ext uri="{FF2B5EF4-FFF2-40B4-BE49-F238E27FC236}">
                <a16:creationId xmlns:a16="http://schemas.microsoft.com/office/drawing/2014/main" id="{CACE8705-6751-B83C-5F08-0947E12278A6}"/>
              </a:ext>
            </a:extLst>
          </p:cNvPr>
          <p:cNvSpPr txBox="1"/>
          <p:nvPr/>
        </p:nvSpPr>
        <p:spPr>
          <a:xfrm>
            <a:off x="5452586" y="1494596"/>
            <a:ext cx="783022" cy="192491"/>
          </a:xfrm>
          <a:prstGeom prst="rect">
            <a:avLst/>
          </a:prstGeom>
        </p:spPr>
        <p:txBody>
          <a:bodyPr lIns="0" tIns="0" rIns="0" bIns="0" rtlCol="0" anchor="t">
            <a:spAutoFit/>
          </a:bodyPr>
          <a:lstStyle/>
          <a:p>
            <a:pPr algn="l">
              <a:lnSpc>
                <a:spcPts val="1539"/>
              </a:lnSpc>
            </a:pPr>
            <a:r>
              <a:rPr lang="en-US" sz="1100" spc="6" dirty="0">
                <a:solidFill>
                  <a:srgbClr val="464395"/>
                </a:solidFill>
                <a:latin typeface="IBM Plex Sans"/>
                <a:ea typeface="IBM Plex Sans"/>
                <a:cs typeface="IBM Plex Sans"/>
                <a:sym typeface="IBM Plex Sans"/>
              </a:rPr>
              <a:t>ADMISSION</a:t>
            </a:r>
          </a:p>
        </p:txBody>
      </p:sp>
      <p:sp>
        <p:nvSpPr>
          <p:cNvPr id="51" name="TextBox 34">
            <a:extLst>
              <a:ext uri="{FF2B5EF4-FFF2-40B4-BE49-F238E27FC236}">
                <a16:creationId xmlns:a16="http://schemas.microsoft.com/office/drawing/2014/main" id="{AEBFAF10-85F4-7A59-D43C-C69A77618A72}"/>
              </a:ext>
            </a:extLst>
          </p:cNvPr>
          <p:cNvSpPr txBox="1"/>
          <p:nvPr/>
        </p:nvSpPr>
        <p:spPr>
          <a:xfrm>
            <a:off x="2661175" y="1713840"/>
            <a:ext cx="723062" cy="212174"/>
          </a:xfrm>
          <a:prstGeom prst="rect">
            <a:avLst/>
          </a:prstGeom>
        </p:spPr>
        <p:txBody>
          <a:bodyPr lIns="0" tIns="0" rIns="0" bIns="0" rtlCol="0" anchor="t">
            <a:spAutoFit/>
          </a:bodyPr>
          <a:lstStyle/>
          <a:p>
            <a:pPr algn="l">
              <a:lnSpc>
                <a:spcPts val="1783"/>
              </a:lnSpc>
            </a:pPr>
            <a:r>
              <a:rPr lang="en-US" sz="1200" i="1" spc="6" dirty="0">
                <a:solidFill>
                  <a:srgbClr val="231F20"/>
                </a:solidFill>
                <a:latin typeface="IBM Plex Sans Italics"/>
                <a:ea typeface="IBM Plex Sans Italics"/>
                <a:cs typeface="IBM Plex Sans Italics"/>
                <a:sym typeface="IBM Plex Sans Italics"/>
              </a:rPr>
              <a:t>Français</a:t>
            </a:r>
          </a:p>
        </p:txBody>
      </p:sp>
      <p:sp>
        <p:nvSpPr>
          <p:cNvPr id="52" name="TextBox 38">
            <a:extLst>
              <a:ext uri="{FF2B5EF4-FFF2-40B4-BE49-F238E27FC236}">
                <a16:creationId xmlns:a16="http://schemas.microsoft.com/office/drawing/2014/main" id="{E6A687A3-4E6E-A90E-ACFA-6C7B1172AE49}"/>
              </a:ext>
            </a:extLst>
          </p:cNvPr>
          <p:cNvSpPr txBox="1"/>
          <p:nvPr/>
        </p:nvSpPr>
        <p:spPr>
          <a:xfrm>
            <a:off x="3924805" y="1694420"/>
            <a:ext cx="1022483" cy="212174"/>
          </a:xfrm>
          <a:prstGeom prst="rect">
            <a:avLst/>
          </a:prstGeom>
        </p:spPr>
        <p:txBody>
          <a:bodyPr wrap="square" lIns="0" tIns="0" rIns="0" bIns="0" rtlCol="0" anchor="t">
            <a:spAutoFit/>
          </a:bodyPr>
          <a:lstStyle/>
          <a:p>
            <a:pPr>
              <a:lnSpc>
                <a:spcPts val="1796"/>
              </a:lnSpc>
            </a:pPr>
            <a:r>
              <a:rPr lang="en-US" sz="1200" i="1" spc="6" dirty="0">
                <a:solidFill>
                  <a:srgbClr val="231F20"/>
                </a:solidFill>
                <a:latin typeface="IBM Plex Sans Italics"/>
                <a:ea typeface="IBM Plex Sans Italics"/>
                <a:cs typeface="IBM Plex Sans Italics"/>
                <a:sym typeface="IBM Plex Sans Italics"/>
              </a:rPr>
              <a:t>4 mois en entreprise</a:t>
            </a:r>
          </a:p>
        </p:txBody>
      </p:sp>
      <p:sp>
        <p:nvSpPr>
          <p:cNvPr id="53" name="TextBox 31">
            <a:extLst>
              <a:ext uri="{FF2B5EF4-FFF2-40B4-BE49-F238E27FC236}">
                <a16:creationId xmlns:a16="http://schemas.microsoft.com/office/drawing/2014/main" id="{0CAF67BB-C9D2-68CA-870C-9A8CCCCEE879}"/>
              </a:ext>
            </a:extLst>
          </p:cNvPr>
          <p:cNvSpPr txBox="1"/>
          <p:nvPr/>
        </p:nvSpPr>
        <p:spPr>
          <a:xfrm>
            <a:off x="1302506" y="1722168"/>
            <a:ext cx="918219" cy="192938"/>
          </a:xfrm>
          <a:prstGeom prst="rect">
            <a:avLst/>
          </a:prstGeom>
        </p:spPr>
        <p:txBody>
          <a:bodyPr lIns="0" tIns="0" rIns="0" bIns="0" rtlCol="0" anchor="t">
            <a:spAutoFit/>
          </a:bodyPr>
          <a:lstStyle/>
          <a:p>
            <a:pPr>
              <a:lnSpc>
                <a:spcPts val="1614"/>
              </a:lnSpc>
            </a:pPr>
            <a:r>
              <a:rPr lang="en-US" sz="1200" i="1" spc="7" dirty="0">
                <a:solidFill>
                  <a:srgbClr val="231F20"/>
                </a:solidFill>
                <a:latin typeface="IBM Plex Sans Italics"/>
                <a:ea typeface="IBM Plex Sans Italics"/>
                <a:cs typeface="IBM Plex Sans Italics"/>
                <a:sym typeface="IBM Plex Sans Italics"/>
              </a:rPr>
              <a:t>Automne Printemps</a:t>
            </a:r>
            <a:endParaRPr lang="en-US" sz="1200" i="1" spc="6" dirty="0">
              <a:solidFill>
                <a:srgbClr val="231F20"/>
              </a:solidFill>
              <a:latin typeface="IBM Plex Sans Italics"/>
              <a:ea typeface="IBM Plex Sans Italics"/>
              <a:cs typeface="IBM Plex Sans Italics"/>
              <a:sym typeface="IBM Plex Sans Italics"/>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a:extLst>
              <a:ext uri="{FF2B5EF4-FFF2-40B4-BE49-F238E27FC236}">
                <a16:creationId xmlns:a16="http://schemas.microsoft.com/office/drawing/2014/main" id="{B3B98FFD-93BB-BBAE-F129-B7789436EED7}"/>
              </a:ext>
            </a:extLst>
          </p:cNvPr>
          <p:cNvGrpSpPr>
            <a:grpSpLocks noChangeAspect="1"/>
          </p:cNvGrpSpPr>
          <p:nvPr/>
        </p:nvGrpSpPr>
        <p:grpSpPr>
          <a:xfrm>
            <a:off x="1380363" y="4894745"/>
            <a:ext cx="762505" cy="679580"/>
            <a:chOff x="0" y="0"/>
            <a:chExt cx="762495" cy="679577"/>
          </a:xfrm>
        </p:grpSpPr>
        <p:sp>
          <p:nvSpPr>
            <p:cNvPr id="3" name="Freeform 3">
              <a:extLst>
                <a:ext uri="{FF2B5EF4-FFF2-40B4-BE49-F238E27FC236}">
                  <a16:creationId xmlns:a16="http://schemas.microsoft.com/office/drawing/2014/main" id="{D51F8094-7C9C-D26A-CC24-050E4F427006}"/>
                </a:ext>
              </a:extLst>
            </p:cNvPr>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a:extLst>
                <a:ext uri="{FF2B5EF4-FFF2-40B4-BE49-F238E27FC236}">
                  <a16:creationId xmlns:a16="http://schemas.microsoft.com/office/drawing/2014/main" id="{C0305C3B-D030-1D50-302D-9F4DF5805255}"/>
                </a:ext>
              </a:extLst>
            </p:cNvPr>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7112"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a:extLst>
                <a:ext uri="{FF2B5EF4-FFF2-40B4-BE49-F238E27FC236}">
                  <a16:creationId xmlns:a16="http://schemas.microsoft.com/office/drawing/2014/main" id="{48DFAD6D-3C46-1C0D-A8F5-1727A30082CD}"/>
                </a:ext>
              </a:extLst>
            </p:cNvPr>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a:extLst>
                <a:ext uri="{FF2B5EF4-FFF2-40B4-BE49-F238E27FC236}">
                  <a16:creationId xmlns:a16="http://schemas.microsoft.com/office/drawing/2014/main" id="{7BCE033A-81C4-3494-2DFB-D6DA23866793}"/>
                </a:ext>
              </a:extLst>
            </p:cNvPr>
            <p:cNvSpPr/>
            <p:nvPr/>
          </p:nvSpPr>
          <p:spPr>
            <a:xfrm>
              <a:off x="260477" y="267970"/>
              <a:ext cx="120396" cy="140081"/>
            </a:xfrm>
            <a:custGeom>
              <a:avLst/>
              <a:gdLst/>
              <a:ahLst/>
              <a:cxnLst/>
              <a:rect l="l" t="t" r="r" b="b"/>
              <a:pathLst>
                <a:path w="120396"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198" y="0"/>
                  </a:cubicBezTo>
                  <a:lnTo>
                    <a:pt x="76708" y="1778"/>
                  </a:lnTo>
                  <a:cubicBezTo>
                    <a:pt x="91440" y="8890"/>
                    <a:pt x="97790" y="13716"/>
                    <a:pt x="103251" y="19939"/>
                  </a:cubicBezTo>
                  <a:lnTo>
                    <a:pt x="115824" y="42037"/>
                  </a:lnTo>
                  <a:cubicBezTo>
                    <a:pt x="118872" y="50546"/>
                    <a:pt x="120396" y="59944"/>
                    <a:pt x="120396" y="70104"/>
                  </a:cubicBezTo>
                  <a:moveTo>
                    <a:pt x="88900" y="70104"/>
                  </a:moveTo>
                  <a:lnTo>
                    <a:pt x="88265" y="58293"/>
                  </a:lnTo>
                  <a:cubicBezTo>
                    <a:pt x="85471" y="48006"/>
                    <a:pt x="83439" y="43561"/>
                    <a:pt x="80899" y="39878"/>
                  </a:cubicBezTo>
                  <a:lnTo>
                    <a:pt x="75311" y="33401"/>
                  </a:lnTo>
                  <a:lnTo>
                    <a:pt x="64516" y="28448"/>
                  </a:lnTo>
                  <a:cubicBezTo>
                    <a:pt x="56007" y="28448"/>
                    <a:pt x="52070" y="29464"/>
                    <a:pt x="48514" y="31496"/>
                  </a:cubicBezTo>
                  <a:lnTo>
                    <a:pt x="42037" y="36322"/>
                  </a:lnTo>
                  <a:cubicBezTo>
                    <a:pt x="36957" y="43688"/>
                    <a:pt x="34925" y="48133"/>
                    <a:pt x="33528" y="53340"/>
                  </a:cubicBezTo>
                  <a:lnTo>
                    <a:pt x="31369" y="64135"/>
                  </a:lnTo>
                  <a:cubicBezTo>
                    <a:pt x="31369" y="76454"/>
                    <a:pt x="32004" y="82042"/>
                    <a:pt x="33528" y="87122"/>
                  </a:cubicBezTo>
                  <a:lnTo>
                    <a:pt x="36957" y="96520"/>
                  </a:lnTo>
                  <a:cubicBezTo>
                    <a:pt x="42037" y="103886"/>
                    <a:pt x="45085" y="106807"/>
                    <a:pt x="48641" y="108712"/>
                  </a:cubicBezTo>
                  <a:lnTo>
                    <a:pt x="56007" y="111760"/>
                  </a:lnTo>
                  <a:lnTo>
                    <a:pt x="68453" y="110744"/>
                  </a:lnTo>
                  <a:cubicBezTo>
                    <a:pt x="75438" y="106680"/>
                    <a:pt x="78486" y="103886"/>
                    <a:pt x="81026" y="100203"/>
                  </a:cubicBezTo>
                  <a:lnTo>
                    <a:pt x="85598" y="92075"/>
                  </a:lnTo>
                  <a:cubicBezTo>
                    <a:pt x="88392" y="81915"/>
                    <a:pt x="89027" y="76327"/>
                    <a:pt x="89027" y="70104"/>
                  </a:cubicBezTo>
                </a:path>
              </a:pathLst>
            </a:custGeom>
            <a:solidFill>
              <a:srgbClr val="7DE314"/>
            </a:solidFill>
          </p:spPr>
          <p:txBody>
            <a:bodyPr/>
            <a:lstStyle/>
            <a:p>
              <a:endParaRPr lang="fr-FR"/>
            </a:p>
          </p:txBody>
        </p:sp>
        <p:sp>
          <p:nvSpPr>
            <p:cNvPr id="7" name="Freeform 7">
              <a:extLst>
                <a:ext uri="{FF2B5EF4-FFF2-40B4-BE49-F238E27FC236}">
                  <a16:creationId xmlns:a16="http://schemas.microsoft.com/office/drawing/2014/main" id="{D5068E81-3083-1207-411B-0D072C1507CD}"/>
                </a:ext>
              </a:extLst>
            </p:cNvPr>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036" y="37719"/>
                    <a:pt x="31115" y="39751"/>
                  </a:cubicBezTo>
                  <a:lnTo>
                    <a:pt x="24765" y="43434"/>
                  </a:lnTo>
                  <a:lnTo>
                    <a:pt x="13970" y="48260"/>
                  </a:lnTo>
                  <a:cubicBezTo>
                    <a:pt x="6350" y="50419"/>
                    <a:pt x="2921"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a:extLst>
              <a:ext uri="{FF2B5EF4-FFF2-40B4-BE49-F238E27FC236}">
                <a16:creationId xmlns:a16="http://schemas.microsoft.com/office/drawing/2014/main" id="{6DA6103D-F76F-7515-4FA2-3288CAAE28E5}"/>
              </a:ext>
            </a:extLst>
          </p:cNvPr>
          <p:cNvGrpSpPr>
            <a:grpSpLocks noChangeAspect="1"/>
          </p:cNvGrpSpPr>
          <p:nvPr/>
        </p:nvGrpSpPr>
        <p:grpSpPr>
          <a:xfrm>
            <a:off x="3639750" y="4887516"/>
            <a:ext cx="762505" cy="686800"/>
            <a:chOff x="0" y="0"/>
            <a:chExt cx="762495" cy="686803"/>
          </a:xfrm>
        </p:grpSpPr>
        <p:sp>
          <p:nvSpPr>
            <p:cNvPr id="9" name="Freeform 9">
              <a:extLst>
                <a:ext uri="{FF2B5EF4-FFF2-40B4-BE49-F238E27FC236}">
                  <a16:creationId xmlns:a16="http://schemas.microsoft.com/office/drawing/2014/main" id="{C8998A45-0CB2-7D6C-619C-08B510218400}"/>
                </a:ext>
              </a:extLst>
            </p:cNvPr>
            <p:cNvSpPr/>
            <p:nvPr/>
          </p:nvSpPr>
          <p:spPr>
            <a:xfrm>
              <a:off x="63500" y="63500"/>
              <a:ext cx="635508" cy="559689"/>
            </a:xfrm>
            <a:custGeom>
              <a:avLst/>
              <a:gdLst/>
              <a:ahLst/>
              <a:cxnLst/>
              <a:rect l="l" t="t" r="r" b="b"/>
              <a:pathLst>
                <a:path w="635508" h="559689">
                  <a:moveTo>
                    <a:pt x="631698" y="294132"/>
                  </a:moveTo>
                  <a:lnTo>
                    <a:pt x="487045" y="545465"/>
                  </a:lnTo>
                  <a:cubicBezTo>
                    <a:pt x="481965" y="554355"/>
                    <a:pt x="472567" y="559689"/>
                    <a:pt x="462407" y="559689"/>
                  </a:cubicBezTo>
                  <a:lnTo>
                    <a:pt x="173101" y="559689"/>
                  </a:lnTo>
                  <a:cubicBezTo>
                    <a:pt x="162941" y="559689"/>
                    <a:pt x="153543" y="554228"/>
                    <a:pt x="148463" y="545465"/>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a:extLst>
                <a:ext uri="{FF2B5EF4-FFF2-40B4-BE49-F238E27FC236}">
                  <a16:creationId xmlns:a16="http://schemas.microsoft.com/office/drawing/2014/main" id="{4A03F1E8-4C95-8B60-A85E-9205AEBF0DFE}"/>
                </a:ext>
              </a:extLst>
            </p:cNvPr>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a:extLst>
                <a:ext uri="{FF2B5EF4-FFF2-40B4-BE49-F238E27FC236}">
                  <a16:creationId xmlns:a16="http://schemas.microsoft.com/office/drawing/2014/main" id="{3B9F2F4A-4613-E78C-B91F-388E4018E203}"/>
                </a:ext>
              </a:extLst>
            </p:cNvPr>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a:extLst>
                <a:ext uri="{FF2B5EF4-FFF2-40B4-BE49-F238E27FC236}">
                  <a16:creationId xmlns:a16="http://schemas.microsoft.com/office/drawing/2014/main" id="{75084FA4-FDB2-FAAD-F7C2-80E6F4C6E976}"/>
                </a:ext>
              </a:extLst>
            </p:cNvPr>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a:extLst>
                <a:ext uri="{FF2B5EF4-FFF2-40B4-BE49-F238E27FC236}">
                  <a16:creationId xmlns:a16="http://schemas.microsoft.com/office/drawing/2014/main" id="{C94DB1B2-C065-BC55-2D60-E7F3781B0FEC}"/>
                </a:ext>
              </a:extLst>
            </p:cNvPr>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a:extLst>
              <a:ext uri="{FF2B5EF4-FFF2-40B4-BE49-F238E27FC236}">
                <a16:creationId xmlns:a16="http://schemas.microsoft.com/office/drawing/2014/main" id="{4AA8095C-92FF-5ECB-B284-0B66EE28301D}"/>
              </a:ext>
            </a:extLst>
          </p:cNvPr>
          <p:cNvGrpSpPr>
            <a:grpSpLocks noChangeAspect="1"/>
          </p:cNvGrpSpPr>
          <p:nvPr/>
        </p:nvGrpSpPr>
        <p:grpSpPr>
          <a:xfrm>
            <a:off x="0" y="2592886"/>
            <a:ext cx="7559993" cy="1642539"/>
            <a:chOff x="0" y="0"/>
            <a:chExt cx="7559992" cy="1642542"/>
          </a:xfrm>
        </p:grpSpPr>
        <p:sp>
          <p:nvSpPr>
            <p:cNvPr id="15" name="Freeform 15">
              <a:extLst>
                <a:ext uri="{FF2B5EF4-FFF2-40B4-BE49-F238E27FC236}">
                  <a16:creationId xmlns:a16="http://schemas.microsoft.com/office/drawing/2014/main" id="{FF7AC6B4-B450-C509-75E6-ED75F0B5DC37}"/>
                </a:ext>
              </a:extLst>
            </p:cNvPr>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16" name="Group 16">
            <a:extLst>
              <a:ext uri="{FF2B5EF4-FFF2-40B4-BE49-F238E27FC236}">
                <a16:creationId xmlns:a16="http://schemas.microsoft.com/office/drawing/2014/main" id="{22D9AFC6-1274-F1B3-83C7-4C1939315309}"/>
              </a:ext>
            </a:extLst>
          </p:cNvPr>
          <p:cNvGrpSpPr>
            <a:grpSpLocks noChangeAspect="1"/>
          </p:cNvGrpSpPr>
          <p:nvPr/>
        </p:nvGrpSpPr>
        <p:grpSpPr>
          <a:xfrm>
            <a:off x="5653192" y="4880277"/>
            <a:ext cx="762505" cy="694058"/>
            <a:chOff x="0" y="0"/>
            <a:chExt cx="762495" cy="694055"/>
          </a:xfrm>
        </p:grpSpPr>
        <p:sp>
          <p:nvSpPr>
            <p:cNvPr id="17" name="Freeform 17">
              <a:extLst>
                <a:ext uri="{FF2B5EF4-FFF2-40B4-BE49-F238E27FC236}">
                  <a16:creationId xmlns:a16="http://schemas.microsoft.com/office/drawing/2014/main" id="{FC70F555-B832-04DD-0937-8EBC11B222CC}"/>
                </a:ext>
              </a:extLst>
            </p:cNvPr>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8" name="Freeform 18">
              <a:extLst>
                <a:ext uri="{FF2B5EF4-FFF2-40B4-BE49-F238E27FC236}">
                  <a16:creationId xmlns:a16="http://schemas.microsoft.com/office/drawing/2014/main" id="{57927DA3-7D27-39AA-1B1B-147B9C591813}"/>
                </a:ext>
              </a:extLst>
            </p:cNvPr>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9" name="Freeform 19">
              <a:extLst>
                <a:ext uri="{FF2B5EF4-FFF2-40B4-BE49-F238E27FC236}">
                  <a16:creationId xmlns:a16="http://schemas.microsoft.com/office/drawing/2014/main" id="{CACDC7C4-F856-3CB1-574D-4CCFFE74003F}"/>
                </a:ext>
              </a:extLst>
            </p:cNvPr>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20" name="Freeform 20">
              <a:extLst>
                <a:ext uri="{FF2B5EF4-FFF2-40B4-BE49-F238E27FC236}">
                  <a16:creationId xmlns:a16="http://schemas.microsoft.com/office/drawing/2014/main" id="{C70076B6-D0FC-7478-B63C-C139E86BB1F9}"/>
                </a:ext>
              </a:extLst>
            </p:cNvPr>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21" name="Freeform 21">
              <a:extLst>
                <a:ext uri="{FF2B5EF4-FFF2-40B4-BE49-F238E27FC236}">
                  <a16:creationId xmlns:a16="http://schemas.microsoft.com/office/drawing/2014/main" id="{3E9BEA80-A452-0146-BF5A-883CEB67AE31}"/>
                </a:ext>
              </a:extLst>
            </p:cNvPr>
            <p:cNvSpPr/>
            <p:nvPr/>
          </p:nvSpPr>
          <p:spPr>
            <a:xfrm>
              <a:off x="388620"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2" name="Group 22">
            <a:extLst>
              <a:ext uri="{FF2B5EF4-FFF2-40B4-BE49-F238E27FC236}">
                <a16:creationId xmlns:a16="http://schemas.microsoft.com/office/drawing/2014/main" id="{151987F5-2EB6-45B1-59DF-B1F18519E9DB}"/>
              </a:ext>
            </a:extLst>
          </p:cNvPr>
          <p:cNvGrpSpPr>
            <a:grpSpLocks noChangeAspect="1"/>
          </p:cNvGrpSpPr>
          <p:nvPr/>
        </p:nvGrpSpPr>
        <p:grpSpPr>
          <a:xfrm>
            <a:off x="623635" y="305124"/>
            <a:ext cx="6466446" cy="1976704"/>
            <a:chOff x="0" y="0"/>
            <a:chExt cx="6466446" cy="1976704"/>
          </a:xfrm>
        </p:grpSpPr>
        <p:sp>
          <p:nvSpPr>
            <p:cNvPr id="23" name="Freeform 23">
              <a:extLst>
                <a:ext uri="{FF2B5EF4-FFF2-40B4-BE49-F238E27FC236}">
                  <a16:creationId xmlns:a16="http://schemas.microsoft.com/office/drawing/2014/main" id="{A8902FF3-EC7E-7603-CCF2-896E0E1F787F}"/>
                </a:ext>
              </a:extLst>
            </p:cNvPr>
            <p:cNvSpPr/>
            <p:nvPr/>
          </p:nvSpPr>
          <p:spPr>
            <a:xfrm>
              <a:off x="63500" y="381000"/>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4" name="Freeform 24">
              <a:extLst>
                <a:ext uri="{FF2B5EF4-FFF2-40B4-BE49-F238E27FC236}">
                  <a16:creationId xmlns:a16="http://schemas.microsoft.com/office/drawing/2014/main" id="{32424F8C-3049-1611-D406-BDC25493B6CF}"/>
                </a:ext>
              </a:extLst>
            </p:cNvPr>
            <p:cNvSpPr/>
            <p:nvPr/>
          </p:nvSpPr>
          <p:spPr>
            <a:xfrm>
              <a:off x="559435" y="179451"/>
              <a:ext cx="1947672" cy="416433"/>
            </a:xfrm>
            <a:custGeom>
              <a:avLst/>
              <a:gdLst/>
              <a:ahLst/>
              <a:cxnLst/>
              <a:rect l="l" t="t" r="r" b="b"/>
              <a:pathLst>
                <a:path w="1947672" h="416433">
                  <a:moveTo>
                    <a:pt x="0" y="416433"/>
                  </a:moveTo>
                  <a:lnTo>
                    <a:pt x="1947672" y="416433"/>
                  </a:lnTo>
                  <a:lnTo>
                    <a:pt x="1947672" y="0"/>
                  </a:lnTo>
                  <a:lnTo>
                    <a:pt x="0" y="0"/>
                  </a:lnTo>
                  <a:close/>
                </a:path>
              </a:pathLst>
            </a:custGeom>
            <a:solidFill>
              <a:srgbClr val="FFFFFF"/>
            </a:solidFill>
          </p:spPr>
          <p:txBody>
            <a:bodyPr/>
            <a:lstStyle/>
            <a:p>
              <a:endParaRPr lang="fr-FR"/>
            </a:p>
          </p:txBody>
        </p:sp>
        <p:sp>
          <p:nvSpPr>
            <p:cNvPr id="25" name="Freeform 25">
              <a:extLst>
                <a:ext uri="{FF2B5EF4-FFF2-40B4-BE49-F238E27FC236}">
                  <a16:creationId xmlns:a16="http://schemas.microsoft.com/office/drawing/2014/main" id="{5AAA4A03-30FD-98D8-9B9D-BF225EC13FEE}"/>
                </a:ext>
              </a:extLst>
            </p:cNvPr>
            <p:cNvSpPr/>
            <p:nvPr/>
          </p:nvSpPr>
          <p:spPr>
            <a:xfrm>
              <a:off x="5722620" y="63500"/>
              <a:ext cx="680339" cy="646176"/>
            </a:xfrm>
            <a:custGeom>
              <a:avLst/>
              <a:gdLst/>
              <a:ahLst/>
              <a:cxnLst/>
              <a:rect l="l" t="t" r="r" b="b"/>
              <a:pathLst>
                <a:path w="680339" h="646176">
                  <a:moveTo>
                    <a:pt x="340233" y="646049"/>
                  </a:moveTo>
                  <a:cubicBezTo>
                    <a:pt x="528066" y="646049"/>
                    <a:pt x="680339" y="501396"/>
                    <a:pt x="680339" y="322961"/>
                  </a:cubicBezTo>
                  <a:cubicBezTo>
                    <a:pt x="680339" y="144526"/>
                    <a:pt x="528066" y="0"/>
                    <a:pt x="340233" y="0"/>
                  </a:cubicBezTo>
                  <a:cubicBezTo>
                    <a:pt x="152400"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6" name="Freeform 26">
              <a:extLst>
                <a:ext uri="{FF2B5EF4-FFF2-40B4-BE49-F238E27FC236}">
                  <a16:creationId xmlns:a16="http://schemas.microsoft.com/office/drawing/2014/main" id="{B1344496-733B-3A90-4361-CFDDB53C027C}"/>
                </a:ext>
              </a:extLst>
            </p:cNvPr>
            <p:cNvSpPr/>
            <p:nvPr/>
          </p:nvSpPr>
          <p:spPr>
            <a:xfrm>
              <a:off x="1884299" y="134962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7" name="Freeform 27">
              <a:extLst>
                <a:ext uri="{FF2B5EF4-FFF2-40B4-BE49-F238E27FC236}">
                  <a16:creationId xmlns:a16="http://schemas.microsoft.com/office/drawing/2014/main" id="{CEB405A9-F16C-5D3E-6021-6284BA57B9A5}"/>
                </a:ext>
              </a:extLst>
            </p:cNvPr>
            <p:cNvSpPr/>
            <p:nvPr/>
          </p:nvSpPr>
          <p:spPr>
            <a:xfrm>
              <a:off x="3229102" y="1339596"/>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8" name="Freeform 28">
              <a:extLst>
                <a:ext uri="{FF2B5EF4-FFF2-40B4-BE49-F238E27FC236}">
                  <a16:creationId xmlns:a16="http://schemas.microsoft.com/office/drawing/2014/main" id="{D1521A77-429F-AB4E-C090-F672C2F0F3CD}"/>
                </a:ext>
              </a:extLst>
            </p:cNvPr>
            <p:cNvSpPr/>
            <p:nvPr/>
          </p:nvSpPr>
          <p:spPr>
            <a:xfrm>
              <a:off x="4741037" y="1334135"/>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9" name="Freeform 29">
              <a:extLst>
                <a:ext uri="{FF2B5EF4-FFF2-40B4-BE49-F238E27FC236}">
                  <a16:creationId xmlns:a16="http://schemas.microsoft.com/office/drawing/2014/main" id="{323EA372-7B1C-F959-E269-F2CA5C10E717}"/>
                </a:ext>
              </a:extLst>
            </p:cNvPr>
            <p:cNvSpPr/>
            <p:nvPr/>
          </p:nvSpPr>
          <p:spPr>
            <a:xfrm>
              <a:off x="566674" y="134962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grpSp>
      <p:sp>
        <p:nvSpPr>
          <p:cNvPr id="30" name="TextBox 99">
            <a:extLst>
              <a:ext uri="{FF2B5EF4-FFF2-40B4-BE49-F238E27FC236}">
                <a16:creationId xmlns:a16="http://schemas.microsoft.com/office/drawing/2014/main" id="{A43B9593-CB2D-1901-B7A6-571AC8F1C154}"/>
              </a:ext>
            </a:extLst>
          </p:cNvPr>
          <p:cNvSpPr txBox="1"/>
          <p:nvPr/>
        </p:nvSpPr>
        <p:spPr>
          <a:xfrm>
            <a:off x="6672167" y="9971913"/>
            <a:ext cx="248917" cy="240665"/>
          </a:xfrm>
          <a:prstGeom prst="rect">
            <a:avLst/>
          </a:prstGeom>
        </p:spPr>
        <p:txBody>
          <a:bodyPr lIns="0" tIns="0" rIns="0" bIns="0" rtlCol="0" anchor="t">
            <a:spAutoFit/>
          </a:bodyPr>
          <a:lstStyle/>
          <a:p>
            <a:pPr algn="l">
              <a:lnSpc>
                <a:spcPts val="1959"/>
              </a:lnSpc>
            </a:pPr>
            <a:r>
              <a:rPr lang="en-US" sz="1399" b="1" spc="2" dirty="0">
                <a:solidFill>
                  <a:srgbClr val="231F20"/>
                </a:solidFill>
                <a:latin typeface="Open Sans Bold"/>
                <a:ea typeface="Open Sans Bold"/>
                <a:cs typeface="Open Sans Bold"/>
                <a:sym typeface="Open Sans Bold"/>
              </a:rPr>
              <a:t>12</a:t>
            </a:r>
          </a:p>
        </p:txBody>
      </p:sp>
      <p:sp>
        <p:nvSpPr>
          <p:cNvPr id="31" name="TextBox 46">
            <a:extLst>
              <a:ext uri="{FF2B5EF4-FFF2-40B4-BE49-F238E27FC236}">
                <a16:creationId xmlns:a16="http://schemas.microsoft.com/office/drawing/2014/main" id="{8726D5E0-8905-0EAF-DD70-8729CE70E3CF}"/>
              </a:ext>
            </a:extLst>
          </p:cNvPr>
          <p:cNvSpPr txBox="1"/>
          <p:nvPr/>
        </p:nvSpPr>
        <p:spPr>
          <a:xfrm>
            <a:off x="796119" y="6182554"/>
            <a:ext cx="3224382" cy="299056"/>
          </a:xfrm>
          <a:prstGeom prst="rect">
            <a:avLst/>
          </a:prstGeom>
        </p:spPr>
        <p:txBody>
          <a:bodyPr wrap="square" lIns="0" tIns="0" rIns="0" bIns="0" rtlCol="0" anchor="t">
            <a:spAutoFit/>
          </a:bodyPr>
          <a:lstStyle/>
          <a:p>
            <a:pPr algn="l">
              <a:lnSpc>
                <a:spcPts val="2520"/>
              </a:lnSpc>
            </a:pPr>
            <a:r>
              <a:rPr lang="en-US" sz="1800" b="1" i="1" spc="9" dirty="0">
                <a:solidFill>
                  <a:srgbClr val="EA8C39"/>
                </a:solidFill>
                <a:latin typeface="IBM Plex Sans Bold Italics"/>
                <a:ea typeface="IBM Plex Sans Bold Italics"/>
                <a:cs typeface="IBM Plex Sans Bold Italics"/>
                <a:sym typeface="IBM Plex Sans Bold Italics"/>
              </a:rPr>
              <a:t>ENSEIGNEMENTS</a:t>
            </a:r>
          </a:p>
        </p:txBody>
      </p:sp>
      <p:sp>
        <p:nvSpPr>
          <p:cNvPr id="32" name="TextBox 47">
            <a:extLst>
              <a:ext uri="{FF2B5EF4-FFF2-40B4-BE49-F238E27FC236}">
                <a16:creationId xmlns:a16="http://schemas.microsoft.com/office/drawing/2014/main" id="{691A7F5A-B327-51DF-1117-0A60CB40D79C}"/>
              </a:ext>
            </a:extLst>
          </p:cNvPr>
          <p:cNvSpPr txBox="1"/>
          <p:nvPr/>
        </p:nvSpPr>
        <p:spPr>
          <a:xfrm>
            <a:off x="778744" y="4391616"/>
            <a:ext cx="3990106" cy="299056"/>
          </a:xfrm>
          <a:prstGeom prst="rect">
            <a:avLst/>
          </a:prstGeom>
        </p:spPr>
        <p:txBody>
          <a:bodyPr wrap="square" lIns="0" tIns="0" rIns="0" bIns="0" rtlCol="0" anchor="t">
            <a:spAutoFit/>
          </a:bodyPr>
          <a:lstStyle/>
          <a:p>
            <a:pPr algn="l">
              <a:lnSpc>
                <a:spcPts val="2520"/>
              </a:lnSpc>
            </a:pPr>
            <a:r>
              <a:rPr lang="en-US" sz="1800" b="1" i="1" spc="9" dirty="0">
                <a:solidFill>
                  <a:srgbClr val="EA8C39"/>
                </a:solidFill>
                <a:latin typeface="IBM Plex Sans Bold Italics"/>
                <a:ea typeface="IBM Plex Sans Bold Italics"/>
                <a:cs typeface="IBM Plex Sans Bold Italics"/>
                <a:sym typeface="IBM Plex Sans Bold Italics"/>
              </a:rPr>
              <a:t>TOP3 - POINTS FORTS</a:t>
            </a:r>
          </a:p>
        </p:txBody>
      </p:sp>
      <p:sp>
        <p:nvSpPr>
          <p:cNvPr id="33" name="TextBox 45">
            <a:extLst>
              <a:ext uri="{FF2B5EF4-FFF2-40B4-BE49-F238E27FC236}">
                <a16:creationId xmlns:a16="http://schemas.microsoft.com/office/drawing/2014/main" id="{5B080FD5-4496-B357-5A69-1FF6E1FB2305}"/>
              </a:ext>
            </a:extLst>
          </p:cNvPr>
          <p:cNvSpPr txBox="1"/>
          <p:nvPr/>
        </p:nvSpPr>
        <p:spPr>
          <a:xfrm>
            <a:off x="804129" y="8159772"/>
            <a:ext cx="3850362" cy="299056"/>
          </a:xfrm>
          <a:prstGeom prst="rect">
            <a:avLst/>
          </a:prstGeom>
        </p:spPr>
        <p:txBody>
          <a:bodyPr lIns="0" tIns="0" rIns="0" bIns="0" rtlCol="0" anchor="t">
            <a:spAutoFit/>
          </a:bodyPr>
          <a:lstStyle/>
          <a:p>
            <a:pPr algn="l">
              <a:lnSpc>
                <a:spcPts val="2520"/>
              </a:lnSpc>
            </a:pPr>
            <a:r>
              <a:rPr lang="en-US" sz="1800" b="1" i="1" spc="9" dirty="0">
                <a:solidFill>
                  <a:srgbClr val="EA8C39"/>
                </a:solidFill>
                <a:latin typeface="IBM Plex Sans Bold Italics"/>
                <a:ea typeface="IBM Plex Sans Bold Italics"/>
                <a:cs typeface="IBM Plex Sans Bold Italics"/>
                <a:sym typeface="IBM Plex Sans Bold Italics"/>
              </a:rPr>
              <a:t>OPPORTUNITÉS MÉTIERS</a:t>
            </a:r>
          </a:p>
        </p:txBody>
      </p:sp>
      <p:sp>
        <p:nvSpPr>
          <p:cNvPr id="34" name="TextBox 48">
            <a:extLst>
              <a:ext uri="{FF2B5EF4-FFF2-40B4-BE49-F238E27FC236}">
                <a16:creationId xmlns:a16="http://schemas.microsoft.com/office/drawing/2014/main" id="{FFDAC90F-8C9D-EDA7-B6D0-2B077FC9A708}"/>
              </a:ext>
            </a:extLst>
          </p:cNvPr>
          <p:cNvSpPr txBox="1"/>
          <p:nvPr/>
        </p:nvSpPr>
        <p:spPr>
          <a:xfrm>
            <a:off x="1274693" y="911790"/>
            <a:ext cx="5145157" cy="299056"/>
          </a:xfrm>
          <a:prstGeom prst="rect">
            <a:avLst/>
          </a:prstGeom>
        </p:spPr>
        <p:txBody>
          <a:bodyPr wrap="square" lIns="0" tIns="0" rIns="0" bIns="0" rtlCol="0" anchor="t">
            <a:spAutoFit/>
          </a:bodyPr>
          <a:lstStyle/>
          <a:p>
            <a:pPr algn="l">
              <a:lnSpc>
                <a:spcPts val="2520"/>
              </a:lnSpc>
            </a:pPr>
            <a:r>
              <a:rPr lang="en-US" sz="1800" b="1" spc="7" dirty="0">
                <a:solidFill>
                  <a:srgbClr val="1A1447"/>
                </a:solidFill>
                <a:latin typeface="IBM Plex Sans Bold"/>
                <a:ea typeface="IBM Plex Sans Bold"/>
                <a:cs typeface="IBM Plex Sans Bold"/>
                <a:sym typeface="IBM Plex Sans Bold"/>
              </a:rPr>
              <a:t>Management Commercial Opérationnel (MCO)</a:t>
            </a:r>
          </a:p>
        </p:txBody>
      </p:sp>
      <p:sp>
        <p:nvSpPr>
          <p:cNvPr id="35" name="TextBox 50">
            <a:extLst>
              <a:ext uri="{FF2B5EF4-FFF2-40B4-BE49-F238E27FC236}">
                <a16:creationId xmlns:a16="http://schemas.microsoft.com/office/drawing/2014/main" id="{6A3D536B-B4AC-F761-42A8-7D082DBF56CF}"/>
              </a:ext>
            </a:extLst>
          </p:cNvPr>
          <p:cNvSpPr txBox="1"/>
          <p:nvPr/>
        </p:nvSpPr>
        <p:spPr>
          <a:xfrm>
            <a:off x="1274693" y="430139"/>
            <a:ext cx="1496263" cy="406458"/>
          </a:xfrm>
          <a:prstGeom prst="rect">
            <a:avLst/>
          </a:prstGeom>
        </p:spPr>
        <p:txBody>
          <a:bodyPr lIns="0" tIns="0" rIns="0" bIns="0" rtlCol="0" anchor="t">
            <a:spAutoFit/>
          </a:bodyPr>
          <a:lstStyle/>
          <a:p>
            <a:pPr algn="l">
              <a:lnSpc>
                <a:spcPts val="3359"/>
              </a:lnSpc>
            </a:pPr>
            <a:r>
              <a:rPr lang="en-US" sz="2400" b="1" spc="4" dirty="0">
                <a:solidFill>
                  <a:srgbClr val="231F20"/>
                </a:solidFill>
                <a:latin typeface="Open Sans Bold"/>
                <a:ea typeface="Open Sans Bold"/>
                <a:cs typeface="Open Sans Bold"/>
                <a:sym typeface="Open Sans Bold"/>
              </a:rPr>
              <a:t>BTS</a:t>
            </a:r>
          </a:p>
        </p:txBody>
      </p:sp>
      <p:sp>
        <p:nvSpPr>
          <p:cNvPr id="36" name="TextBox 51">
            <a:extLst>
              <a:ext uri="{FF2B5EF4-FFF2-40B4-BE49-F238E27FC236}">
                <a16:creationId xmlns:a16="http://schemas.microsoft.com/office/drawing/2014/main" id="{FC9F297C-1557-832B-EBBF-B58783E2C820}"/>
              </a:ext>
            </a:extLst>
          </p:cNvPr>
          <p:cNvSpPr txBox="1"/>
          <p:nvPr/>
        </p:nvSpPr>
        <p:spPr>
          <a:xfrm>
            <a:off x="1302506" y="1517485"/>
            <a:ext cx="1158317" cy="192938"/>
          </a:xfrm>
          <a:prstGeom prst="rect">
            <a:avLst/>
          </a:prstGeom>
        </p:spPr>
        <p:txBody>
          <a:bodyPr wrap="square" lIns="0" tIns="0" rIns="0" bIns="0" rtlCol="0" anchor="t">
            <a:spAutoFit/>
          </a:bodyPr>
          <a:lstStyle/>
          <a:p>
            <a:pPr algn="just">
              <a:lnSpc>
                <a:spcPts val="1614"/>
              </a:lnSpc>
            </a:pPr>
            <a:r>
              <a:rPr lang="en-US" sz="1200" spc="7" dirty="0">
                <a:solidFill>
                  <a:srgbClr val="464395"/>
                </a:solidFill>
                <a:latin typeface="IBM Plex Sans"/>
                <a:ea typeface="IBM Plex Sans"/>
                <a:cs typeface="IBM Plex Sans"/>
                <a:sym typeface="IBM Plex Sans"/>
              </a:rPr>
              <a:t>2 RENTRÉES</a:t>
            </a:r>
            <a:endParaRPr lang="en-US" sz="1200" i="1" spc="6" dirty="0">
              <a:solidFill>
                <a:srgbClr val="231F20"/>
              </a:solidFill>
              <a:latin typeface="IBM Plex Sans Italics"/>
              <a:ea typeface="IBM Plex Sans Italics"/>
              <a:cs typeface="IBM Plex Sans Italics"/>
              <a:sym typeface="IBM Plex Sans Italics"/>
            </a:endParaRPr>
          </a:p>
        </p:txBody>
      </p:sp>
      <p:sp>
        <p:nvSpPr>
          <p:cNvPr id="37" name="TextBox 32">
            <a:extLst>
              <a:ext uri="{FF2B5EF4-FFF2-40B4-BE49-F238E27FC236}">
                <a16:creationId xmlns:a16="http://schemas.microsoft.com/office/drawing/2014/main" id="{017717DD-1C88-51AC-E9EC-B10BA3163BAD}"/>
              </a:ext>
            </a:extLst>
          </p:cNvPr>
          <p:cNvSpPr txBox="1"/>
          <p:nvPr/>
        </p:nvSpPr>
        <p:spPr>
          <a:xfrm>
            <a:off x="827465" y="6658127"/>
            <a:ext cx="1683477" cy="154466"/>
          </a:xfrm>
          <a:prstGeom prst="rect">
            <a:avLst/>
          </a:prstGeom>
        </p:spPr>
        <p:txBody>
          <a:bodyPr lIns="0" tIns="0" rIns="0" bIns="0" rtlCol="0" anchor="t">
            <a:spAutoFit/>
          </a:bodyPr>
          <a:lstStyle/>
          <a:p>
            <a:pPr marL="0" lvl="0" indent="0" algn="l">
              <a:lnSpc>
                <a:spcPts val="1200"/>
              </a:lnSpc>
              <a:spcBef>
                <a:spcPct val="0"/>
              </a:spcBef>
            </a:pPr>
            <a:r>
              <a:rPr lang="en-US" sz="1200" i="1" spc="6" dirty="0">
                <a:solidFill>
                  <a:srgbClr val="231F20"/>
                </a:solidFill>
                <a:latin typeface="IBM Plex Sans Italics"/>
                <a:ea typeface="IBM Plex Sans Italics"/>
                <a:cs typeface="IBM Plex Sans Italics"/>
                <a:sym typeface="IBM Plex Sans Italics"/>
              </a:rPr>
              <a:t>Langue vivante Lv.1 Anglais
Culture et Relations Internationales
Prospection, Plan commercial, Négociation 
</a:t>
            </a:r>
            <a:endParaRPr lang="en-US" sz="1200" i="1" u="none" strike="noStrike" spc="6" dirty="0">
              <a:solidFill>
                <a:srgbClr val="231F20"/>
              </a:solidFill>
              <a:latin typeface="IBM Plex Sans Italics"/>
              <a:ea typeface="IBM Plex Sans Italics"/>
              <a:cs typeface="IBM Plex Sans Italics"/>
              <a:sym typeface="IBM Plex Sans Italics"/>
            </a:endParaRPr>
          </a:p>
        </p:txBody>
      </p:sp>
      <p:sp>
        <p:nvSpPr>
          <p:cNvPr id="38" name="TextBox 33">
            <a:extLst>
              <a:ext uri="{FF2B5EF4-FFF2-40B4-BE49-F238E27FC236}">
                <a16:creationId xmlns:a16="http://schemas.microsoft.com/office/drawing/2014/main" id="{5DE26973-C152-4876-6709-C0883AEE3CB4}"/>
              </a:ext>
            </a:extLst>
          </p:cNvPr>
          <p:cNvSpPr txBox="1"/>
          <p:nvPr/>
        </p:nvSpPr>
        <p:spPr>
          <a:xfrm>
            <a:off x="687136" y="5577573"/>
            <a:ext cx="2176714" cy="179536"/>
          </a:xfrm>
          <a:prstGeom prst="rect">
            <a:avLst/>
          </a:prstGeom>
        </p:spPr>
        <p:txBody>
          <a:bodyPr wrap="square" lIns="0" tIns="0" rIns="0" bIns="0" rtlCol="0" anchor="t">
            <a:spAutoFit/>
          </a:bodyPr>
          <a:lstStyle/>
          <a:p>
            <a:pPr algn="ctr">
              <a:lnSpc>
                <a:spcPts val="1439"/>
              </a:lnSpc>
            </a:pPr>
            <a:r>
              <a:rPr lang="en-US" sz="1200" i="1" spc="6" dirty="0">
                <a:solidFill>
                  <a:srgbClr val="1A1447"/>
                </a:solidFill>
                <a:latin typeface="IBM Plex Sans Italics"/>
                <a:ea typeface="IBM Plex Sans Italics"/>
                <a:cs typeface="IBM Plex Sans Italics"/>
                <a:sym typeface="IBM Plex Sans Italics"/>
              </a:rPr>
              <a:t>POLYVALENCE PROFESSIONNELLE</a:t>
            </a:r>
          </a:p>
        </p:txBody>
      </p:sp>
      <p:sp>
        <p:nvSpPr>
          <p:cNvPr id="39" name="TextBox 52">
            <a:extLst>
              <a:ext uri="{FF2B5EF4-FFF2-40B4-BE49-F238E27FC236}">
                <a16:creationId xmlns:a16="http://schemas.microsoft.com/office/drawing/2014/main" id="{8FC396EE-7373-E8F5-7253-8191E5C8F920}"/>
              </a:ext>
            </a:extLst>
          </p:cNvPr>
          <p:cNvSpPr txBox="1"/>
          <p:nvPr/>
        </p:nvSpPr>
        <p:spPr>
          <a:xfrm>
            <a:off x="2664000" y="1485071"/>
            <a:ext cx="723062" cy="212174"/>
          </a:xfrm>
          <a:prstGeom prst="rect">
            <a:avLst/>
          </a:prstGeom>
        </p:spPr>
        <p:txBody>
          <a:bodyPr lIns="0" tIns="0" rIns="0" bIns="0" rtlCol="0" anchor="t">
            <a:spAutoFit/>
          </a:bodyPr>
          <a:lstStyle/>
          <a:p>
            <a:pPr algn="l">
              <a:lnSpc>
                <a:spcPts val="1783"/>
              </a:lnSpc>
            </a:pPr>
            <a:r>
              <a:rPr lang="en-US" sz="1200" spc="6" dirty="0">
                <a:solidFill>
                  <a:srgbClr val="464395"/>
                </a:solidFill>
                <a:latin typeface="IBM Plex Sans"/>
                <a:ea typeface="IBM Plex Sans"/>
                <a:cs typeface="IBM Plex Sans"/>
                <a:sym typeface="IBM Plex Sans"/>
              </a:rPr>
              <a:t>LANGUE</a:t>
            </a:r>
            <a:endParaRPr lang="en-US" sz="1200" i="1" spc="6" dirty="0">
              <a:solidFill>
                <a:srgbClr val="231F20"/>
              </a:solidFill>
              <a:latin typeface="IBM Plex Sans Italics"/>
              <a:ea typeface="IBM Plex Sans Italics"/>
              <a:cs typeface="IBM Plex Sans Italics"/>
              <a:sym typeface="IBM Plex Sans Italics"/>
            </a:endParaRPr>
          </a:p>
        </p:txBody>
      </p:sp>
      <p:sp>
        <p:nvSpPr>
          <p:cNvPr id="40" name="TextBox 35">
            <a:extLst>
              <a:ext uri="{FF2B5EF4-FFF2-40B4-BE49-F238E27FC236}">
                <a16:creationId xmlns:a16="http://schemas.microsoft.com/office/drawing/2014/main" id="{C0B0A14E-FFDC-08E4-DF18-8BB5737AAAB0}"/>
              </a:ext>
            </a:extLst>
          </p:cNvPr>
          <p:cNvSpPr txBox="1"/>
          <p:nvPr/>
        </p:nvSpPr>
        <p:spPr>
          <a:xfrm>
            <a:off x="796119" y="8528914"/>
            <a:ext cx="2997689" cy="179536"/>
          </a:xfrm>
          <a:prstGeom prst="rect">
            <a:avLst/>
          </a:prstGeom>
        </p:spPr>
        <p:txBody>
          <a:bodyPr lIns="0" tIns="0" rIns="0" bIns="0" rtlCol="0" anchor="t">
            <a:spAutoFit/>
          </a:bodyPr>
          <a:lstStyle/>
          <a:p>
            <a:pPr marL="129540" lvl="1" algn="just">
              <a:lnSpc>
                <a:spcPts val="1439"/>
              </a:lnSpc>
            </a:pPr>
            <a:r>
              <a:rPr lang="en-US" sz="1200" i="1" spc="6" dirty="0" err="1">
                <a:solidFill>
                  <a:srgbClr val="1A1447"/>
                </a:solidFill>
                <a:latin typeface="IBM Plex Sans Italics"/>
                <a:ea typeface="IBM Plex Sans Italics"/>
                <a:cs typeface="IBM Plex Sans Italics"/>
                <a:sym typeface="IBM Plex Sans Italics"/>
              </a:rPr>
              <a:t>• Chef de rayon
• Responsable de magasin
• Chargé(e) de clientèle
• Manager d'unité commerciale 
• Animateur(trice) des ventes
• Responsable de grands comptes
• E-commerçant(e)</a:t>
            </a:r>
            <a:endParaRPr lang="en-US" sz="1200" i="1" spc="6" dirty="0">
              <a:solidFill>
                <a:srgbClr val="1A1447"/>
              </a:solidFill>
              <a:latin typeface="IBM Plex Sans Italics"/>
              <a:ea typeface="IBM Plex Sans Italics"/>
              <a:cs typeface="IBM Plex Sans Italics"/>
              <a:sym typeface="IBM Plex Sans Italics"/>
            </a:endParaRPr>
          </a:p>
        </p:txBody>
      </p:sp>
      <p:sp>
        <p:nvSpPr>
          <p:cNvPr id="41" name="TextBox 37">
            <a:extLst>
              <a:ext uri="{FF2B5EF4-FFF2-40B4-BE49-F238E27FC236}">
                <a16:creationId xmlns:a16="http://schemas.microsoft.com/office/drawing/2014/main" id="{D378872E-BE8D-478B-70EB-A03BDF5463AE}"/>
              </a:ext>
            </a:extLst>
          </p:cNvPr>
          <p:cNvSpPr txBox="1"/>
          <p:nvPr/>
        </p:nvSpPr>
        <p:spPr>
          <a:xfrm>
            <a:off x="3092450" y="5577573"/>
            <a:ext cx="1847297" cy="179536"/>
          </a:xfrm>
          <a:prstGeom prst="rect">
            <a:avLst/>
          </a:prstGeom>
        </p:spPr>
        <p:txBody>
          <a:bodyPr wrap="square" lIns="0" tIns="0" rIns="0" bIns="0" rtlCol="0" anchor="t">
            <a:spAutoFit/>
          </a:bodyPr>
          <a:lstStyle/>
          <a:p>
            <a:pPr algn="ctr">
              <a:lnSpc>
                <a:spcPts val="1439"/>
              </a:lnSpc>
            </a:pPr>
            <a:r>
              <a:rPr lang="en-US" sz="1200" i="1" spc="6" dirty="0">
                <a:solidFill>
                  <a:srgbClr val="1A1447"/>
                </a:solidFill>
                <a:latin typeface="IBM Plex Sans Italics"/>
                <a:ea typeface="IBM Plex Sans Italics"/>
                <a:cs typeface="IBM Plex Sans Italics"/>
                <a:sym typeface="IBM Plex Sans Italics"/>
              </a:rPr>
              <a:t>FORMATION PRATIQUE ET PROFESSIONNALISANTE</a:t>
            </a:r>
          </a:p>
        </p:txBody>
      </p:sp>
      <p:sp>
        <p:nvSpPr>
          <p:cNvPr id="42" name="TextBox 36">
            <a:extLst>
              <a:ext uri="{FF2B5EF4-FFF2-40B4-BE49-F238E27FC236}">
                <a16:creationId xmlns:a16="http://schemas.microsoft.com/office/drawing/2014/main" id="{2DDEB1C5-CBCD-537E-18DE-A4DBFEDDF161}"/>
              </a:ext>
            </a:extLst>
          </p:cNvPr>
          <p:cNvSpPr txBox="1"/>
          <p:nvPr/>
        </p:nvSpPr>
        <p:spPr>
          <a:xfrm>
            <a:off x="3135649" y="6640468"/>
            <a:ext cx="1766992"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6" dirty="0">
                <a:solidFill>
                  <a:srgbClr val="231F20"/>
                </a:solidFill>
                <a:latin typeface="IBM Plex Sans Italics"/>
                <a:ea typeface="IBM Plex Sans Italics"/>
                <a:cs typeface="IBM Plex Sans Italics"/>
                <a:sym typeface="IBM Plex Sans Italics"/>
              </a:rPr>
              <a:t>Développement Personnel et Leadership
Droit et applications dans les entreprises
Economie, mondialisation et Géopolique
</a:t>
            </a:r>
          </a:p>
        </p:txBody>
      </p:sp>
      <p:sp>
        <p:nvSpPr>
          <p:cNvPr id="43" name="TextBox 53">
            <a:extLst>
              <a:ext uri="{FF2B5EF4-FFF2-40B4-BE49-F238E27FC236}">
                <a16:creationId xmlns:a16="http://schemas.microsoft.com/office/drawing/2014/main" id="{EB90C4C5-D8EF-A0A4-6CFF-0EA91FE8FD31}"/>
              </a:ext>
            </a:extLst>
          </p:cNvPr>
          <p:cNvSpPr txBox="1"/>
          <p:nvPr/>
        </p:nvSpPr>
        <p:spPr>
          <a:xfrm>
            <a:off x="3925248" y="1507960"/>
            <a:ext cx="983504" cy="212174"/>
          </a:xfrm>
          <a:prstGeom prst="rect">
            <a:avLst/>
          </a:prstGeom>
        </p:spPr>
        <p:txBody>
          <a:bodyPr lIns="0" tIns="0" rIns="0" bIns="0" rtlCol="0" anchor="t">
            <a:spAutoFit/>
          </a:bodyPr>
          <a:lstStyle/>
          <a:p>
            <a:pPr algn="l">
              <a:lnSpc>
                <a:spcPts val="1796"/>
              </a:lnSpc>
            </a:pPr>
            <a:r>
              <a:rPr lang="en-US" sz="1200" spc="7" dirty="0">
                <a:solidFill>
                  <a:srgbClr val="464395"/>
                </a:solidFill>
                <a:latin typeface="IBM Plex Sans"/>
                <a:ea typeface="IBM Plex Sans"/>
                <a:cs typeface="IBM Plex Sans"/>
                <a:sym typeface="IBM Plex Sans"/>
              </a:rPr>
              <a:t>STAGE</a:t>
            </a:r>
          </a:p>
        </p:txBody>
      </p:sp>
      <p:sp>
        <p:nvSpPr>
          <p:cNvPr id="44" name="TextBox 39">
            <a:extLst>
              <a:ext uri="{FF2B5EF4-FFF2-40B4-BE49-F238E27FC236}">
                <a16:creationId xmlns:a16="http://schemas.microsoft.com/office/drawing/2014/main" id="{827D9C88-FDD3-794D-D078-E2F3BCCF413F}"/>
              </a:ext>
            </a:extLst>
          </p:cNvPr>
          <p:cNvSpPr txBox="1"/>
          <p:nvPr/>
        </p:nvSpPr>
        <p:spPr>
          <a:xfrm>
            <a:off x="5446938" y="1716900"/>
            <a:ext cx="788670" cy="179536"/>
          </a:xfrm>
          <a:prstGeom prst="rect">
            <a:avLst/>
          </a:prstGeom>
        </p:spPr>
        <p:txBody>
          <a:bodyPr lIns="0" tIns="0" rIns="0" bIns="0" rtlCol="0" anchor="t">
            <a:spAutoFit/>
          </a:bodyPr>
          <a:lstStyle/>
          <a:p>
            <a:pPr>
              <a:lnSpc>
                <a:spcPts val="1439"/>
              </a:lnSpc>
            </a:pPr>
            <a:r>
              <a:rPr lang="en-US" sz="1200" i="1" spc="6" dirty="0">
                <a:solidFill>
                  <a:srgbClr val="231F20"/>
                </a:solidFill>
                <a:latin typeface="IBM Plex Sans Italics"/>
                <a:ea typeface="IBM Plex Sans Italics"/>
                <a:cs typeface="IBM Plex Sans Italics"/>
                <a:sym typeface="IBM Plex Sans Italics"/>
              </a:rPr>
              <a:t>Sur dossier et entretien</a:t>
            </a:r>
          </a:p>
        </p:txBody>
      </p:sp>
      <p:sp>
        <p:nvSpPr>
          <p:cNvPr id="45" name="TextBox 40">
            <a:extLst>
              <a:ext uri="{FF2B5EF4-FFF2-40B4-BE49-F238E27FC236}">
                <a16:creationId xmlns:a16="http://schemas.microsoft.com/office/drawing/2014/main" id="{EA7E1A34-12BC-9C85-E1BE-17C95AF75F40}"/>
              </a:ext>
            </a:extLst>
          </p:cNvPr>
          <p:cNvSpPr txBox="1"/>
          <p:nvPr/>
        </p:nvSpPr>
        <p:spPr>
          <a:xfrm>
            <a:off x="5233226" y="5577573"/>
            <a:ext cx="1766350" cy="179536"/>
          </a:xfrm>
          <a:prstGeom prst="rect">
            <a:avLst/>
          </a:prstGeom>
        </p:spPr>
        <p:txBody>
          <a:bodyPr wrap="square" lIns="0" tIns="0" rIns="0" bIns="0" rtlCol="0" anchor="t">
            <a:spAutoFit/>
          </a:bodyPr>
          <a:lstStyle/>
          <a:p>
            <a:pPr algn="ctr">
              <a:lnSpc>
                <a:spcPts val="1439"/>
              </a:lnSpc>
            </a:pPr>
            <a:r>
              <a:rPr lang="en-US" sz="1200" i="1" spc="6" dirty="0">
                <a:solidFill>
                  <a:srgbClr val="1A1447"/>
                </a:solidFill>
                <a:latin typeface="IBM Plex Sans Italics"/>
                <a:ea typeface="IBM Plex Sans Italics"/>
                <a:cs typeface="IBM Plex Sans Italics"/>
                <a:sym typeface="IBM Plex Sans Italics"/>
              </a:rPr>
              <a:t>TITRE AVEC LABEL RNCP</a:t>
            </a:r>
          </a:p>
        </p:txBody>
      </p:sp>
      <p:sp>
        <p:nvSpPr>
          <p:cNvPr id="46" name="TextBox 43">
            <a:extLst>
              <a:ext uri="{FF2B5EF4-FFF2-40B4-BE49-F238E27FC236}">
                <a16:creationId xmlns:a16="http://schemas.microsoft.com/office/drawing/2014/main" id="{ECCCAF5F-947E-4133-8286-0EDEB08D30F3}"/>
              </a:ext>
            </a:extLst>
          </p:cNvPr>
          <p:cNvSpPr txBox="1"/>
          <p:nvPr/>
        </p:nvSpPr>
        <p:spPr>
          <a:xfrm>
            <a:off x="6505746" y="468239"/>
            <a:ext cx="332842" cy="397545"/>
          </a:xfrm>
          <a:prstGeom prst="rect">
            <a:avLst/>
          </a:prstGeom>
        </p:spPr>
        <p:txBody>
          <a:bodyPr lIns="0" tIns="0" rIns="0" bIns="0" rtlCol="0" anchor="t">
            <a:spAutoFit/>
          </a:bodyPr>
          <a:lstStyle/>
          <a:p>
            <a:pPr algn="ctr">
              <a:lnSpc>
                <a:spcPts val="1660"/>
              </a:lnSpc>
            </a:pPr>
            <a:r>
              <a:rPr lang="en-US" sz="1399" b="1" spc="2" dirty="0">
                <a:solidFill>
                  <a:srgbClr val="FFFFFF"/>
                </a:solidFill>
                <a:latin typeface="Open Sans Bold"/>
                <a:ea typeface="Open Sans Bold"/>
                <a:cs typeface="Open Sans Bold"/>
                <a:sym typeface="Open Sans Bold"/>
              </a:rPr>
              <a:t>2 </a:t>
            </a:r>
          </a:p>
          <a:p>
            <a:pPr algn="ctr">
              <a:lnSpc>
                <a:spcPts val="1423"/>
              </a:lnSpc>
            </a:pPr>
            <a:r>
              <a:rPr lang="en-US" sz="1200" b="1" spc="2" dirty="0">
                <a:solidFill>
                  <a:srgbClr val="FFFFFF"/>
                </a:solidFill>
                <a:latin typeface="Open Sans Bold"/>
                <a:ea typeface="Open Sans Bold"/>
                <a:cs typeface="Open Sans Bold"/>
                <a:sym typeface="Open Sans Bold"/>
              </a:rPr>
              <a:t>ANS</a:t>
            </a:r>
          </a:p>
        </p:txBody>
      </p:sp>
      <p:sp>
        <p:nvSpPr>
          <p:cNvPr id="47" name="TextBox 42">
            <a:extLst>
              <a:ext uri="{FF2B5EF4-FFF2-40B4-BE49-F238E27FC236}">
                <a16:creationId xmlns:a16="http://schemas.microsoft.com/office/drawing/2014/main" id="{F1B74C6B-F705-6B81-5AF0-B1577D8ADB35}"/>
              </a:ext>
            </a:extLst>
          </p:cNvPr>
          <p:cNvSpPr txBox="1"/>
          <p:nvPr/>
        </p:nvSpPr>
        <p:spPr>
          <a:xfrm>
            <a:off x="756000" y="2631872"/>
            <a:ext cx="6040626" cy="179536"/>
          </a:xfrm>
          <a:prstGeom prst="rect">
            <a:avLst/>
          </a:prstGeom>
        </p:spPr>
        <p:txBody>
          <a:bodyPr lIns="0" tIns="0" rIns="0" bIns="0" rtlCol="0" anchor="t">
            <a:spAutoFit/>
          </a:bodyPr>
          <a:lstStyle/>
          <a:p>
            <a:pPr algn="l">
              <a:lnSpc>
                <a:spcPts val="1439"/>
              </a:lnSpc>
            </a:pPr>
            <a:r>
              <a:rPr lang="en-US" sz="1200" spc="7" dirty="0">
                <a:solidFill>
                  <a:srgbClr val="FFFFFF"/>
                </a:solidFill>
                <a:latin typeface="IBM Plex Sans"/>
                <a:ea typeface="IBM Plex Sans"/>
                <a:cs typeface="IBM Plex Sans"/>
                <a:sym typeface="IBM Plex Sans"/>
              </a:rPr>
              <a:t>Le BTS Management Commercial Opérationnel (MCO) forme des professionnels capables de prendre en charge la gestion opérationnelle d'une unité commerciale. Les étudiants y apprennent à développer la relation client, animer et dynamiser l'offre de produits et services, ainsi qu'à manager une équipe commerciale. 
À l'issue de la formation, les diplômés sont prêts à assumer des responsabilités dans divers secteurs tels que la grande distribution, le commerce de détail, et les services aux entreprises.</a:t>
            </a:r>
          </a:p>
        </p:txBody>
      </p:sp>
      <p:sp>
        <p:nvSpPr>
          <p:cNvPr id="48" name="TextBox 41">
            <a:extLst>
              <a:ext uri="{FF2B5EF4-FFF2-40B4-BE49-F238E27FC236}">
                <a16:creationId xmlns:a16="http://schemas.microsoft.com/office/drawing/2014/main" id="{8E0093FA-C47C-25C7-D59B-435F312B08A9}"/>
              </a:ext>
            </a:extLst>
          </p:cNvPr>
          <p:cNvSpPr txBox="1"/>
          <p:nvPr/>
        </p:nvSpPr>
        <p:spPr>
          <a:xfrm>
            <a:off x="5311045" y="6618761"/>
            <a:ext cx="1610039" cy="154466"/>
          </a:xfrm>
          <a:prstGeom prst="rect">
            <a:avLst/>
          </a:prstGeom>
        </p:spPr>
        <p:txBody>
          <a:bodyPr lIns="0" tIns="0" rIns="0" bIns="0" rtlCol="0" anchor="t">
            <a:spAutoFit/>
          </a:bodyPr>
          <a:lstStyle/>
          <a:p>
            <a:pPr algn="just">
              <a:lnSpc>
                <a:spcPts val="1200"/>
              </a:lnSpc>
            </a:pPr>
            <a:r>
              <a:rPr lang="en-US" sz="1200" i="1" spc="6" dirty="0">
                <a:solidFill>
                  <a:srgbClr val="231F20"/>
                </a:solidFill>
                <a:latin typeface="IBM Plex Sans Italics"/>
                <a:ea typeface="IBM Plex Sans Italics"/>
                <a:cs typeface="IBM Plex Sans Italics"/>
                <a:sym typeface="IBM Plex Sans Italics"/>
              </a:rPr>
              <a:t>Management d’équipe, structure d’entreprise
Analyse de Marché et Marketing International
Marketing Opérationnel et outils digitaux
</a:t>
            </a:r>
          </a:p>
        </p:txBody>
      </p:sp>
      <p:sp>
        <p:nvSpPr>
          <p:cNvPr id="49" name="TextBox 44">
            <a:extLst>
              <a:ext uri="{FF2B5EF4-FFF2-40B4-BE49-F238E27FC236}">
                <a16:creationId xmlns:a16="http://schemas.microsoft.com/office/drawing/2014/main" id="{EDAAFF42-D414-AA60-9DCD-4740F69D58BC}"/>
              </a:ext>
            </a:extLst>
          </p:cNvPr>
          <p:cNvSpPr txBox="1"/>
          <p:nvPr/>
        </p:nvSpPr>
        <p:spPr>
          <a:xfrm>
            <a:off x="2497055" y="10250005"/>
            <a:ext cx="2515629" cy="151428"/>
          </a:xfrm>
          <a:prstGeom prst="rect">
            <a:avLst/>
          </a:prstGeom>
        </p:spPr>
        <p:txBody>
          <a:bodyPr lIns="0" tIns="0" rIns="0" bIns="0" rtlCol="0" anchor="t">
            <a:spAutoFit/>
          </a:bodyPr>
          <a:lstStyle/>
          <a:p>
            <a:pPr algn="l">
              <a:lnSpc>
                <a:spcPts val="1260"/>
              </a:lnSpc>
            </a:pPr>
            <a:r>
              <a:rPr lang="en-US" sz="900" i="1" spc="26">
                <a:solidFill>
                  <a:srgbClr val="939496"/>
                </a:solidFill>
                <a:latin typeface="IBM Plex Sans Italics"/>
                <a:ea typeface="IBM Plex Sans Italics"/>
                <a:cs typeface="IBM Plex Sans Italics"/>
                <a:sym typeface="IBM Plex Sans Italics"/>
              </a:rPr>
              <a:t>Etablissement d’enseignement supérieur privé</a:t>
            </a:r>
          </a:p>
        </p:txBody>
      </p:sp>
      <p:sp>
        <p:nvSpPr>
          <p:cNvPr id="50" name="TextBox 49">
            <a:extLst>
              <a:ext uri="{FF2B5EF4-FFF2-40B4-BE49-F238E27FC236}">
                <a16:creationId xmlns:a16="http://schemas.microsoft.com/office/drawing/2014/main" id="{CACE8705-6751-B83C-5F08-0947E12278A6}"/>
              </a:ext>
            </a:extLst>
          </p:cNvPr>
          <p:cNvSpPr txBox="1"/>
          <p:nvPr/>
        </p:nvSpPr>
        <p:spPr>
          <a:xfrm>
            <a:off x="5452586" y="1494596"/>
            <a:ext cx="783022" cy="192491"/>
          </a:xfrm>
          <a:prstGeom prst="rect">
            <a:avLst/>
          </a:prstGeom>
        </p:spPr>
        <p:txBody>
          <a:bodyPr lIns="0" tIns="0" rIns="0" bIns="0" rtlCol="0" anchor="t">
            <a:spAutoFit/>
          </a:bodyPr>
          <a:lstStyle/>
          <a:p>
            <a:pPr algn="l">
              <a:lnSpc>
                <a:spcPts val="1539"/>
              </a:lnSpc>
            </a:pPr>
            <a:r>
              <a:rPr lang="en-US" sz="1100" spc="6" dirty="0">
                <a:solidFill>
                  <a:srgbClr val="464395"/>
                </a:solidFill>
                <a:latin typeface="IBM Plex Sans"/>
                <a:ea typeface="IBM Plex Sans"/>
                <a:cs typeface="IBM Plex Sans"/>
                <a:sym typeface="IBM Plex Sans"/>
              </a:rPr>
              <a:t>ADMISSION</a:t>
            </a:r>
          </a:p>
        </p:txBody>
      </p:sp>
      <p:sp>
        <p:nvSpPr>
          <p:cNvPr id="51" name="TextBox 34">
            <a:extLst>
              <a:ext uri="{FF2B5EF4-FFF2-40B4-BE49-F238E27FC236}">
                <a16:creationId xmlns:a16="http://schemas.microsoft.com/office/drawing/2014/main" id="{AEBFAF10-85F4-7A59-D43C-C69A77618A72}"/>
              </a:ext>
            </a:extLst>
          </p:cNvPr>
          <p:cNvSpPr txBox="1"/>
          <p:nvPr/>
        </p:nvSpPr>
        <p:spPr>
          <a:xfrm>
            <a:off x="2661175" y="1713840"/>
            <a:ext cx="723062" cy="212174"/>
          </a:xfrm>
          <a:prstGeom prst="rect">
            <a:avLst/>
          </a:prstGeom>
        </p:spPr>
        <p:txBody>
          <a:bodyPr lIns="0" tIns="0" rIns="0" bIns="0" rtlCol="0" anchor="t">
            <a:spAutoFit/>
          </a:bodyPr>
          <a:lstStyle/>
          <a:p>
            <a:pPr algn="l">
              <a:lnSpc>
                <a:spcPts val="1783"/>
              </a:lnSpc>
            </a:pPr>
            <a:r>
              <a:rPr lang="en-US" sz="1200" i="1" spc="6" dirty="0">
                <a:solidFill>
                  <a:srgbClr val="231F20"/>
                </a:solidFill>
                <a:latin typeface="IBM Plex Sans Italics"/>
                <a:ea typeface="IBM Plex Sans Italics"/>
                <a:cs typeface="IBM Plex Sans Italics"/>
                <a:sym typeface="IBM Plex Sans Italics"/>
              </a:rPr>
              <a:t>Français</a:t>
            </a:r>
          </a:p>
        </p:txBody>
      </p:sp>
      <p:sp>
        <p:nvSpPr>
          <p:cNvPr id="52" name="TextBox 38">
            <a:extLst>
              <a:ext uri="{FF2B5EF4-FFF2-40B4-BE49-F238E27FC236}">
                <a16:creationId xmlns:a16="http://schemas.microsoft.com/office/drawing/2014/main" id="{E6A687A3-4E6E-A90E-ACFA-6C7B1172AE49}"/>
              </a:ext>
            </a:extLst>
          </p:cNvPr>
          <p:cNvSpPr txBox="1"/>
          <p:nvPr/>
        </p:nvSpPr>
        <p:spPr>
          <a:xfrm>
            <a:off x="3924805" y="1694420"/>
            <a:ext cx="1022483" cy="212174"/>
          </a:xfrm>
          <a:prstGeom prst="rect">
            <a:avLst/>
          </a:prstGeom>
        </p:spPr>
        <p:txBody>
          <a:bodyPr wrap="square" lIns="0" tIns="0" rIns="0" bIns="0" rtlCol="0" anchor="t">
            <a:spAutoFit/>
          </a:bodyPr>
          <a:lstStyle/>
          <a:p>
            <a:pPr>
              <a:lnSpc>
                <a:spcPts val="1796"/>
              </a:lnSpc>
            </a:pPr>
            <a:r>
              <a:rPr lang="en-US" sz="1200" i="1" spc="6" dirty="0">
                <a:solidFill>
                  <a:srgbClr val="231F20"/>
                </a:solidFill>
                <a:latin typeface="IBM Plex Sans Italics"/>
                <a:ea typeface="IBM Plex Sans Italics"/>
                <a:cs typeface="IBM Plex Sans Italics"/>
                <a:sym typeface="IBM Plex Sans Italics"/>
              </a:rPr>
              <a:t>4 mois en entreprise</a:t>
            </a:r>
          </a:p>
        </p:txBody>
      </p:sp>
      <p:sp>
        <p:nvSpPr>
          <p:cNvPr id="53" name="TextBox 31">
            <a:extLst>
              <a:ext uri="{FF2B5EF4-FFF2-40B4-BE49-F238E27FC236}">
                <a16:creationId xmlns:a16="http://schemas.microsoft.com/office/drawing/2014/main" id="{0CAF67BB-C9D2-68CA-870C-9A8CCCCEE879}"/>
              </a:ext>
            </a:extLst>
          </p:cNvPr>
          <p:cNvSpPr txBox="1"/>
          <p:nvPr/>
        </p:nvSpPr>
        <p:spPr>
          <a:xfrm>
            <a:off x="1302506" y="1722168"/>
            <a:ext cx="918219" cy="192938"/>
          </a:xfrm>
          <a:prstGeom prst="rect">
            <a:avLst/>
          </a:prstGeom>
        </p:spPr>
        <p:txBody>
          <a:bodyPr lIns="0" tIns="0" rIns="0" bIns="0" rtlCol="0" anchor="t">
            <a:spAutoFit/>
          </a:bodyPr>
          <a:lstStyle/>
          <a:p>
            <a:pPr>
              <a:lnSpc>
                <a:spcPts val="1614"/>
              </a:lnSpc>
            </a:pPr>
            <a:r>
              <a:rPr lang="en-US" sz="1200" i="1" spc="7" dirty="0">
                <a:solidFill>
                  <a:srgbClr val="231F20"/>
                </a:solidFill>
                <a:latin typeface="IBM Plex Sans Italics"/>
                <a:ea typeface="IBM Plex Sans Italics"/>
                <a:cs typeface="IBM Plex Sans Italics"/>
                <a:sym typeface="IBM Plex Sans Italics"/>
              </a:rPr>
              <a:t>Automne Printemps</a:t>
            </a:r>
            <a:endParaRPr lang="en-US" sz="1200" i="1" spc="6" dirty="0">
              <a:solidFill>
                <a:srgbClr val="231F20"/>
              </a:solidFill>
              <a:latin typeface="IBM Plex Sans Italics"/>
              <a:ea typeface="IBM Plex Sans Italics"/>
              <a:cs typeface="IBM Plex Sans Italics"/>
              <a:sym typeface="IBM Plex Sans Italics"/>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p:cNvGrpSpPr>
            <a:grpSpLocks noChangeAspect="1"/>
          </p:cNvGrpSpPr>
          <p:nvPr/>
        </p:nvGrpSpPr>
        <p:grpSpPr>
          <a:xfrm>
            <a:off x="1079383" y="4764424"/>
            <a:ext cx="762505" cy="679580"/>
            <a:chOff x="0" y="0"/>
            <a:chExt cx="762495" cy="679577"/>
          </a:xfrm>
        </p:grpSpPr>
        <p:sp>
          <p:nvSpPr>
            <p:cNvPr id="3" name="Freeform 3"/>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6985"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p:cNvSpPr/>
            <p:nvPr/>
          </p:nvSpPr>
          <p:spPr>
            <a:xfrm>
              <a:off x="260477" y="267970"/>
              <a:ext cx="120269" cy="140081"/>
            </a:xfrm>
            <a:custGeom>
              <a:avLst/>
              <a:gdLst/>
              <a:ahLst/>
              <a:cxnLst/>
              <a:rect l="l" t="t" r="r" b="b"/>
              <a:pathLst>
                <a:path w="120269"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071" y="0"/>
                  </a:cubicBezTo>
                  <a:lnTo>
                    <a:pt x="76581" y="1778"/>
                  </a:lnTo>
                  <a:cubicBezTo>
                    <a:pt x="91313" y="8890"/>
                    <a:pt x="97663" y="13716"/>
                    <a:pt x="103124" y="19939"/>
                  </a:cubicBezTo>
                  <a:lnTo>
                    <a:pt x="115697" y="42037"/>
                  </a:lnTo>
                  <a:cubicBezTo>
                    <a:pt x="118745" y="50546"/>
                    <a:pt x="120269" y="59944"/>
                    <a:pt x="120269" y="70104"/>
                  </a:cubicBezTo>
                  <a:moveTo>
                    <a:pt x="88773" y="70104"/>
                  </a:moveTo>
                  <a:lnTo>
                    <a:pt x="88011" y="58293"/>
                  </a:lnTo>
                  <a:cubicBezTo>
                    <a:pt x="85217" y="48006"/>
                    <a:pt x="83185" y="43561"/>
                    <a:pt x="80645" y="39878"/>
                  </a:cubicBezTo>
                  <a:lnTo>
                    <a:pt x="75057" y="33401"/>
                  </a:lnTo>
                  <a:lnTo>
                    <a:pt x="64262" y="28448"/>
                  </a:lnTo>
                  <a:cubicBezTo>
                    <a:pt x="55753" y="28448"/>
                    <a:pt x="51816" y="29464"/>
                    <a:pt x="48260" y="31496"/>
                  </a:cubicBezTo>
                  <a:lnTo>
                    <a:pt x="41783" y="36322"/>
                  </a:lnTo>
                  <a:cubicBezTo>
                    <a:pt x="36703" y="43688"/>
                    <a:pt x="34671" y="48133"/>
                    <a:pt x="33274" y="53340"/>
                  </a:cubicBezTo>
                  <a:lnTo>
                    <a:pt x="31115" y="64135"/>
                  </a:lnTo>
                  <a:cubicBezTo>
                    <a:pt x="31115" y="76454"/>
                    <a:pt x="31877" y="82042"/>
                    <a:pt x="33274" y="87122"/>
                  </a:cubicBezTo>
                  <a:lnTo>
                    <a:pt x="36703" y="96520"/>
                  </a:lnTo>
                  <a:cubicBezTo>
                    <a:pt x="41783" y="103886"/>
                    <a:pt x="44831" y="106807"/>
                    <a:pt x="48387" y="108712"/>
                  </a:cubicBezTo>
                  <a:lnTo>
                    <a:pt x="55753" y="111760"/>
                  </a:lnTo>
                  <a:lnTo>
                    <a:pt x="68199" y="110744"/>
                  </a:lnTo>
                  <a:cubicBezTo>
                    <a:pt x="75184" y="106680"/>
                    <a:pt x="78232" y="103886"/>
                    <a:pt x="80772" y="100203"/>
                  </a:cubicBezTo>
                  <a:lnTo>
                    <a:pt x="85344" y="92075"/>
                  </a:lnTo>
                  <a:cubicBezTo>
                    <a:pt x="88138" y="81915"/>
                    <a:pt x="88900" y="76327"/>
                    <a:pt x="88900" y="70104"/>
                  </a:cubicBezTo>
                </a:path>
              </a:pathLst>
            </a:custGeom>
            <a:solidFill>
              <a:srgbClr val="7DE314"/>
            </a:solidFill>
          </p:spPr>
          <p:txBody>
            <a:bodyPr/>
            <a:lstStyle/>
            <a:p>
              <a:endParaRPr lang="fr-FR"/>
            </a:p>
          </p:txBody>
        </p:sp>
        <p:sp>
          <p:nvSpPr>
            <p:cNvPr id="7" name="Freeform 7"/>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163" y="37719"/>
                    <a:pt x="31115" y="39751"/>
                  </a:cubicBezTo>
                  <a:lnTo>
                    <a:pt x="24765" y="43434"/>
                  </a:lnTo>
                  <a:lnTo>
                    <a:pt x="13970" y="48260"/>
                  </a:lnTo>
                  <a:cubicBezTo>
                    <a:pt x="6350" y="50419"/>
                    <a:pt x="3048"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p:cNvGrpSpPr>
            <a:grpSpLocks noChangeAspect="1"/>
          </p:cNvGrpSpPr>
          <p:nvPr/>
        </p:nvGrpSpPr>
        <p:grpSpPr>
          <a:xfrm>
            <a:off x="3338779" y="4757195"/>
            <a:ext cx="762505" cy="686800"/>
            <a:chOff x="0" y="0"/>
            <a:chExt cx="762495" cy="686803"/>
          </a:xfrm>
        </p:grpSpPr>
        <p:sp>
          <p:nvSpPr>
            <p:cNvPr id="9" name="Freeform 9"/>
            <p:cNvSpPr/>
            <p:nvPr/>
          </p:nvSpPr>
          <p:spPr>
            <a:xfrm>
              <a:off x="63500" y="63500"/>
              <a:ext cx="635508" cy="559689"/>
            </a:xfrm>
            <a:custGeom>
              <a:avLst/>
              <a:gdLst/>
              <a:ahLst/>
              <a:cxnLst/>
              <a:rect l="l" t="t" r="r" b="b"/>
              <a:pathLst>
                <a:path w="635508" h="559689">
                  <a:moveTo>
                    <a:pt x="631698" y="294132"/>
                  </a:moveTo>
                  <a:lnTo>
                    <a:pt x="487045" y="545465"/>
                  </a:lnTo>
                  <a:cubicBezTo>
                    <a:pt x="481965" y="554355"/>
                    <a:pt x="472567" y="559689"/>
                    <a:pt x="462407" y="559689"/>
                  </a:cubicBezTo>
                  <a:lnTo>
                    <a:pt x="173101" y="559689"/>
                  </a:lnTo>
                  <a:cubicBezTo>
                    <a:pt x="162941" y="559689"/>
                    <a:pt x="153543" y="554228"/>
                    <a:pt x="148463" y="545465"/>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p:cNvGrpSpPr>
            <a:grpSpLocks noChangeAspect="1"/>
          </p:cNvGrpSpPr>
          <p:nvPr/>
        </p:nvGrpSpPr>
        <p:grpSpPr>
          <a:xfrm>
            <a:off x="5424068" y="4749946"/>
            <a:ext cx="762505" cy="694058"/>
            <a:chOff x="0" y="0"/>
            <a:chExt cx="762495" cy="694055"/>
          </a:xfrm>
        </p:grpSpPr>
        <p:sp>
          <p:nvSpPr>
            <p:cNvPr id="15" name="Freeform 15"/>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6" name="Freeform 16"/>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7" name="Freeform 17"/>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18" name="Freeform 18"/>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19" name="Freeform 19"/>
            <p:cNvSpPr/>
            <p:nvPr/>
          </p:nvSpPr>
          <p:spPr>
            <a:xfrm>
              <a:off x="388493"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0" name="Group 20"/>
          <p:cNvGrpSpPr>
            <a:grpSpLocks noChangeAspect="1"/>
          </p:cNvGrpSpPr>
          <p:nvPr/>
        </p:nvGrpSpPr>
        <p:grpSpPr>
          <a:xfrm>
            <a:off x="0" y="2680973"/>
            <a:ext cx="7559993" cy="1642539"/>
            <a:chOff x="0" y="0"/>
            <a:chExt cx="7559992" cy="1642542"/>
          </a:xfrm>
        </p:grpSpPr>
        <p:sp>
          <p:nvSpPr>
            <p:cNvPr id="21" name="Freeform 21"/>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22" name="Group 22"/>
          <p:cNvGrpSpPr>
            <a:grpSpLocks noChangeAspect="1"/>
          </p:cNvGrpSpPr>
          <p:nvPr/>
        </p:nvGrpSpPr>
        <p:grpSpPr>
          <a:xfrm>
            <a:off x="756000" y="269119"/>
            <a:ext cx="6476448" cy="1983229"/>
            <a:chOff x="0" y="0"/>
            <a:chExt cx="6476454" cy="1983232"/>
          </a:xfrm>
        </p:grpSpPr>
        <p:sp>
          <p:nvSpPr>
            <p:cNvPr id="23" name="Freeform 23"/>
            <p:cNvSpPr/>
            <p:nvPr/>
          </p:nvSpPr>
          <p:spPr>
            <a:xfrm>
              <a:off x="63500" y="387477"/>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4" name="Freeform 24"/>
            <p:cNvSpPr/>
            <p:nvPr/>
          </p:nvSpPr>
          <p:spPr>
            <a:xfrm>
              <a:off x="582422" y="137871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5" name="Freeform 25"/>
            <p:cNvSpPr/>
            <p:nvPr/>
          </p:nvSpPr>
          <p:spPr>
            <a:xfrm>
              <a:off x="1836928" y="138899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6" name="Freeform 26"/>
            <p:cNvSpPr/>
            <p:nvPr/>
          </p:nvSpPr>
          <p:spPr>
            <a:xfrm>
              <a:off x="3118358" y="1374648"/>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7" name="Freeform 27"/>
            <p:cNvSpPr/>
            <p:nvPr/>
          </p:nvSpPr>
          <p:spPr>
            <a:xfrm>
              <a:off x="4558411" y="1370330"/>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8" name="Freeform 28"/>
            <p:cNvSpPr/>
            <p:nvPr/>
          </p:nvSpPr>
          <p:spPr>
            <a:xfrm>
              <a:off x="5732653" y="63500"/>
              <a:ext cx="680212" cy="646176"/>
            </a:xfrm>
            <a:custGeom>
              <a:avLst/>
              <a:gdLst/>
              <a:ahLst/>
              <a:cxnLst/>
              <a:rect l="l" t="t" r="r" b="b"/>
              <a:pathLst>
                <a:path w="680212" h="646176">
                  <a:moveTo>
                    <a:pt x="340106" y="646049"/>
                  </a:moveTo>
                  <a:cubicBezTo>
                    <a:pt x="527939" y="646049"/>
                    <a:pt x="680212" y="501396"/>
                    <a:pt x="680212" y="322961"/>
                  </a:cubicBezTo>
                  <a:cubicBezTo>
                    <a:pt x="680212" y="144526"/>
                    <a:pt x="528066" y="0"/>
                    <a:pt x="340106" y="0"/>
                  </a:cubicBezTo>
                  <a:cubicBezTo>
                    <a:pt x="152146"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9" name="Freeform 29"/>
            <p:cNvSpPr/>
            <p:nvPr/>
          </p:nvSpPr>
          <p:spPr>
            <a:xfrm>
              <a:off x="559435" y="186055"/>
              <a:ext cx="1947672" cy="416306"/>
            </a:xfrm>
            <a:custGeom>
              <a:avLst/>
              <a:gdLst/>
              <a:ahLst/>
              <a:cxnLst/>
              <a:rect l="l" t="t" r="r" b="b"/>
              <a:pathLst>
                <a:path w="1947672" h="416306">
                  <a:moveTo>
                    <a:pt x="0" y="416306"/>
                  </a:moveTo>
                  <a:lnTo>
                    <a:pt x="1947672" y="416306"/>
                  </a:lnTo>
                  <a:lnTo>
                    <a:pt x="1947672" y="0"/>
                  </a:lnTo>
                  <a:lnTo>
                    <a:pt x="0" y="0"/>
                  </a:lnTo>
                  <a:close/>
                </a:path>
              </a:pathLst>
            </a:custGeom>
            <a:solidFill>
              <a:srgbClr val="FFFFFF"/>
            </a:solidFill>
          </p:spPr>
          <p:txBody>
            <a:bodyPr/>
            <a:lstStyle/>
            <a:p>
              <a:endParaRPr lang="fr-FR"/>
            </a:p>
          </p:txBody>
        </p:sp>
      </p:grpSp>
      <p:sp>
        <p:nvSpPr>
          <p:cNvPr id="30" name="TextBox 99"/>
          <p:cNvSpPr txBox="1"/>
          <p:nvPr/>
        </p:nvSpPr>
        <p:spPr>
          <a:xfrm>
            <a:off x="6672167" y="9971913"/>
            <a:ext cx="248917" cy="240665"/>
          </a:xfrm>
          <a:prstGeom prst="rect">
            <a:avLst/>
          </a:prstGeom>
        </p:spPr>
        <p:txBody>
          <a:bodyPr lIns="0" tIns="0" rIns="0" bIns="0" rtlCol="0" anchor="t">
            <a:spAutoFit/>
          </a:bodyPr>
          <a:lstStyle/>
          <a:p>
            <a:pPr algn="l">
              <a:lnSpc>
                <a:spcPts val="1959"/>
              </a:lnSpc>
            </a:pPr>
            <a:r>
              <a:rPr lang="en-US" sz="1399" b="1" spc="8">
                <a:solidFill>
                  <a:srgbClr val="231F20"/>
                </a:solidFill>
                <a:latin typeface="IBM Plex Sans Bold"/>
                <a:ea typeface="IBM Plex Sans Bold"/>
                <a:cs typeface="IBM Plex Sans Bold"/>
                <a:sym typeface="IBM Plex Sans Bold"/>
              </a:rPr>
              <a:t>14</a:t>
            </a:r>
          </a:p>
        </p:txBody>
      </p:sp>
      <p:sp>
        <p:nvSpPr>
          <p:cNvPr id="31" name="TextBox 51"/>
          <p:cNvSpPr txBox="1"/>
          <p:nvPr/>
        </p:nvSpPr>
        <p:spPr>
          <a:xfrm>
            <a:off x="1474355" y="1529747"/>
            <a:ext cx="1066499" cy="202556"/>
          </a:xfrm>
          <a:prstGeom prst="rect">
            <a:avLst/>
          </a:prstGeom>
        </p:spPr>
        <p:txBody>
          <a:bodyPr wrap="square" lIns="0" tIns="0" rIns="0" bIns="0" rtlCol="0" anchor="t">
            <a:spAutoFit/>
          </a:bodyPr>
          <a:lstStyle/>
          <a:p>
            <a:pPr algn="just">
              <a:lnSpc>
                <a:spcPts val="1705"/>
              </a:lnSpc>
            </a:pPr>
            <a:r>
              <a:rPr lang="en-US" sz="1200" spc="4" dirty="0">
                <a:solidFill>
                  <a:srgbClr val="464395"/>
                </a:solidFill>
                <a:latin typeface="IBM Plex Sans"/>
                <a:ea typeface="IBM Plex Sans"/>
                <a:cs typeface="IBM Plex Sans"/>
                <a:sym typeface="IBM Plex Sans"/>
              </a:rPr>
              <a:t>2 INTAKES</a:t>
            </a:r>
            <a:endParaRPr lang="en-US" sz="1200" i="1" spc="4" dirty="0">
              <a:solidFill>
                <a:srgbClr val="231F20"/>
              </a:solidFill>
              <a:latin typeface="IBM Plex Sans Italics"/>
              <a:ea typeface="IBM Plex Sans Italics"/>
              <a:cs typeface="IBM Plex Sans Italics"/>
              <a:sym typeface="IBM Plex Sans Italics"/>
            </a:endParaRPr>
          </a:p>
        </p:txBody>
      </p:sp>
      <p:sp>
        <p:nvSpPr>
          <p:cNvPr id="32" name="TextBox 32"/>
          <p:cNvSpPr txBox="1"/>
          <p:nvPr/>
        </p:nvSpPr>
        <p:spPr>
          <a:xfrm>
            <a:off x="567738" y="6584175"/>
            <a:ext cx="1606115" cy="154466"/>
          </a:xfrm>
          <a:prstGeom prst="rect">
            <a:avLst/>
          </a:prstGeom>
        </p:spPr>
        <p:txBody>
          <a:bodyPr lIns="0" tIns="0" rIns="0" bIns="0" rtlCol="0" anchor="t">
            <a:spAutoFit/>
          </a:bodyPr>
          <a:lstStyle/>
          <a:p>
            <a:pPr>
              <a:lnSpc>
                <a:spcPts val="1200"/>
              </a:lnSpc>
            </a:pPr>
            <a:r>
              <a:rPr lang="en-US" sz="1200" i="1" spc="4" dirty="0">
                <a:solidFill>
                  <a:srgbClr val="1A1447"/>
                </a:solidFill>
                <a:latin typeface="IBM Plex Sans Italics"/>
                <a:ea typeface="IBM Plex Sans Italics"/>
                <a:cs typeface="IBM Plex Sans Italics"/>
                <a:sym typeface="IBM Plex Sans Italics"/>
              </a:rPr>
              <a:t>French language for international students 
Culture, Economy &amp; Geopolitics
Business English &amp; Communication
</a:t>
            </a:r>
          </a:p>
        </p:txBody>
      </p:sp>
      <p:sp>
        <p:nvSpPr>
          <p:cNvPr id="33" name="TextBox 33"/>
          <p:cNvSpPr txBox="1"/>
          <p:nvPr/>
        </p:nvSpPr>
        <p:spPr>
          <a:xfrm>
            <a:off x="618915" y="5447243"/>
            <a:ext cx="1789005"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TO START 
LANGUAGE ENTRY LEVEL</a:t>
            </a:r>
          </a:p>
        </p:txBody>
      </p:sp>
      <p:sp>
        <p:nvSpPr>
          <p:cNvPr id="34" name="TextBox 52"/>
          <p:cNvSpPr txBox="1"/>
          <p:nvPr/>
        </p:nvSpPr>
        <p:spPr>
          <a:xfrm>
            <a:off x="2746506" y="1510697"/>
            <a:ext cx="838810" cy="221792"/>
          </a:xfrm>
          <a:prstGeom prst="rect">
            <a:avLst/>
          </a:prstGeom>
        </p:spPr>
        <p:txBody>
          <a:bodyPr lIns="0" tIns="0" rIns="0" bIns="0" rtlCol="0" anchor="t">
            <a:spAutoFit/>
          </a:bodyPr>
          <a:lstStyle/>
          <a:p>
            <a:pPr algn="just">
              <a:lnSpc>
                <a:spcPts val="1908"/>
              </a:lnSpc>
            </a:pPr>
            <a:r>
              <a:rPr lang="en-US" sz="1200" spc="4" dirty="0">
                <a:solidFill>
                  <a:srgbClr val="464395"/>
                </a:solidFill>
                <a:latin typeface="IBM Plex Sans"/>
                <a:ea typeface="IBM Plex Sans"/>
                <a:cs typeface="IBM Plex Sans"/>
                <a:sym typeface="IBM Plex Sans"/>
              </a:rPr>
              <a:t>LANGUAGE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5" name="TextBox 35"/>
          <p:cNvSpPr txBox="1"/>
          <p:nvPr/>
        </p:nvSpPr>
        <p:spPr>
          <a:xfrm>
            <a:off x="537734" y="9010415"/>
            <a:ext cx="3010814" cy="179536"/>
          </a:xfrm>
          <a:prstGeom prst="rect">
            <a:avLst/>
          </a:prstGeom>
        </p:spPr>
        <p:txBody>
          <a:bodyPr lIns="0" tIns="0" rIns="0" bIns="0" rtlCol="0" anchor="t">
            <a:spAutoFit/>
          </a:bodyPr>
          <a:lstStyle/>
          <a:p>
            <a:pPr algn="l">
              <a:lnSpc>
                <a:spcPts val="1439"/>
              </a:lnSpc>
            </a:pPr>
            <a:r>
              <a:rPr lang="en-US" sz="1200" i="1" spc="4" dirty="0" err="1">
                <a:solidFill>
                  <a:srgbClr val="1A1447"/>
                </a:solidFill>
                <a:latin typeface="IBM Plex Sans Italics"/>
                <a:ea typeface="IBM Plex Sans Italics"/>
                <a:cs typeface="IBM Plex Sans Italics"/>
                <a:sym typeface="IBM Plex Sans Italics"/>
              </a:rPr>
              <a:t>• Product manager 
• Marketing officer/manager
• Sales officer/manager
• Account manager 
• Key account manager
• International business manager assistant • International project coordinator</a:t>
            </a:r>
            <a:endParaRPr lang="en-US" sz="1200" i="1" spc="4" dirty="0">
              <a:solidFill>
                <a:srgbClr val="1A1447"/>
              </a:solidFill>
              <a:latin typeface="IBM Plex Sans Italics"/>
              <a:ea typeface="IBM Plex Sans Italics"/>
              <a:cs typeface="IBM Plex Sans Italics"/>
              <a:sym typeface="IBM Plex Sans Italics"/>
            </a:endParaRPr>
          </a:p>
        </p:txBody>
      </p:sp>
      <p:sp>
        <p:nvSpPr>
          <p:cNvPr id="36" name="TextBox 36"/>
          <p:cNvSpPr txBox="1"/>
          <p:nvPr/>
        </p:nvSpPr>
        <p:spPr>
          <a:xfrm>
            <a:off x="2754878" y="6599644"/>
            <a:ext cx="1543031"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4" dirty="0">
                <a:solidFill>
                  <a:srgbClr val="1A1447"/>
                </a:solidFill>
                <a:latin typeface="IBM Plex Sans Italics"/>
                <a:ea typeface="IBM Plex Sans Italics"/>
                <a:cs typeface="IBM Plex Sans Italics"/>
                <a:sym typeface="IBM Plex Sans Italics"/>
              </a:rPr>
              <a:t>Sales and commercial negociation
WebMarketing &amp; Business Development
</a:t>
            </a:r>
          </a:p>
        </p:txBody>
      </p:sp>
      <p:sp>
        <p:nvSpPr>
          <p:cNvPr id="37" name="TextBox 37"/>
          <p:cNvSpPr txBox="1"/>
          <p:nvPr/>
        </p:nvSpPr>
        <p:spPr>
          <a:xfrm>
            <a:off x="2932852" y="5447243"/>
            <a:ext cx="1520552"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SUPPORTED BY OUR MULTILINGUAL TEAM</a:t>
            </a:r>
          </a:p>
        </p:txBody>
      </p:sp>
      <p:sp>
        <p:nvSpPr>
          <p:cNvPr id="38" name="TextBox 53"/>
          <p:cNvSpPr txBox="1"/>
          <p:nvPr/>
        </p:nvSpPr>
        <p:spPr>
          <a:xfrm>
            <a:off x="4001006" y="1529747"/>
            <a:ext cx="1091866" cy="212174"/>
          </a:xfrm>
          <a:prstGeom prst="rect">
            <a:avLst/>
          </a:prstGeom>
        </p:spPr>
        <p:txBody>
          <a:bodyPr lIns="0" tIns="0" rIns="0" bIns="0" rtlCol="0" anchor="t">
            <a:spAutoFit/>
          </a:bodyPr>
          <a:lstStyle/>
          <a:p>
            <a:pPr algn="just">
              <a:lnSpc>
                <a:spcPts val="1796"/>
              </a:lnSpc>
            </a:pPr>
            <a:r>
              <a:rPr lang="en-US" sz="1200" spc="4" dirty="0">
                <a:solidFill>
                  <a:srgbClr val="464395"/>
                </a:solidFill>
                <a:latin typeface="IBM Plex Sans"/>
                <a:ea typeface="IBM Plex Sans"/>
                <a:cs typeface="IBM Plex Sans"/>
                <a:sym typeface="IBM Plex Sans"/>
              </a:rPr>
              <a:t>INTERNSHIP</a:t>
            </a:r>
          </a:p>
        </p:txBody>
      </p:sp>
      <p:sp>
        <p:nvSpPr>
          <p:cNvPr id="39" name="TextBox 39"/>
          <p:cNvSpPr txBox="1"/>
          <p:nvPr/>
        </p:nvSpPr>
        <p:spPr>
          <a:xfrm>
            <a:off x="5430213" y="1743483"/>
            <a:ext cx="1306830" cy="179536"/>
          </a:xfrm>
          <a:prstGeom prst="rect">
            <a:avLst/>
          </a:prstGeom>
        </p:spPr>
        <p:txBody>
          <a:bodyPr lIns="0" tIns="0" rIns="0" bIns="0" rtlCol="0" anchor="t">
            <a:spAutoFit/>
          </a:bodyPr>
          <a:lstStyle/>
          <a:p>
            <a:pPr>
              <a:lnSpc>
                <a:spcPts val="1439"/>
              </a:lnSpc>
            </a:pPr>
            <a:r>
              <a:rPr lang="en-US" sz="1200" i="1" spc="4" dirty="0">
                <a:solidFill>
                  <a:srgbClr val="231F20"/>
                </a:solidFill>
                <a:latin typeface="IBM Plex Sans Italics"/>
                <a:ea typeface="IBM Plex Sans Italics"/>
                <a:cs typeface="IBM Plex Sans Italics"/>
                <a:sym typeface="IBM Plex Sans Italics"/>
              </a:rPr>
              <a:t>On file and interview</a:t>
            </a:r>
          </a:p>
        </p:txBody>
      </p:sp>
      <p:sp>
        <p:nvSpPr>
          <p:cNvPr id="40" name="TextBox 40"/>
          <p:cNvSpPr txBox="1"/>
          <p:nvPr/>
        </p:nvSpPr>
        <p:spPr>
          <a:xfrm>
            <a:off x="5175047" y="5447243"/>
            <a:ext cx="1328147"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TITRE AVEC LABEL RNCP EN OPTION</a:t>
            </a:r>
          </a:p>
        </p:txBody>
      </p:sp>
      <p:sp>
        <p:nvSpPr>
          <p:cNvPr id="41" name="TextBox 41"/>
          <p:cNvSpPr txBox="1"/>
          <p:nvPr/>
        </p:nvSpPr>
        <p:spPr>
          <a:xfrm>
            <a:off x="4989195" y="6599644"/>
            <a:ext cx="1699851"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4" dirty="0">
                <a:solidFill>
                  <a:srgbClr val="1A1447"/>
                </a:solidFill>
                <a:latin typeface="IBM Plex Sans Italics"/>
                <a:ea typeface="IBM Plex Sans Italics"/>
                <a:cs typeface="IBM Plex Sans Italics"/>
                <a:sym typeface="IBM Plex Sans Italics"/>
              </a:rPr>
              <a:t>Operational Marketing models and practices
Marketing data research and analysis</a:t>
            </a:r>
          </a:p>
        </p:txBody>
      </p:sp>
      <p:sp>
        <p:nvSpPr>
          <p:cNvPr id="42" name="TextBox 42"/>
          <p:cNvSpPr txBox="1"/>
          <p:nvPr/>
        </p:nvSpPr>
        <p:spPr>
          <a:xfrm>
            <a:off x="774204" y="2950440"/>
            <a:ext cx="6055900" cy="179536"/>
          </a:xfrm>
          <a:prstGeom prst="rect">
            <a:avLst/>
          </a:prstGeom>
        </p:spPr>
        <p:txBody>
          <a:bodyPr lIns="0" tIns="0" rIns="0" bIns="0" rtlCol="0" anchor="t">
            <a:spAutoFit/>
          </a:bodyPr>
          <a:lstStyle/>
          <a:p>
            <a:pPr algn="just">
              <a:lnSpc>
                <a:spcPts val="1439"/>
              </a:lnSpc>
            </a:pPr>
            <a:r>
              <a:rPr lang="en-US" sz="1200" spc="7" dirty="0">
                <a:solidFill>
                  <a:srgbClr val="FFFFFF"/>
                </a:solidFill>
                <a:latin typeface="IBM Plex Sans"/>
                <a:ea typeface="IBM Plex Sans"/>
                <a:cs typeface="IBM Plex Sans"/>
                <a:sym typeface="IBM Plex Sans"/>
              </a:rPr>
              <a:t>Specialized program for international students, who will master three languages with a good knowledge of international business. 
The program starts with mainly language classes and aims at making you able to follow an intense program on the third year. You will become capable to develop business ac- tivities in France and abroad.
</a:t>
            </a:r>
            <a:endParaRPr lang="en-US" sz="1200" spc="4" dirty="0">
              <a:solidFill>
                <a:srgbClr val="FFFFFF"/>
              </a:solidFill>
              <a:latin typeface="IBM Plex Sans"/>
              <a:ea typeface="IBM Plex Sans"/>
              <a:cs typeface="IBM Plex Sans"/>
              <a:sym typeface="IBM Plex Sans"/>
            </a:endParaRPr>
          </a:p>
        </p:txBody>
      </p:sp>
      <p:sp>
        <p:nvSpPr>
          <p:cNvPr id="43" name="TextBox 43"/>
          <p:cNvSpPr txBox="1"/>
          <p:nvPr/>
        </p:nvSpPr>
        <p:spPr>
          <a:xfrm>
            <a:off x="6595587" y="404108"/>
            <a:ext cx="525475" cy="397269"/>
          </a:xfrm>
          <a:prstGeom prst="rect">
            <a:avLst/>
          </a:prstGeom>
        </p:spPr>
        <p:txBody>
          <a:bodyPr lIns="0" tIns="0" rIns="0" bIns="0" rtlCol="0" anchor="t">
            <a:spAutoFit/>
          </a:bodyPr>
          <a:lstStyle/>
          <a:p>
            <a:pPr algn="ctr">
              <a:lnSpc>
                <a:spcPts val="1660"/>
              </a:lnSpc>
            </a:pPr>
            <a:r>
              <a:rPr lang="en-US" sz="1399" b="1" spc="8" dirty="0">
                <a:solidFill>
                  <a:srgbClr val="FFFFFF"/>
                </a:solidFill>
                <a:latin typeface="IBM Plex Sans Bold"/>
                <a:ea typeface="IBM Plex Sans Bold"/>
                <a:cs typeface="IBM Plex Sans Bold"/>
                <a:sym typeface="IBM Plex Sans Bold"/>
              </a:rPr>
              <a:t>3 </a:t>
            </a:r>
          </a:p>
          <a:p>
            <a:pPr algn="l">
              <a:lnSpc>
                <a:spcPts val="1423"/>
              </a:lnSpc>
            </a:pPr>
            <a:r>
              <a:rPr lang="en-US" sz="1200" b="1" spc="7" dirty="0">
                <a:solidFill>
                  <a:srgbClr val="FFFFFF"/>
                </a:solidFill>
                <a:latin typeface="IBM Plex Sans Bold"/>
                <a:ea typeface="IBM Plex Sans Bold"/>
                <a:cs typeface="IBM Plex Sans Bold"/>
                <a:sym typeface="IBM Plex Sans Bold"/>
              </a:rPr>
              <a:t>YEARS</a:t>
            </a:r>
          </a:p>
        </p:txBody>
      </p:sp>
      <p:sp>
        <p:nvSpPr>
          <p:cNvPr id="44" name="TextBox 44"/>
          <p:cNvSpPr txBox="1"/>
          <p:nvPr/>
        </p:nvSpPr>
        <p:spPr>
          <a:xfrm>
            <a:off x="2597896" y="10378411"/>
            <a:ext cx="2515629" cy="151428"/>
          </a:xfrm>
          <a:prstGeom prst="rect">
            <a:avLst/>
          </a:prstGeom>
        </p:spPr>
        <p:txBody>
          <a:bodyPr lIns="0" tIns="0" rIns="0" bIns="0" rtlCol="0" anchor="t">
            <a:spAutoFit/>
          </a:bodyPr>
          <a:lstStyle/>
          <a:p>
            <a:pPr algn="l">
              <a:lnSpc>
                <a:spcPts val="1260"/>
              </a:lnSpc>
            </a:pPr>
            <a:r>
              <a:rPr lang="en-US" sz="900" i="1" spc="25">
                <a:solidFill>
                  <a:srgbClr val="939496"/>
                </a:solidFill>
                <a:latin typeface="IBM Plex Sans Italics"/>
                <a:ea typeface="IBM Plex Sans Italics"/>
                <a:cs typeface="IBM Plex Sans Italics"/>
                <a:sym typeface="IBM Plex Sans Italics"/>
              </a:rPr>
              <a:t>Etablissement d’enseignement supérieur privé</a:t>
            </a:r>
          </a:p>
        </p:txBody>
      </p:sp>
      <p:sp>
        <p:nvSpPr>
          <p:cNvPr id="45" name="TextBox 45"/>
          <p:cNvSpPr txBox="1"/>
          <p:nvPr/>
        </p:nvSpPr>
        <p:spPr>
          <a:xfrm>
            <a:off x="537734" y="8547291"/>
            <a:ext cx="354531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OCCUPATIONS</a:t>
            </a:r>
          </a:p>
        </p:txBody>
      </p:sp>
      <p:sp>
        <p:nvSpPr>
          <p:cNvPr id="46" name="TextBox 46"/>
          <p:cNvSpPr txBox="1"/>
          <p:nvPr/>
        </p:nvSpPr>
        <p:spPr>
          <a:xfrm>
            <a:off x="537734" y="6063605"/>
            <a:ext cx="3915670"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TEACHING UNITS</a:t>
            </a:r>
          </a:p>
        </p:txBody>
      </p:sp>
      <p:sp>
        <p:nvSpPr>
          <p:cNvPr id="47" name="TextBox 47"/>
          <p:cNvSpPr txBox="1"/>
          <p:nvPr/>
        </p:nvSpPr>
        <p:spPr>
          <a:xfrm>
            <a:off x="537734" y="4387205"/>
            <a:ext cx="423111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TOP3 - KEY POINTS</a:t>
            </a:r>
          </a:p>
        </p:txBody>
      </p:sp>
      <p:sp>
        <p:nvSpPr>
          <p:cNvPr id="48" name="TextBox 48"/>
          <p:cNvSpPr txBox="1"/>
          <p:nvPr/>
        </p:nvSpPr>
        <p:spPr>
          <a:xfrm>
            <a:off x="1465355" y="960787"/>
            <a:ext cx="5130232" cy="270202"/>
          </a:xfrm>
          <a:prstGeom prst="rect">
            <a:avLst/>
          </a:prstGeom>
        </p:spPr>
        <p:txBody>
          <a:bodyPr wrap="square" lIns="0" tIns="0" rIns="0" bIns="0" rtlCol="0" anchor="t">
            <a:spAutoFit/>
          </a:bodyPr>
          <a:lstStyle/>
          <a:p>
            <a:pPr algn="just">
              <a:lnSpc>
                <a:spcPts val="2160"/>
              </a:lnSpc>
            </a:pPr>
            <a:r>
              <a:rPr lang="en-US" sz="1800" b="1" spc="7" dirty="0">
                <a:solidFill>
                  <a:srgbClr val="1A1447"/>
                </a:solidFill>
                <a:latin typeface="IBM Plex Sans Bold"/>
                <a:ea typeface="IBM Plex Sans Bold"/>
                <a:cs typeface="IBM Plex Sans Bold"/>
                <a:sym typeface="IBM Plex Sans Bold"/>
              </a:rPr>
              <a:t>LANGUAGE &amp; INTERNATIONAL MARKETING FRENCH-ENGLISH</a:t>
            </a:r>
          </a:p>
        </p:txBody>
      </p:sp>
      <p:sp>
        <p:nvSpPr>
          <p:cNvPr id="49" name="TextBox 49"/>
          <p:cNvSpPr txBox="1"/>
          <p:nvPr/>
        </p:nvSpPr>
        <p:spPr>
          <a:xfrm>
            <a:off x="5455302" y="1547187"/>
            <a:ext cx="783022" cy="192491"/>
          </a:xfrm>
          <a:prstGeom prst="rect">
            <a:avLst/>
          </a:prstGeom>
        </p:spPr>
        <p:txBody>
          <a:bodyPr lIns="0" tIns="0" rIns="0" bIns="0" rtlCol="0" anchor="t">
            <a:spAutoFit/>
          </a:bodyPr>
          <a:lstStyle/>
          <a:p>
            <a:pPr algn="l">
              <a:lnSpc>
                <a:spcPts val="1539"/>
              </a:lnSpc>
            </a:pPr>
            <a:r>
              <a:rPr lang="en-US" sz="1100" spc="4" dirty="0">
                <a:solidFill>
                  <a:srgbClr val="464395"/>
                </a:solidFill>
                <a:latin typeface="IBM Plex Sans"/>
                <a:ea typeface="IBM Plex Sans"/>
                <a:cs typeface="IBM Plex Sans"/>
                <a:sym typeface="IBM Plex Sans"/>
              </a:rPr>
              <a:t>ADMISSION</a:t>
            </a:r>
          </a:p>
        </p:txBody>
      </p:sp>
      <p:sp>
        <p:nvSpPr>
          <p:cNvPr id="50" name="TextBox 50"/>
          <p:cNvSpPr txBox="1"/>
          <p:nvPr/>
        </p:nvSpPr>
        <p:spPr>
          <a:xfrm>
            <a:off x="1465355" y="468535"/>
            <a:ext cx="1795272" cy="405111"/>
          </a:xfrm>
          <a:prstGeom prst="rect">
            <a:avLst/>
          </a:prstGeom>
        </p:spPr>
        <p:txBody>
          <a:bodyPr lIns="0" tIns="0" rIns="0" bIns="0" rtlCol="0" anchor="t">
            <a:spAutoFit/>
          </a:bodyPr>
          <a:lstStyle/>
          <a:p>
            <a:pPr algn="l">
              <a:lnSpc>
                <a:spcPts val="3359"/>
              </a:lnSpc>
            </a:pPr>
            <a:r>
              <a:rPr lang="en-US" sz="2400" b="1" spc="14" dirty="0">
                <a:solidFill>
                  <a:srgbClr val="231F20"/>
                </a:solidFill>
                <a:latin typeface="IBM Plex Sans Bold"/>
                <a:ea typeface="IBM Plex Sans Bold"/>
                <a:cs typeface="IBM Plex Sans Bold"/>
                <a:sym typeface="IBM Plex Sans Bold"/>
              </a:rPr>
              <a:t>BACHELOR</a:t>
            </a:r>
          </a:p>
        </p:txBody>
      </p:sp>
      <p:sp>
        <p:nvSpPr>
          <p:cNvPr id="52" name="TextBox 31">
            <a:extLst>
              <a:ext uri="{FF2B5EF4-FFF2-40B4-BE49-F238E27FC236}">
                <a16:creationId xmlns:a16="http://schemas.microsoft.com/office/drawing/2014/main" id="{73338D7F-8308-E7F2-0829-44BBD7B44255}"/>
              </a:ext>
            </a:extLst>
          </p:cNvPr>
          <p:cNvSpPr txBox="1"/>
          <p:nvPr/>
        </p:nvSpPr>
        <p:spPr>
          <a:xfrm>
            <a:off x="1474356" y="1720247"/>
            <a:ext cx="780016" cy="202556"/>
          </a:xfrm>
          <a:prstGeom prst="rect">
            <a:avLst/>
          </a:prstGeom>
        </p:spPr>
        <p:txBody>
          <a:bodyPr lIns="0" tIns="0" rIns="0" bIns="0" rtlCol="0" anchor="t">
            <a:spAutoFit/>
          </a:bodyPr>
          <a:lstStyle/>
          <a:p>
            <a:pPr>
              <a:lnSpc>
                <a:spcPts val="1705"/>
              </a:lnSpc>
            </a:pPr>
            <a:r>
              <a:rPr lang="en-US" sz="1200" i="1" spc="4" dirty="0">
                <a:solidFill>
                  <a:srgbClr val="231F20"/>
                </a:solidFill>
                <a:latin typeface="IBM Plex Sans Italics"/>
                <a:ea typeface="IBM Plex Sans Italics"/>
                <a:cs typeface="IBM Plex Sans Italics"/>
                <a:sym typeface="IBM Plex Sans Italics"/>
              </a:rPr>
              <a:t>Fall Spring</a:t>
            </a:r>
          </a:p>
        </p:txBody>
      </p:sp>
      <p:sp>
        <p:nvSpPr>
          <p:cNvPr id="51" name="TextBox 34">
            <a:extLst>
              <a:ext uri="{FF2B5EF4-FFF2-40B4-BE49-F238E27FC236}">
                <a16:creationId xmlns:a16="http://schemas.microsoft.com/office/drawing/2014/main" id="{3F76F06D-7C5A-115E-C327-BCA4898F60E6}"/>
              </a:ext>
            </a:extLst>
          </p:cNvPr>
          <p:cNvSpPr txBox="1"/>
          <p:nvPr/>
        </p:nvSpPr>
        <p:spPr>
          <a:xfrm>
            <a:off x="2749061" y="1716228"/>
            <a:ext cx="838811" cy="221792"/>
          </a:xfrm>
          <a:prstGeom prst="rect">
            <a:avLst/>
          </a:prstGeom>
        </p:spPr>
        <p:txBody>
          <a:bodyPr lIns="0" tIns="0" rIns="0" bIns="0" rtlCol="0" anchor="t">
            <a:spAutoFit/>
          </a:bodyPr>
          <a:lstStyle/>
          <a:p>
            <a:pPr>
              <a:lnSpc>
                <a:spcPts val="1908"/>
              </a:lnSpc>
            </a:pPr>
            <a:r>
              <a:rPr lang="en-US" sz="1200" i="1" spc="4" dirty="0" err="1">
                <a:solidFill>
                  <a:srgbClr val="231F20"/>
                </a:solidFill>
                <a:latin typeface="IBM Plex Sans Italics"/>
                <a:ea typeface="IBM Plex Sans Italics"/>
                <a:cs typeface="IBM Plex Sans Italics"/>
                <a:sym typeface="IBM Plex Sans Italics"/>
              </a:rPr>
              <a:t>English</a:t>
            </a:r>
            <a:r>
              <a:rPr lang="en-US" sz="1200" i="1" spc="4" dirty="0">
                <a:solidFill>
                  <a:srgbClr val="231F20"/>
                </a:solidFill>
                <a:latin typeface="IBM Plex Sans Italics"/>
                <a:ea typeface="IBM Plex Sans Italics"/>
                <a:cs typeface="IBM Plex Sans Italics"/>
                <a:sym typeface="IBM Plex Sans Italics"/>
              </a:rPr>
              <a:t/>
            </a:r>
          </a:p>
        </p:txBody>
      </p:sp>
      <p:sp>
        <p:nvSpPr>
          <p:cNvPr id="54" name="TextBox 38">
            <a:extLst>
              <a:ext uri="{FF2B5EF4-FFF2-40B4-BE49-F238E27FC236}">
                <a16:creationId xmlns:a16="http://schemas.microsoft.com/office/drawing/2014/main" id="{F4D71D31-FE13-729F-DD0F-F89716948679}"/>
              </a:ext>
            </a:extLst>
          </p:cNvPr>
          <p:cNvSpPr txBox="1"/>
          <p:nvPr/>
        </p:nvSpPr>
        <p:spPr>
          <a:xfrm>
            <a:off x="3996412" y="1738606"/>
            <a:ext cx="899438" cy="420564"/>
          </a:xfrm>
          <a:prstGeom prst="rect">
            <a:avLst/>
          </a:prstGeom>
        </p:spPr>
        <p:txBody>
          <a:bodyPr wrap="square" lIns="0" tIns="0" rIns="0" bIns="0" rtlCol="0" anchor="t">
            <a:spAutoFit/>
          </a:bodyPr>
          <a:lstStyle/>
          <a:p>
            <a:pPr>
              <a:lnSpc>
                <a:spcPts val="1705"/>
              </a:lnSpc>
            </a:pPr>
            <a:r>
              <a:rPr lang="en-US" sz="1200" i="1" spc="4" dirty="0">
                <a:solidFill>
                  <a:srgbClr val="231F20"/>
                </a:solidFill>
                <a:latin typeface="IBM Plex Sans Italics"/>
                <a:ea typeface="IBM Plex Sans Italics"/>
                <a:cs typeface="IBM Plex Sans Italics"/>
                <a:sym typeface="IBM Plex Sans Italics"/>
              </a:rPr>
              <a:t>4 months experience</a:t>
            </a:r>
          </a:p>
          <a:p>
            <a:pPr algn="just">
              <a:lnSpc>
                <a:spcPts val="1705"/>
              </a:lnSpc>
            </a:pPr>
            <a:endParaRPr lang="en-US" sz="1200" i="1" spc="4" dirty="0">
              <a:solidFill>
                <a:srgbClr val="231F20"/>
              </a:solidFill>
              <a:latin typeface="IBM Plex Sans Italics"/>
              <a:ea typeface="IBM Plex Sans Italics"/>
              <a:cs typeface="IBM Plex Sans Italics"/>
              <a:sym typeface="IBM Plex Sans Italics"/>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p:cNvGrpSpPr>
            <a:grpSpLocks noChangeAspect="1"/>
          </p:cNvGrpSpPr>
          <p:nvPr/>
        </p:nvGrpSpPr>
        <p:grpSpPr>
          <a:xfrm>
            <a:off x="1079383" y="4764424"/>
            <a:ext cx="762505" cy="679580"/>
            <a:chOff x="0" y="0"/>
            <a:chExt cx="762495" cy="679577"/>
          </a:xfrm>
        </p:grpSpPr>
        <p:sp>
          <p:nvSpPr>
            <p:cNvPr id="3" name="Freeform 3"/>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6985"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p:cNvSpPr/>
            <p:nvPr/>
          </p:nvSpPr>
          <p:spPr>
            <a:xfrm>
              <a:off x="260477" y="267970"/>
              <a:ext cx="120269" cy="140081"/>
            </a:xfrm>
            <a:custGeom>
              <a:avLst/>
              <a:gdLst/>
              <a:ahLst/>
              <a:cxnLst/>
              <a:rect l="l" t="t" r="r" b="b"/>
              <a:pathLst>
                <a:path w="120269"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071" y="0"/>
                  </a:cubicBezTo>
                  <a:lnTo>
                    <a:pt x="76581" y="1778"/>
                  </a:lnTo>
                  <a:cubicBezTo>
                    <a:pt x="91313" y="8890"/>
                    <a:pt x="97663" y="13716"/>
                    <a:pt x="103124" y="19939"/>
                  </a:cubicBezTo>
                  <a:lnTo>
                    <a:pt x="115697" y="42037"/>
                  </a:lnTo>
                  <a:cubicBezTo>
                    <a:pt x="118745" y="50546"/>
                    <a:pt x="120269" y="59944"/>
                    <a:pt x="120269" y="70104"/>
                  </a:cubicBezTo>
                  <a:moveTo>
                    <a:pt x="88773" y="70104"/>
                  </a:moveTo>
                  <a:lnTo>
                    <a:pt x="88011" y="58293"/>
                  </a:lnTo>
                  <a:cubicBezTo>
                    <a:pt x="85217" y="48006"/>
                    <a:pt x="83185" y="43561"/>
                    <a:pt x="80645" y="39878"/>
                  </a:cubicBezTo>
                  <a:lnTo>
                    <a:pt x="75057" y="33401"/>
                  </a:lnTo>
                  <a:lnTo>
                    <a:pt x="64262" y="28448"/>
                  </a:lnTo>
                  <a:cubicBezTo>
                    <a:pt x="55753" y="28448"/>
                    <a:pt x="51816" y="29464"/>
                    <a:pt x="48260" y="31496"/>
                  </a:cubicBezTo>
                  <a:lnTo>
                    <a:pt x="41783" y="36322"/>
                  </a:lnTo>
                  <a:cubicBezTo>
                    <a:pt x="36703" y="43688"/>
                    <a:pt x="34671" y="48133"/>
                    <a:pt x="33274" y="53340"/>
                  </a:cubicBezTo>
                  <a:lnTo>
                    <a:pt x="31115" y="64135"/>
                  </a:lnTo>
                  <a:cubicBezTo>
                    <a:pt x="31115" y="76454"/>
                    <a:pt x="31877" y="82042"/>
                    <a:pt x="33274" y="87122"/>
                  </a:cubicBezTo>
                  <a:lnTo>
                    <a:pt x="36703" y="96520"/>
                  </a:lnTo>
                  <a:cubicBezTo>
                    <a:pt x="41783" y="103886"/>
                    <a:pt x="44831" y="106807"/>
                    <a:pt x="48387" y="108712"/>
                  </a:cubicBezTo>
                  <a:lnTo>
                    <a:pt x="55753" y="111760"/>
                  </a:lnTo>
                  <a:lnTo>
                    <a:pt x="68199" y="110744"/>
                  </a:lnTo>
                  <a:cubicBezTo>
                    <a:pt x="75184" y="106680"/>
                    <a:pt x="78232" y="103886"/>
                    <a:pt x="80772" y="100203"/>
                  </a:cubicBezTo>
                  <a:lnTo>
                    <a:pt x="85344" y="92075"/>
                  </a:lnTo>
                  <a:cubicBezTo>
                    <a:pt x="88138" y="81915"/>
                    <a:pt x="88900" y="76327"/>
                    <a:pt x="88900" y="70104"/>
                  </a:cubicBezTo>
                </a:path>
              </a:pathLst>
            </a:custGeom>
            <a:solidFill>
              <a:srgbClr val="7DE314"/>
            </a:solidFill>
          </p:spPr>
          <p:txBody>
            <a:bodyPr/>
            <a:lstStyle/>
            <a:p>
              <a:endParaRPr lang="fr-FR"/>
            </a:p>
          </p:txBody>
        </p:sp>
        <p:sp>
          <p:nvSpPr>
            <p:cNvPr id="7" name="Freeform 7"/>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163" y="37719"/>
                    <a:pt x="31115" y="39751"/>
                  </a:cubicBezTo>
                  <a:lnTo>
                    <a:pt x="24765" y="43434"/>
                  </a:lnTo>
                  <a:lnTo>
                    <a:pt x="13970" y="48260"/>
                  </a:lnTo>
                  <a:cubicBezTo>
                    <a:pt x="6350" y="50419"/>
                    <a:pt x="3048"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p:cNvGrpSpPr>
            <a:grpSpLocks noChangeAspect="1"/>
          </p:cNvGrpSpPr>
          <p:nvPr/>
        </p:nvGrpSpPr>
        <p:grpSpPr>
          <a:xfrm>
            <a:off x="3338779" y="4757195"/>
            <a:ext cx="762505" cy="686800"/>
            <a:chOff x="0" y="0"/>
            <a:chExt cx="762495" cy="686803"/>
          </a:xfrm>
        </p:grpSpPr>
        <p:sp>
          <p:nvSpPr>
            <p:cNvPr id="9" name="Freeform 9"/>
            <p:cNvSpPr/>
            <p:nvPr/>
          </p:nvSpPr>
          <p:spPr>
            <a:xfrm>
              <a:off x="63500" y="63500"/>
              <a:ext cx="635508" cy="559689"/>
            </a:xfrm>
            <a:custGeom>
              <a:avLst/>
              <a:gdLst/>
              <a:ahLst/>
              <a:cxnLst/>
              <a:rect l="l" t="t" r="r" b="b"/>
              <a:pathLst>
                <a:path w="635508" h="559689">
                  <a:moveTo>
                    <a:pt x="631698" y="294132"/>
                  </a:moveTo>
                  <a:lnTo>
                    <a:pt x="487045" y="545465"/>
                  </a:lnTo>
                  <a:cubicBezTo>
                    <a:pt x="481965" y="554355"/>
                    <a:pt x="472567" y="559689"/>
                    <a:pt x="462407" y="559689"/>
                  </a:cubicBezTo>
                  <a:lnTo>
                    <a:pt x="173101" y="559689"/>
                  </a:lnTo>
                  <a:cubicBezTo>
                    <a:pt x="162941" y="559689"/>
                    <a:pt x="153543" y="554228"/>
                    <a:pt x="148463" y="545465"/>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p:cNvGrpSpPr>
            <a:grpSpLocks noChangeAspect="1"/>
          </p:cNvGrpSpPr>
          <p:nvPr/>
        </p:nvGrpSpPr>
        <p:grpSpPr>
          <a:xfrm>
            <a:off x="5424068" y="4749946"/>
            <a:ext cx="762505" cy="694058"/>
            <a:chOff x="0" y="0"/>
            <a:chExt cx="762495" cy="694055"/>
          </a:xfrm>
        </p:grpSpPr>
        <p:sp>
          <p:nvSpPr>
            <p:cNvPr id="15" name="Freeform 15"/>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6" name="Freeform 16"/>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7" name="Freeform 17"/>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18" name="Freeform 18"/>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19" name="Freeform 19"/>
            <p:cNvSpPr/>
            <p:nvPr/>
          </p:nvSpPr>
          <p:spPr>
            <a:xfrm>
              <a:off x="388493"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0" name="Group 20"/>
          <p:cNvGrpSpPr>
            <a:grpSpLocks noChangeAspect="1"/>
          </p:cNvGrpSpPr>
          <p:nvPr/>
        </p:nvGrpSpPr>
        <p:grpSpPr>
          <a:xfrm>
            <a:off x="0" y="2680973"/>
            <a:ext cx="7559993" cy="1642539"/>
            <a:chOff x="0" y="0"/>
            <a:chExt cx="7559992" cy="1642542"/>
          </a:xfrm>
        </p:grpSpPr>
        <p:sp>
          <p:nvSpPr>
            <p:cNvPr id="21" name="Freeform 21"/>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22" name="Group 22"/>
          <p:cNvGrpSpPr>
            <a:grpSpLocks noChangeAspect="1"/>
          </p:cNvGrpSpPr>
          <p:nvPr/>
        </p:nvGrpSpPr>
        <p:grpSpPr>
          <a:xfrm>
            <a:off x="756000" y="269119"/>
            <a:ext cx="6476448" cy="1983229"/>
            <a:chOff x="0" y="0"/>
            <a:chExt cx="6476454" cy="1983232"/>
          </a:xfrm>
        </p:grpSpPr>
        <p:sp>
          <p:nvSpPr>
            <p:cNvPr id="23" name="Freeform 23"/>
            <p:cNvSpPr/>
            <p:nvPr/>
          </p:nvSpPr>
          <p:spPr>
            <a:xfrm>
              <a:off x="63500" y="387477"/>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4" name="Freeform 24"/>
            <p:cNvSpPr/>
            <p:nvPr/>
          </p:nvSpPr>
          <p:spPr>
            <a:xfrm>
              <a:off x="582422" y="137871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5" name="Freeform 25"/>
            <p:cNvSpPr/>
            <p:nvPr/>
          </p:nvSpPr>
          <p:spPr>
            <a:xfrm>
              <a:off x="1836928" y="138899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6" name="Freeform 26"/>
            <p:cNvSpPr/>
            <p:nvPr/>
          </p:nvSpPr>
          <p:spPr>
            <a:xfrm>
              <a:off x="3118358" y="1374648"/>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7" name="Freeform 27"/>
            <p:cNvSpPr/>
            <p:nvPr/>
          </p:nvSpPr>
          <p:spPr>
            <a:xfrm>
              <a:off x="4558411" y="1370330"/>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8" name="Freeform 28"/>
            <p:cNvSpPr/>
            <p:nvPr/>
          </p:nvSpPr>
          <p:spPr>
            <a:xfrm>
              <a:off x="5732653" y="63500"/>
              <a:ext cx="680212" cy="646176"/>
            </a:xfrm>
            <a:custGeom>
              <a:avLst/>
              <a:gdLst/>
              <a:ahLst/>
              <a:cxnLst/>
              <a:rect l="l" t="t" r="r" b="b"/>
              <a:pathLst>
                <a:path w="680212" h="646176">
                  <a:moveTo>
                    <a:pt x="340106" y="646049"/>
                  </a:moveTo>
                  <a:cubicBezTo>
                    <a:pt x="527939" y="646049"/>
                    <a:pt x="680212" y="501396"/>
                    <a:pt x="680212" y="322961"/>
                  </a:cubicBezTo>
                  <a:cubicBezTo>
                    <a:pt x="680212" y="144526"/>
                    <a:pt x="528066" y="0"/>
                    <a:pt x="340106" y="0"/>
                  </a:cubicBezTo>
                  <a:cubicBezTo>
                    <a:pt x="152146"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9" name="Freeform 29"/>
            <p:cNvSpPr/>
            <p:nvPr/>
          </p:nvSpPr>
          <p:spPr>
            <a:xfrm>
              <a:off x="559435" y="186055"/>
              <a:ext cx="1947672" cy="416306"/>
            </a:xfrm>
            <a:custGeom>
              <a:avLst/>
              <a:gdLst/>
              <a:ahLst/>
              <a:cxnLst/>
              <a:rect l="l" t="t" r="r" b="b"/>
              <a:pathLst>
                <a:path w="1947672" h="416306">
                  <a:moveTo>
                    <a:pt x="0" y="416306"/>
                  </a:moveTo>
                  <a:lnTo>
                    <a:pt x="1947672" y="416306"/>
                  </a:lnTo>
                  <a:lnTo>
                    <a:pt x="1947672" y="0"/>
                  </a:lnTo>
                  <a:lnTo>
                    <a:pt x="0" y="0"/>
                  </a:lnTo>
                  <a:close/>
                </a:path>
              </a:pathLst>
            </a:custGeom>
            <a:solidFill>
              <a:srgbClr val="FFFFFF"/>
            </a:solidFill>
          </p:spPr>
          <p:txBody>
            <a:bodyPr/>
            <a:lstStyle/>
            <a:p>
              <a:endParaRPr lang="fr-FR"/>
            </a:p>
          </p:txBody>
        </p:sp>
      </p:grpSp>
      <p:sp>
        <p:nvSpPr>
          <p:cNvPr id="30" name="TextBox 99"/>
          <p:cNvSpPr txBox="1"/>
          <p:nvPr/>
        </p:nvSpPr>
        <p:spPr>
          <a:xfrm>
            <a:off x="6672167" y="9971913"/>
            <a:ext cx="248917" cy="240665"/>
          </a:xfrm>
          <a:prstGeom prst="rect">
            <a:avLst/>
          </a:prstGeom>
        </p:spPr>
        <p:txBody>
          <a:bodyPr lIns="0" tIns="0" rIns="0" bIns="0" rtlCol="0" anchor="t">
            <a:spAutoFit/>
          </a:bodyPr>
          <a:lstStyle/>
          <a:p>
            <a:pPr algn="l">
              <a:lnSpc>
                <a:spcPts val="1959"/>
              </a:lnSpc>
            </a:pPr>
            <a:r>
              <a:rPr lang="en-US" sz="1399" b="1" spc="8">
                <a:solidFill>
                  <a:srgbClr val="231F20"/>
                </a:solidFill>
                <a:latin typeface="IBM Plex Sans Bold"/>
                <a:ea typeface="IBM Plex Sans Bold"/>
                <a:cs typeface="IBM Plex Sans Bold"/>
                <a:sym typeface="IBM Plex Sans Bold"/>
              </a:rPr>
              <a:t>15</a:t>
            </a:r>
          </a:p>
        </p:txBody>
      </p:sp>
      <p:sp>
        <p:nvSpPr>
          <p:cNvPr id="31" name="TextBox 51"/>
          <p:cNvSpPr txBox="1"/>
          <p:nvPr/>
        </p:nvSpPr>
        <p:spPr>
          <a:xfrm>
            <a:off x="1474355" y="1529747"/>
            <a:ext cx="1066499" cy="202556"/>
          </a:xfrm>
          <a:prstGeom prst="rect">
            <a:avLst/>
          </a:prstGeom>
        </p:spPr>
        <p:txBody>
          <a:bodyPr wrap="square" lIns="0" tIns="0" rIns="0" bIns="0" rtlCol="0" anchor="t">
            <a:spAutoFit/>
          </a:bodyPr>
          <a:lstStyle/>
          <a:p>
            <a:pPr algn="just">
              <a:lnSpc>
                <a:spcPts val="1705"/>
              </a:lnSpc>
            </a:pPr>
            <a:r>
              <a:rPr lang="en-US" sz="1200" spc="4" dirty="0">
                <a:solidFill>
                  <a:srgbClr val="464395"/>
                </a:solidFill>
                <a:latin typeface="IBM Plex Sans"/>
                <a:ea typeface="IBM Plex Sans"/>
                <a:cs typeface="IBM Plex Sans"/>
                <a:sym typeface="IBM Plex Sans"/>
              </a:rPr>
              <a:t>2 RENTRÉES</a:t>
            </a:r>
            <a:endParaRPr lang="en-US" sz="1200" i="1" spc="4" dirty="0">
              <a:solidFill>
                <a:srgbClr val="231F20"/>
              </a:solidFill>
              <a:latin typeface="IBM Plex Sans Italics"/>
              <a:ea typeface="IBM Plex Sans Italics"/>
              <a:cs typeface="IBM Plex Sans Italics"/>
              <a:sym typeface="IBM Plex Sans Italics"/>
            </a:endParaRPr>
          </a:p>
        </p:txBody>
      </p:sp>
      <p:sp>
        <p:nvSpPr>
          <p:cNvPr id="32" name="TextBox 32"/>
          <p:cNvSpPr txBox="1"/>
          <p:nvPr/>
        </p:nvSpPr>
        <p:spPr>
          <a:xfrm>
            <a:off x="567738" y="6584175"/>
            <a:ext cx="1606115" cy="154466"/>
          </a:xfrm>
          <a:prstGeom prst="rect">
            <a:avLst/>
          </a:prstGeom>
        </p:spPr>
        <p:txBody>
          <a:bodyPr lIns="0" tIns="0" rIns="0" bIns="0" rtlCol="0" anchor="t">
            <a:spAutoFit/>
          </a:bodyPr>
          <a:lstStyle/>
          <a:p>
            <a:pPr>
              <a:lnSpc>
                <a:spcPts val="1200"/>
              </a:lnSpc>
            </a:pPr>
            <a:r>
              <a:rPr lang="en-US" sz="1200" i="1" spc="4" dirty="0">
                <a:solidFill>
                  <a:srgbClr val="1A1447"/>
                </a:solidFill>
                <a:latin typeface="IBM Plex Sans Italics"/>
                <a:ea typeface="IBM Plex Sans Italics"/>
                <a:cs typeface="IBM Plex Sans Italics"/>
                <a:sym typeface="IBM Plex Sans Italics"/>
              </a:rPr>
              <a:t>Economie, mondialisation et Géopolique
Techniques du Commerce International
Prospection, Plan commercial, Négociation 
</a:t>
            </a:r>
          </a:p>
        </p:txBody>
      </p:sp>
      <p:sp>
        <p:nvSpPr>
          <p:cNvPr id="33" name="TextBox 33"/>
          <p:cNvSpPr txBox="1"/>
          <p:nvPr/>
        </p:nvSpPr>
        <p:spPr>
          <a:xfrm>
            <a:off x="618915" y="5447243"/>
            <a:ext cx="1789005"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FILIERE EN FORTE REPRISE
</a:t>
            </a:r>
          </a:p>
        </p:txBody>
      </p:sp>
      <p:sp>
        <p:nvSpPr>
          <p:cNvPr id="34" name="TextBox 52"/>
          <p:cNvSpPr txBox="1"/>
          <p:nvPr/>
        </p:nvSpPr>
        <p:spPr>
          <a:xfrm>
            <a:off x="2746506" y="1510697"/>
            <a:ext cx="838810" cy="221792"/>
          </a:xfrm>
          <a:prstGeom prst="rect">
            <a:avLst/>
          </a:prstGeom>
        </p:spPr>
        <p:txBody>
          <a:bodyPr lIns="0" tIns="0" rIns="0" bIns="0" rtlCol="0" anchor="t">
            <a:spAutoFit/>
          </a:bodyPr>
          <a:lstStyle/>
          <a:p>
            <a:pPr algn="just">
              <a:lnSpc>
                <a:spcPts val="1908"/>
              </a:lnSpc>
            </a:pPr>
            <a:r>
              <a:rPr lang="en-US" sz="1200" spc="4" dirty="0">
                <a:solidFill>
                  <a:srgbClr val="464395"/>
                </a:solidFill>
                <a:latin typeface="IBM Plex Sans"/>
                <a:ea typeface="IBM Plex Sans"/>
                <a:cs typeface="IBM Plex Sans"/>
                <a:sym typeface="IBM Plex Sans"/>
              </a:rPr>
              <a:t>LANGUE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5" name="TextBox 35"/>
          <p:cNvSpPr txBox="1"/>
          <p:nvPr/>
        </p:nvSpPr>
        <p:spPr>
          <a:xfrm>
            <a:off x="537734" y="9010415"/>
            <a:ext cx="3010814" cy="179536"/>
          </a:xfrm>
          <a:prstGeom prst="rect">
            <a:avLst/>
          </a:prstGeom>
        </p:spPr>
        <p:txBody>
          <a:bodyPr lIns="0" tIns="0" rIns="0" bIns="0" rtlCol="0" anchor="t">
            <a:spAutoFit/>
          </a:bodyPr>
          <a:lstStyle/>
          <a:p>
            <a:pPr algn="l">
              <a:lnSpc>
                <a:spcPts val="1439"/>
              </a:lnSpc>
            </a:pPr>
            <a:r>
              <a:rPr lang="en-US" sz="1200" i="1" spc="4" dirty="0" err="1">
                <a:solidFill>
                  <a:srgbClr val="1A1447"/>
                </a:solidFill>
                <a:latin typeface="IBM Plex Sans Italics"/>
                <a:ea typeface="IBM Plex Sans Italics"/>
                <a:cs typeface="IBM Plex Sans Italics"/>
                <a:sym typeface="IBM Plex Sans Italics"/>
              </a:rPr>
              <a:t>• Responsable produit
• Technico-commercial
• Chargé d’études marketing
• Chargé de communication
• Développeur commercial
• Responsable de grands comptes
• Coordinateur de projets internationaux
</a:t>
            </a:r>
            <a:endParaRPr lang="en-US" sz="1200" i="1" spc="4" dirty="0">
              <a:solidFill>
                <a:srgbClr val="1A1447"/>
              </a:solidFill>
              <a:latin typeface="IBM Plex Sans Italics"/>
              <a:ea typeface="IBM Plex Sans Italics"/>
              <a:cs typeface="IBM Plex Sans Italics"/>
              <a:sym typeface="IBM Plex Sans Italics"/>
            </a:endParaRPr>
          </a:p>
        </p:txBody>
      </p:sp>
      <p:sp>
        <p:nvSpPr>
          <p:cNvPr id="36" name="TextBox 36"/>
          <p:cNvSpPr txBox="1"/>
          <p:nvPr/>
        </p:nvSpPr>
        <p:spPr>
          <a:xfrm>
            <a:off x="2754878" y="6599644"/>
            <a:ext cx="1543031"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4" dirty="0">
                <a:solidFill>
                  <a:srgbClr val="1A1447"/>
                </a:solidFill>
                <a:latin typeface="IBM Plex Sans Italics"/>
                <a:ea typeface="IBM Plex Sans Italics"/>
                <a:cs typeface="IBM Plex Sans Italics"/>
                <a:sym typeface="IBM Plex Sans Italics"/>
              </a:rPr>
              <a:t>Management, structure d’entreprise et gestion
Droit et applications dans les entreprises
Gestion logistique et douanière
</a:t>
            </a:r>
          </a:p>
        </p:txBody>
      </p:sp>
      <p:sp>
        <p:nvSpPr>
          <p:cNvPr id="37" name="TextBox 37"/>
          <p:cNvSpPr txBox="1"/>
          <p:nvPr/>
        </p:nvSpPr>
        <p:spPr>
          <a:xfrm>
            <a:off x="2932852" y="5447243"/>
            <a:ext cx="1520552"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RESEAU HISTORIQUE DE PARTENAIRES
</a:t>
            </a:r>
          </a:p>
        </p:txBody>
      </p:sp>
      <p:sp>
        <p:nvSpPr>
          <p:cNvPr id="38" name="TextBox 53"/>
          <p:cNvSpPr txBox="1"/>
          <p:nvPr/>
        </p:nvSpPr>
        <p:spPr>
          <a:xfrm>
            <a:off x="4001006" y="1529747"/>
            <a:ext cx="1091866" cy="212174"/>
          </a:xfrm>
          <a:prstGeom prst="rect">
            <a:avLst/>
          </a:prstGeom>
        </p:spPr>
        <p:txBody>
          <a:bodyPr lIns="0" tIns="0" rIns="0" bIns="0" rtlCol="0" anchor="t">
            <a:spAutoFit/>
          </a:bodyPr>
          <a:lstStyle/>
          <a:p>
            <a:pPr algn="just">
              <a:lnSpc>
                <a:spcPts val="1796"/>
              </a:lnSpc>
            </a:pPr>
            <a:r>
              <a:rPr lang="en-US" sz="1200" spc="4" dirty="0">
                <a:solidFill>
                  <a:srgbClr val="464395"/>
                </a:solidFill>
                <a:latin typeface="IBM Plex Sans"/>
                <a:ea typeface="IBM Plex Sans"/>
                <a:cs typeface="IBM Plex Sans"/>
                <a:sym typeface="IBM Plex Sans"/>
              </a:rPr>
              <a:t>STAGE</a:t>
            </a:r>
          </a:p>
        </p:txBody>
      </p:sp>
      <p:sp>
        <p:nvSpPr>
          <p:cNvPr id="39" name="TextBox 39"/>
          <p:cNvSpPr txBox="1"/>
          <p:nvPr/>
        </p:nvSpPr>
        <p:spPr>
          <a:xfrm>
            <a:off x="5430213" y="1743483"/>
            <a:ext cx="1306830" cy="179536"/>
          </a:xfrm>
          <a:prstGeom prst="rect">
            <a:avLst/>
          </a:prstGeom>
        </p:spPr>
        <p:txBody>
          <a:bodyPr lIns="0" tIns="0" rIns="0" bIns="0" rtlCol="0" anchor="t">
            <a:spAutoFit/>
          </a:bodyPr>
          <a:lstStyle/>
          <a:p>
            <a:pPr>
              <a:lnSpc>
                <a:spcPts val="1439"/>
              </a:lnSpc>
            </a:pPr>
            <a:r>
              <a:rPr lang="en-US" sz="1200" i="1" spc="4" dirty="0">
                <a:solidFill>
                  <a:srgbClr val="231F20"/>
                </a:solidFill>
                <a:latin typeface="IBM Plex Sans Italics"/>
                <a:ea typeface="IBM Plex Sans Italics"/>
                <a:cs typeface="IBM Plex Sans Italics"/>
                <a:sym typeface="IBM Plex Sans Italics"/>
              </a:rPr>
              <a:t>Sur dossier et entretien</a:t>
            </a:r>
          </a:p>
        </p:txBody>
      </p:sp>
      <p:sp>
        <p:nvSpPr>
          <p:cNvPr id="40" name="TextBox 40"/>
          <p:cNvSpPr txBox="1"/>
          <p:nvPr/>
        </p:nvSpPr>
        <p:spPr>
          <a:xfrm>
            <a:off x="5175047" y="5447243"/>
            <a:ext cx="1328147"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TITRE AVEC LABEL RNCP EN OPTION</a:t>
            </a:r>
          </a:p>
        </p:txBody>
      </p:sp>
      <p:sp>
        <p:nvSpPr>
          <p:cNvPr id="41" name="TextBox 41"/>
          <p:cNvSpPr txBox="1"/>
          <p:nvPr/>
        </p:nvSpPr>
        <p:spPr>
          <a:xfrm>
            <a:off x="4989195" y="6599644"/>
            <a:ext cx="1699851"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4" dirty="0">
                <a:solidFill>
                  <a:srgbClr val="1A1447"/>
                </a:solidFill>
                <a:latin typeface="IBM Plex Sans Italics"/>
                <a:ea typeface="IBM Plex Sans Italics"/>
                <a:cs typeface="IBM Plex Sans Italics"/>
                <a:sym typeface="IBM Plex Sans Italics"/>
              </a:rPr>
              <a:t>Anglais général Anglais des affaires
Analyse de Marché et Marketing International
Marketing Opérationnel et outils digitaux
</a:t>
            </a:r>
          </a:p>
        </p:txBody>
      </p:sp>
      <p:sp>
        <p:nvSpPr>
          <p:cNvPr id="42" name="TextBox 42"/>
          <p:cNvSpPr txBox="1"/>
          <p:nvPr/>
        </p:nvSpPr>
        <p:spPr>
          <a:xfrm>
            <a:off x="774204" y="2950440"/>
            <a:ext cx="6055900" cy="179536"/>
          </a:xfrm>
          <a:prstGeom prst="rect">
            <a:avLst/>
          </a:prstGeom>
        </p:spPr>
        <p:txBody>
          <a:bodyPr lIns="0" tIns="0" rIns="0" bIns="0" rtlCol="0" anchor="t">
            <a:spAutoFit/>
          </a:bodyPr>
          <a:lstStyle/>
          <a:p>
            <a:pPr algn="just">
              <a:lnSpc>
                <a:spcPts val="1439"/>
              </a:lnSpc>
            </a:pPr>
            <a:r>
              <a:rPr lang="en-US" sz="1200" spc="7" dirty="0">
                <a:solidFill>
                  <a:srgbClr val="FFFFFF"/>
                </a:solidFill>
                <a:latin typeface="IBM Plex Sans"/>
                <a:ea typeface="IBM Plex Sans"/>
                <a:cs typeface="IBM Plex Sans"/>
                <a:sym typeface="IBM Plex Sans"/>
              </a:rPr>
              <a:t>Le Bac+3 Bachelor Marketing et Commerce International (MCI) a pour objectif de former des professionnels maîtrisant les concepts et outils du Marketing, ainsi que les calculs et techniques d’import-export. 
Vous serez capable de mettre en œuvre des campagnes marketing adaptées aux spéci- ficités de votre future entreprise, d’accompagner et exécuter les projets d’opérations de transport, de détaxe et de distribution au niveau international.
</a:t>
            </a:r>
            <a:endParaRPr lang="en-US" sz="1200" spc="4" dirty="0">
              <a:solidFill>
                <a:srgbClr val="FFFFFF"/>
              </a:solidFill>
              <a:latin typeface="IBM Plex Sans"/>
              <a:ea typeface="IBM Plex Sans"/>
              <a:cs typeface="IBM Plex Sans"/>
              <a:sym typeface="IBM Plex Sans"/>
            </a:endParaRPr>
          </a:p>
        </p:txBody>
      </p:sp>
      <p:sp>
        <p:nvSpPr>
          <p:cNvPr id="43" name="TextBox 43"/>
          <p:cNvSpPr txBox="1"/>
          <p:nvPr/>
        </p:nvSpPr>
        <p:spPr>
          <a:xfrm>
            <a:off x="6595587" y="404108"/>
            <a:ext cx="525475" cy="397269"/>
          </a:xfrm>
          <a:prstGeom prst="rect">
            <a:avLst/>
          </a:prstGeom>
        </p:spPr>
        <p:txBody>
          <a:bodyPr lIns="0" tIns="0" rIns="0" bIns="0" rtlCol="0" anchor="t">
            <a:spAutoFit/>
          </a:bodyPr>
          <a:lstStyle/>
          <a:p>
            <a:pPr algn="ctr">
              <a:lnSpc>
                <a:spcPts val="1660"/>
              </a:lnSpc>
            </a:pPr>
            <a:r>
              <a:rPr lang="en-US" sz="1399" b="1" spc="8" dirty="0">
                <a:solidFill>
                  <a:srgbClr val="FFFFFF"/>
                </a:solidFill>
                <a:latin typeface="IBM Plex Sans Bold"/>
                <a:ea typeface="IBM Plex Sans Bold"/>
                <a:cs typeface="IBM Plex Sans Bold"/>
                <a:sym typeface="IBM Plex Sans Bold"/>
              </a:rPr>
              <a:t>3 </a:t>
            </a:r>
          </a:p>
          <a:p>
            <a:pPr algn="l">
              <a:lnSpc>
                <a:spcPts val="1423"/>
              </a:lnSpc>
            </a:pPr>
            <a:r>
              <a:rPr lang="en-US" sz="1200" b="1" spc="7" dirty="0">
                <a:solidFill>
                  <a:srgbClr val="FFFFFF"/>
                </a:solidFill>
                <a:latin typeface="IBM Plex Sans Bold"/>
                <a:ea typeface="IBM Plex Sans Bold"/>
                <a:cs typeface="IBM Plex Sans Bold"/>
                <a:sym typeface="IBM Plex Sans Bold"/>
              </a:rPr>
              <a:t>YEARS</a:t>
            </a:r>
          </a:p>
        </p:txBody>
      </p:sp>
      <p:sp>
        <p:nvSpPr>
          <p:cNvPr id="44" name="TextBox 44"/>
          <p:cNvSpPr txBox="1"/>
          <p:nvPr/>
        </p:nvSpPr>
        <p:spPr>
          <a:xfrm>
            <a:off x="2597896" y="10378411"/>
            <a:ext cx="2515629" cy="151428"/>
          </a:xfrm>
          <a:prstGeom prst="rect">
            <a:avLst/>
          </a:prstGeom>
        </p:spPr>
        <p:txBody>
          <a:bodyPr lIns="0" tIns="0" rIns="0" bIns="0" rtlCol="0" anchor="t">
            <a:spAutoFit/>
          </a:bodyPr>
          <a:lstStyle/>
          <a:p>
            <a:pPr algn="l">
              <a:lnSpc>
                <a:spcPts val="1260"/>
              </a:lnSpc>
            </a:pPr>
            <a:r>
              <a:rPr lang="en-US" sz="900" i="1" spc="25">
                <a:solidFill>
                  <a:srgbClr val="939496"/>
                </a:solidFill>
                <a:latin typeface="IBM Plex Sans Italics"/>
                <a:ea typeface="IBM Plex Sans Italics"/>
                <a:cs typeface="IBM Plex Sans Italics"/>
                <a:sym typeface="IBM Plex Sans Italics"/>
              </a:rPr>
              <a:t>Etablissement d’enseignement supérieur privé</a:t>
            </a:r>
          </a:p>
        </p:txBody>
      </p:sp>
      <p:sp>
        <p:nvSpPr>
          <p:cNvPr id="45" name="TextBox 45"/>
          <p:cNvSpPr txBox="1"/>
          <p:nvPr/>
        </p:nvSpPr>
        <p:spPr>
          <a:xfrm>
            <a:off x="537734" y="8547291"/>
            <a:ext cx="354531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OPPORTUNITÉS MÉTIERS</a:t>
            </a:r>
          </a:p>
        </p:txBody>
      </p:sp>
      <p:sp>
        <p:nvSpPr>
          <p:cNvPr id="46" name="TextBox 46"/>
          <p:cNvSpPr txBox="1"/>
          <p:nvPr/>
        </p:nvSpPr>
        <p:spPr>
          <a:xfrm>
            <a:off x="537734" y="6063605"/>
            <a:ext cx="3915670"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ENSEIGNEMENTS</a:t>
            </a:r>
          </a:p>
        </p:txBody>
      </p:sp>
      <p:sp>
        <p:nvSpPr>
          <p:cNvPr id="47" name="TextBox 47"/>
          <p:cNvSpPr txBox="1"/>
          <p:nvPr/>
        </p:nvSpPr>
        <p:spPr>
          <a:xfrm>
            <a:off x="537734" y="4387205"/>
            <a:ext cx="423111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TOP3 - POINTS FORTS</a:t>
            </a:r>
          </a:p>
        </p:txBody>
      </p:sp>
      <p:sp>
        <p:nvSpPr>
          <p:cNvPr id="48" name="TextBox 48"/>
          <p:cNvSpPr txBox="1"/>
          <p:nvPr/>
        </p:nvSpPr>
        <p:spPr>
          <a:xfrm>
            <a:off x="1465355" y="960787"/>
            <a:ext cx="5130232" cy="270202"/>
          </a:xfrm>
          <a:prstGeom prst="rect">
            <a:avLst/>
          </a:prstGeom>
        </p:spPr>
        <p:txBody>
          <a:bodyPr wrap="square" lIns="0" tIns="0" rIns="0" bIns="0" rtlCol="0" anchor="t">
            <a:spAutoFit/>
          </a:bodyPr>
          <a:lstStyle/>
          <a:p>
            <a:pPr algn="just">
              <a:lnSpc>
                <a:spcPts val="2160"/>
              </a:lnSpc>
            </a:pPr>
            <a:r>
              <a:rPr lang="en-US" sz="1800" b="1" spc="7" dirty="0">
                <a:solidFill>
                  <a:srgbClr val="1A1447"/>
                </a:solidFill>
                <a:latin typeface="IBM Plex Sans Bold"/>
                <a:ea typeface="IBM Plex Sans Bold"/>
                <a:cs typeface="IBM Plex Sans Bold"/>
                <a:sym typeface="IBM Plex Sans Bold"/>
              </a:rPr>
              <a:t>MARKETING ET COMMERCE INTERNATIONAL</a:t>
            </a:r>
          </a:p>
        </p:txBody>
      </p:sp>
      <p:sp>
        <p:nvSpPr>
          <p:cNvPr id="49" name="TextBox 49"/>
          <p:cNvSpPr txBox="1"/>
          <p:nvPr/>
        </p:nvSpPr>
        <p:spPr>
          <a:xfrm>
            <a:off x="5455302" y="1547187"/>
            <a:ext cx="783022" cy="192491"/>
          </a:xfrm>
          <a:prstGeom prst="rect">
            <a:avLst/>
          </a:prstGeom>
        </p:spPr>
        <p:txBody>
          <a:bodyPr lIns="0" tIns="0" rIns="0" bIns="0" rtlCol="0" anchor="t">
            <a:spAutoFit/>
          </a:bodyPr>
          <a:lstStyle/>
          <a:p>
            <a:pPr algn="l">
              <a:lnSpc>
                <a:spcPts val="1539"/>
              </a:lnSpc>
            </a:pPr>
            <a:r>
              <a:rPr lang="en-US" sz="1100" spc="4" dirty="0">
                <a:solidFill>
                  <a:srgbClr val="464395"/>
                </a:solidFill>
                <a:latin typeface="IBM Plex Sans"/>
                <a:ea typeface="IBM Plex Sans"/>
                <a:cs typeface="IBM Plex Sans"/>
                <a:sym typeface="IBM Plex Sans"/>
              </a:rPr>
              <a:t>ADMISSION</a:t>
            </a:r>
          </a:p>
        </p:txBody>
      </p:sp>
      <p:sp>
        <p:nvSpPr>
          <p:cNvPr id="50" name="TextBox 50"/>
          <p:cNvSpPr txBox="1"/>
          <p:nvPr/>
        </p:nvSpPr>
        <p:spPr>
          <a:xfrm>
            <a:off x="1465355" y="468535"/>
            <a:ext cx="1795272" cy="405111"/>
          </a:xfrm>
          <a:prstGeom prst="rect">
            <a:avLst/>
          </a:prstGeom>
        </p:spPr>
        <p:txBody>
          <a:bodyPr lIns="0" tIns="0" rIns="0" bIns="0" rtlCol="0" anchor="t">
            <a:spAutoFit/>
          </a:bodyPr>
          <a:lstStyle/>
          <a:p>
            <a:pPr algn="l">
              <a:lnSpc>
                <a:spcPts val="3359"/>
              </a:lnSpc>
            </a:pPr>
            <a:r>
              <a:rPr lang="en-US" sz="2400" b="1" spc="14" dirty="0">
                <a:solidFill>
                  <a:srgbClr val="231F20"/>
                </a:solidFill>
                <a:latin typeface="IBM Plex Sans Bold"/>
                <a:ea typeface="IBM Plex Sans Bold"/>
                <a:cs typeface="IBM Plex Sans Bold"/>
                <a:sym typeface="IBM Plex Sans Bold"/>
              </a:rPr>
              <a:t>BACHELOR</a:t>
            </a:r>
          </a:p>
        </p:txBody>
      </p:sp>
      <p:sp>
        <p:nvSpPr>
          <p:cNvPr id="52" name="TextBox 31">
            <a:extLst>
              <a:ext uri="{FF2B5EF4-FFF2-40B4-BE49-F238E27FC236}">
                <a16:creationId xmlns:a16="http://schemas.microsoft.com/office/drawing/2014/main" id="{73338D7F-8308-E7F2-0829-44BBD7B44255}"/>
              </a:ext>
            </a:extLst>
          </p:cNvPr>
          <p:cNvSpPr txBox="1"/>
          <p:nvPr/>
        </p:nvSpPr>
        <p:spPr>
          <a:xfrm>
            <a:off x="1474356" y="1720247"/>
            <a:ext cx="780016" cy="202556"/>
          </a:xfrm>
          <a:prstGeom prst="rect">
            <a:avLst/>
          </a:prstGeom>
        </p:spPr>
        <p:txBody>
          <a:bodyPr lIns="0" tIns="0" rIns="0" bIns="0" rtlCol="0" anchor="t">
            <a:spAutoFit/>
          </a:bodyPr>
          <a:lstStyle/>
          <a:p>
            <a:pPr>
              <a:lnSpc>
                <a:spcPts val="1705"/>
              </a:lnSpc>
            </a:pPr>
            <a:r>
              <a:rPr lang="en-US" sz="1200" i="1" spc="4" dirty="0">
                <a:solidFill>
                  <a:srgbClr val="231F20"/>
                </a:solidFill>
                <a:latin typeface="IBM Plex Sans Italics"/>
                <a:ea typeface="IBM Plex Sans Italics"/>
                <a:cs typeface="IBM Plex Sans Italics"/>
                <a:sym typeface="IBM Plex Sans Italics"/>
              </a:rPr>
              <a:t>Automne Printemps</a:t>
            </a:r>
          </a:p>
        </p:txBody>
      </p:sp>
      <p:sp>
        <p:nvSpPr>
          <p:cNvPr id="51" name="TextBox 34">
            <a:extLst>
              <a:ext uri="{FF2B5EF4-FFF2-40B4-BE49-F238E27FC236}">
                <a16:creationId xmlns:a16="http://schemas.microsoft.com/office/drawing/2014/main" id="{3F76F06D-7C5A-115E-C327-BCA4898F60E6}"/>
              </a:ext>
            </a:extLst>
          </p:cNvPr>
          <p:cNvSpPr txBox="1"/>
          <p:nvPr/>
        </p:nvSpPr>
        <p:spPr>
          <a:xfrm>
            <a:off x="2749061" y="1716228"/>
            <a:ext cx="838811" cy="221792"/>
          </a:xfrm>
          <a:prstGeom prst="rect">
            <a:avLst/>
          </a:prstGeom>
        </p:spPr>
        <p:txBody>
          <a:bodyPr lIns="0" tIns="0" rIns="0" bIns="0" rtlCol="0" anchor="t">
            <a:spAutoFit/>
          </a:bodyPr>
          <a:lstStyle/>
          <a:p>
            <a:pPr>
              <a:lnSpc>
                <a:spcPts val="1908"/>
              </a:lnSpc>
            </a:pPr>
            <a:r>
              <a:rPr lang="en-US" sz="1200" i="1" spc="4" dirty="0" err="1">
                <a:solidFill>
                  <a:srgbClr val="231F20"/>
                </a:solidFill>
                <a:latin typeface="IBM Plex Sans Italics"/>
                <a:ea typeface="IBM Plex Sans Italics"/>
                <a:cs typeface="IBM Plex Sans Italics"/>
                <a:sym typeface="IBM Plex Sans Italics"/>
              </a:rPr>
              <a:t>Français</a:t>
            </a:r>
            <a:r>
              <a:rPr lang="en-US" sz="1200" i="1" spc="4" dirty="0">
                <a:solidFill>
                  <a:srgbClr val="231F20"/>
                </a:solidFill>
                <a:latin typeface="IBM Plex Sans Italics"/>
                <a:ea typeface="IBM Plex Sans Italics"/>
                <a:cs typeface="IBM Plex Sans Italics"/>
                <a:sym typeface="IBM Plex Sans Italics"/>
              </a:rPr>
              <a:t/>
            </a:r>
          </a:p>
        </p:txBody>
      </p:sp>
      <p:sp>
        <p:nvSpPr>
          <p:cNvPr id="54" name="TextBox 38">
            <a:extLst>
              <a:ext uri="{FF2B5EF4-FFF2-40B4-BE49-F238E27FC236}">
                <a16:creationId xmlns:a16="http://schemas.microsoft.com/office/drawing/2014/main" id="{F4D71D31-FE13-729F-DD0F-F89716948679}"/>
              </a:ext>
            </a:extLst>
          </p:cNvPr>
          <p:cNvSpPr txBox="1"/>
          <p:nvPr/>
        </p:nvSpPr>
        <p:spPr>
          <a:xfrm>
            <a:off x="3996412" y="1738606"/>
            <a:ext cx="899438" cy="420564"/>
          </a:xfrm>
          <a:prstGeom prst="rect">
            <a:avLst/>
          </a:prstGeom>
        </p:spPr>
        <p:txBody>
          <a:bodyPr wrap="square" lIns="0" tIns="0" rIns="0" bIns="0" rtlCol="0" anchor="t">
            <a:spAutoFit/>
          </a:bodyPr>
          <a:lstStyle/>
          <a:p>
            <a:pPr>
              <a:lnSpc>
                <a:spcPts val="1705"/>
              </a:lnSpc>
            </a:pPr>
            <a:r>
              <a:rPr lang="en-US" sz="1200" i="1" spc="4" dirty="0">
                <a:solidFill>
                  <a:srgbClr val="231F20"/>
                </a:solidFill>
                <a:latin typeface="IBM Plex Sans Italics"/>
                <a:ea typeface="IBM Plex Sans Italics"/>
                <a:cs typeface="IBM Plex Sans Italics"/>
                <a:sym typeface="IBM Plex Sans Italics"/>
              </a:rPr>
              <a:t>2-4 mois en entreprise</a:t>
            </a:r>
          </a:p>
          <a:p>
            <a:pPr algn="just">
              <a:lnSpc>
                <a:spcPts val="1705"/>
              </a:lnSpc>
            </a:pPr>
            <a:endParaRPr lang="en-US" sz="1200" i="1" spc="4" dirty="0">
              <a:solidFill>
                <a:srgbClr val="231F20"/>
              </a:solidFill>
              <a:latin typeface="IBM Plex Sans Italics"/>
              <a:ea typeface="IBM Plex Sans Italics"/>
              <a:cs typeface="IBM Plex Sans Italics"/>
              <a:sym typeface="IBM Plex Sans Italics"/>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p:cNvGrpSpPr>
            <a:grpSpLocks noChangeAspect="1"/>
          </p:cNvGrpSpPr>
          <p:nvPr/>
        </p:nvGrpSpPr>
        <p:grpSpPr>
          <a:xfrm>
            <a:off x="1079383" y="4764424"/>
            <a:ext cx="762505" cy="679580"/>
            <a:chOff x="0" y="0"/>
            <a:chExt cx="762495" cy="679577"/>
          </a:xfrm>
        </p:grpSpPr>
        <p:sp>
          <p:nvSpPr>
            <p:cNvPr id="3" name="Freeform 3"/>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6985"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p:cNvSpPr/>
            <p:nvPr/>
          </p:nvSpPr>
          <p:spPr>
            <a:xfrm>
              <a:off x="260477" y="267970"/>
              <a:ext cx="120269" cy="140081"/>
            </a:xfrm>
            <a:custGeom>
              <a:avLst/>
              <a:gdLst/>
              <a:ahLst/>
              <a:cxnLst/>
              <a:rect l="l" t="t" r="r" b="b"/>
              <a:pathLst>
                <a:path w="120269"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071" y="0"/>
                  </a:cubicBezTo>
                  <a:lnTo>
                    <a:pt x="76581" y="1778"/>
                  </a:lnTo>
                  <a:cubicBezTo>
                    <a:pt x="91313" y="8890"/>
                    <a:pt x="97663" y="13716"/>
                    <a:pt x="103124" y="19939"/>
                  </a:cubicBezTo>
                  <a:lnTo>
                    <a:pt x="115697" y="42037"/>
                  </a:lnTo>
                  <a:cubicBezTo>
                    <a:pt x="118745" y="50546"/>
                    <a:pt x="120269" y="59944"/>
                    <a:pt x="120269" y="70104"/>
                  </a:cubicBezTo>
                  <a:moveTo>
                    <a:pt x="88773" y="70104"/>
                  </a:moveTo>
                  <a:lnTo>
                    <a:pt x="88011" y="58293"/>
                  </a:lnTo>
                  <a:cubicBezTo>
                    <a:pt x="85217" y="48006"/>
                    <a:pt x="83185" y="43561"/>
                    <a:pt x="80645" y="39878"/>
                  </a:cubicBezTo>
                  <a:lnTo>
                    <a:pt x="75057" y="33401"/>
                  </a:lnTo>
                  <a:lnTo>
                    <a:pt x="64262" y="28448"/>
                  </a:lnTo>
                  <a:cubicBezTo>
                    <a:pt x="55753" y="28448"/>
                    <a:pt x="51816" y="29464"/>
                    <a:pt x="48260" y="31496"/>
                  </a:cubicBezTo>
                  <a:lnTo>
                    <a:pt x="41783" y="36322"/>
                  </a:lnTo>
                  <a:cubicBezTo>
                    <a:pt x="36703" y="43688"/>
                    <a:pt x="34671" y="48133"/>
                    <a:pt x="33274" y="53340"/>
                  </a:cubicBezTo>
                  <a:lnTo>
                    <a:pt x="31115" y="64135"/>
                  </a:lnTo>
                  <a:cubicBezTo>
                    <a:pt x="31115" y="76454"/>
                    <a:pt x="31877" y="82042"/>
                    <a:pt x="33274" y="87122"/>
                  </a:cubicBezTo>
                  <a:lnTo>
                    <a:pt x="36703" y="96520"/>
                  </a:lnTo>
                  <a:cubicBezTo>
                    <a:pt x="41783" y="103886"/>
                    <a:pt x="44831" y="106807"/>
                    <a:pt x="48387" y="108712"/>
                  </a:cubicBezTo>
                  <a:lnTo>
                    <a:pt x="55753" y="111760"/>
                  </a:lnTo>
                  <a:lnTo>
                    <a:pt x="68199" y="110744"/>
                  </a:lnTo>
                  <a:cubicBezTo>
                    <a:pt x="75184" y="106680"/>
                    <a:pt x="78232" y="103886"/>
                    <a:pt x="80772" y="100203"/>
                  </a:cubicBezTo>
                  <a:lnTo>
                    <a:pt x="85344" y="92075"/>
                  </a:lnTo>
                  <a:cubicBezTo>
                    <a:pt x="88138" y="81915"/>
                    <a:pt x="88900" y="76327"/>
                    <a:pt x="88900" y="70104"/>
                  </a:cubicBezTo>
                </a:path>
              </a:pathLst>
            </a:custGeom>
            <a:solidFill>
              <a:srgbClr val="7DE314"/>
            </a:solidFill>
          </p:spPr>
          <p:txBody>
            <a:bodyPr/>
            <a:lstStyle/>
            <a:p>
              <a:endParaRPr lang="fr-FR"/>
            </a:p>
          </p:txBody>
        </p:sp>
        <p:sp>
          <p:nvSpPr>
            <p:cNvPr id="7" name="Freeform 7"/>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163" y="37719"/>
                    <a:pt x="31115" y="39751"/>
                  </a:cubicBezTo>
                  <a:lnTo>
                    <a:pt x="24765" y="43434"/>
                  </a:lnTo>
                  <a:lnTo>
                    <a:pt x="13970" y="48260"/>
                  </a:lnTo>
                  <a:cubicBezTo>
                    <a:pt x="6350" y="50419"/>
                    <a:pt x="3048"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p:cNvGrpSpPr>
            <a:grpSpLocks noChangeAspect="1"/>
          </p:cNvGrpSpPr>
          <p:nvPr/>
        </p:nvGrpSpPr>
        <p:grpSpPr>
          <a:xfrm>
            <a:off x="3338779" y="4757195"/>
            <a:ext cx="762505" cy="686800"/>
            <a:chOff x="0" y="0"/>
            <a:chExt cx="762495" cy="686803"/>
          </a:xfrm>
        </p:grpSpPr>
        <p:sp>
          <p:nvSpPr>
            <p:cNvPr id="9" name="Freeform 9"/>
            <p:cNvSpPr/>
            <p:nvPr/>
          </p:nvSpPr>
          <p:spPr>
            <a:xfrm>
              <a:off x="63500" y="63500"/>
              <a:ext cx="635508" cy="559689"/>
            </a:xfrm>
            <a:custGeom>
              <a:avLst/>
              <a:gdLst/>
              <a:ahLst/>
              <a:cxnLst/>
              <a:rect l="l" t="t" r="r" b="b"/>
              <a:pathLst>
                <a:path w="635508" h="559689">
                  <a:moveTo>
                    <a:pt x="631698" y="294132"/>
                  </a:moveTo>
                  <a:lnTo>
                    <a:pt x="487045" y="545465"/>
                  </a:lnTo>
                  <a:cubicBezTo>
                    <a:pt x="481965" y="554355"/>
                    <a:pt x="472567" y="559689"/>
                    <a:pt x="462407" y="559689"/>
                  </a:cubicBezTo>
                  <a:lnTo>
                    <a:pt x="173101" y="559689"/>
                  </a:lnTo>
                  <a:cubicBezTo>
                    <a:pt x="162941" y="559689"/>
                    <a:pt x="153543" y="554228"/>
                    <a:pt x="148463" y="545465"/>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p:cNvGrpSpPr>
            <a:grpSpLocks noChangeAspect="1"/>
          </p:cNvGrpSpPr>
          <p:nvPr/>
        </p:nvGrpSpPr>
        <p:grpSpPr>
          <a:xfrm>
            <a:off x="5424068" y="4749946"/>
            <a:ext cx="762505" cy="694058"/>
            <a:chOff x="0" y="0"/>
            <a:chExt cx="762495" cy="694055"/>
          </a:xfrm>
        </p:grpSpPr>
        <p:sp>
          <p:nvSpPr>
            <p:cNvPr id="15" name="Freeform 15"/>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6" name="Freeform 16"/>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7" name="Freeform 17"/>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18" name="Freeform 18"/>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19" name="Freeform 19"/>
            <p:cNvSpPr/>
            <p:nvPr/>
          </p:nvSpPr>
          <p:spPr>
            <a:xfrm>
              <a:off x="388493"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0" name="Group 20"/>
          <p:cNvGrpSpPr>
            <a:grpSpLocks noChangeAspect="1"/>
          </p:cNvGrpSpPr>
          <p:nvPr/>
        </p:nvGrpSpPr>
        <p:grpSpPr>
          <a:xfrm>
            <a:off x="0" y="2680973"/>
            <a:ext cx="7559993" cy="1642539"/>
            <a:chOff x="0" y="0"/>
            <a:chExt cx="7559992" cy="1642542"/>
          </a:xfrm>
        </p:grpSpPr>
        <p:sp>
          <p:nvSpPr>
            <p:cNvPr id="21" name="Freeform 21"/>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22" name="Group 22"/>
          <p:cNvGrpSpPr>
            <a:grpSpLocks noChangeAspect="1"/>
          </p:cNvGrpSpPr>
          <p:nvPr/>
        </p:nvGrpSpPr>
        <p:grpSpPr>
          <a:xfrm>
            <a:off x="756000" y="269119"/>
            <a:ext cx="6476448" cy="1983229"/>
            <a:chOff x="0" y="0"/>
            <a:chExt cx="6476454" cy="1983232"/>
          </a:xfrm>
        </p:grpSpPr>
        <p:sp>
          <p:nvSpPr>
            <p:cNvPr id="23" name="Freeform 23"/>
            <p:cNvSpPr/>
            <p:nvPr/>
          </p:nvSpPr>
          <p:spPr>
            <a:xfrm>
              <a:off x="63500" y="387477"/>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4" name="Freeform 24"/>
            <p:cNvSpPr/>
            <p:nvPr/>
          </p:nvSpPr>
          <p:spPr>
            <a:xfrm>
              <a:off x="582422" y="137871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5" name="Freeform 25"/>
            <p:cNvSpPr/>
            <p:nvPr/>
          </p:nvSpPr>
          <p:spPr>
            <a:xfrm>
              <a:off x="1836928" y="138899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6" name="Freeform 26"/>
            <p:cNvSpPr/>
            <p:nvPr/>
          </p:nvSpPr>
          <p:spPr>
            <a:xfrm>
              <a:off x="3118358" y="1374648"/>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7" name="Freeform 27"/>
            <p:cNvSpPr/>
            <p:nvPr/>
          </p:nvSpPr>
          <p:spPr>
            <a:xfrm>
              <a:off x="4558411" y="1370330"/>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8" name="Freeform 28"/>
            <p:cNvSpPr/>
            <p:nvPr/>
          </p:nvSpPr>
          <p:spPr>
            <a:xfrm>
              <a:off x="5732653" y="63500"/>
              <a:ext cx="680212" cy="646176"/>
            </a:xfrm>
            <a:custGeom>
              <a:avLst/>
              <a:gdLst/>
              <a:ahLst/>
              <a:cxnLst/>
              <a:rect l="l" t="t" r="r" b="b"/>
              <a:pathLst>
                <a:path w="680212" h="646176">
                  <a:moveTo>
                    <a:pt x="340106" y="646049"/>
                  </a:moveTo>
                  <a:cubicBezTo>
                    <a:pt x="527939" y="646049"/>
                    <a:pt x="680212" y="501396"/>
                    <a:pt x="680212" y="322961"/>
                  </a:cubicBezTo>
                  <a:cubicBezTo>
                    <a:pt x="680212" y="144526"/>
                    <a:pt x="528066" y="0"/>
                    <a:pt x="340106" y="0"/>
                  </a:cubicBezTo>
                  <a:cubicBezTo>
                    <a:pt x="152146"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9" name="Freeform 29"/>
            <p:cNvSpPr/>
            <p:nvPr/>
          </p:nvSpPr>
          <p:spPr>
            <a:xfrm>
              <a:off x="559435" y="186055"/>
              <a:ext cx="1947672" cy="416306"/>
            </a:xfrm>
            <a:custGeom>
              <a:avLst/>
              <a:gdLst/>
              <a:ahLst/>
              <a:cxnLst/>
              <a:rect l="l" t="t" r="r" b="b"/>
              <a:pathLst>
                <a:path w="1947672" h="416306">
                  <a:moveTo>
                    <a:pt x="0" y="416306"/>
                  </a:moveTo>
                  <a:lnTo>
                    <a:pt x="1947672" y="416306"/>
                  </a:lnTo>
                  <a:lnTo>
                    <a:pt x="1947672" y="0"/>
                  </a:lnTo>
                  <a:lnTo>
                    <a:pt x="0" y="0"/>
                  </a:lnTo>
                  <a:close/>
                </a:path>
              </a:pathLst>
            </a:custGeom>
            <a:solidFill>
              <a:srgbClr val="FFFFFF"/>
            </a:solidFill>
          </p:spPr>
          <p:txBody>
            <a:bodyPr/>
            <a:lstStyle/>
            <a:p>
              <a:endParaRPr lang="fr-FR"/>
            </a:p>
          </p:txBody>
        </p:sp>
      </p:grpSp>
      <p:sp>
        <p:nvSpPr>
          <p:cNvPr id="30" name="TextBox 99"/>
          <p:cNvSpPr txBox="1"/>
          <p:nvPr/>
        </p:nvSpPr>
        <p:spPr>
          <a:xfrm>
            <a:off x="6672167" y="9971913"/>
            <a:ext cx="248917" cy="240665"/>
          </a:xfrm>
          <a:prstGeom prst="rect">
            <a:avLst/>
          </a:prstGeom>
        </p:spPr>
        <p:txBody>
          <a:bodyPr lIns="0" tIns="0" rIns="0" bIns="0" rtlCol="0" anchor="t">
            <a:spAutoFit/>
          </a:bodyPr>
          <a:lstStyle/>
          <a:p>
            <a:pPr algn="l">
              <a:lnSpc>
                <a:spcPts val="1959"/>
              </a:lnSpc>
            </a:pPr>
            <a:r>
              <a:rPr lang="en-US" sz="1399" b="1" spc="8">
                <a:solidFill>
                  <a:srgbClr val="231F20"/>
                </a:solidFill>
                <a:latin typeface="IBM Plex Sans Bold"/>
                <a:ea typeface="IBM Plex Sans Bold"/>
                <a:cs typeface="IBM Plex Sans Bold"/>
                <a:sym typeface="IBM Plex Sans Bold"/>
              </a:rPr>
              <a:t>16</a:t>
            </a:r>
          </a:p>
        </p:txBody>
      </p:sp>
      <p:sp>
        <p:nvSpPr>
          <p:cNvPr id="31" name="TextBox 51"/>
          <p:cNvSpPr txBox="1"/>
          <p:nvPr/>
        </p:nvSpPr>
        <p:spPr>
          <a:xfrm>
            <a:off x="1474355" y="1529747"/>
            <a:ext cx="1066499" cy="202556"/>
          </a:xfrm>
          <a:prstGeom prst="rect">
            <a:avLst/>
          </a:prstGeom>
        </p:spPr>
        <p:txBody>
          <a:bodyPr wrap="square" lIns="0" tIns="0" rIns="0" bIns="0" rtlCol="0" anchor="t">
            <a:spAutoFit/>
          </a:bodyPr>
          <a:lstStyle/>
          <a:p>
            <a:pPr algn="just">
              <a:lnSpc>
                <a:spcPts val="1705"/>
              </a:lnSpc>
            </a:pPr>
            <a:r>
              <a:rPr lang="en-US" sz="1200" spc="4" dirty="0">
                <a:solidFill>
                  <a:srgbClr val="464395"/>
                </a:solidFill>
                <a:latin typeface="IBM Plex Sans"/>
                <a:ea typeface="IBM Plex Sans"/>
                <a:cs typeface="IBM Plex Sans"/>
                <a:sym typeface="IBM Plex Sans"/>
              </a:rPr>
              <a:t>2 RENTRÉES</a:t>
            </a:r>
            <a:endParaRPr lang="en-US" sz="1200" i="1" spc="4" dirty="0">
              <a:solidFill>
                <a:srgbClr val="231F20"/>
              </a:solidFill>
              <a:latin typeface="IBM Plex Sans Italics"/>
              <a:ea typeface="IBM Plex Sans Italics"/>
              <a:cs typeface="IBM Plex Sans Italics"/>
              <a:sym typeface="IBM Plex Sans Italics"/>
            </a:endParaRPr>
          </a:p>
        </p:txBody>
      </p:sp>
      <p:sp>
        <p:nvSpPr>
          <p:cNvPr id="32" name="TextBox 32"/>
          <p:cNvSpPr txBox="1"/>
          <p:nvPr/>
        </p:nvSpPr>
        <p:spPr>
          <a:xfrm>
            <a:off x="567738" y="6584175"/>
            <a:ext cx="1606115" cy="154466"/>
          </a:xfrm>
          <a:prstGeom prst="rect">
            <a:avLst/>
          </a:prstGeom>
        </p:spPr>
        <p:txBody>
          <a:bodyPr lIns="0" tIns="0" rIns="0" bIns="0" rtlCol="0" anchor="t">
            <a:spAutoFit/>
          </a:bodyPr>
          <a:lstStyle/>
          <a:p>
            <a:pPr>
              <a:lnSpc>
                <a:spcPts val="1200"/>
              </a:lnSpc>
            </a:pPr>
            <a:r>
              <a:rPr lang="en-US" sz="1200" i="1" spc="4" dirty="0">
                <a:solidFill>
                  <a:srgbClr val="1A1447"/>
                </a:solidFill>
                <a:latin typeface="IBM Plex Sans Italics"/>
                <a:ea typeface="IBM Plex Sans Italics"/>
                <a:cs typeface="IBM Plex Sans Italics"/>
                <a:sym typeface="IBM Plex Sans Italics"/>
              </a:rPr>
              <a:t>Economie, mondialisation et Géopolique
Design et plan de communication
Prospection, Plan commercial, Négociation </a:t>
            </a:r>
          </a:p>
        </p:txBody>
      </p:sp>
      <p:sp>
        <p:nvSpPr>
          <p:cNvPr id="33" name="TextBox 33"/>
          <p:cNvSpPr txBox="1"/>
          <p:nvPr/>
        </p:nvSpPr>
        <p:spPr>
          <a:xfrm>
            <a:off x="618915" y="5447243"/>
            <a:ext cx="1789005"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FILIERE EN FORTE CROISSANCE</a:t>
            </a:r>
          </a:p>
        </p:txBody>
      </p:sp>
      <p:sp>
        <p:nvSpPr>
          <p:cNvPr id="34" name="TextBox 52"/>
          <p:cNvSpPr txBox="1"/>
          <p:nvPr/>
        </p:nvSpPr>
        <p:spPr>
          <a:xfrm>
            <a:off x="2746506" y="1510697"/>
            <a:ext cx="838810" cy="221792"/>
          </a:xfrm>
          <a:prstGeom prst="rect">
            <a:avLst/>
          </a:prstGeom>
        </p:spPr>
        <p:txBody>
          <a:bodyPr lIns="0" tIns="0" rIns="0" bIns="0" rtlCol="0" anchor="t">
            <a:spAutoFit/>
          </a:bodyPr>
          <a:lstStyle/>
          <a:p>
            <a:pPr algn="just">
              <a:lnSpc>
                <a:spcPts val="1908"/>
              </a:lnSpc>
            </a:pPr>
            <a:r>
              <a:rPr lang="en-US" sz="1200" spc="4" dirty="0">
                <a:solidFill>
                  <a:srgbClr val="464395"/>
                </a:solidFill>
                <a:latin typeface="IBM Plex Sans"/>
                <a:ea typeface="IBM Plex Sans"/>
                <a:cs typeface="IBM Plex Sans"/>
                <a:sym typeface="IBM Plex Sans"/>
              </a:rPr>
              <a:t>LANGUE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5" name="TextBox 35"/>
          <p:cNvSpPr txBox="1"/>
          <p:nvPr/>
        </p:nvSpPr>
        <p:spPr>
          <a:xfrm>
            <a:off x="537734" y="9010415"/>
            <a:ext cx="3010814" cy="179536"/>
          </a:xfrm>
          <a:prstGeom prst="rect">
            <a:avLst/>
          </a:prstGeom>
        </p:spPr>
        <p:txBody>
          <a:bodyPr lIns="0" tIns="0" rIns="0" bIns="0" rtlCol="0" anchor="t">
            <a:spAutoFit/>
          </a:bodyPr>
          <a:lstStyle/>
          <a:p>
            <a:pPr algn="l">
              <a:lnSpc>
                <a:spcPts val="1439"/>
              </a:lnSpc>
            </a:pPr>
            <a:r>
              <a:rPr lang="en-US" sz="1200" i="1" spc="4" dirty="0" err="1">
                <a:solidFill>
                  <a:srgbClr val="1A1447"/>
                </a:solidFill>
                <a:latin typeface="IBM Plex Sans Italics"/>
                <a:ea typeface="IBM Plex Sans Italics"/>
                <a:cs typeface="IBM Plex Sans Italics"/>
                <a:sym typeface="IBM Plex Sans Italics"/>
              </a:rPr>
              <a:t>• Responsable de communication
• Chargé de communication
• Chargé d’études marketing
• Chargé de publicité/marque/presse
• Développeur commercial
• Responsable de grands comptes
• Coordinateur de projets internationaux</a:t>
            </a:r>
            <a:endParaRPr lang="en-US" sz="1200" i="1" spc="4" dirty="0">
              <a:solidFill>
                <a:srgbClr val="1A1447"/>
              </a:solidFill>
              <a:latin typeface="IBM Plex Sans Italics"/>
              <a:ea typeface="IBM Plex Sans Italics"/>
              <a:cs typeface="IBM Plex Sans Italics"/>
              <a:sym typeface="IBM Plex Sans Italics"/>
            </a:endParaRPr>
          </a:p>
        </p:txBody>
      </p:sp>
      <p:sp>
        <p:nvSpPr>
          <p:cNvPr id="36" name="TextBox 36"/>
          <p:cNvSpPr txBox="1"/>
          <p:nvPr/>
        </p:nvSpPr>
        <p:spPr>
          <a:xfrm>
            <a:off x="2754878" y="6599644"/>
            <a:ext cx="1543031"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4" dirty="0">
                <a:solidFill>
                  <a:srgbClr val="1A1447"/>
                </a:solidFill>
                <a:latin typeface="IBM Plex Sans Italics"/>
                <a:ea typeface="IBM Plex Sans Italics"/>
                <a:cs typeface="IBM Plex Sans Italics"/>
                <a:sym typeface="IBM Plex Sans Italics"/>
              </a:rPr>
              <a:t>Management, structure d’entreprise et gestion
Droit et applications dans les entreprises
Analyse de données et reporting
</a:t>
            </a:r>
          </a:p>
        </p:txBody>
      </p:sp>
      <p:sp>
        <p:nvSpPr>
          <p:cNvPr id="37" name="TextBox 37"/>
          <p:cNvSpPr txBox="1"/>
          <p:nvPr/>
        </p:nvSpPr>
        <p:spPr>
          <a:xfrm>
            <a:off x="2932852" y="5447243"/>
            <a:ext cx="1520552"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RESEAU DE PARTENAIRES IMPORTANT SUR PARIS</a:t>
            </a:r>
          </a:p>
        </p:txBody>
      </p:sp>
      <p:sp>
        <p:nvSpPr>
          <p:cNvPr id="38" name="TextBox 53"/>
          <p:cNvSpPr txBox="1"/>
          <p:nvPr/>
        </p:nvSpPr>
        <p:spPr>
          <a:xfrm>
            <a:off x="4001006" y="1529747"/>
            <a:ext cx="1091866" cy="212174"/>
          </a:xfrm>
          <a:prstGeom prst="rect">
            <a:avLst/>
          </a:prstGeom>
        </p:spPr>
        <p:txBody>
          <a:bodyPr lIns="0" tIns="0" rIns="0" bIns="0" rtlCol="0" anchor="t">
            <a:spAutoFit/>
          </a:bodyPr>
          <a:lstStyle/>
          <a:p>
            <a:pPr algn="just">
              <a:lnSpc>
                <a:spcPts val="1796"/>
              </a:lnSpc>
            </a:pPr>
            <a:r>
              <a:rPr lang="en-US" sz="1200" spc="4" dirty="0">
                <a:solidFill>
                  <a:srgbClr val="464395"/>
                </a:solidFill>
                <a:latin typeface="IBM Plex Sans"/>
                <a:ea typeface="IBM Plex Sans"/>
                <a:cs typeface="IBM Plex Sans"/>
                <a:sym typeface="IBM Plex Sans"/>
              </a:rPr>
              <a:t>STAGE</a:t>
            </a:r>
          </a:p>
        </p:txBody>
      </p:sp>
      <p:sp>
        <p:nvSpPr>
          <p:cNvPr id="39" name="TextBox 39"/>
          <p:cNvSpPr txBox="1"/>
          <p:nvPr/>
        </p:nvSpPr>
        <p:spPr>
          <a:xfrm>
            <a:off x="5430213" y="1743483"/>
            <a:ext cx="1306830" cy="179536"/>
          </a:xfrm>
          <a:prstGeom prst="rect">
            <a:avLst/>
          </a:prstGeom>
        </p:spPr>
        <p:txBody>
          <a:bodyPr lIns="0" tIns="0" rIns="0" bIns="0" rtlCol="0" anchor="t">
            <a:spAutoFit/>
          </a:bodyPr>
          <a:lstStyle/>
          <a:p>
            <a:pPr>
              <a:lnSpc>
                <a:spcPts val="1439"/>
              </a:lnSpc>
            </a:pPr>
            <a:r>
              <a:rPr lang="en-US" sz="1200" i="1" spc="4" dirty="0">
                <a:solidFill>
                  <a:srgbClr val="231F20"/>
                </a:solidFill>
                <a:latin typeface="IBM Plex Sans Italics"/>
                <a:ea typeface="IBM Plex Sans Italics"/>
                <a:cs typeface="IBM Plex Sans Italics"/>
                <a:sym typeface="IBM Plex Sans Italics"/>
              </a:rPr>
              <a:t>Sur dossier et entretien</a:t>
            </a:r>
          </a:p>
        </p:txBody>
      </p:sp>
      <p:sp>
        <p:nvSpPr>
          <p:cNvPr id="40" name="TextBox 40"/>
          <p:cNvSpPr txBox="1"/>
          <p:nvPr/>
        </p:nvSpPr>
        <p:spPr>
          <a:xfrm>
            <a:off x="5175047" y="5447243"/>
            <a:ext cx="1328147"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TITRE AVEC LABEL RNCP EN OPTION</a:t>
            </a:r>
          </a:p>
        </p:txBody>
      </p:sp>
      <p:sp>
        <p:nvSpPr>
          <p:cNvPr id="41" name="TextBox 41"/>
          <p:cNvSpPr txBox="1"/>
          <p:nvPr/>
        </p:nvSpPr>
        <p:spPr>
          <a:xfrm>
            <a:off x="4989195" y="6599644"/>
            <a:ext cx="1699851"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4" dirty="0">
                <a:solidFill>
                  <a:srgbClr val="1A1447"/>
                </a:solidFill>
                <a:latin typeface="IBM Plex Sans Italics"/>
                <a:ea typeface="IBM Plex Sans Italics"/>
                <a:cs typeface="IBM Plex Sans Italics"/>
                <a:sym typeface="IBM Plex Sans Italics"/>
              </a:rPr>
              <a:t>Anglais général
Anglais des affaires
Analyse de Marché et Marketing International
Marketing Opérationnel et outils digitaux
</a:t>
            </a:r>
          </a:p>
        </p:txBody>
      </p:sp>
      <p:sp>
        <p:nvSpPr>
          <p:cNvPr id="42" name="TextBox 42"/>
          <p:cNvSpPr txBox="1"/>
          <p:nvPr/>
        </p:nvSpPr>
        <p:spPr>
          <a:xfrm>
            <a:off x="774204" y="2950440"/>
            <a:ext cx="6055900" cy="179536"/>
          </a:xfrm>
          <a:prstGeom prst="rect">
            <a:avLst/>
          </a:prstGeom>
        </p:spPr>
        <p:txBody>
          <a:bodyPr lIns="0" tIns="0" rIns="0" bIns="0" rtlCol="0" anchor="t">
            <a:spAutoFit/>
          </a:bodyPr>
          <a:lstStyle/>
          <a:p>
            <a:pPr algn="just">
              <a:lnSpc>
                <a:spcPts val="1439"/>
              </a:lnSpc>
            </a:pPr>
            <a:r>
              <a:rPr lang="en-US" sz="1200" spc="7" dirty="0">
                <a:solidFill>
                  <a:srgbClr val="FFFFFF"/>
                </a:solidFill>
                <a:latin typeface="IBM Plex Sans"/>
                <a:ea typeface="IBM Plex Sans"/>
                <a:cs typeface="IBM Plex Sans"/>
                <a:sym typeface="IBM Plex Sans"/>
              </a:rPr>
              <a:t>Le Bac+3 Bachelor Marketing Digital et Commercial (MDC) a pour objectif de vous faire acquérir des compétences en communication digital dans des environnements diversi- fiés.
Vous serez capable de mettre en œuvre des campagnes marketing et de communica- tion adaptées aux spécificités de votre future entreprise, d’accompagner et participer aux développement d’affaires en France et à l’international.</a:t>
            </a:r>
            <a:endParaRPr lang="en-US" sz="1200" spc="4" dirty="0">
              <a:solidFill>
                <a:srgbClr val="FFFFFF"/>
              </a:solidFill>
              <a:latin typeface="IBM Plex Sans"/>
              <a:ea typeface="IBM Plex Sans"/>
              <a:cs typeface="IBM Plex Sans"/>
              <a:sym typeface="IBM Plex Sans"/>
            </a:endParaRPr>
          </a:p>
        </p:txBody>
      </p:sp>
      <p:sp>
        <p:nvSpPr>
          <p:cNvPr id="43" name="TextBox 43"/>
          <p:cNvSpPr txBox="1"/>
          <p:nvPr/>
        </p:nvSpPr>
        <p:spPr>
          <a:xfrm>
            <a:off x="6595587" y="404108"/>
            <a:ext cx="525475" cy="397269"/>
          </a:xfrm>
          <a:prstGeom prst="rect">
            <a:avLst/>
          </a:prstGeom>
        </p:spPr>
        <p:txBody>
          <a:bodyPr lIns="0" tIns="0" rIns="0" bIns="0" rtlCol="0" anchor="t">
            <a:spAutoFit/>
          </a:bodyPr>
          <a:lstStyle/>
          <a:p>
            <a:pPr algn="ctr">
              <a:lnSpc>
                <a:spcPts val="1660"/>
              </a:lnSpc>
            </a:pPr>
            <a:r>
              <a:rPr lang="en-US" sz="1399" b="1" spc="8" dirty="0">
                <a:solidFill>
                  <a:srgbClr val="FFFFFF"/>
                </a:solidFill>
                <a:latin typeface="IBM Plex Sans Bold"/>
                <a:ea typeface="IBM Plex Sans Bold"/>
                <a:cs typeface="IBM Plex Sans Bold"/>
                <a:sym typeface="IBM Plex Sans Bold"/>
              </a:rPr>
              <a:t>3 </a:t>
            </a:r>
          </a:p>
          <a:p>
            <a:pPr algn="l">
              <a:lnSpc>
                <a:spcPts val="1423"/>
              </a:lnSpc>
            </a:pPr>
            <a:r>
              <a:rPr lang="en-US" sz="1200" b="1" spc="7" dirty="0">
                <a:solidFill>
                  <a:srgbClr val="FFFFFF"/>
                </a:solidFill>
                <a:latin typeface="IBM Plex Sans Bold"/>
                <a:ea typeface="IBM Plex Sans Bold"/>
                <a:cs typeface="IBM Plex Sans Bold"/>
                <a:sym typeface="IBM Plex Sans Bold"/>
              </a:rPr>
              <a:t>YEARS</a:t>
            </a:r>
          </a:p>
        </p:txBody>
      </p:sp>
      <p:sp>
        <p:nvSpPr>
          <p:cNvPr id="44" name="TextBox 44"/>
          <p:cNvSpPr txBox="1"/>
          <p:nvPr/>
        </p:nvSpPr>
        <p:spPr>
          <a:xfrm>
            <a:off x="2597896" y="10378411"/>
            <a:ext cx="2515629" cy="151428"/>
          </a:xfrm>
          <a:prstGeom prst="rect">
            <a:avLst/>
          </a:prstGeom>
        </p:spPr>
        <p:txBody>
          <a:bodyPr lIns="0" tIns="0" rIns="0" bIns="0" rtlCol="0" anchor="t">
            <a:spAutoFit/>
          </a:bodyPr>
          <a:lstStyle/>
          <a:p>
            <a:pPr algn="l">
              <a:lnSpc>
                <a:spcPts val="1260"/>
              </a:lnSpc>
            </a:pPr>
            <a:r>
              <a:rPr lang="en-US" sz="900" i="1" spc="25">
                <a:solidFill>
                  <a:srgbClr val="939496"/>
                </a:solidFill>
                <a:latin typeface="IBM Plex Sans Italics"/>
                <a:ea typeface="IBM Plex Sans Italics"/>
                <a:cs typeface="IBM Plex Sans Italics"/>
                <a:sym typeface="IBM Plex Sans Italics"/>
              </a:rPr>
              <a:t>Etablissement d’enseignement supérieur privé</a:t>
            </a:r>
          </a:p>
        </p:txBody>
      </p:sp>
      <p:sp>
        <p:nvSpPr>
          <p:cNvPr id="45" name="TextBox 45"/>
          <p:cNvSpPr txBox="1"/>
          <p:nvPr/>
        </p:nvSpPr>
        <p:spPr>
          <a:xfrm>
            <a:off x="537734" y="8547291"/>
            <a:ext cx="354531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OPPORTUNITÉS MÉTIERS</a:t>
            </a:r>
          </a:p>
        </p:txBody>
      </p:sp>
      <p:sp>
        <p:nvSpPr>
          <p:cNvPr id="46" name="TextBox 46"/>
          <p:cNvSpPr txBox="1"/>
          <p:nvPr/>
        </p:nvSpPr>
        <p:spPr>
          <a:xfrm>
            <a:off x="537734" y="6063605"/>
            <a:ext cx="3915670"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ENSEIGNEMENTS</a:t>
            </a:r>
          </a:p>
        </p:txBody>
      </p:sp>
      <p:sp>
        <p:nvSpPr>
          <p:cNvPr id="47" name="TextBox 47"/>
          <p:cNvSpPr txBox="1"/>
          <p:nvPr/>
        </p:nvSpPr>
        <p:spPr>
          <a:xfrm>
            <a:off x="537734" y="4387205"/>
            <a:ext cx="423111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TOP3 - POINTS FORTS</a:t>
            </a:r>
          </a:p>
        </p:txBody>
      </p:sp>
      <p:sp>
        <p:nvSpPr>
          <p:cNvPr id="48" name="TextBox 48"/>
          <p:cNvSpPr txBox="1"/>
          <p:nvPr/>
        </p:nvSpPr>
        <p:spPr>
          <a:xfrm>
            <a:off x="1465355" y="960787"/>
            <a:ext cx="5130232" cy="270202"/>
          </a:xfrm>
          <a:prstGeom prst="rect">
            <a:avLst/>
          </a:prstGeom>
        </p:spPr>
        <p:txBody>
          <a:bodyPr wrap="square" lIns="0" tIns="0" rIns="0" bIns="0" rtlCol="0" anchor="t">
            <a:spAutoFit/>
          </a:bodyPr>
          <a:lstStyle/>
          <a:p>
            <a:pPr algn="just">
              <a:lnSpc>
                <a:spcPts val="2160"/>
              </a:lnSpc>
            </a:pPr>
            <a:r>
              <a:rPr lang="en-US" sz="1800" b="1" spc="7" dirty="0">
                <a:solidFill>
                  <a:srgbClr val="1A1447"/>
                </a:solidFill>
                <a:latin typeface="IBM Plex Sans Bold"/>
                <a:ea typeface="IBM Plex Sans Bold"/>
                <a:cs typeface="IBM Plex Sans Bold"/>
                <a:sym typeface="IBM Plex Sans Bold"/>
              </a:rPr>
              <a:t>MARKETING DIGITAL ET COMMERCIAL</a:t>
            </a:r>
          </a:p>
        </p:txBody>
      </p:sp>
      <p:sp>
        <p:nvSpPr>
          <p:cNvPr id="49" name="TextBox 49"/>
          <p:cNvSpPr txBox="1"/>
          <p:nvPr/>
        </p:nvSpPr>
        <p:spPr>
          <a:xfrm>
            <a:off x="5455302" y="1547187"/>
            <a:ext cx="783022" cy="192491"/>
          </a:xfrm>
          <a:prstGeom prst="rect">
            <a:avLst/>
          </a:prstGeom>
        </p:spPr>
        <p:txBody>
          <a:bodyPr lIns="0" tIns="0" rIns="0" bIns="0" rtlCol="0" anchor="t">
            <a:spAutoFit/>
          </a:bodyPr>
          <a:lstStyle/>
          <a:p>
            <a:pPr algn="l">
              <a:lnSpc>
                <a:spcPts val="1539"/>
              </a:lnSpc>
            </a:pPr>
            <a:r>
              <a:rPr lang="en-US" sz="1100" spc="4" dirty="0">
                <a:solidFill>
                  <a:srgbClr val="464395"/>
                </a:solidFill>
                <a:latin typeface="IBM Plex Sans"/>
                <a:ea typeface="IBM Plex Sans"/>
                <a:cs typeface="IBM Plex Sans"/>
                <a:sym typeface="IBM Plex Sans"/>
              </a:rPr>
              <a:t>ADMISSION</a:t>
            </a:r>
          </a:p>
        </p:txBody>
      </p:sp>
      <p:sp>
        <p:nvSpPr>
          <p:cNvPr id="50" name="TextBox 50"/>
          <p:cNvSpPr txBox="1"/>
          <p:nvPr/>
        </p:nvSpPr>
        <p:spPr>
          <a:xfrm>
            <a:off x="1465355" y="468535"/>
            <a:ext cx="1795272" cy="405111"/>
          </a:xfrm>
          <a:prstGeom prst="rect">
            <a:avLst/>
          </a:prstGeom>
        </p:spPr>
        <p:txBody>
          <a:bodyPr lIns="0" tIns="0" rIns="0" bIns="0" rtlCol="0" anchor="t">
            <a:spAutoFit/>
          </a:bodyPr>
          <a:lstStyle/>
          <a:p>
            <a:pPr algn="l">
              <a:lnSpc>
                <a:spcPts val="3359"/>
              </a:lnSpc>
            </a:pPr>
            <a:r>
              <a:rPr lang="en-US" sz="2400" b="1" spc="14" dirty="0">
                <a:solidFill>
                  <a:srgbClr val="231F20"/>
                </a:solidFill>
                <a:latin typeface="IBM Plex Sans Bold"/>
                <a:ea typeface="IBM Plex Sans Bold"/>
                <a:cs typeface="IBM Plex Sans Bold"/>
                <a:sym typeface="IBM Plex Sans Bold"/>
              </a:rPr>
              <a:t>BACHELOR</a:t>
            </a:r>
          </a:p>
        </p:txBody>
      </p:sp>
      <p:sp>
        <p:nvSpPr>
          <p:cNvPr id="52" name="TextBox 31">
            <a:extLst>
              <a:ext uri="{FF2B5EF4-FFF2-40B4-BE49-F238E27FC236}">
                <a16:creationId xmlns:a16="http://schemas.microsoft.com/office/drawing/2014/main" id="{73338D7F-8308-E7F2-0829-44BBD7B44255}"/>
              </a:ext>
            </a:extLst>
          </p:cNvPr>
          <p:cNvSpPr txBox="1"/>
          <p:nvPr/>
        </p:nvSpPr>
        <p:spPr>
          <a:xfrm>
            <a:off x="1474356" y="1720247"/>
            <a:ext cx="780016" cy="202556"/>
          </a:xfrm>
          <a:prstGeom prst="rect">
            <a:avLst/>
          </a:prstGeom>
        </p:spPr>
        <p:txBody>
          <a:bodyPr lIns="0" tIns="0" rIns="0" bIns="0" rtlCol="0" anchor="t">
            <a:spAutoFit/>
          </a:bodyPr>
          <a:lstStyle/>
          <a:p>
            <a:pPr>
              <a:lnSpc>
                <a:spcPts val="1705"/>
              </a:lnSpc>
            </a:pPr>
            <a:r>
              <a:rPr lang="en-US" sz="1200" i="1" spc="4" dirty="0">
                <a:solidFill>
                  <a:srgbClr val="231F20"/>
                </a:solidFill>
                <a:latin typeface="IBM Plex Sans Italics"/>
                <a:ea typeface="IBM Plex Sans Italics"/>
                <a:cs typeface="IBM Plex Sans Italics"/>
                <a:sym typeface="IBM Plex Sans Italics"/>
              </a:rPr>
              <a:t>Automne Printemps</a:t>
            </a:r>
          </a:p>
        </p:txBody>
      </p:sp>
      <p:sp>
        <p:nvSpPr>
          <p:cNvPr id="51" name="TextBox 34">
            <a:extLst>
              <a:ext uri="{FF2B5EF4-FFF2-40B4-BE49-F238E27FC236}">
                <a16:creationId xmlns:a16="http://schemas.microsoft.com/office/drawing/2014/main" id="{3F76F06D-7C5A-115E-C327-BCA4898F60E6}"/>
              </a:ext>
            </a:extLst>
          </p:cNvPr>
          <p:cNvSpPr txBox="1"/>
          <p:nvPr/>
        </p:nvSpPr>
        <p:spPr>
          <a:xfrm>
            <a:off x="2749061" y="1716228"/>
            <a:ext cx="838811" cy="221792"/>
          </a:xfrm>
          <a:prstGeom prst="rect">
            <a:avLst/>
          </a:prstGeom>
        </p:spPr>
        <p:txBody>
          <a:bodyPr lIns="0" tIns="0" rIns="0" bIns="0" rtlCol="0" anchor="t">
            <a:spAutoFit/>
          </a:bodyPr>
          <a:lstStyle/>
          <a:p>
            <a:pPr>
              <a:lnSpc>
                <a:spcPts val="1908"/>
              </a:lnSpc>
            </a:pPr>
            <a:r>
              <a:rPr lang="en-US" sz="1200" i="1" spc="4" dirty="0" err="1">
                <a:solidFill>
                  <a:srgbClr val="231F20"/>
                </a:solidFill>
                <a:latin typeface="IBM Plex Sans Italics"/>
                <a:ea typeface="IBM Plex Sans Italics"/>
                <a:cs typeface="IBM Plex Sans Italics"/>
                <a:sym typeface="IBM Plex Sans Italics"/>
              </a:rPr>
              <a:t>Français</a:t>
            </a:r>
            <a:r>
              <a:rPr lang="en-US" sz="1200" i="1" spc="4" dirty="0">
                <a:solidFill>
                  <a:srgbClr val="231F20"/>
                </a:solidFill>
                <a:latin typeface="IBM Plex Sans Italics"/>
                <a:ea typeface="IBM Plex Sans Italics"/>
                <a:cs typeface="IBM Plex Sans Italics"/>
                <a:sym typeface="IBM Plex Sans Italics"/>
              </a:rPr>
              <a:t/>
            </a:r>
          </a:p>
        </p:txBody>
      </p:sp>
      <p:sp>
        <p:nvSpPr>
          <p:cNvPr id="54" name="TextBox 38">
            <a:extLst>
              <a:ext uri="{FF2B5EF4-FFF2-40B4-BE49-F238E27FC236}">
                <a16:creationId xmlns:a16="http://schemas.microsoft.com/office/drawing/2014/main" id="{F4D71D31-FE13-729F-DD0F-F89716948679}"/>
              </a:ext>
            </a:extLst>
          </p:cNvPr>
          <p:cNvSpPr txBox="1"/>
          <p:nvPr/>
        </p:nvSpPr>
        <p:spPr>
          <a:xfrm>
            <a:off x="3996412" y="1738606"/>
            <a:ext cx="899438" cy="420564"/>
          </a:xfrm>
          <a:prstGeom prst="rect">
            <a:avLst/>
          </a:prstGeom>
        </p:spPr>
        <p:txBody>
          <a:bodyPr wrap="square" lIns="0" tIns="0" rIns="0" bIns="0" rtlCol="0" anchor="t">
            <a:spAutoFit/>
          </a:bodyPr>
          <a:lstStyle/>
          <a:p>
            <a:pPr>
              <a:lnSpc>
                <a:spcPts val="1705"/>
              </a:lnSpc>
            </a:pPr>
            <a:r>
              <a:rPr lang="en-US" sz="1200" i="1" spc="4" dirty="0">
                <a:solidFill>
                  <a:srgbClr val="231F20"/>
                </a:solidFill>
                <a:latin typeface="IBM Plex Sans Italics"/>
                <a:ea typeface="IBM Plex Sans Italics"/>
                <a:cs typeface="IBM Plex Sans Italics"/>
                <a:sym typeface="IBM Plex Sans Italics"/>
              </a:rPr>
              <a:t>2-4 mois en entreprise</a:t>
            </a:r>
          </a:p>
          <a:p>
            <a:pPr algn="just">
              <a:lnSpc>
                <a:spcPts val="1705"/>
              </a:lnSpc>
            </a:pPr>
            <a:endParaRPr lang="en-US" sz="1200" i="1" spc="4" dirty="0">
              <a:solidFill>
                <a:srgbClr val="231F20"/>
              </a:solidFill>
              <a:latin typeface="IBM Plex Sans Italics"/>
              <a:ea typeface="IBM Plex Sans Italics"/>
              <a:cs typeface="IBM Plex Sans Italics"/>
              <a:sym typeface="IBM Plex Sans Italics"/>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p:cNvGrpSpPr>
            <a:grpSpLocks noChangeAspect="1"/>
          </p:cNvGrpSpPr>
          <p:nvPr/>
        </p:nvGrpSpPr>
        <p:grpSpPr>
          <a:xfrm>
            <a:off x="1079383" y="4764424"/>
            <a:ext cx="762505" cy="679580"/>
            <a:chOff x="0" y="0"/>
            <a:chExt cx="762495" cy="679577"/>
          </a:xfrm>
        </p:grpSpPr>
        <p:sp>
          <p:nvSpPr>
            <p:cNvPr id="3" name="Freeform 3"/>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6985"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p:cNvSpPr/>
            <p:nvPr/>
          </p:nvSpPr>
          <p:spPr>
            <a:xfrm>
              <a:off x="260477" y="267970"/>
              <a:ext cx="120269" cy="140081"/>
            </a:xfrm>
            <a:custGeom>
              <a:avLst/>
              <a:gdLst/>
              <a:ahLst/>
              <a:cxnLst/>
              <a:rect l="l" t="t" r="r" b="b"/>
              <a:pathLst>
                <a:path w="120269"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071" y="0"/>
                  </a:cubicBezTo>
                  <a:lnTo>
                    <a:pt x="76581" y="1778"/>
                  </a:lnTo>
                  <a:cubicBezTo>
                    <a:pt x="91313" y="8890"/>
                    <a:pt x="97663" y="13716"/>
                    <a:pt x="103124" y="19939"/>
                  </a:cubicBezTo>
                  <a:lnTo>
                    <a:pt x="115697" y="42037"/>
                  </a:lnTo>
                  <a:cubicBezTo>
                    <a:pt x="118745" y="50546"/>
                    <a:pt x="120269" y="59944"/>
                    <a:pt x="120269" y="70104"/>
                  </a:cubicBezTo>
                  <a:moveTo>
                    <a:pt x="88773" y="70104"/>
                  </a:moveTo>
                  <a:lnTo>
                    <a:pt x="88011" y="58293"/>
                  </a:lnTo>
                  <a:cubicBezTo>
                    <a:pt x="85217" y="48006"/>
                    <a:pt x="83185" y="43561"/>
                    <a:pt x="80645" y="39878"/>
                  </a:cubicBezTo>
                  <a:lnTo>
                    <a:pt x="75057" y="33401"/>
                  </a:lnTo>
                  <a:lnTo>
                    <a:pt x="64262" y="28448"/>
                  </a:lnTo>
                  <a:cubicBezTo>
                    <a:pt x="55753" y="28448"/>
                    <a:pt x="51816" y="29464"/>
                    <a:pt x="48260" y="31496"/>
                  </a:cubicBezTo>
                  <a:lnTo>
                    <a:pt x="41783" y="36322"/>
                  </a:lnTo>
                  <a:cubicBezTo>
                    <a:pt x="36703" y="43688"/>
                    <a:pt x="34671" y="48133"/>
                    <a:pt x="33274" y="53340"/>
                  </a:cubicBezTo>
                  <a:lnTo>
                    <a:pt x="31115" y="64135"/>
                  </a:lnTo>
                  <a:cubicBezTo>
                    <a:pt x="31115" y="76454"/>
                    <a:pt x="31877" y="82042"/>
                    <a:pt x="33274" y="87122"/>
                  </a:cubicBezTo>
                  <a:lnTo>
                    <a:pt x="36703" y="96520"/>
                  </a:lnTo>
                  <a:cubicBezTo>
                    <a:pt x="41783" y="103886"/>
                    <a:pt x="44831" y="106807"/>
                    <a:pt x="48387" y="108712"/>
                  </a:cubicBezTo>
                  <a:lnTo>
                    <a:pt x="55753" y="111760"/>
                  </a:lnTo>
                  <a:lnTo>
                    <a:pt x="68199" y="110744"/>
                  </a:lnTo>
                  <a:cubicBezTo>
                    <a:pt x="75184" y="106680"/>
                    <a:pt x="78232" y="103886"/>
                    <a:pt x="80772" y="100203"/>
                  </a:cubicBezTo>
                  <a:lnTo>
                    <a:pt x="85344" y="92075"/>
                  </a:lnTo>
                  <a:cubicBezTo>
                    <a:pt x="88138" y="81915"/>
                    <a:pt x="88900" y="76327"/>
                    <a:pt x="88900" y="70104"/>
                  </a:cubicBezTo>
                </a:path>
              </a:pathLst>
            </a:custGeom>
            <a:solidFill>
              <a:srgbClr val="7DE314"/>
            </a:solidFill>
          </p:spPr>
          <p:txBody>
            <a:bodyPr/>
            <a:lstStyle/>
            <a:p>
              <a:endParaRPr lang="fr-FR"/>
            </a:p>
          </p:txBody>
        </p:sp>
        <p:sp>
          <p:nvSpPr>
            <p:cNvPr id="7" name="Freeform 7"/>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163" y="37719"/>
                    <a:pt x="31115" y="39751"/>
                  </a:cubicBezTo>
                  <a:lnTo>
                    <a:pt x="24765" y="43434"/>
                  </a:lnTo>
                  <a:lnTo>
                    <a:pt x="13970" y="48260"/>
                  </a:lnTo>
                  <a:cubicBezTo>
                    <a:pt x="6350" y="50419"/>
                    <a:pt x="3048"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p:cNvGrpSpPr>
            <a:grpSpLocks noChangeAspect="1"/>
          </p:cNvGrpSpPr>
          <p:nvPr/>
        </p:nvGrpSpPr>
        <p:grpSpPr>
          <a:xfrm>
            <a:off x="3338779" y="4757195"/>
            <a:ext cx="762505" cy="686800"/>
            <a:chOff x="0" y="0"/>
            <a:chExt cx="762495" cy="686803"/>
          </a:xfrm>
        </p:grpSpPr>
        <p:sp>
          <p:nvSpPr>
            <p:cNvPr id="9" name="Freeform 9"/>
            <p:cNvSpPr/>
            <p:nvPr/>
          </p:nvSpPr>
          <p:spPr>
            <a:xfrm>
              <a:off x="63500" y="63500"/>
              <a:ext cx="635508" cy="559689"/>
            </a:xfrm>
            <a:custGeom>
              <a:avLst/>
              <a:gdLst/>
              <a:ahLst/>
              <a:cxnLst/>
              <a:rect l="l" t="t" r="r" b="b"/>
              <a:pathLst>
                <a:path w="635508" h="559689">
                  <a:moveTo>
                    <a:pt x="631698" y="294132"/>
                  </a:moveTo>
                  <a:lnTo>
                    <a:pt x="487045" y="545465"/>
                  </a:lnTo>
                  <a:cubicBezTo>
                    <a:pt x="481965" y="554355"/>
                    <a:pt x="472567" y="559689"/>
                    <a:pt x="462407" y="559689"/>
                  </a:cubicBezTo>
                  <a:lnTo>
                    <a:pt x="173101" y="559689"/>
                  </a:lnTo>
                  <a:cubicBezTo>
                    <a:pt x="162941" y="559689"/>
                    <a:pt x="153543" y="554228"/>
                    <a:pt x="148463" y="545465"/>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p:cNvGrpSpPr>
            <a:grpSpLocks noChangeAspect="1"/>
          </p:cNvGrpSpPr>
          <p:nvPr/>
        </p:nvGrpSpPr>
        <p:grpSpPr>
          <a:xfrm>
            <a:off x="5424068" y="4749946"/>
            <a:ext cx="762505" cy="694058"/>
            <a:chOff x="0" y="0"/>
            <a:chExt cx="762495" cy="694055"/>
          </a:xfrm>
        </p:grpSpPr>
        <p:sp>
          <p:nvSpPr>
            <p:cNvPr id="15" name="Freeform 15"/>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6" name="Freeform 16"/>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7" name="Freeform 17"/>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18" name="Freeform 18"/>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19" name="Freeform 19"/>
            <p:cNvSpPr/>
            <p:nvPr/>
          </p:nvSpPr>
          <p:spPr>
            <a:xfrm>
              <a:off x="388493"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0" name="Group 20"/>
          <p:cNvGrpSpPr>
            <a:grpSpLocks noChangeAspect="1"/>
          </p:cNvGrpSpPr>
          <p:nvPr/>
        </p:nvGrpSpPr>
        <p:grpSpPr>
          <a:xfrm>
            <a:off x="0" y="2680973"/>
            <a:ext cx="7559993" cy="1642539"/>
            <a:chOff x="0" y="0"/>
            <a:chExt cx="7559992" cy="1642542"/>
          </a:xfrm>
        </p:grpSpPr>
        <p:sp>
          <p:nvSpPr>
            <p:cNvPr id="21" name="Freeform 21"/>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22" name="Group 22"/>
          <p:cNvGrpSpPr>
            <a:grpSpLocks noChangeAspect="1"/>
          </p:cNvGrpSpPr>
          <p:nvPr/>
        </p:nvGrpSpPr>
        <p:grpSpPr>
          <a:xfrm>
            <a:off x="756000" y="269119"/>
            <a:ext cx="6476448" cy="1983229"/>
            <a:chOff x="0" y="0"/>
            <a:chExt cx="6476454" cy="1983232"/>
          </a:xfrm>
        </p:grpSpPr>
        <p:sp>
          <p:nvSpPr>
            <p:cNvPr id="23" name="Freeform 23"/>
            <p:cNvSpPr/>
            <p:nvPr/>
          </p:nvSpPr>
          <p:spPr>
            <a:xfrm>
              <a:off x="63500" y="387477"/>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4" name="Freeform 24"/>
            <p:cNvSpPr/>
            <p:nvPr/>
          </p:nvSpPr>
          <p:spPr>
            <a:xfrm>
              <a:off x="582422" y="137871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5" name="Freeform 25"/>
            <p:cNvSpPr/>
            <p:nvPr/>
          </p:nvSpPr>
          <p:spPr>
            <a:xfrm>
              <a:off x="1836928" y="138899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6" name="Freeform 26"/>
            <p:cNvSpPr/>
            <p:nvPr/>
          </p:nvSpPr>
          <p:spPr>
            <a:xfrm>
              <a:off x="3118358" y="1374648"/>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7" name="Freeform 27"/>
            <p:cNvSpPr/>
            <p:nvPr/>
          </p:nvSpPr>
          <p:spPr>
            <a:xfrm>
              <a:off x="4558411" y="1370330"/>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8" name="Freeform 28"/>
            <p:cNvSpPr/>
            <p:nvPr/>
          </p:nvSpPr>
          <p:spPr>
            <a:xfrm>
              <a:off x="5732653" y="63500"/>
              <a:ext cx="680212" cy="646176"/>
            </a:xfrm>
            <a:custGeom>
              <a:avLst/>
              <a:gdLst/>
              <a:ahLst/>
              <a:cxnLst/>
              <a:rect l="l" t="t" r="r" b="b"/>
              <a:pathLst>
                <a:path w="680212" h="646176">
                  <a:moveTo>
                    <a:pt x="340106" y="646049"/>
                  </a:moveTo>
                  <a:cubicBezTo>
                    <a:pt x="527939" y="646049"/>
                    <a:pt x="680212" y="501396"/>
                    <a:pt x="680212" y="322961"/>
                  </a:cubicBezTo>
                  <a:cubicBezTo>
                    <a:pt x="680212" y="144526"/>
                    <a:pt x="528066" y="0"/>
                    <a:pt x="340106" y="0"/>
                  </a:cubicBezTo>
                  <a:cubicBezTo>
                    <a:pt x="152146"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9" name="Freeform 29"/>
            <p:cNvSpPr/>
            <p:nvPr/>
          </p:nvSpPr>
          <p:spPr>
            <a:xfrm>
              <a:off x="559435" y="186055"/>
              <a:ext cx="1947672" cy="416306"/>
            </a:xfrm>
            <a:custGeom>
              <a:avLst/>
              <a:gdLst/>
              <a:ahLst/>
              <a:cxnLst/>
              <a:rect l="l" t="t" r="r" b="b"/>
              <a:pathLst>
                <a:path w="1947672" h="416306">
                  <a:moveTo>
                    <a:pt x="0" y="416306"/>
                  </a:moveTo>
                  <a:lnTo>
                    <a:pt x="1947672" y="416306"/>
                  </a:lnTo>
                  <a:lnTo>
                    <a:pt x="1947672" y="0"/>
                  </a:lnTo>
                  <a:lnTo>
                    <a:pt x="0" y="0"/>
                  </a:lnTo>
                  <a:close/>
                </a:path>
              </a:pathLst>
            </a:custGeom>
            <a:solidFill>
              <a:srgbClr val="FFFFFF"/>
            </a:solidFill>
          </p:spPr>
          <p:txBody>
            <a:bodyPr/>
            <a:lstStyle/>
            <a:p>
              <a:endParaRPr lang="fr-FR"/>
            </a:p>
          </p:txBody>
        </p:sp>
      </p:grpSp>
      <p:sp>
        <p:nvSpPr>
          <p:cNvPr id="30" name="TextBox 99"/>
          <p:cNvSpPr txBox="1"/>
          <p:nvPr/>
        </p:nvSpPr>
        <p:spPr>
          <a:xfrm>
            <a:off x="6672167" y="9971913"/>
            <a:ext cx="248917" cy="240665"/>
          </a:xfrm>
          <a:prstGeom prst="rect">
            <a:avLst/>
          </a:prstGeom>
        </p:spPr>
        <p:txBody>
          <a:bodyPr lIns="0" tIns="0" rIns="0" bIns="0" rtlCol="0" anchor="t">
            <a:spAutoFit/>
          </a:bodyPr>
          <a:lstStyle/>
          <a:p>
            <a:pPr algn="l">
              <a:lnSpc>
                <a:spcPts val="1959"/>
              </a:lnSpc>
            </a:pPr>
            <a:r>
              <a:rPr lang="en-US" sz="1399" b="1" spc="8">
                <a:solidFill>
                  <a:srgbClr val="231F20"/>
                </a:solidFill>
                <a:latin typeface="IBM Plex Sans Bold"/>
                <a:ea typeface="IBM Plex Sans Bold"/>
                <a:cs typeface="IBM Plex Sans Bold"/>
                <a:sym typeface="IBM Plex Sans Bold"/>
              </a:rPr>
              <a:t>17</a:t>
            </a:r>
          </a:p>
        </p:txBody>
      </p:sp>
      <p:sp>
        <p:nvSpPr>
          <p:cNvPr id="31" name="TextBox 51"/>
          <p:cNvSpPr txBox="1"/>
          <p:nvPr/>
        </p:nvSpPr>
        <p:spPr>
          <a:xfrm>
            <a:off x="1474355" y="1529747"/>
            <a:ext cx="1066499" cy="202556"/>
          </a:xfrm>
          <a:prstGeom prst="rect">
            <a:avLst/>
          </a:prstGeom>
        </p:spPr>
        <p:txBody>
          <a:bodyPr wrap="square" lIns="0" tIns="0" rIns="0" bIns="0" rtlCol="0" anchor="t">
            <a:spAutoFit/>
          </a:bodyPr>
          <a:lstStyle/>
          <a:p>
            <a:pPr algn="just">
              <a:lnSpc>
                <a:spcPts val="1705"/>
              </a:lnSpc>
            </a:pPr>
            <a:r>
              <a:rPr lang="en-US" sz="1200" spc="4" dirty="0">
                <a:solidFill>
                  <a:srgbClr val="464395"/>
                </a:solidFill>
                <a:latin typeface="IBM Plex Sans"/>
                <a:ea typeface="IBM Plex Sans"/>
                <a:cs typeface="IBM Plex Sans"/>
                <a:sym typeface="IBM Plex Sans"/>
              </a:rPr>
              <a:t>2 RENTRÉES</a:t>
            </a:r>
            <a:endParaRPr lang="en-US" sz="1200" i="1" spc="4" dirty="0">
              <a:solidFill>
                <a:srgbClr val="231F20"/>
              </a:solidFill>
              <a:latin typeface="IBM Plex Sans Italics"/>
              <a:ea typeface="IBM Plex Sans Italics"/>
              <a:cs typeface="IBM Plex Sans Italics"/>
              <a:sym typeface="IBM Plex Sans Italics"/>
            </a:endParaRPr>
          </a:p>
        </p:txBody>
      </p:sp>
      <p:sp>
        <p:nvSpPr>
          <p:cNvPr id="32" name="TextBox 32"/>
          <p:cNvSpPr txBox="1"/>
          <p:nvPr/>
        </p:nvSpPr>
        <p:spPr>
          <a:xfrm>
            <a:off x="567738" y="6584175"/>
            <a:ext cx="1606115" cy="154466"/>
          </a:xfrm>
          <a:prstGeom prst="rect">
            <a:avLst/>
          </a:prstGeom>
        </p:spPr>
        <p:txBody>
          <a:bodyPr lIns="0" tIns="0" rIns="0" bIns="0" rtlCol="0" anchor="t">
            <a:spAutoFit/>
          </a:bodyPr>
          <a:lstStyle/>
          <a:p>
            <a:pPr>
              <a:lnSpc>
                <a:spcPts val="1200"/>
              </a:lnSpc>
            </a:pPr>
            <a:r>
              <a:rPr lang="en-US" sz="1200" i="1" spc="4" dirty="0">
                <a:solidFill>
                  <a:srgbClr val="1A1447"/>
                </a:solidFill>
                <a:latin typeface="IBM Plex Sans Italics"/>
                <a:ea typeface="IBM Plex Sans Italics"/>
                <a:cs typeface="IBM Plex Sans Italics"/>
                <a:sym typeface="IBM Plex Sans Italics"/>
              </a:rPr>
              <a:t>Programmation (Html, Css, Php, Java, Javascript)
Design UX/UI
Managemement de projet (agile etc.)
</a:t>
            </a:r>
          </a:p>
        </p:txBody>
      </p:sp>
      <p:sp>
        <p:nvSpPr>
          <p:cNvPr id="33" name="TextBox 33"/>
          <p:cNvSpPr txBox="1"/>
          <p:nvPr/>
        </p:nvSpPr>
        <p:spPr>
          <a:xfrm>
            <a:off x="618915" y="5447243"/>
            <a:ext cx="1789005"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FILIERE EN FORTE CROISSANCE</a:t>
            </a:r>
          </a:p>
        </p:txBody>
      </p:sp>
      <p:sp>
        <p:nvSpPr>
          <p:cNvPr id="34" name="TextBox 52"/>
          <p:cNvSpPr txBox="1"/>
          <p:nvPr/>
        </p:nvSpPr>
        <p:spPr>
          <a:xfrm>
            <a:off x="2746506" y="1510697"/>
            <a:ext cx="838810" cy="221792"/>
          </a:xfrm>
          <a:prstGeom prst="rect">
            <a:avLst/>
          </a:prstGeom>
        </p:spPr>
        <p:txBody>
          <a:bodyPr lIns="0" tIns="0" rIns="0" bIns="0" rtlCol="0" anchor="t">
            <a:spAutoFit/>
          </a:bodyPr>
          <a:lstStyle/>
          <a:p>
            <a:pPr algn="just">
              <a:lnSpc>
                <a:spcPts val="1908"/>
              </a:lnSpc>
            </a:pPr>
            <a:r>
              <a:rPr lang="en-US" sz="1200" spc="4" dirty="0">
                <a:solidFill>
                  <a:srgbClr val="464395"/>
                </a:solidFill>
                <a:latin typeface="IBM Plex Sans"/>
                <a:ea typeface="IBM Plex Sans"/>
                <a:cs typeface="IBM Plex Sans"/>
                <a:sym typeface="IBM Plex Sans"/>
              </a:rPr>
              <a:t>LANGUE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5" name="TextBox 35"/>
          <p:cNvSpPr txBox="1"/>
          <p:nvPr/>
        </p:nvSpPr>
        <p:spPr>
          <a:xfrm>
            <a:off x="537734" y="9010415"/>
            <a:ext cx="3010814" cy="179536"/>
          </a:xfrm>
          <a:prstGeom prst="rect">
            <a:avLst/>
          </a:prstGeom>
        </p:spPr>
        <p:txBody>
          <a:bodyPr lIns="0" tIns="0" rIns="0" bIns="0" rtlCol="0" anchor="t">
            <a:spAutoFit/>
          </a:bodyPr>
          <a:lstStyle/>
          <a:p>
            <a:pPr algn="l">
              <a:lnSpc>
                <a:spcPts val="1439"/>
              </a:lnSpc>
            </a:pPr>
            <a:r>
              <a:rPr lang="en-US" sz="1200" i="1" spc="4" dirty="0" err="1">
                <a:solidFill>
                  <a:srgbClr val="1A1447"/>
                </a:solidFill>
                <a:latin typeface="IBM Plex Sans Italics"/>
                <a:ea typeface="IBM Plex Sans Italics"/>
                <a:cs typeface="IBM Plex Sans Italics"/>
                <a:sym typeface="IBM Plex Sans Italics"/>
              </a:rPr>
              <a:t>• Développeur d’applications informatiques
• Développeur web
• Développeur d’applications sur systèmes mobiles
• Analyste développeur
</a:t>
            </a:r>
            <a:endParaRPr lang="en-US" sz="1200" i="1" spc="4" dirty="0">
              <a:solidFill>
                <a:srgbClr val="1A1447"/>
              </a:solidFill>
              <a:latin typeface="IBM Plex Sans Italics"/>
              <a:ea typeface="IBM Plex Sans Italics"/>
              <a:cs typeface="IBM Plex Sans Italics"/>
              <a:sym typeface="IBM Plex Sans Italics"/>
            </a:endParaRPr>
          </a:p>
        </p:txBody>
      </p:sp>
      <p:sp>
        <p:nvSpPr>
          <p:cNvPr id="36" name="TextBox 36"/>
          <p:cNvSpPr txBox="1"/>
          <p:nvPr/>
        </p:nvSpPr>
        <p:spPr>
          <a:xfrm>
            <a:off x="2754878" y="6599644"/>
            <a:ext cx="1543031"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4" dirty="0">
                <a:solidFill>
                  <a:srgbClr val="1A1447"/>
                </a:solidFill>
                <a:latin typeface="IBM Plex Sans Italics"/>
                <a:ea typeface="IBM Plex Sans Italics"/>
                <a:cs typeface="IBM Plex Sans Italics"/>
                <a:sym typeface="IBM Plex Sans Italics"/>
              </a:rPr>
              <a:t>Base de données (MongoDB, SQL)
Développement Front-End
Développement d’applications Web</a:t>
            </a:r>
          </a:p>
        </p:txBody>
      </p:sp>
      <p:sp>
        <p:nvSpPr>
          <p:cNvPr id="37" name="TextBox 37"/>
          <p:cNvSpPr txBox="1"/>
          <p:nvPr/>
        </p:nvSpPr>
        <p:spPr>
          <a:xfrm>
            <a:off x="2932852" y="5447243"/>
            <a:ext cx="1520552"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RESEAU DE PARTENAIRES IMPORTANT SUR PARIS</a:t>
            </a:r>
          </a:p>
        </p:txBody>
      </p:sp>
      <p:sp>
        <p:nvSpPr>
          <p:cNvPr id="38" name="TextBox 53"/>
          <p:cNvSpPr txBox="1"/>
          <p:nvPr/>
        </p:nvSpPr>
        <p:spPr>
          <a:xfrm>
            <a:off x="4001006" y="1529747"/>
            <a:ext cx="1091866" cy="212174"/>
          </a:xfrm>
          <a:prstGeom prst="rect">
            <a:avLst/>
          </a:prstGeom>
        </p:spPr>
        <p:txBody>
          <a:bodyPr lIns="0" tIns="0" rIns="0" bIns="0" rtlCol="0" anchor="t">
            <a:spAutoFit/>
          </a:bodyPr>
          <a:lstStyle/>
          <a:p>
            <a:pPr algn="just">
              <a:lnSpc>
                <a:spcPts val="1796"/>
              </a:lnSpc>
            </a:pPr>
            <a:r>
              <a:rPr lang="en-US" sz="1200" spc="4" dirty="0">
                <a:solidFill>
                  <a:srgbClr val="464395"/>
                </a:solidFill>
                <a:latin typeface="IBM Plex Sans"/>
                <a:ea typeface="IBM Plex Sans"/>
                <a:cs typeface="IBM Plex Sans"/>
                <a:sym typeface="IBM Plex Sans"/>
              </a:rPr>
              <a:t>STAGE</a:t>
            </a:r>
          </a:p>
        </p:txBody>
      </p:sp>
      <p:sp>
        <p:nvSpPr>
          <p:cNvPr id="39" name="TextBox 39"/>
          <p:cNvSpPr txBox="1"/>
          <p:nvPr/>
        </p:nvSpPr>
        <p:spPr>
          <a:xfrm>
            <a:off x="5430213" y="1743483"/>
            <a:ext cx="1306830" cy="179536"/>
          </a:xfrm>
          <a:prstGeom prst="rect">
            <a:avLst/>
          </a:prstGeom>
        </p:spPr>
        <p:txBody>
          <a:bodyPr lIns="0" tIns="0" rIns="0" bIns="0" rtlCol="0" anchor="t">
            <a:spAutoFit/>
          </a:bodyPr>
          <a:lstStyle/>
          <a:p>
            <a:pPr>
              <a:lnSpc>
                <a:spcPts val="1439"/>
              </a:lnSpc>
            </a:pPr>
            <a:r>
              <a:rPr lang="en-US" sz="1200" i="1" spc="4" dirty="0">
                <a:solidFill>
                  <a:srgbClr val="231F20"/>
                </a:solidFill>
                <a:latin typeface="IBM Plex Sans Italics"/>
                <a:ea typeface="IBM Plex Sans Italics"/>
                <a:cs typeface="IBM Plex Sans Italics"/>
                <a:sym typeface="IBM Plex Sans Italics"/>
              </a:rPr>
              <a:t>Sur dossier et entretien</a:t>
            </a:r>
          </a:p>
        </p:txBody>
      </p:sp>
      <p:sp>
        <p:nvSpPr>
          <p:cNvPr id="40" name="TextBox 40"/>
          <p:cNvSpPr txBox="1"/>
          <p:nvPr/>
        </p:nvSpPr>
        <p:spPr>
          <a:xfrm>
            <a:off x="5175047" y="5447243"/>
            <a:ext cx="1328147"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TITRE AVEC LABEL RNCP EN OPTION</a:t>
            </a:r>
          </a:p>
        </p:txBody>
      </p:sp>
      <p:sp>
        <p:nvSpPr>
          <p:cNvPr id="41" name="TextBox 41"/>
          <p:cNvSpPr txBox="1"/>
          <p:nvPr/>
        </p:nvSpPr>
        <p:spPr>
          <a:xfrm>
            <a:off x="4989195" y="6599644"/>
            <a:ext cx="1699851"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4" dirty="0">
                <a:solidFill>
                  <a:srgbClr val="1A1447"/>
                </a:solidFill>
                <a:latin typeface="IBM Plex Sans Italics"/>
                <a:ea typeface="IBM Plex Sans Italics"/>
                <a:cs typeface="IBM Plex Sans Italics"/>
                <a:sym typeface="IBM Plex Sans Italics"/>
              </a:rPr>
              <a:t>Anglais général &amp;
Communication
RGPD
Sécurisation des applications
</a:t>
            </a:r>
          </a:p>
        </p:txBody>
      </p:sp>
      <p:sp>
        <p:nvSpPr>
          <p:cNvPr id="42" name="TextBox 42"/>
          <p:cNvSpPr txBox="1"/>
          <p:nvPr/>
        </p:nvSpPr>
        <p:spPr>
          <a:xfrm>
            <a:off x="774204" y="2950440"/>
            <a:ext cx="6055900" cy="179536"/>
          </a:xfrm>
          <a:prstGeom prst="rect">
            <a:avLst/>
          </a:prstGeom>
        </p:spPr>
        <p:txBody>
          <a:bodyPr lIns="0" tIns="0" rIns="0" bIns="0" rtlCol="0" anchor="t">
            <a:spAutoFit/>
          </a:bodyPr>
          <a:lstStyle/>
          <a:p>
            <a:pPr algn="just">
              <a:lnSpc>
                <a:spcPts val="1439"/>
              </a:lnSpc>
            </a:pPr>
            <a:r>
              <a:rPr lang="en-US" sz="1200" spc="7" dirty="0">
                <a:solidFill>
                  <a:srgbClr val="FFFFFF"/>
                </a:solidFill>
                <a:latin typeface="IBM Plex Sans"/>
                <a:ea typeface="IBM Plex Sans"/>
                <a:cs typeface="IBM Plex Sans"/>
                <a:sym typeface="IBM Plex Sans"/>
              </a:rPr>
              <a:t>Le Bachelor Développement Web et Applicatif (DWA) permet d’acquérir en deux ans les bases de l’informatique et de la création de sites web en Front et Back office avant de se spécialiser en troisième année vers le développement de solutions applicatif pour les entreprises.
Ce programme est une formation opérationnelle permettant de développer une réelle maîtrise des différentes étapes de la conception à la mise en production d’une solution logicielle. </a:t>
            </a:r>
            <a:endParaRPr lang="en-US" sz="1200" spc="4" dirty="0">
              <a:solidFill>
                <a:srgbClr val="FFFFFF"/>
              </a:solidFill>
              <a:latin typeface="IBM Plex Sans"/>
              <a:ea typeface="IBM Plex Sans"/>
              <a:cs typeface="IBM Plex Sans"/>
              <a:sym typeface="IBM Plex Sans"/>
            </a:endParaRPr>
          </a:p>
        </p:txBody>
      </p:sp>
      <p:sp>
        <p:nvSpPr>
          <p:cNvPr id="43" name="TextBox 43"/>
          <p:cNvSpPr txBox="1"/>
          <p:nvPr/>
        </p:nvSpPr>
        <p:spPr>
          <a:xfrm>
            <a:off x="6595587" y="404108"/>
            <a:ext cx="525475" cy="397269"/>
          </a:xfrm>
          <a:prstGeom prst="rect">
            <a:avLst/>
          </a:prstGeom>
        </p:spPr>
        <p:txBody>
          <a:bodyPr lIns="0" tIns="0" rIns="0" bIns="0" rtlCol="0" anchor="t">
            <a:spAutoFit/>
          </a:bodyPr>
          <a:lstStyle/>
          <a:p>
            <a:pPr algn="ctr">
              <a:lnSpc>
                <a:spcPts val="1660"/>
              </a:lnSpc>
            </a:pPr>
            <a:r>
              <a:rPr lang="en-US" sz="1399" b="1" spc="8" dirty="0">
                <a:solidFill>
                  <a:srgbClr val="FFFFFF"/>
                </a:solidFill>
                <a:latin typeface="IBM Plex Sans Bold"/>
                <a:ea typeface="IBM Plex Sans Bold"/>
                <a:cs typeface="IBM Plex Sans Bold"/>
                <a:sym typeface="IBM Plex Sans Bold"/>
              </a:rPr>
              <a:t>3 </a:t>
            </a:r>
          </a:p>
          <a:p>
            <a:pPr algn="l">
              <a:lnSpc>
                <a:spcPts val="1423"/>
              </a:lnSpc>
            </a:pPr>
            <a:r>
              <a:rPr lang="en-US" sz="1200" b="1" spc="7" dirty="0">
                <a:solidFill>
                  <a:srgbClr val="FFFFFF"/>
                </a:solidFill>
                <a:latin typeface="IBM Plex Sans Bold"/>
                <a:ea typeface="IBM Plex Sans Bold"/>
                <a:cs typeface="IBM Plex Sans Bold"/>
                <a:sym typeface="IBM Plex Sans Bold"/>
              </a:rPr>
              <a:t>YEARS</a:t>
            </a:r>
          </a:p>
        </p:txBody>
      </p:sp>
      <p:sp>
        <p:nvSpPr>
          <p:cNvPr id="44" name="TextBox 44"/>
          <p:cNvSpPr txBox="1"/>
          <p:nvPr/>
        </p:nvSpPr>
        <p:spPr>
          <a:xfrm>
            <a:off x="2597896" y="10378411"/>
            <a:ext cx="2515629" cy="151428"/>
          </a:xfrm>
          <a:prstGeom prst="rect">
            <a:avLst/>
          </a:prstGeom>
        </p:spPr>
        <p:txBody>
          <a:bodyPr lIns="0" tIns="0" rIns="0" bIns="0" rtlCol="0" anchor="t">
            <a:spAutoFit/>
          </a:bodyPr>
          <a:lstStyle/>
          <a:p>
            <a:pPr algn="l">
              <a:lnSpc>
                <a:spcPts val="1260"/>
              </a:lnSpc>
            </a:pPr>
            <a:r>
              <a:rPr lang="en-US" sz="900" i="1" spc="25">
                <a:solidFill>
                  <a:srgbClr val="939496"/>
                </a:solidFill>
                <a:latin typeface="IBM Plex Sans Italics"/>
                <a:ea typeface="IBM Plex Sans Italics"/>
                <a:cs typeface="IBM Plex Sans Italics"/>
                <a:sym typeface="IBM Plex Sans Italics"/>
              </a:rPr>
              <a:t>Etablissement d’enseignement supérieur privé</a:t>
            </a:r>
          </a:p>
        </p:txBody>
      </p:sp>
      <p:sp>
        <p:nvSpPr>
          <p:cNvPr id="45" name="TextBox 45"/>
          <p:cNvSpPr txBox="1"/>
          <p:nvPr/>
        </p:nvSpPr>
        <p:spPr>
          <a:xfrm>
            <a:off x="537734" y="8547291"/>
            <a:ext cx="354531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OPPORTUNITÉS MÉTIERS</a:t>
            </a:r>
          </a:p>
        </p:txBody>
      </p:sp>
      <p:sp>
        <p:nvSpPr>
          <p:cNvPr id="46" name="TextBox 46"/>
          <p:cNvSpPr txBox="1"/>
          <p:nvPr/>
        </p:nvSpPr>
        <p:spPr>
          <a:xfrm>
            <a:off x="537734" y="6063605"/>
            <a:ext cx="3915670"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ENSEIGNEMENTS</a:t>
            </a:r>
          </a:p>
        </p:txBody>
      </p:sp>
      <p:sp>
        <p:nvSpPr>
          <p:cNvPr id="47" name="TextBox 47"/>
          <p:cNvSpPr txBox="1"/>
          <p:nvPr/>
        </p:nvSpPr>
        <p:spPr>
          <a:xfrm>
            <a:off x="537734" y="4387205"/>
            <a:ext cx="423111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TOP3 - POINTS FORTS</a:t>
            </a:r>
          </a:p>
        </p:txBody>
      </p:sp>
      <p:sp>
        <p:nvSpPr>
          <p:cNvPr id="48" name="TextBox 48"/>
          <p:cNvSpPr txBox="1"/>
          <p:nvPr/>
        </p:nvSpPr>
        <p:spPr>
          <a:xfrm>
            <a:off x="1465355" y="960787"/>
            <a:ext cx="5130232" cy="270202"/>
          </a:xfrm>
          <a:prstGeom prst="rect">
            <a:avLst/>
          </a:prstGeom>
        </p:spPr>
        <p:txBody>
          <a:bodyPr wrap="square" lIns="0" tIns="0" rIns="0" bIns="0" rtlCol="0" anchor="t">
            <a:spAutoFit/>
          </a:bodyPr>
          <a:lstStyle/>
          <a:p>
            <a:pPr algn="just">
              <a:lnSpc>
                <a:spcPts val="2160"/>
              </a:lnSpc>
            </a:pPr>
            <a:r>
              <a:rPr lang="en-US" sz="1800" b="1" spc="7" dirty="0">
                <a:solidFill>
                  <a:srgbClr val="1A1447"/>
                </a:solidFill>
                <a:latin typeface="IBM Plex Sans Bold"/>
                <a:ea typeface="IBM Plex Sans Bold"/>
                <a:cs typeface="IBM Plex Sans Bold"/>
                <a:sym typeface="IBM Plex Sans Bold"/>
              </a:rPr>
              <a:t>DEVELOPPEMENT WEB ET APPLICATIF</a:t>
            </a:r>
          </a:p>
        </p:txBody>
      </p:sp>
      <p:sp>
        <p:nvSpPr>
          <p:cNvPr id="49" name="TextBox 49"/>
          <p:cNvSpPr txBox="1"/>
          <p:nvPr/>
        </p:nvSpPr>
        <p:spPr>
          <a:xfrm>
            <a:off x="5455302" y="1547187"/>
            <a:ext cx="783022" cy="192491"/>
          </a:xfrm>
          <a:prstGeom prst="rect">
            <a:avLst/>
          </a:prstGeom>
        </p:spPr>
        <p:txBody>
          <a:bodyPr lIns="0" tIns="0" rIns="0" bIns="0" rtlCol="0" anchor="t">
            <a:spAutoFit/>
          </a:bodyPr>
          <a:lstStyle/>
          <a:p>
            <a:pPr algn="l">
              <a:lnSpc>
                <a:spcPts val="1539"/>
              </a:lnSpc>
            </a:pPr>
            <a:r>
              <a:rPr lang="en-US" sz="1100" spc="4" dirty="0">
                <a:solidFill>
                  <a:srgbClr val="464395"/>
                </a:solidFill>
                <a:latin typeface="IBM Plex Sans"/>
                <a:ea typeface="IBM Plex Sans"/>
                <a:cs typeface="IBM Plex Sans"/>
                <a:sym typeface="IBM Plex Sans"/>
              </a:rPr>
              <a:t>ADMISSION</a:t>
            </a:r>
          </a:p>
        </p:txBody>
      </p:sp>
      <p:sp>
        <p:nvSpPr>
          <p:cNvPr id="50" name="TextBox 50"/>
          <p:cNvSpPr txBox="1"/>
          <p:nvPr/>
        </p:nvSpPr>
        <p:spPr>
          <a:xfrm>
            <a:off x="1465355" y="468535"/>
            <a:ext cx="1795272" cy="405111"/>
          </a:xfrm>
          <a:prstGeom prst="rect">
            <a:avLst/>
          </a:prstGeom>
        </p:spPr>
        <p:txBody>
          <a:bodyPr lIns="0" tIns="0" rIns="0" bIns="0" rtlCol="0" anchor="t">
            <a:spAutoFit/>
          </a:bodyPr>
          <a:lstStyle/>
          <a:p>
            <a:pPr algn="l">
              <a:lnSpc>
                <a:spcPts val="3359"/>
              </a:lnSpc>
            </a:pPr>
            <a:r>
              <a:rPr lang="en-US" sz="2400" b="1" spc="14" dirty="0">
                <a:solidFill>
                  <a:srgbClr val="231F20"/>
                </a:solidFill>
                <a:latin typeface="IBM Plex Sans Bold"/>
                <a:ea typeface="IBM Plex Sans Bold"/>
                <a:cs typeface="IBM Plex Sans Bold"/>
                <a:sym typeface="IBM Plex Sans Bold"/>
              </a:rPr>
              <a:t>BACHELOR</a:t>
            </a:r>
          </a:p>
        </p:txBody>
      </p:sp>
      <p:sp>
        <p:nvSpPr>
          <p:cNvPr id="52" name="TextBox 31">
            <a:extLst>
              <a:ext uri="{FF2B5EF4-FFF2-40B4-BE49-F238E27FC236}">
                <a16:creationId xmlns:a16="http://schemas.microsoft.com/office/drawing/2014/main" id="{73338D7F-8308-E7F2-0829-44BBD7B44255}"/>
              </a:ext>
            </a:extLst>
          </p:cNvPr>
          <p:cNvSpPr txBox="1"/>
          <p:nvPr/>
        </p:nvSpPr>
        <p:spPr>
          <a:xfrm>
            <a:off x="1474356" y="1720247"/>
            <a:ext cx="780016" cy="202556"/>
          </a:xfrm>
          <a:prstGeom prst="rect">
            <a:avLst/>
          </a:prstGeom>
        </p:spPr>
        <p:txBody>
          <a:bodyPr lIns="0" tIns="0" rIns="0" bIns="0" rtlCol="0" anchor="t">
            <a:spAutoFit/>
          </a:bodyPr>
          <a:lstStyle/>
          <a:p>
            <a:pPr>
              <a:lnSpc>
                <a:spcPts val="1705"/>
              </a:lnSpc>
            </a:pPr>
            <a:r>
              <a:rPr lang="en-US" sz="1200" i="1" spc="4" dirty="0">
                <a:solidFill>
                  <a:srgbClr val="231F20"/>
                </a:solidFill>
                <a:latin typeface="IBM Plex Sans Italics"/>
                <a:ea typeface="IBM Plex Sans Italics"/>
                <a:cs typeface="IBM Plex Sans Italics"/>
                <a:sym typeface="IBM Plex Sans Italics"/>
              </a:rPr>
              <a:t>Automne Printemps</a:t>
            </a:r>
          </a:p>
        </p:txBody>
      </p:sp>
      <p:sp>
        <p:nvSpPr>
          <p:cNvPr id="51" name="TextBox 34">
            <a:extLst>
              <a:ext uri="{FF2B5EF4-FFF2-40B4-BE49-F238E27FC236}">
                <a16:creationId xmlns:a16="http://schemas.microsoft.com/office/drawing/2014/main" id="{3F76F06D-7C5A-115E-C327-BCA4898F60E6}"/>
              </a:ext>
            </a:extLst>
          </p:cNvPr>
          <p:cNvSpPr txBox="1"/>
          <p:nvPr/>
        </p:nvSpPr>
        <p:spPr>
          <a:xfrm>
            <a:off x="2749061" y="1716228"/>
            <a:ext cx="838811" cy="221792"/>
          </a:xfrm>
          <a:prstGeom prst="rect">
            <a:avLst/>
          </a:prstGeom>
        </p:spPr>
        <p:txBody>
          <a:bodyPr lIns="0" tIns="0" rIns="0" bIns="0" rtlCol="0" anchor="t">
            <a:spAutoFit/>
          </a:bodyPr>
          <a:lstStyle/>
          <a:p>
            <a:pPr>
              <a:lnSpc>
                <a:spcPts val="1908"/>
              </a:lnSpc>
            </a:pPr>
            <a:r>
              <a:rPr lang="en-US" sz="1200" i="1" spc="4" dirty="0" err="1">
                <a:solidFill>
                  <a:srgbClr val="231F20"/>
                </a:solidFill>
                <a:latin typeface="IBM Plex Sans Italics"/>
                <a:ea typeface="IBM Plex Sans Italics"/>
                <a:cs typeface="IBM Plex Sans Italics"/>
                <a:sym typeface="IBM Plex Sans Italics"/>
              </a:rPr>
              <a:t>Français</a:t>
            </a:r>
            <a:r>
              <a:rPr lang="en-US" sz="1200" i="1" spc="4" dirty="0">
                <a:solidFill>
                  <a:srgbClr val="231F20"/>
                </a:solidFill>
                <a:latin typeface="IBM Plex Sans Italics"/>
                <a:ea typeface="IBM Plex Sans Italics"/>
                <a:cs typeface="IBM Plex Sans Italics"/>
                <a:sym typeface="IBM Plex Sans Italics"/>
              </a:rPr>
              <a:t/>
            </a:r>
          </a:p>
        </p:txBody>
      </p:sp>
      <p:sp>
        <p:nvSpPr>
          <p:cNvPr id="54" name="TextBox 38">
            <a:extLst>
              <a:ext uri="{FF2B5EF4-FFF2-40B4-BE49-F238E27FC236}">
                <a16:creationId xmlns:a16="http://schemas.microsoft.com/office/drawing/2014/main" id="{F4D71D31-FE13-729F-DD0F-F89716948679}"/>
              </a:ext>
            </a:extLst>
          </p:cNvPr>
          <p:cNvSpPr txBox="1"/>
          <p:nvPr/>
        </p:nvSpPr>
        <p:spPr>
          <a:xfrm>
            <a:off x="3996412" y="1738606"/>
            <a:ext cx="899438" cy="420564"/>
          </a:xfrm>
          <a:prstGeom prst="rect">
            <a:avLst/>
          </a:prstGeom>
        </p:spPr>
        <p:txBody>
          <a:bodyPr wrap="square" lIns="0" tIns="0" rIns="0" bIns="0" rtlCol="0" anchor="t">
            <a:spAutoFit/>
          </a:bodyPr>
          <a:lstStyle/>
          <a:p>
            <a:pPr>
              <a:lnSpc>
                <a:spcPts val="1705"/>
              </a:lnSpc>
            </a:pPr>
            <a:r>
              <a:rPr lang="en-US" sz="1200" i="1" spc="4" dirty="0">
                <a:solidFill>
                  <a:srgbClr val="231F20"/>
                </a:solidFill>
                <a:latin typeface="IBM Plex Sans Italics"/>
                <a:ea typeface="IBM Plex Sans Italics"/>
                <a:cs typeface="IBM Plex Sans Italics"/>
                <a:sym typeface="IBM Plex Sans Italics"/>
              </a:rPr>
              <a:t>2-4 mois en entreprise</a:t>
            </a:r>
          </a:p>
          <a:p>
            <a:pPr algn="just">
              <a:lnSpc>
                <a:spcPts val="1705"/>
              </a:lnSpc>
            </a:pPr>
            <a:endParaRPr lang="en-US" sz="1200" i="1" spc="4" dirty="0">
              <a:solidFill>
                <a:srgbClr val="231F20"/>
              </a:solidFill>
              <a:latin typeface="IBM Plex Sans Italics"/>
              <a:ea typeface="IBM Plex Sans Italics"/>
              <a:cs typeface="IBM Plex Sans Italics"/>
              <a:sym typeface="IBM Plex Sans Italics"/>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p:cNvGrpSpPr>
            <a:grpSpLocks noChangeAspect="1"/>
          </p:cNvGrpSpPr>
          <p:nvPr/>
        </p:nvGrpSpPr>
        <p:grpSpPr>
          <a:xfrm>
            <a:off x="1079383" y="4764424"/>
            <a:ext cx="762505" cy="679580"/>
            <a:chOff x="0" y="0"/>
            <a:chExt cx="762495" cy="679577"/>
          </a:xfrm>
        </p:grpSpPr>
        <p:sp>
          <p:nvSpPr>
            <p:cNvPr id="3" name="Freeform 3"/>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6985"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p:cNvSpPr/>
            <p:nvPr/>
          </p:nvSpPr>
          <p:spPr>
            <a:xfrm>
              <a:off x="260477" y="267970"/>
              <a:ext cx="120269" cy="140081"/>
            </a:xfrm>
            <a:custGeom>
              <a:avLst/>
              <a:gdLst/>
              <a:ahLst/>
              <a:cxnLst/>
              <a:rect l="l" t="t" r="r" b="b"/>
              <a:pathLst>
                <a:path w="120269"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071" y="0"/>
                  </a:cubicBezTo>
                  <a:lnTo>
                    <a:pt x="76581" y="1778"/>
                  </a:lnTo>
                  <a:cubicBezTo>
                    <a:pt x="91313" y="8890"/>
                    <a:pt x="97663" y="13716"/>
                    <a:pt x="103124" y="19939"/>
                  </a:cubicBezTo>
                  <a:lnTo>
                    <a:pt x="115697" y="42037"/>
                  </a:lnTo>
                  <a:cubicBezTo>
                    <a:pt x="118745" y="50546"/>
                    <a:pt x="120269" y="59944"/>
                    <a:pt x="120269" y="70104"/>
                  </a:cubicBezTo>
                  <a:moveTo>
                    <a:pt x="88773" y="70104"/>
                  </a:moveTo>
                  <a:lnTo>
                    <a:pt x="88011" y="58293"/>
                  </a:lnTo>
                  <a:cubicBezTo>
                    <a:pt x="85217" y="48006"/>
                    <a:pt x="83185" y="43561"/>
                    <a:pt x="80645" y="39878"/>
                  </a:cubicBezTo>
                  <a:lnTo>
                    <a:pt x="75057" y="33401"/>
                  </a:lnTo>
                  <a:lnTo>
                    <a:pt x="64262" y="28448"/>
                  </a:lnTo>
                  <a:cubicBezTo>
                    <a:pt x="55753" y="28448"/>
                    <a:pt x="51816" y="29464"/>
                    <a:pt x="48260" y="31496"/>
                  </a:cubicBezTo>
                  <a:lnTo>
                    <a:pt x="41783" y="36322"/>
                  </a:lnTo>
                  <a:cubicBezTo>
                    <a:pt x="36703" y="43688"/>
                    <a:pt x="34671" y="48133"/>
                    <a:pt x="33274" y="53340"/>
                  </a:cubicBezTo>
                  <a:lnTo>
                    <a:pt x="31115" y="64135"/>
                  </a:lnTo>
                  <a:cubicBezTo>
                    <a:pt x="31115" y="76454"/>
                    <a:pt x="31877" y="82042"/>
                    <a:pt x="33274" y="87122"/>
                  </a:cubicBezTo>
                  <a:lnTo>
                    <a:pt x="36703" y="96520"/>
                  </a:lnTo>
                  <a:cubicBezTo>
                    <a:pt x="41783" y="103886"/>
                    <a:pt x="44831" y="106807"/>
                    <a:pt x="48387" y="108712"/>
                  </a:cubicBezTo>
                  <a:lnTo>
                    <a:pt x="55753" y="111760"/>
                  </a:lnTo>
                  <a:lnTo>
                    <a:pt x="68199" y="110744"/>
                  </a:lnTo>
                  <a:cubicBezTo>
                    <a:pt x="75184" y="106680"/>
                    <a:pt x="78232" y="103886"/>
                    <a:pt x="80772" y="100203"/>
                  </a:cubicBezTo>
                  <a:lnTo>
                    <a:pt x="85344" y="92075"/>
                  </a:lnTo>
                  <a:cubicBezTo>
                    <a:pt x="88138" y="81915"/>
                    <a:pt x="88900" y="76327"/>
                    <a:pt x="88900" y="70104"/>
                  </a:cubicBezTo>
                </a:path>
              </a:pathLst>
            </a:custGeom>
            <a:solidFill>
              <a:srgbClr val="7DE314"/>
            </a:solidFill>
          </p:spPr>
          <p:txBody>
            <a:bodyPr/>
            <a:lstStyle/>
            <a:p>
              <a:endParaRPr lang="fr-FR"/>
            </a:p>
          </p:txBody>
        </p:sp>
        <p:sp>
          <p:nvSpPr>
            <p:cNvPr id="7" name="Freeform 7"/>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163" y="37719"/>
                    <a:pt x="31115" y="39751"/>
                  </a:cubicBezTo>
                  <a:lnTo>
                    <a:pt x="24765" y="43434"/>
                  </a:lnTo>
                  <a:lnTo>
                    <a:pt x="13970" y="48260"/>
                  </a:lnTo>
                  <a:cubicBezTo>
                    <a:pt x="6350" y="50419"/>
                    <a:pt x="3048"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p:cNvGrpSpPr>
            <a:grpSpLocks noChangeAspect="1"/>
          </p:cNvGrpSpPr>
          <p:nvPr/>
        </p:nvGrpSpPr>
        <p:grpSpPr>
          <a:xfrm>
            <a:off x="3338779" y="4757195"/>
            <a:ext cx="762505" cy="686800"/>
            <a:chOff x="0" y="0"/>
            <a:chExt cx="762495" cy="686803"/>
          </a:xfrm>
        </p:grpSpPr>
        <p:sp>
          <p:nvSpPr>
            <p:cNvPr id="9" name="Freeform 9"/>
            <p:cNvSpPr/>
            <p:nvPr/>
          </p:nvSpPr>
          <p:spPr>
            <a:xfrm>
              <a:off x="63500" y="63500"/>
              <a:ext cx="635508" cy="559689"/>
            </a:xfrm>
            <a:custGeom>
              <a:avLst/>
              <a:gdLst/>
              <a:ahLst/>
              <a:cxnLst/>
              <a:rect l="l" t="t" r="r" b="b"/>
              <a:pathLst>
                <a:path w="635508" h="559689">
                  <a:moveTo>
                    <a:pt x="631698" y="294132"/>
                  </a:moveTo>
                  <a:lnTo>
                    <a:pt x="487045" y="545465"/>
                  </a:lnTo>
                  <a:cubicBezTo>
                    <a:pt x="481965" y="554355"/>
                    <a:pt x="472567" y="559689"/>
                    <a:pt x="462407" y="559689"/>
                  </a:cubicBezTo>
                  <a:lnTo>
                    <a:pt x="173101" y="559689"/>
                  </a:lnTo>
                  <a:cubicBezTo>
                    <a:pt x="162941" y="559689"/>
                    <a:pt x="153543" y="554228"/>
                    <a:pt x="148463" y="545465"/>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p:cNvGrpSpPr>
            <a:grpSpLocks noChangeAspect="1"/>
          </p:cNvGrpSpPr>
          <p:nvPr/>
        </p:nvGrpSpPr>
        <p:grpSpPr>
          <a:xfrm>
            <a:off x="5424068" y="4749946"/>
            <a:ext cx="762505" cy="694058"/>
            <a:chOff x="0" y="0"/>
            <a:chExt cx="762495" cy="694055"/>
          </a:xfrm>
        </p:grpSpPr>
        <p:sp>
          <p:nvSpPr>
            <p:cNvPr id="15" name="Freeform 15"/>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6" name="Freeform 16"/>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7" name="Freeform 17"/>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18" name="Freeform 18"/>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19" name="Freeform 19"/>
            <p:cNvSpPr/>
            <p:nvPr/>
          </p:nvSpPr>
          <p:spPr>
            <a:xfrm>
              <a:off x="388493"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0" name="Group 20"/>
          <p:cNvGrpSpPr>
            <a:grpSpLocks noChangeAspect="1"/>
          </p:cNvGrpSpPr>
          <p:nvPr/>
        </p:nvGrpSpPr>
        <p:grpSpPr>
          <a:xfrm>
            <a:off x="0" y="2680973"/>
            <a:ext cx="7559993" cy="1642539"/>
            <a:chOff x="0" y="0"/>
            <a:chExt cx="7559992" cy="1642542"/>
          </a:xfrm>
        </p:grpSpPr>
        <p:sp>
          <p:nvSpPr>
            <p:cNvPr id="21" name="Freeform 21"/>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22" name="Group 22"/>
          <p:cNvGrpSpPr>
            <a:grpSpLocks noChangeAspect="1"/>
          </p:cNvGrpSpPr>
          <p:nvPr/>
        </p:nvGrpSpPr>
        <p:grpSpPr>
          <a:xfrm>
            <a:off x="756000" y="269119"/>
            <a:ext cx="6476448" cy="1983229"/>
            <a:chOff x="0" y="0"/>
            <a:chExt cx="6476454" cy="1983232"/>
          </a:xfrm>
        </p:grpSpPr>
        <p:sp>
          <p:nvSpPr>
            <p:cNvPr id="23" name="Freeform 23"/>
            <p:cNvSpPr/>
            <p:nvPr/>
          </p:nvSpPr>
          <p:spPr>
            <a:xfrm>
              <a:off x="63500" y="387477"/>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4" name="Freeform 24"/>
            <p:cNvSpPr/>
            <p:nvPr/>
          </p:nvSpPr>
          <p:spPr>
            <a:xfrm>
              <a:off x="582422" y="137871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5" name="Freeform 25"/>
            <p:cNvSpPr/>
            <p:nvPr/>
          </p:nvSpPr>
          <p:spPr>
            <a:xfrm>
              <a:off x="1836928" y="138899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6" name="Freeform 26"/>
            <p:cNvSpPr/>
            <p:nvPr/>
          </p:nvSpPr>
          <p:spPr>
            <a:xfrm>
              <a:off x="3118358" y="1374648"/>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7" name="Freeform 27"/>
            <p:cNvSpPr/>
            <p:nvPr/>
          </p:nvSpPr>
          <p:spPr>
            <a:xfrm>
              <a:off x="4558411" y="1370330"/>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8" name="Freeform 28"/>
            <p:cNvSpPr/>
            <p:nvPr/>
          </p:nvSpPr>
          <p:spPr>
            <a:xfrm>
              <a:off x="5732653" y="63500"/>
              <a:ext cx="680212" cy="646176"/>
            </a:xfrm>
            <a:custGeom>
              <a:avLst/>
              <a:gdLst/>
              <a:ahLst/>
              <a:cxnLst/>
              <a:rect l="l" t="t" r="r" b="b"/>
              <a:pathLst>
                <a:path w="680212" h="646176">
                  <a:moveTo>
                    <a:pt x="340106" y="646049"/>
                  </a:moveTo>
                  <a:cubicBezTo>
                    <a:pt x="527939" y="646049"/>
                    <a:pt x="680212" y="501396"/>
                    <a:pt x="680212" y="322961"/>
                  </a:cubicBezTo>
                  <a:cubicBezTo>
                    <a:pt x="680212" y="144526"/>
                    <a:pt x="528066" y="0"/>
                    <a:pt x="340106" y="0"/>
                  </a:cubicBezTo>
                  <a:cubicBezTo>
                    <a:pt x="152146"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9" name="Freeform 29"/>
            <p:cNvSpPr/>
            <p:nvPr/>
          </p:nvSpPr>
          <p:spPr>
            <a:xfrm>
              <a:off x="559435" y="186055"/>
              <a:ext cx="1947672" cy="416306"/>
            </a:xfrm>
            <a:custGeom>
              <a:avLst/>
              <a:gdLst/>
              <a:ahLst/>
              <a:cxnLst/>
              <a:rect l="l" t="t" r="r" b="b"/>
              <a:pathLst>
                <a:path w="1947672" h="416306">
                  <a:moveTo>
                    <a:pt x="0" y="416306"/>
                  </a:moveTo>
                  <a:lnTo>
                    <a:pt x="1947672" y="416306"/>
                  </a:lnTo>
                  <a:lnTo>
                    <a:pt x="1947672" y="0"/>
                  </a:lnTo>
                  <a:lnTo>
                    <a:pt x="0" y="0"/>
                  </a:lnTo>
                  <a:close/>
                </a:path>
              </a:pathLst>
            </a:custGeom>
            <a:solidFill>
              <a:srgbClr val="FFFFFF"/>
            </a:solidFill>
          </p:spPr>
          <p:txBody>
            <a:bodyPr/>
            <a:lstStyle/>
            <a:p>
              <a:endParaRPr lang="fr-FR"/>
            </a:p>
          </p:txBody>
        </p:sp>
      </p:grpSp>
      <p:sp>
        <p:nvSpPr>
          <p:cNvPr id="30" name="TextBox 99"/>
          <p:cNvSpPr txBox="1"/>
          <p:nvPr/>
        </p:nvSpPr>
        <p:spPr>
          <a:xfrm>
            <a:off x="6672167" y="9971913"/>
            <a:ext cx="248917" cy="240665"/>
          </a:xfrm>
          <a:prstGeom prst="rect">
            <a:avLst/>
          </a:prstGeom>
        </p:spPr>
        <p:txBody>
          <a:bodyPr lIns="0" tIns="0" rIns="0" bIns="0" rtlCol="0" anchor="t">
            <a:spAutoFit/>
          </a:bodyPr>
          <a:lstStyle/>
          <a:p>
            <a:pPr algn="l">
              <a:lnSpc>
                <a:spcPts val="1959"/>
              </a:lnSpc>
            </a:pPr>
            <a:r>
              <a:rPr lang="en-US" sz="1399" b="1" spc="8">
                <a:solidFill>
                  <a:srgbClr val="231F20"/>
                </a:solidFill>
                <a:latin typeface="IBM Plex Sans Bold"/>
                <a:ea typeface="IBM Plex Sans Bold"/>
                <a:cs typeface="IBM Plex Sans Bold"/>
                <a:sym typeface="IBM Plex Sans Bold"/>
              </a:rPr>
              <a:t>18</a:t>
            </a:r>
          </a:p>
        </p:txBody>
      </p:sp>
      <p:sp>
        <p:nvSpPr>
          <p:cNvPr id="31" name="TextBox 51"/>
          <p:cNvSpPr txBox="1"/>
          <p:nvPr/>
        </p:nvSpPr>
        <p:spPr>
          <a:xfrm>
            <a:off x="1474355" y="1529747"/>
            <a:ext cx="1066499" cy="202556"/>
          </a:xfrm>
          <a:prstGeom prst="rect">
            <a:avLst/>
          </a:prstGeom>
        </p:spPr>
        <p:txBody>
          <a:bodyPr wrap="square" lIns="0" tIns="0" rIns="0" bIns="0" rtlCol="0" anchor="t">
            <a:spAutoFit/>
          </a:bodyPr>
          <a:lstStyle/>
          <a:p>
            <a:pPr algn="just">
              <a:lnSpc>
                <a:spcPts val="1705"/>
              </a:lnSpc>
            </a:pPr>
            <a:r>
              <a:rPr lang="en-US" sz="1200" spc="4" dirty="0">
                <a:solidFill>
                  <a:srgbClr val="464395"/>
                </a:solidFill>
                <a:latin typeface="IBM Plex Sans"/>
                <a:ea typeface="IBM Plex Sans"/>
                <a:cs typeface="IBM Plex Sans"/>
                <a:sym typeface="IBM Plex Sans"/>
              </a:rPr>
              <a:t>2 RENTRÉES</a:t>
            </a:r>
            <a:endParaRPr lang="en-US" sz="1200" i="1" spc="4" dirty="0">
              <a:solidFill>
                <a:srgbClr val="231F20"/>
              </a:solidFill>
              <a:latin typeface="IBM Plex Sans Italics"/>
              <a:ea typeface="IBM Plex Sans Italics"/>
              <a:cs typeface="IBM Plex Sans Italics"/>
              <a:sym typeface="IBM Plex Sans Italics"/>
            </a:endParaRPr>
          </a:p>
        </p:txBody>
      </p:sp>
      <p:sp>
        <p:nvSpPr>
          <p:cNvPr id="32" name="TextBox 32"/>
          <p:cNvSpPr txBox="1"/>
          <p:nvPr/>
        </p:nvSpPr>
        <p:spPr>
          <a:xfrm>
            <a:off x="567738" y="6584175"/>
            <a:ext cx="1606115" cy="154466"/>
          </a:xfrm>
          <a:prstGeom prst="rect">
            <a:avLst/>
          </a:prstGeom>
        </p:spPr>
        <p:txBody>
          <a:bodyPr lIns="0" tIns="0" rIns="0" bIns="0" rtlCol="0" anchor="t">
            <a:spAutoFit/>
          </a:bodyPr>
          <a:lstStyle/>
          <a:p>
            <a:pPr>
              <a:lnSpc>
                <a:spcPts val="1200"/>
              </a:lnSpc>
            </a:pPr>
            <a:r>
              <a:rPr lang="en-US" sz="1200" i="1" spc="4" dirty="0">
                <a:solidFill>
                  <a:srgbClr val="1A1447"/>
                </a:solidFill>
                <a:latin typeface="IBM Plex Sans Italics"/>
                <a:ea typeface="IBM Plex Sans Italics"/>
                <a:cs typeface="IBM Plex Sans Italics"/>
                <a:sym typeface="IBM Plex Sans Italics"/>
              </a:rPr>
              <a:t>Analyser les processus internes d’une entreprise
Proposer des solutions No-Code et élaborer un projet
Developper des workflows automatisés</a:t>
            </a:r>
          </a:p>
        </p:txBody>
      </p:sp>
      <p:sp>
        <p:nvSpPr>
          <p:cNvPr id="33" name="TextBox 33"/>
          <p:cNvSpPr txBox="1"/>
          <p:nvPr/>
        </p:nvSpPr>
        <p:spPr>
          <a:xfrm>
            <a:off x="618915" y="5447243"/>
            <a:ext cx="1789005"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FILIERE EN FORTE TENSION SUR LE MARCHE</a:t>
            </a:r>
          </a:p>
        </p:txBody>
      </p:sp>
      <p:sp>
        <p:nvSpPr>
          <p:cNvPr id="34" name="TextBox 52"/>
          <p:cNvSpPr txBox="1"/>
          <p:nvPr/>
        </p:nvSpPr>
        <p:spPr>
          <a:xfrm>
            <a:off x="2746506" y="1510697"/>
            <a:ext cx="838810" cy="221792"/>
          </a:xfrm>
          <a:prstGeom prst="rect">
            <a:avLst/>
          </a:prstGeom>
        </p:spPr>
        <p:txBody>
          <a:bodyPr lIns="0" tIns="0" rIns="0" bIns="0" rtlCol="0" anchor="t">
            <a:spAutoFit/>
          </a:bodyPr>
          <a:lstStyle/>
          <a:p>
            <a:pPr algn="just">
              <a:lnSpc>
                <a:spcPts val="1908"/>
              </a:lnSpc>
            </a:pPr>
            <a:r>
              <a:rPr lang="en-US" sz="1200" spc="4" dirty="0">
                <a:solidFill>
                  <a:srgbClr val="464395"/>
                </a:solidFill>
                <a:latin typeface="IBM Plex Sans"/>
                <a:ea typeface="IBM Plex Sans"/>
                <a:cs typeface="IBM Plex Sans"/>
                <a:sym typeface="IBM Plex Sans"/>
              </a:rPr>
              <a:t>LANGUE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5" name="TextBox 35"/>
          <p:cNvSpPr txBox="1"/>
          <p:nvPr/>
        </p:nvSpPr>
        <p:spPr>
          <a:xfrm>
            <a:off x="537734" y="9010415"/>
            <a:ext cx="3010814" cy="179536"/>
          </a:xfrm>
          <a:prstGeom prst="rect">
            <a:avLst/>
          </a:prstGeom>
        </p:spPr>
        <p:txBody>
          <a:bodyPr lIns="0" tIns="0" rIns="0" bIns="0" rtlCol="0" anchor="t">
            <a:spAutoFit/>
          </a:bodyPr>
          <a:lstStyle/>
          <a:p>
            <a:pPr algn="l">
              <a:lnSpc>
                <a:spcPts val="1439"/>
              </a:lnSpc>
            </a:pPr>
            <a:r>
              <a:rPr lang="en-US" sz="1200" i="1" spc="4" dirty="0" err="1">
                <a:solidFill>
                  <a:srgbClr val="1A1447"/>
                </a:solidFill>
                <a:latin typeface="IBM Plex Sans Italics"/>
                <a:ea typeface="IBM Plex Sans Italics"/>
                <a:cs typeface="IBM Plex Sans Italics"/>
                <a:sym typeface="IBM Plex Sans Italics"/>
              </a:rPr>
              <a:t>• Développeur d’applications No-Code
• Consultant en automatisation
• Analyste développeur
• Chef de projet en transformation digital
• Architecte de système d’informations
</a:t>
            </a:r>
            <a:endParaRPr lang="en-US" sz="1200" i="1" spc="4" dirty="0">
              <a:solidFill>
                <a:srgbClr val="1A1447"/>
              </a:solidFill>
              <a:latin typeface="IBM Plex Sans Italics"/>
              <a:ea typeface="IBM Plex Sans Italics"/>
              <a:cs typeface="IBM Plex Sans Italics"/>
              <a:sym typeface="IBM Plex Sans Italics"/>
            </a:endParaRPr>
          </a:p>
        </p:txBody>
      </p:sp>
      <p:sp>
        <p:nvSpPr>
          <p:cNvPr id="36" name="TextBox 36"/>
          <p:cNvSpPr txBox="1"/>
          <p:nvPr/>
        </p:nvSpPr>
        <p:spPr>
          <a:xfrm>
            <a:off x="2754878" y="6599644"/>
            <a:ext cx="1543031"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4" dirty="0">
                <a:solidFill>
                  <a:srgbClr val="1A1447"/>
                </a:solidFill>
                <a:latin typeface="IBM Plex Sans Italics"/>
                <a:ea typeface="IBM Plex Sans Italics"/>
                <a:cs typeface="IBM Plex Sans Italics"/>
                <a:sym typeface="IBM Plex Sans Italics"/>
              </a:rPr>
              <a:t>Intégrer des solutions à des sytèmes existants
Documenter les solutions pour la formation
Participer à un  projet de développement</a:t>
            </a:r>
          </a:p>
        </p:txBody>
      </p:sp>
      <p:sp>
        <p:nvSpPr>
          <p:cNvPr id="37" name="TextBox 37"/>
          <p:cNvSpPr txBox="1"/>
          <p:nvPr/>
        </p:nvSpPr>
        <p:spPr>
          <a:xfrm>
            <a:off x="2932852" y="5447243"/>
            <a:ext cx="1520552"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PROGRAMME DE FORMATION EN 1 AN</a:t>
            </a:r>
          </a:p>
        </p:txBody>
      </p:sp>
      <p:sp>
        <p:nvSpPr>
          <p:cNvPr id="38" name="TextBox 53"/>
          <p:cNvSpPr txBox="1"/>
          <p:nvPr/>
        </p:nvSpPr>
        <p:spPr>
          <a:xfrm>
            <a:off x="4001006" y="1529747"/>
            <a:ext cx="1091866" cy="212174"/>
          </a:xfrm>
          <a:prstGeom prst="rect">
            <a:avLst/>
          </a:prstGeom>
        </p:spPr>
        <p:txBody>
          <a:bodyPr lIns="0" tIns="0" rIns="0" bIns="0" rtlCol="0" anchor="t">
            <a:spAutoFit/>
          </a:bodyPr>
          <a:lstStyle/>
          <a:p>
            <a:pPr algn="just">
              <a:lnSpc>
                <a:spcPts val="1796"/>
              </a:lnSpc>
            </a:pPr>
            <a:r>
              <a:rPr lang="en-US" sz="1200" spc="4" dirty="0">
                <a:solidFill>
                  <a:srgbClr val="464395"/>
                </a:solidFill>
                <a:latin typeface="IBM Plex Sans"/>
                <a:ea typeface="IBM Plex Sans"/>
                <a:cs typeface="IBM Plex Sans"/>
                <a:sym typeface="IBM Plex Sans"/>
              </a:rPr>
              <a:t>STAGE</a:t>
            </a:r>
          </a:p>
        </p:txBody>
      </p:sp>
      <p:sp>
        <p:nvSpPr>
          <p:cNvPr id="39" name="TextBox 39"/>
          <p:cNvSpPr txBox="1"/>
          <p:nvPr/>
        </p:nvSpPr>
        <p:spPr>
          <a:xfrm>
            <a:off x="5430213" y="1743483"/>
            <a:ext cx="1306830" cy="179536"/>
          </a:xfrm>
          <a:prstGeom prst="rect">
            <a:avLst/>
          </a:prstGeom>
        </p:spPr>
        <p:txBody>
          <a:bodyPr lIns="0" tIns="0" rIns="0" bIns="0" rtlCol="0" anchor="t">
            <a:spAutoFit/>
          </a:bodyPr>
          <a:lstStyle/>
          <a:p>
            <a:pPr>
              <a:lnSpc>
                <a:spcPts val="1439"/>
              </a:lnSpc>
            </a:pPr>
            <a:r>
              <a:rPr lang="en-US" sz="1200" i="1" spc="4" dirty="0">
                <a:solidFill>
                  <a:srgbClr val="231F20"/>
                </a:solidFill>
                <a:latin typeface="IBM Plex Sans Italics"/>
                <a:ea typeface="IBM Plex Sans Italics"/>
                <a:cs typeface="IBM Plex Sans Italics"/>
                <a:sym typeface="IBM Plex Sans Italics"/>
              </a:rPr>
              <a:t>Sur dossier et entretien</a:t>
            </a:r>
          </a:p>
        </p:txBody>
      </p:sp>
      <p:sp>
        <p:nvSpPr>
          <p:cNvPr id="40" name="TextBox 40"/>
          <p:cNvSpPr txBox="1"/>
          <p:nvPr/>
        </p:nvSpPr>
        <p:spPr>
          <a:xfrm>
            <a:off x="5175047" y="5447243"/>
            <a:ext cx="1328147"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PROJET DE LABEL EN NOM PROPRE</a:t>
            </a:r>
          </a:p>
        </p:txBody>
      </p:sp>
      <p:sp>
        <p:nvSpPr>
          <p:cNvPr id="41" name="TextBox 41"/>
          <p:cNvSpPr txBox="1"/>
          <p:nvPr/>
        </p:nvSpPr>
        <p:spPr>
          <a:xfrm>
            <a:off x="4989195" y="6599644"/>
            <a:ext cx="1699851"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4" dirty="0">
                <a:solidFill>
                  <a:srgbClr val="1A1447"/>
                </a:solidFill>
                <a:latin typeface="IBM Plex Sans Italics"/>
                <a:ea typeface="IBM Plex Sans Italics"/>
                <a:cs typeface="IBM Plex Sans Italics"/>
                <a:sym typeface="IBM Plex Sans Italics"/>
              </a:rPr>
              <a:t>Management d’équipes et de la communication
Faire de la veille technologique
Mettre en place un plan d’amélioration continue</a:t>
            </a:r>
          </a:p>
        </p:txBody>
      </p:sp>
      <p:sp>
        <p:nvSpPr>
          <p:cNvPr id="42" name="TextBox 42"/>
          <p:cNvSpPr txBox="1"/>
          <p:nvPr/>
        </p:nvSpPr>
        <p:spPr>
          <a:xfrm>
            <a:off x="774204" y="2950440"/>
            <a:ext cx="6055900" cy="179536"/>
          </a:xfrm>
          <a:prstGeom prst="rect">
            <a:avLst/>
          </a:prstGeom>
        </p:spPr>
        <p:txBody>
          <a:bodyPr lIns="0" tIns="0" rIns="0" bIns="0" rtlCol="0" anchor="t">
            <a:spAutoFit/>
          </a:bodyPr>
          <a:lstStyle/>
          <a:p>
            <a:pPr algn="just">
              <a:lnSpc>
                <a:spcPts val="1439"/>
              </a:lnSpc>
            </a:pPr>
            <a:r>
              <a:rPr lang="en-US" sz="1200" spc="7" dirty="0">
                <a:solidFill>
                  <a:srgbClr val="FFFFFF"/>
                </a:solidFill>
                <a:latin typeface="IBM Plex Sans"/>
                <a:ea typeface="IBM Plex Sans"/>
                <a:cs typeface="IBM Plex Sans"/>
                <a:sym typeface="IBM Plex Sans"/>
              </a:rPr>
              <a:t>Le programme "Concepteur de produits numériques No-code" a pour objectif de vous former  la création, la mise en œuvre et l'optimisation de solutions numériques automatisées en utilisant des plateformes no-code. Cette formation répond aux besoins croissants des entreprises souhaitant améliorer leurs flux de travail (workflows), réduire les coûts et simplifier les processus grâce à des solutions numériques simples et efficaces. Les titulaires du titre seront en mesure d'analyser les besoins d'une entreprise et d'automatiser ses processus de manière pragmatique.</a:t>
            </a:r>
            <a:endParaRPr lang="en-US" sz="1200" spc="4" dirty="0">
              <a:solidFill>
                <a:srgbClr val="FFFFFF"/>
              </a:solidFill>
              <a:latin typeface="IBM Plex Sans"/>
              <a:ea typeface="IBM Plex Sans"/>
              <a:cs typeface="IBM Plex Sans"/>
              <a:sym typeface="IBM Plex Sans"/>
            </a:endParaRPr>
          </a:p>
        </p:txBody>
      </p:sp>
      <p:sp>
        <p:nvSpPr>
          <p:cNvPr id="43" name="TextBox 43"/>
          <p:cNvSpPr txBox="1"/>
          <p:nvPr/>
        </p:nvSpPr>
        <p:spPr>
          <a:xfrm>
            <a:off x="6595587" y="404108"/>
            <a:ext cx="525475" cy="397269"/>
          </a:xfrm>
          <a:prstGeom prst="rect">
            <a:avLst/>
          </a:prstGeom>
        </p:spPr>
        <p:txBody>
          <a:bodyPr lIns="0" tIns="0" rIns="0" bIns="0" rtlCol="0" anchor="t">
            <a:spAutoFit/>
          </a:bodyPr>
          <a:lstStyle/>
          <a:p>
            <a:pPr algn="ctr">
              <a:lnSpc>
                <a:spcPts val="1660"/>
              </a:lnSpc>
            </a:pPr>
            <a:r>
              <a:rPr lang="en-US" sz="1399" b="1" spc="8" dirty="0">
                <a:solidFill>
                  <a:srgbClr val="FFFFFF"/>
                </a:solidFill>
                <a:latin typeface="IBM Plex Sans Bold"/>
                <a:ea typeface="IBM Plex Sans Bold"/>
                <a:cs typeface="IBM Plex Sans Bold"/>
                <a:sym typeface="IBM Plex Sans Bold"/>
              </a:rPr>
              <a:t>3 </a:t>
            </a:r>
          </a:p>
          <a:p>
            <a:pPr algn="l">
              <a:lnSpc>
                <a:spcPts val="1423"/>
              </a:lnSpc>
            </a:pPr>
            <a:r>
              <a:rPr lang="en-US" sz="1200" b="1" spc="7" dirty="0">
                <a:solidFill>
                  <a:srgbClr val="FFFFFF"/>
                </a:solidFill>
                <a:latin typeface="IBM Plex Sans Bold"/>
                <a:ea typeface="IBM Plex Sans Bold"/>
                <a:cs typeface="IBM Plex Sans Bold"/>
                <a:sym typeface="IBM Plex Sans Bold"/>
              </a:rPr>
              <a:t>YEARS</a:t>
            </a:r>
          </a:p>
        </p:txBody>
      </p:sp>
      <p:sp>
        <p:nvSpPr>
          <p:cNvPr id="44" name="TextBox 44"/>
          <p:cNvSpPr txBox="1"/>
          <p:nvPr/>
        </p:nvSpPr>
        <p:spPr>
          <a:xfrm>
            <a:off x="2597896" y="10378411"/>
            <a:ext cx="2515629" cy="151428"/>
          </a:xfrm>
          <a:prstGeom prst="rect">
            <a:avLst/>
          </a:prstGeom>
        </p:spPr>
        <p:txBody>
          <a:bodyPr lIns="0" tIns="0" rIns="0" bIns="0" rtlCol="0" anchor="t">
            <a:spAutoFit/>
          </a:bodyPr>
          <a:lstStyle/>
          <a:p>
            <a:pPr algn="l">
              <a:lnSpc>
                <a:spcPts val="1260"/>
              </a:lnSpc>
            </a:pPr>
            <a:r>
              <a:rPr lang="en-US" sz="900" i="1" spc="25">
                <a:solidFill>
                  <a:srgbClr val="939496"/>
                </a:solidFill>
                <a:latin typeface="IBM Plex Sans Italics"/>
                <a:ea typeface="IBM Plex Sans Italics"/>
                <a:cs typeface="IBM Plex Sans Italics"/>
                <a:sym typeface="IBM Plex Sans Italics"/>
              </a:rPr>
              <a:t>Etablissement d’enseignement supérieur privé</a:t>
            </a:r>
          </a:p>
        </p:txBody>
      </p:sp>
      <p:sp>
        <p:nvSpPr>
          <p:cNvPr id="45" name="TextBox 45"/>
          <p:cNvSpPr txBox="1"/>
          <p:nvPr/>
        </p:nvSpPr>
        <p:spPr>
          <a:xfrm>
            <a:off x="537734" y="8547291"/>
            <a:ext cx="354531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OPPORTUNITÉS MÉTIERS</a:t>
            </a:r>
          </a:p>
        </p:txBody>
      </p:sp>
      <p:sp>
        <p:nvSpPr>
          <p:cNvPr id="46" name="TextBox 46"/>
          <p:cNvSpPr txBox="1"/>
          <p:nvPr/>
        </p:nvSpPr>
        <p:spPr>
          <a:xfrm>
            <a:off x="537734" y="6063605"/>
            <a:ext cx="3915670"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ENSEIGNEMENTS</a:t>
            </a:r>
          </a:p>
        </p:txBody>
      </p:sp>
      <p:sp>
        <p:nvSpPr>
          <p:cNvPr id="47" name="TextBox 47"/>
          <p:cNvSpPr txBox="1"/>
          <p:nvPr/>
        </p:nvSpPr>
        <p:spPr>
          <a:xfrm>
            <a:off x="537734" y="4387205"/>
            <a:ext cx="423111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TOP3 - POINTS FORTS</a:t>
            </a:r>
          </a:p>
        </p:txBody>
      </p:sp>
      <p:sp>
        <p:nvSpPr>
          <p:cNvPr id="48" name="TextBox 48"/>
          <p:cNvSpPr txBox="1"/>
          <p:nvPr/>
        </p:nvSpPr>
        <p:spPr>
          <a:xfrm>
            <a:off x="1465355" y="960787"/>
            <a:ext cx="5130232" cy="270202"/>
          </a:xfrm>
          <a:prstGeom prst="rect">
            <a:avLst/>
          </a:prstGeom>
        </p:spPr>
        <p:txBody>
          <a:bodyPr wrap="square" lIns="0" tIns="0" rIns="0" bIns="0" rtlCol="0" anchor="t">
            <a:spAutoFit/>
          </a:bodyPr>
          <a:lstStyle/>
          <a:p>
            <a:pPr algn="just">
              <a:lnSpc>
                <a:spcPts val="2160"/>
              </a:lnSpc>
            </a:pPr>
            <a:r>
              <a:rPr lang="en-US" sz="1800" b="1" spc="7" dirty="0">
                <a:solidFill>
                  <a:srgbClr val="1A1447"/>
                </a:solidFill>
                <a:latin typeface="IBM Plex Sans Bold"/>
                <a:ea typeface="IBM Plex Sans Bold"/>
                <a:cs typeface="IBM Plex Sans Bold"/>
                <a:sym typeface="IBM Plex Sans Bold"/>
              </a:rPr>
              <a:t>CONCEPTEUR DE PRODUITS NO-CODE</a:t>
            </a:r>
          </a:p>
        </p:txBody>
      </p:sp>
      <p:sp>
        <p:nvSpPr>
          <p:cNvPr id="49" name="TextBox 49"/>
          <p:cNvSpPr txBox="1"/>
          <p:nvPr/>
        </p:nvSpPr>
        <p:spPr>
          <a:xfrm>
            <a:off x="5455302" y="1547187"/>
            <a:ext cx="783022" cy="192491"/>
          </a:xfrm>
          <a:prstGeom prst="rect">
            <a:avLst/>
          </a:prstGeom>
        </p:spPr>
        <p:txBody>
          <a:bodyPr lIns="0" tIns="0" rIns="0" bIns="0" rtlCol="0" anchor="t">
            <a:spAutoFit/>
          </a:bodyPr>
          <a:lstStyle/>
          <a:p>
            <a:pPr algn="l">
              <a:lnSpc>
                <a:spcPts val="1539"/>
              </a:lnSpc>
            </a:pPr>
            <a:r>
              <a:rPr lang="en-US" sz="1100" spc="4" dirty="0">
                <a:solidFill>
                  <a:srgbClr val="464395"/>
                </a:solidFill>
                <a:latin typeface="IBM Plex Sans"/>
                <a:ea typeface="IBM Plex Sans"/>
                <a:cs typeface="IBM Plex Sans"/>
                <a:sym typeface="IBM Plex Sans"/>
              </a:rPr>
              <a:t>ADMISSION</a:t>
            </a:r>
          </a:p>
        </p:txBody>
      </p:sp>
      <p:sp>
        <p:nvSpPr>
          <p:cNvPr id="50" name="TextBox 50"/>
          <p:cNvSpPr txBox="1"/>
          <p:nvPr/>
        </p:nvSpPr>
        <p:spPr>
          <a:xfrm>
            <a:off x="1465355" y="468535"/>
            <a:ext cx="1795272" cy="405111"/>
          </a:xfrm>
          <a:prstGeom prst="rect">
            <a:avLst/>
          </a:prstGeom>
        </p:spPr>
        <p:txBody>
          <a:bodyPr lIns="0" tIns="0" rIns="0" bIns="0" rtlCol="0" anchor="t">
            <a:spAutoFit/>
          </a:bodyPr>
          <a:lstStyle/>
          <a:p>
            <a:pPr algn="l">
              <a:lnSpc>
                <a:spcPts val="3359"/>
              </a:lnSpc>
            </a:pPr>
            <a:r>
              <a:rPr lang="en-US" sz="2400" b="1" spc="14" dirty="0">
                <a:solidFill>
                  <a:srgbClr val="231F20"/>
                </a:solidFill>
                <a:latin typeface="IBM Plex Sans Bold"/>
                <a:ea typeface="IBM Plex Sans Bold"/>
                <a:cs typeface="IBM Plex Sans Bold"/>
                <a:sym typeface="IBM Plex Sans Bold"/>
              </a:rPr>
              <a:t>BACHELOR</a:t>
            </a:r>
          </a:p>
        </p:txBody>
      </p:sp>
      <p:sp>
        <p:nvSpPr>
          <p:cNvPr id="52" name="TextBox 31">
            <a:extLst>
              <a:ext uri="{FF2B5EF4-FFF2-40B4-BE49-F238E27FC236}">
                <a16:creationId xmlns:a16="http://schemas.microsoft.com/office/drawing/2014/main" id="{73338D7F-8308-E7F2-0829-44BBD7B44255}"/>
              </a:ext>
            </a:extLst>
          </p:cNvPr>
          <p:cNvSpPr txBox="1"/>
          <p:nvPr/>
        </p:nvSpPr>
        <p:spPr>
          <a:xfrm>
            <a:off x="1474356" y="1720247"/>
            <a:ext cx="780016" cy="202556"/>
          </a:xfrm>
          <a:prstGeom prst="rect">
            <a:avLst/>
          </a:prstGeom>
        </p:spPr>
        <p:txBody>
          <a:bodyPr lIns="0" tIns="0" rIns="0" bIns="0" rtlCol="0" anchor="t">
            <a:spAutoFit/>
          </a:bodyPr>
          <a:lstStyle/>
          <a:p>
            <a:pPr>
              <a:lnSpc>
                <a:spcPts val="1705"/>
              </a:lnSpc>
            </a:pPr>
            <a:r>
              <a:rPr lang="en-US" sz="1200" i="1" spc="4" dirty="0">
                <a:solidFill>
                  <a:srgbClr val="231F20"/>
                </a:solidFill>
                <a:latin typeface="IBM Plex Sans Italics"/>
                <a:ea typeface="IBM Plex Sans Italics"/>
                <a:cs typeface="IBM Plex Sans Italics"/>
                <a:sym typeface="IBM Plex Sans Italics"/>
              </a:rPr>
              <a:t>Automne Printemps</a:t>
            </a:r>
          </a:p>
        </p:txBody>
      </p:sp>
      <p:sp>
        <p:nvSpPr>
          <p:cNvPr id="51" name="TextBox 34">
            <a:extLst>
              <a:ext uri="{FF2B5EF4-FFF2-40B4-BE49-F238E27FC236}">
                <a16:creationId xmlns:a16="http://schemas.microsoft.com/office/drawing/2014/main" id="{3F76F06D-7C5A-115E-C327-BCA4898F60E6}"/>
              </a:ext>
            </a:extLst>
          </p:cNvPr>
          <p:cNvSpPr txBox="1"/>
          <p:nvPr/>
        </p:nvSpPr>
        <p:spPr>
          <a:xfrm>
            <a:off x="2749061" y="1716228"/>
            <a:ext cx="838811" cy="221792"/>
          </a:xfrm>
          <a:prstGeom prst="rect">
            <a:avLst/>
          </a:prstGeom>
        </p:spPr>
        <p:txBody>
          <a:bodyPr lIns="0" tIns="0" rIns="0" bIns="0" rtlCol="0" anchor="t">
            <a:spAutoFit/>
          </a:bodyPr>
          <a:lstStyle/>
          <a:p>
            <a:pPr>
              <a:lnSpc>
                <a:spcPts val="1908"/>
              </a:lnSpc>
            </a:pPr>
            <a:r>
              <a:rPr lang="en-US" sz="1200" i="1" spc="4" dirty="0" err="1">
                <a:solidFill>
                  <a:srgbClr val="231F20"/>
                </a:solidFill>
                <a:latin typeface="IBM Plex Sans Italics"/>
                <a:ea typeface="IBM Plex Sans Italics"/>
                <a:cs typeface="IBM Plex Sans Italics"/>
                <a:sym typeface="IBM Plex Sans Italics"/>
              </a:rPr>
              <a:t>Français</a:t>
            </a:r>
            <a:r>
              <a:rPr lang="en-US" sz="1200" i="1" spc="4" dirty="0">
                <a:solidFill>
                  <a:srgbClr val="231F20"/>
                </a:solidFill>
                <a:latin typeface="IBM Plex Sans Italics"/>
                <a:ea typeface="IBM Plex Sans Italics"/>
                <a:cs typeface="IBM Plex Sans Italics"/>
                <a:sym typeface="IBM Plex Sans Italics"/>
              </a:rPr>
              <a:t/>
            </a:r>
          </a:p>
        </p:txBody>
      </p:sp>
      <p:sp>
        <p:nvSpPr>
          <p:cNvPr id="54" name="TextBox 38">
            <a:extLst>
              <a:ext uri="{FF2B5EF4-FFF2-40B4-BE49-F238E27FC236}">
                <a16:creationId xmlns:a16="http://schemas.microsoft.com/office/drawing/2014/main" id="{F4D71D31-FE13-729F-DD0F-F89716948679}"/>
              </a:ext>
            </a:extLst>
          </p:cNvPr>
          <p:cNvSpPr txBox="1"/>
          <p:nvPr/>
        </p:nvSpPr>
        <p:spPr>
          <a:xfrm>
            <a:off x="3996412" y="1738606"/>
            <a:ext cx="899438" cy="420564"/>
          </a:xfrm>
          <a:prstGeom prst="rect">
            <a:avLst/>
          </a:prstGeom>
        </p:spPr>
        <p:txBody>
          <a:bodyPr wrap="square" lIns="0" tIns="0" rIns="0" bIns="0" rtlCol="0" anchor="t">
            <a:spAutoFit/>
          </a:bodyPr>
          <a:lstStyle/>
          <a:p>
            <a:pPr>
              <a:lnSpc>
                <a:spcPts val="1705"/>
              </a:lnSpc>
            </a:pPr>
            <a:r>
              <a:rPr lang="en-US" sz="1200" i="1" spc="4" dirty="0">
                <a:solidFill>
                  <a:srgbClr val="231F20"/>
                </a:solidFill>
                <a:latin typeface="IBM Plex Sans Italics"/>
                <a:ea typeface="IBM Plex Sans Italics"/>
                <a:cs typeface="IBM Plex Sans Italics"/>
                <a:sym typeface="IBM Plex Sans Italics"/>
              </a:rPr>
              <a:t>2-4 mois en entreprise</a:t>
            </a:r>
          </a:p>
          <a:p>
            <a:pPr algn="just">
              <a:lnSpc>
                <a:spcPts val="1705"/>
              </a:lnSpc>
            </a:pPr>
            <a:endParaRPr lang="en-US" sz="1200" i="1" spc="4" dirty="0">
              <a:solidFill>
                <a:srgbClr val="231F20"/>
              </a:solidFill>
              <a:latin typeface="IBM Plex Sans Italics"/>
              <a:ea typeface="IBM Plex Sans Italics"/>
              <a:cs typeface="IBM Plex Sans Italics"/>
              <a:sym typeface="IBM Plex Sans Italics"/>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p:cNvGrpSpPr>
            <a:grpSpLocks noChangeAspect="1"/>
          </p:cNvGrpSpPr>
          <p:nvPr/>
        </p:nvGrpSpPr>
        <p:grpSpPr>
          <a:xfrm>
            <a:off x="1202512" y="4924130"/>
            <a:ext cx="762505" cy="679580"/>
            <a:chOff x="0" y="0"/>
            <a:chExt cx="762495" cy="679577"/>
          </a:xfrm>
        </p:grpSpPr>
        <p:sp>
          <p:nvSpPr>
            <p:cNvPr id="3" name="Freeform 3"/>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7112"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p:cNvSpPr/>
            <p:nvPr/>
          </p:nvSpPr>
          <p:spPr>
            <a:xfrm>
              <a:off x="260477" y="267970"/>
              <a:ext cx="120269" cy="140081"/>
            </a:xfrm>
            <a:custGeom>
              <a:avLst/>
              <a:gdLst/>
              <a:ahLst/>
              <a:cxnLst/>
              <a:rect l="l" t="t" r="r" b="b"/>
              <a:pathLst>
                <a:path w="120269"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071" y="0"/>
                  </a:cubicBezTo>
                  <a:lnTo>
                    <a:pt x="76581" y="1778"/>
                  </a:lnTo>
                  <a:cubicBezTo>
                    <a:pt x="91313" y="8890"/>
                    <a:pt x="97663" y="13716"/>
                    <a:pt x="103124" y="19939"/>
                  </a:cubicBezTo>
                  <a:lnTo>
                    <a:pt x="115697" y="42037"/>
                  </a:lnTo>
                  <a:cubicBezTo>
                    <a:pt x="118745" y="50546"/>
                    <a:pt x="120269" y="59944"/>
                    <a:pt x="120269" y="70104"/>
                  </a:cubicBezTo>
                  <a:moveTo>
                    <a:pt x="88773" y="70104"/>
                  </a:moveTo>
                  <a:lnTo>
                    <a:pt x="88011" y="58293"/>
                  </a:lnTo>
                  <a:cubicBezTo>
                    <a:pt x="85217" y="48006"/>
                    <a:pt x="83185" y="43561"/>
                    <a:pt x="80645" y="39878"/>
                  </a:cubicBezTo>
                  <a:lnTo>
                    <a:pt x="75057" y="33401"/>
                  </a:lnTo>
                  <a:lnTo>
                    <a:pt x="64262" y="28448"/>
                  </a:lnTo>
                  <a:cubicBezTo>
                    <a:pt x="55753" y="28448"/>
                    <a:pt x="51816" y="29464"/>
                    <a:pt x="48260" y="31496"/>
                  </a:cubicBezTo>
                  <a:lnTo>
                    <a:pt x="41783" y="36322"/>
                  </a:lnTo>
                  <a:cubicBezTo>
                    <a:pt x="36703" y="43688"/>
                    <a:pt x="34671" y="48133"/>
                    <a:pt x="33274" y="53340"/>
                  </a:cubicBezTo>
                  <a:lnTo>
                    <a:pt x="31115" y="64135"/>
                  </a:lnTo>
                  <a:cubicBezTo>
                    <a:pt x="31115" y="76454"/>
                    <a:pt x="31877" y="82042"/>
                    <a:pt x="33274" y="87122"/>
                  </a:cubicBezTo>
                  <a:lnTo>
                    <a:pt x="36703" y="96520"/>
                  </a:lnTo>
                  <a:cubicBezTo>
                    <a:pt x="41783" y="103886"/>
                    <a:pt x="44831" y="106807"/>
                    <a:pt x="48387" y="108712"/>
                  </a:cubicBezTo>
                  <a:lnTo>
                    <a:pt x="55753" y="111760"/>
                  </a:lnTo>
                  <a:lnTo>
                    <a:pt x="68199" y="110744"/>
                  </a:lnTo>
                  <a:cubicBezTo>
                    <a:pt x="75184" y="106680"/>
                    <a:pt x="78232" y="103886"/>
                    <a:pt x="80772" y="100203"/>
                  </a:cubicBezTo>
                  <a:lnTo>
                    <a:pt x="85344" y="92075"/>
                  </a:lnTo>
                  <a:cubicBezTo>
                    <a:pt x="88138" y="81915"/>
                    <a:pt x="88900" y="76327"/>
                    <a:pt x="88900" y="70104"/>
                  </a:cubicBezTo>
                </a:path>
              </a:pathLst>
            </a:custGeom>
            <a:solidFill>
              <a:srgbClr val="7DE314"/>
            </a:solidFill>
          </p:spPr>
          <p:txBody>
            <a:bodyPr/>
            <a:lstStyle/>
            <a:p>
              <a:endParaRPr lang="fr-FR"/>
            </a:p>
          </p:txBody>
        </p:sp>
        <p:sp>
          <p:nvSpPr>
            <p:cNvPr id="7" name="Freeform 7"/>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036" y="37719"/>
                    <a:pt x="31115" y="39751"/>
                  </a:cubicBezTo>
                  <a:lnTo>
                    <a:pt x="24765" y="43434"/>
                  </a:lnTo>
                  <a:lnTo>
                    <a:pt x="13970" y="48260"/>
                  </a:lnTo>
                  <a:cubicBezTo>
                    <a:pt x="6350" y="50419"/>
                    <a:pt x="3048"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p:cNvGrpSpPr>
            <a:grpSpLocks noChangeAspect="1"/>
          </p:cNvGrpSpPr>
          <p:nvPr/>
        </p:nvGrpSpPr>
        <p:grpSpPr>
          <a:xfrm>
            <a:off x="3461909" y="4916900"/>
            <a:ext cx="762505" cy="686800"/>
            <a:chOff x="0" y="0"/>
            <a:chExt cx="762495" cy="686803"/>
          </a:xfrm>
        </p:grpSpPr>
        <p:sp>
          <p:nvSpPr>
            <p:cNvPr id="9" name="Freeform 9"/>
            <p:cNvSpPr/>
            <p:nvPr/>
          </p:nvSpPr>
          <p:spPr>
            <a:xfrm>
              <a:off x="63500" y="63500"/>
              <a:ext cx="635508" cy="559816"/>
            </a:xfrm>
            <a:custGeom>
              <a:avLst/>
              <a:gdLst/>
              <a:ahLst/>
              <a:cxnLst/>
              <a:rect l="l" t="t" r="r" b="b"/>
              <a:pathLst>
                <a:path w="635508" h="559816">
                  <a:moveTo>
                    <a:pt x="631698" y="294132"/>
                  </a:moveTo>
                  <a:lnTo>
                    <a:pt x="487045" y="545592"/>
                  </a:lnTo>
                  <a:cubicBezTo>
                    <a:pt x="481965" y="554482"/>
                    <a:pt x="472567" y="559816"/>
                    <a:pt x="462407" y="559816"/>
                  </a:cubicBezTo>
                  <a:lnTo>
                    <a:pt x="173101" y="559816"/>
                  </a:lnTo>
                  <a:cubicBezTo>
                    <a:pt x="162941" y="559816"/>
                    <a:pt x="153543" y="554355"/>
                    <a:pt x="148463" y="545592"/>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p:cNvGrpSpPr>
            <a:grpSpLocks noChangeAspect="1"/>
          </p:cNvGrpSpPr>
          <p:nvPr/>
        </p:nvGrpSpPr>
        <p:grpSpPr>
          <a:xfrm>
            <a:off x="0" y="2584247"/>
            <a:ext cx="7559993" cy="1642539"/>
            <a:chOff x="0" y="0"/>
            <a:chExt cx="7559992" cy="1642542"/>
          </a:xfrm>
        </p:grpSpPr>
        <p:sp>
          <p:nvSpPr>
            <p:cNvPr id="15" name="Freeform 15"/>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16" name="Group 16"/>
          <p:cNvGrpSpPr>
            <a:grpSpLocks noChangeAspect="1"/>
          </p:cNvGrpSpPr>
          <p:nvPr/>
        </p:nvGrpSpPr>
        <p:grpSpPr>
          <a:xfrm>
            <a:off x="5475351" y="4909652"/>
            <a:ext cx="762505" cy="694058"/>
            <a:chOff x="0" y="0"/>
            <a:chExt cx="762495" cy="694055"/>
          </a:xfrm>
        </p:grpSpPr>
        <p:sp>
          <p:nvSpPr>
            <p:cNvPr id="17" name="Freeform 17"/>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8" name="Freeform 18"/>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9" name="Freeform 19"/>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20" name="Freeform 20"/>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21" name="Freeform 21"/>
            <p:cNvSpPr/>
            <p:nvPr/>
          </p:nvSpPr>
          <p:spPr>
            <a:xfrm>
              <a:off x="388493"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2" name="Group 22"/>
          <p:cNvGrpSpPr>
            <a:grpSpLocks noChangeAspect="1"/>
          </p:cNvGrpSpPr>
          <p:nvPr/>
        </p:nvGrpSpPr>
        <p:grpSpPr>
          <a:xfrm>
            <a:off x="454638" y="296494"/>
            <a:ext cx="6466446" cy="1976704"/>
            <a:chOff x="0" y="0"/>
            <a:chExt cx="6466446" cy="1976704"/>
          </a:xfrm>
        </p:grpSpPr>
        <p:sp>
          <p:nvSpPr>
            <p:cNvPr id="23" name="Freeform 23"/>
            <p:cNvSpPr/>
            <p:nvPr/>
          </p:nvSpPr>
          <p:spPr>
            <a:xfrm>
              <a:off x="1884299" y="123647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4" name="Freeform 24"/>
            <p:cNvSpPr/>
            <p:nvPr/>
          </p:nvSpPr>
          <p:spPr>
            <a:xfrm>
              <a:off x="3229102" y="122643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5" name="Freeform 25"/>
            <p:cNvSpPr/>
            <p:nvPr/>
          </p:nvSpPr>
          <p:spPr>
            <a:xfrm>
              <a:off x="4606036" y="1220978"/>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6" name="Freeform 26"/>
            <p:cNvSpPr/>
            <p:nvPr/>
          </p:nvSpPr>
          <p:spPr>
            <a:xfrm>
              <a:off x="63500" y="381000"/>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7" name="Freeform 27"/>
            <p:cNvSpPr/>
            <p:nvPr/>
          </p:nvSpPr>
          <p:spPr>
            <a:xfrm>
              <a:off x="559435" y="179451"/>
              <a:ext cx="1947672" cy="416433"/>
            </a:xfrm>
            <a:custGeom>
              <a:avLst/>
              <a:gdLst/>
              <a:ahLst/>
              <a:cxnLst/>
              <a:rect l="l" t="t" r="r" b="b"/>
              <a:pathLst>
                <a:path w="1947672" h="416433">
                  <a:moveTo>
                    <a:pt x="0" y="416433"/>
                  </a:moveTo>
                  <a:lnTo>
                    <a:pt x="1947672" y="416433"/>
                  </a:lnTo>
                  <a:lnTo>
                    <a:pt x="1947672" y="0"/>
                  </a:lnTo>
                  <a:lnTo>
                    <a:pt x="0" y="0"/>
                  </a:lnTo>
                  <a:close/>
                </a:path>
              </a:pathLst>
            </a:custGeom>
            <a:solidFill>
              <a:srgbClr val="FFFFFF"/>
            </a:solidFill>
          </p:spPr>
          <p:txBody>
            <a:bodyPr/>
            <a:lstStyle/>
            <a:p>
              <a:endParaRPr lang="fr-FR"/>
            </a:p>
          </p:txBody>
        </p:sp>
        <p:sp>
          <p:nvSpPr>
            <p:cNvPr id="28" name="Freeform 28"/>
            <p:cNvSpPr/>
            <p:nvPr/>
          </p:nvSpPr>
          <p:spPr>
            <a:xfrm>
              <a:off x="5722620" y="63500"/>
              <a:ext cx="680339" cy="646176"/>
            </a:xfrm>
            <a:custGeom>
              <a:avLst/>
              <a:gdLst/>
              <a:ahLst/>
              <a:cxnLst/>
              <a:rect l="l" t="t" r="r" b="b"/>
              <a:pathLst>
                <a:path w="680339" h="646176">
                  <a:moveTo>
                    <a:pt x="340233" y="646049"/>
                  </a:moveTo>
                  <a:cubicBezTo>
                    <a:pt x="528066" y="646049"/>
                    <a:pt x="680339" y="501396"/>
                    <a:pt x="680339" y="322961"/>
                  </a:cubicBezTo>
                  <a:cubicBezTo>
                    <a:pt x="680339" y="144526"/>
                    <a:pt x="528066" y="0"/>
                    <a:pt x="340233" y="0"/>
                  </a:cubicBezTo>
                  <a:cubicBezTo>
                    <a:pt x="152400"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9" name="Freeform 29"/>
            <p:cNvSpPr/>
            <p:nvPr/>
          </p:nvSpPr>
          <p:spPr>
            <a:xfrm>
              <a:off x="566674" y="123647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grpSp>
      <p:sp>
        <p:nvSpPr>
          <p:cNvPr id="30" name="TextBox 99"/>
          <p:cNvSpPr txBox="1"/>
          <p:nvPr/>
        </p:nvSpPr>
        <p:spPr>
          <a:xfrm>
            <a:off x="6672167" y="9979838"/>
            <a:ext cx="248917" cy="240665"/>
          </a:xfrm>
          <a:prstGeom prst="rect">
            <a:avLst/>
          </a:prstGeom>
        </p:spPr>
        <p:txBody>
          <a:bodyPr lIns="0" tIns="0" rIns="0" bIns="0" rtlCol="0" anchor="t">
            <a:spAutoFit/>
          </a:bodyPr>
          <a:lstStyle/>
          <a:p>
            <a:pPr algn="l">
              <a:lnSpc>
                <a:spcPts val="1959"/>
              </a:lnSpc>
            </a:pPr>
            <a:r>
              <a:rPr lang="en-US" sz="1399" b="1" spc="8" dirty="0">
                <a:solidFill>
                  <a:srgbClr val="231F20"/>
                </a:solidFill>
                <a:latin typeface="IBM Plex Sans Bold"/>
                <a:ea typeface="IBM Plex Sans Bold"/>
                <a:cs typeface="IBM Plex Sans Bold"/>
                <a:sym typeface="IBM Plex Sans Bold"/>
              </a:rPr>
              <a:t>21</a:t>
            </a:r>
          </a:p>
        </p:txBody>
      </p:sp>
      <p:sp>
        <p:nvSpPr>
          <p:cNvPr id="32" name="TextBox 32"/>
          <p:cNvSpPr txBox="1"/>
          <p:nvPr/>
        </p:nvSpPr>
        <p:spPr>
          <a:xfrm>
            <a:off x="643661" y="6581470"/>
            <a:ext cx="1773936" cy="179536"/>
          </a:xfrm>
          <a:prstGeom prst="rect">
            <a:avLst/>
          </a:prstGeom>
        </p:spPr>
        <p:txBody>
          <a:bodyPr wrap="square" lIns="0" tIns="0" rIns="0" bIns="0" rtlCol="0" anchor="t">
            <a:spAutoFit/>
          </a:bodyPr>
          <a:lstStyle/>
          <a:p>
            <a:pPr algn="l">
              <a:lnSpc>
                <a:spcPts val="1439"/>
              </a:lnSpc>
            </a:pPr>
            <a:r>
              <a:rPr lang="en-US" sz="1200" i="1" spc="4" dirty="0">
                <a:solidFill>
                  <a:srgbClr val="231F20"/>
                </a:solidFill>
                <a:latin typeface="IBM Plex Sans Italics"/>
                <a:ea typeface="IBM Plex Sans Italics"/>
                <a:cs typeface="IBM Plex Sans Italics"/>
                <a:sym typeface="IBM Plex Sans Italics"/>
              </a:rPr>
              <a:t>French Language &amp; culture every morning
Professionals Workshops, Seminars and Exhibitions
Professional Networking and job hunting
</a:t>
            </a:r>
          </a:p>
        </p:txBody>
      </p:sp>
      <p:sp>
        <p:nvSpPr>
          <p:cNvPr id="33" name="TextBox 33"/>
          <p:cNvSpPr txBox="1"/>
          <p:nvPr/>
        </p:nvSpPr>
        <p:spPr>
          <a:xfrm>
            <a:off x="798281" y="5606948"/>
            <a:ext cx="1856994" cy="179536"/>
          </a:xfrm>
          <a:prstGeom prst="rect">
            <a:avLst/>
          </a:prstGeom>
        </p:spPr>
        <p:txBody>
          <a:bodyPr wrap="square"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HIGH DEMANDS INDUSTRIES IN FRANCE</a:t>
            </a:r>
          </a:p>
        </p:txBody>
      </p:sp>
      <p:sp>
        <p:nvSpPr>
          <p:cNvPr id="34" name="TextBox 35"/>
          <p:cNvSpPr txBox="1"/>
          <p:nvPr/>
        </p:nvSpPr>
        <p:spPr>
          <a:xfrm>
            <a:off x="618277" y="8558289"/>
            <a:ext cx="3238353" cy="179536"/>
          </a:xfrm>
          <a:prstGeom prst="rect">
            <a:avLst/>
          </a:prstGeom>
        </p:spPr>
        <p:txBody>
          <a:bodyPr wrap="square" lIns="0" tIns="0" rIns="0" bIns="0" rtlCol="0" anchor="t">
            <a:spAutoFit/>
          </a:bodyPr>
          <a:lstStyle/>
          <a:p>
            <a:pPr algn="l">
              <a:lnSpc>
                <a:spcPts val="1439"/>
              </a:lnSpc>
            </a:pPr>
            <a:r>
              <a:rPr lang="en-US" sz="1200" i="1" spc="4" dirty="0" err="1">
                <a:solidFill>
                  <a:srgbClr val="1A1447"/>
                </a:solidFill>
                <a:latin typeface="IBM Plex Sans Italics"/>
                <a:ea typeface="IBM Plex Sans Italics"/>
                <a:cs typeface="IBM Plex Sans Italics"/>
                <a:sym typeface="IBM Plex Sans Italics"/>
              </a:rPr>
              <a:t>• Product manager 
• Marketing manager
• Sales manager
• Key account manager
• Retail management &amp; purchasing
• International project manager
</a:t>
            </a:r>
            <a:endParaRPr lang="en-US" sz="1200" i="1" spc="4" dirty="0">
              <a:solidFill>
                <a:srgbClr val="1A1447"/>
              </a:solidFill>
              <a:latin typeface="IBM Plex Sans Italics"/>
              <a:ea typeface="IBM Plex Sans Italics"/>
              <a:cs typeface="IBM Plex Sans Italics"/>
              <a:sym typeface="IBM Plex Sans Italics"/>
            </a:endParaRPr>
          </a:p>
        </p:txBody>
      </p:sp>
      <p:sp>
        <p:nvSpPr>
          <p:cNvPr id="35" name="TextBox 52"/>
          <p:cNvSpPr txBox="1"/>
          <p:nvPr/>
        </p:nvSpPr>
        <p:spPr>
          <a:xfrm>
            <a:off x="2445344" y="1281655"/>
            <a:ext cx="838810" cy="212174"/>
          </a:xfrm>
          <a:prstGeom prst="rect">
            <a:avLst/>
          </a:prstGeom>
        </p:spPr>
        <p:txBody>
          <a:bodyPr lIns="0" tIns="0" rIns="0" bIns="0" rtlCol="0" anchor="t">
            <a:spAutoFit/>
          </a:bodyPr>
          <a:lstStyle/>
          <a:p>
            <a:pPr algn="just">
              <a:lnSpc>
                <a:spcPts val="1783"/>
              </a:lnSpc>
            </a:pPr>
            <a:r>
              <a:rPr lang="en-US" sz="1200" spc="7" dirty="0">
                <a:solidFill>
                  <a:srgbClr val="464395"/>
                </a:solidFill>
                <a:latin typeface="IBM Plex Sans"/>
                <a:ea typeface="IBM Plex Sans"/>
                <a:cs typeface="IBM Plex Sans"/>
                <a:sym typeface="IBM Plex Sans"/>
              </a:rPr>
              <a:t>LANGUAGE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6" name="TextBox 38"/>
          <p:cNvSpPr txBox="1"/>
          <p:nvPr/>
        </p:nvSpPr>
        <p:spPr>
          <a:xfrm>
            <a:off x="3923062" y="1483624"/>
            <a:ext cx="951900" cy="212174"/>
          </a:xfrm>
          <a:prstGeom prst="rect">
            <a:avLst/>
          </a:prstGeom>
        </p:spPr>
        <p:txBody>
          <a:bodyPr lIns="0" tIns="0" rIns="0" bIns="0" rtlCol="0" anchor="t">
            <a:spAutoFit/>
          </a:bodyPr>
          <a:lstStyle/>
          <a:p>
            <a:pPr>
              <a:lnSpc>
                <a:spcPts val="1796"/>
              </a:lnSpc>
            </a:pPr>
            <a:r>
              <a:rPr lang="en-US" sz="1200" i="1" spc="7" dirty="0">
                <a:solidFill>
                  <a:srgbClr val="231F20"/>
                </a:solidFill>
                <a:latin typeface="IBM Plex Sans Italics"/>
                <a:ea typeface="IBM Plex Sans Italics"/>
                <a:cs typeface="IBM Plex Sans Italics"/>
                <a:sym typeface="IBM Plex Sans Italics"/>
              </a:rPr>
              <a:t>3-6 mois en entreprise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7" name="TextBox 36"/>
          <p:cNvSpPr txBox="1"/>
          <p:nvPr/>
        </p:nvSpPr>
        <p:spPr>
          <a:xfrm>
            <a:off x="2951845" y="6563801"/>
            <a:ext cx="1773936" cy="179536"/>
          </a:xfrm>
          <a:prstGeom prst="rect">
            <a:avLst/>
          </a:prstGeom>
        </p:spPr>
        <p:txBody>
          <a:bodyPr wrap="square" lIns="0" tIns="0" rIns="0" bIns="0" rtlCol="0" anchor="t">
            <a:spAutoFit/>
          </a:bodyPr>
          <a:lstStyle/>
          <a:p>
            <a:pPr algn="just">
              <a:lnSpc>
                <a:spcPts val="1439"/>
              </a:lnSpc>
            </a:pPr>
            <a:r>
              <a:rPr lang="en-US" sz="1200" i="1" spc="4" dirty="0">
                <a:solidFill>
                  <a:srgbClr val="231F20"/>
                </a:solidFill>
                <a:latin typeface="IBM Plex Sans Italics"/>
                <a:ea typeface="IBM Plex Sans Italics"/>
                <a:cs typeface="IBM Plex Sans Italics"/>
                <a:sym typeface="IBM Plex Sans Italics"/>
              </a:rPr>
              <a:t>Market analyzis &amp; International Marketing
Case study and Digital Marketing practices
</a:t>
            </a:r>
          </a:p>
        </p:txBody>
      </p:sp>
      <p:sp>
        <p:nvSpPr>
          <p:cNvPr id="38" name="TextBox 37"/>
          <p:cNvSpPr txBox="1"/>
          <p:nvPr/>
        </p:nvSpPr>
        <p:spPr>
          <a:xfrm>
            <a:off x="2883389" y="5606948"/>
            <a:ext cx="1856994"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YOU CAN START
FROM FRENCH BEGINNER</a:t>
            </a:r>
          </a:p>
        </p:txBody>
      </p:sp>
      <p:sp>
        <p:nvSpPr>
          <p:cNvPr id="39" name="TextBox 39"/>
          <p:cNvSpPr txBox="1"/>
          <p:nvPr/>
        </p:nvSpPr>
        <p:spPr>
          <a:xfrm>
            <a:off x="5196249" y="1527315"/>
            <a:ext cx="1306830" cy="179536"/>
          </a:xfrm>
          <a:prstGeom prst="rect">
            <a:avLst/>
          </a:prstGeom>
        </p:spPr>
        <p:txBody>
          <a:bodyPr lIns="0" tIns="0" rIns="0" bIns="0" rtlCol="0" anchor="t">
            <a:spAutoFit/>
          </a:bodyPr>
          <a:lstStyle/>
          <a:p>
            <a:pPr>
              <a:lnSpc>
                <a:spcPts val="1439"/>
              </a:lnSpc>
            </a:pPr>
            <a:r>
              <a:rPr lang="en-US" sz="1200" i="1" spc="4" dirty="0">
                <a:solidFill>
                  <a:srgbClr val="231F20"/>
                </a:solidFill>
                <a:latin typeface="IBM Plex Sans Italics"/>
                <a:ea typeface="IBM Plex Sans Italics"/>
                <a:cs typeface="IBM Plex Sans Italics"/>
                <a:sym typeface="IBM Plex Sans Italics"/>
              </a:rPr>
              <a:t>On file and interview</a:t>
            </a:r>
          </a:p>
        </p:txBody>
      </p:sp>
      <p:sp>
        <p:nvSpPr>
          <p:cNvPr id="40" name="TextBox 41"/>
          <p:cNvSpPr txBox="1"/>
          <p:nvPr/>
        </p:nvSpPr>
        <p:spPr>
          <a:xfrm>
            <a:off x="5127250" y="6542094"/>
            <a:ext cx="1456639" cy="179536"/>
          </a:xfrm>
          <a:prstGeom prst="rect">
            <a:avLst/>
          </a:prstGeom>
        </p:spPr>
        <p:txBody>
          <a:bodyPr lIns="0" tIns="0" rIns="0" bIns="0" rtlCol="0" anchor="t">
            <a:spAutoFit/>
          </a:bodyPr>
          <a:lstStyle/>
          <a:p>
            <a:pPr algn="l">
              <a:lnSpc>
                <a:spcPts val="1439"/>
              </a:lnSpc>
            </a:pPr>
            <a:r>
              <a:rPr lang="en-US" sz="1200" i="1" spc="4" dirty="0">
                <a:solidFill>
                  <a:srgbClr val="231F20"/>
                </a:solidFill>
                <a:latin typeface="IBM Plex Sans Italics"/>
                <a:ea typeface="IBM Plex Sans Italics"/>
                <a:cs typeface="IBM Plex Sans Italics"/>
                <a:sym typeface="IBM Plex Sans Italics"/>
              </a:rPr>
              <a:t>Hospitality Management
Tourism Marketing &amp; Management
</a:t>
            </a:r>
          </a:p>
        </p:txBody>
      </p:sp>
      <p:sp>
        <p:nvSpPr>
          <p:cNvPr id="41" name="TextBox 40"/>
          <p:cNvSpPr txBox="1"/>
          <p:nvPr/>
        </p:nvSpPr>
        <p:spPr>
          <a:xfrm>
            <a:off x="5130670" y="5606948"/>
            <a:ext cx="1641348"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DOUBLE DEGREE INCLUDING ONE RNCP</a:t>
            </a:r>
          </a:p>
        </p:txBody>
      </p:sp>
      <p:sp>
        <p:nvSpPr>
          <p:cNvPr id="42" name="TextBox 42"/>
          <p:cNvSpPr txBox="1"/>
          <p:nvPr/>
        </p:nvSpPr>
        <p:spPr>
          <a:xfrm>
            <a:off x="611800" y="2786767"/>
            <a:ext cx="6092133" cy="179536"/>
          </a:xfrm>
          <a:prstGeom prst="rect">
            <a:avLst/>
          </a:prstGeom>
        </p:spPr>
        <p:txBody>
          <a:bodyPr lIns="0" tIns="0" rIns="0" bIns="0" rtlCol="0" anchor="t">
            <a:spAutoFit/>
          </a:bodyPr>
          <a:lstStyle/>
          <a:p>
            <a:pPr algn="just">
              <a:lnSpc>
                <a:spcPts val="1439"/>
              </a:lnSpc>
            </a:pPr>
            <a:r>
              <a:rPr lang="en-US" sz="1200" spc="7" dirty="0">
                <a:solidFill>
                  <a:srgbClr val="FFFFFF"/>
                </a:solidFill>
                <a:latin typeface="IBM Plex Sans"/>
                <a:ea typeface="IBM Plex Sans"/>
                <a:cs typeface="IBM Plex Sans"/>
                <a:sym typeface="IBM Plex Sans"/>
              </a:rPr>
              <a:t>The Hospitality and Tourism Management (HTM) program helps student to develop spe- cific knowledges in hospitality and tourism industry. 
This curriculum’s mission is to enhance to provide specific knowledges about these in- dustries, how their informations systems works and get to know concepts such as yield management. All these will make you more competitive in this market than a graduate from a general business management program.
</a:t>
            </a:r>
          </a:p>
        </p:txBody>
      </p:sp>
      <p:sp>
        <p:nvSpPr>
          <p:cNvPr id="43" name="TextBox 43"/>
          <p:cNvSpPr txBox="1"/>
          <p:nvPr/>
        </p:nvSpPr>
        <p:spPr>
          <a:xfrm>
            <a:off x="6278525" y="429625"/>
            <a:ext cx="525475" cy="397269"/>
          </a:xfrm>
          <a:prstGeom prst="rect">
            <a:avLst/>
          </a:prstGeom>
        </p:spPr>
        <p:txBody>
          <a:bodyPr lIns="0" tIns="0" rIns="0" bIns="0" rtlCol="0" anchor="t">
            <a:spAutoFit/>
          </a:bodyPr>
          <a:lstStyle/>
          <a:p>
            <a:pPr algn="ctr">
              <a:lnSpc>
                <a:spcPts val="1660"/>
              </a:lnSpc>
            </a:pPr>
            <a:r>
              <a:rPr lang="en-US" sz="1399" b="1" spc="8" dirty="0">
                <a:solidFill>
                  <a:srgbClr val="FFFFFF"/>
                </a:solidFill>
                <a:latin typeface="IBM Plex Sans Bold"/>
                <a:ea typeface="IBM Plex Sans Bold"/>
                <a:cs typeface="IBM Plex Sans Bold"/>
                <a:sym typeface="IBM Plex Sans Bold"/>
              </a:rPr>
              <a:t>2 </a:t>
            </a:r>
          </a:p>
          <a:p>
            <a:pPr algn="l">
              <a:lnSpc>
                <a:spcPts val="1423"/>
              </a:lnSpc>
            </a:pPr>
            <a:r>
              <a:rPr lang="en-US" sz="1200" b="1" spc="7" dirty="0">
                <a:solidFill>
                  <a:srgbClr val="FFFFFF"/>
                </a:solidFill>
                <a:latin typeface="IBM Plex Sans Bold"/>
                <a:ea typeface="IBM Plex Sans Bold"/>
                <a:cs typeface="IBM Plex Sans Bold"/>
                <a:sym typeface="IBM Plex Sans Bold"/>
              </a:rPr>
              <a:t>YEARS</a:t>
            </a:r>
          </a:p>
        </p:txBody>
      </p:sp>
      <p:sp>
        <p:nvSpPr>
          <p:cNvPr id="44" name="TextBox 44"/>
          <p:cNvSpPr txBox="1"/>
          <p:nvPr/>
        </p:nvSpPr>
        <p:spPr>
          <a:xfrm>
            <a:off x="2560053" y="10301611"/>
            <a:ext cx="2515629" cy="151428"/>
          </a:xfrm>
          <a:prstGeom prst="rect">
            <a:avLst/>
          </a:prstGeom>
        </p:spPr>
        <p:txBody>
          <a:bodyPr lIns="0" tIns="0" rIns="0" bIns="0" rtlCol="0" anchor="t">
            <a:spAutoFit/>
          </a:bodyPr>
          <a:lstStyle/>
          <a:p>
            <a:pPr algn="l">
              <a:lnSpc>
                <a:spcPts val="1260"/>
              </a:lnSpc>
            </a:pPr>
            <a:r>
              <a:rPr lang="en-US" sz="900" i="1" spc="25" dirty="0" err="1">
                <a:solidFill>
                  <a:srgbClr val="939496"/>
                </a:solidFill>
                <a:latin typeface="IBM Plex Sans Italics"/>
                <a:ea typeface="IBM Plex Sans Italics"/>
                <a:cs typeface="IBM Plex Sans Italics"/>
                <a:sym typeface="IBM Plex Sans Italics"/>
              </a:rPr>
              <a:t>Etablissement</a:t>
            </a:r>
            <a:r>
              <a:rPr lang="en-US" sz="900" i="1" spc="25" dirty="0">
                <a:solidFill>
                  <a:srgbClr val="939496"/>
                </a:solidFill>
                <a:latin typeface="IBM Plex Sans Italics"/>
                <a:ea typeface="IBM Plex Sans Italics"/>
                <a:cs typeface="IBM Plex Sans Italics"/>
                <a:sym typeface="IBM Plex Sans Italics"/>
              </a:rPr>
              <a:t> </a:t>
            </a:r>
            <a:r>
              <a:rPr lang="en-US" sz="900" i="1" spc="25" dirty="0" err="1">
                <a:solidFill>
                  <a:srgbClr val="939496"/>
                </a:solidFill>
                <a:latin typeface="IBM Plex Sans Italics"/>
                <a:ea typeface="IBM Plex Sans Italics"/>
                <a:cs typeface="IBM Plex Sans Italics"/>
                <a:sym typeface="IBM Plex Sans Italics"/>
              </a:rPr>
              <a:t>d’enseignement</a:t>
            </a:r>
            <a:r>
              <a:rPr lang="en-US" sz="900" i="1" spc="25" dirty="0">
                <a:solidFill>
                  <a:srgbClr val="939496"/>
                </a:solidFill>
                <a:latin typeface="IBM Plex Sans Italics"/>
                <a:ea typeface="IBM Plex Sans Italics"/>
                <a:cs typeface="IBM Plex Sans Italics"/>
                <a:sym typeface="IBM Plex Sans Italics"/>
              </a:rPr>
              <a:t> supérieur </a:t>
            </a:r>
            <a:r>
              <a:rPr lang="en-US" sz="900" i="1" spc="25" dirty="0" err="1">
                <a:solidFill>
                  <a:srgbClr val="939496"/>
                </a:solidFill>
                <a:latin typeface="IBM Plex Sans Italics"/>
                <a:ea typeface="IBM Plex Sans Italics"/>
                <a:cs typeface="IBM Plex Sans Italics"/>
                <a:sym typeface="IBM Plex Sans Italics"/>
              </a:rPr>
              <a:t>privé</a:t>
            </a:r>
            <a:endParaRPr lang="en-US" sz="900" i="1" spc="25" dirty="0">
              <a:solidFill>
                <a:srgbClr val="939496"/>
              </a:solidFill>
              <a:latin typeface="IBM Plex Sans Italics"/>
              <a:ea typeface="IBM Plex Sans Italics"/>
              <a:cs typeface="IBM Plex Sans Italics"/>
              <a:sym typeface="IBM Plex Sans Italics"/>
            </a:endParaRPr>
          </a:p>
        </p:txBody>
      </p:sp>
      <p:sp>
        <p:nvSpPr>
          <p:cNvPr id="45" name="TextBox 46"/>
          <p:cNvSpPr txBox="1"/>
          <p:nvPr/>
        </p:nvSpPr>
        <p:spPr>
          <a:xfrm>
            <a:off x="626278" y="6127490"/>
            <a:ext cx="3837772"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TEACHING UNITS</a:t>
            </a:r>
          </a:p>
        </p:txBody>
      </p:sp>
      <p:sp>
        <p:nvSpPr>
          <p:cNvPr id="46" name="TextBox 45"/>
          <p:cNvSpPr txBox="1"/>
          <p:nvPr/>
        </p:nvSpPr>
        <p:spPr>
          <a:xfrm>
            <a:off x="618277" y="8095164"/>
            <a:ext cx="3464773" cy="299056"/>
          </a:xfrm>
          <a:prstGeom prst="rect">
            <a:avLst/>
          </a:prstGeom>
        </p:spPr>
        <p:txBody>
          <a:bodyPr wrap="square" lIns="0" tIns="0" rIns="0" bIns="0" rtlCol="0" anchor="t">
            <a:spAutoFit/>
          </a:bodyPr>
          <a:lstStyle/>
          <a:p>
            <a:pPr algn="l">
              <a:lnSpc>
                <a:spcPts val="2520"/>
              </a:lnSpc>
            </a:pPr>
            <a:r>
              <a:rPr lang="en-US" sz="1800" b="1" i="1">
                <a:solidFill>
                  <a:srgbClr val="EA8C39"/>
                </a:solidFill>
                <a:latin typeface="IBM Plex Sans Bold Italics"/>
                <a:ea typeface="IBM Plex Sans Bold Italics"/>
                <a:cs typeface="IBM Plex Sans Bold Italics"/>
                <a:sym typeface="IBM Plex Sans Bold Italics"/>
              </a:rPr>
              <a:t>OCCUPATIONS</a:t>
            </a:r>
          </a:p>
        </p:txBody>
      </p:sp>
      <p:sp>
        <p:nvSpPr>
          <p:cNvPr id="47" name="TextBox 47"/>
          <p:cNvSpPr txBox="1"/>
          <p:nvPr/>
        </p:nvSpPr>
        <p:spPr>
          <a:xfrm>
            <a:off x="600894" y="4421000"/>
            <a:ext cx="386315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TOP3 - KEY POINTS</a:t>
            </a:r>
          </a:p>
        </p:txBody>
      </p:sp>
      <p:sp>
        <p:nvSpPr>
          <p:cNvPr id="48" name="TextBox 48"/>
          <p:cNvSpPr txBox="1"/>
          <p:nvPr/>
        </p:nvSpPr>
        <p:spPr>
          <a:xfrm>
            <a:off x="1127645" y="915400"/>
            <a:ext cx="5150879" cy="299056"/>
          </a:xfrm>
          <a:prstGeom prst="rect">
            <a:avLst/>
          </a:prstGeom>
        </p:spPr>
        <p:txBody>
          <a:bodyPr wrap="square" lIns="0" tIns="0" rIns="0" bIns="0" rtlCol="0" anchor="t">
            <a:spAutoFit/>
          </a:bodyPr>
          <a:lstStyle/>
          <a:p>
            <a:pPr algn="l">
              <a:lnSpc>
                <a:spcPts val="2520"/>
              </a:lnSpc>
            </a:pPr>
            <a:r>
              <a:rPr lang="en-US" sz="1800" b="1" spc="7" dirty="0">
                <a:solidFill>
                  <a:srgbClr val="1A1447"/>
                </a:solidFill>
                <a:latin typeface="IBM Plex Sans Bold"/>
                <a:ea typeface="IBM Plex Sans Bold"/>
                <a:cs typeface="IBM Plex Sans Bold"/>
                <a:sym typeface="IBM Plex Sans Bold"/>
              </a:rPr>
              <a:t>HOSPITALITY &amp; TOURISM MANAGEMENT</a:t>
            </a:r>
          </a:p>
        </p:txBody>
      </p:sp>
      <p:sp>
        <p:nvSpPr>
          <p:cNvPr id="49" name="TextBox 49"/>
          <p:cNvSpPr txBox="1"/>
          <p:nvPr/>
        </p:nvSpPr>
        <p:spPr>
          <a:xfrm>
            <a:off x="5150644" y="1289818"/>
            <a:ext cx="783022" cy="192491"/>
          </a:xfrm>
          <a:prstGeom prst="rect">
            <a:avLst/>
          </a:prstGeom>
        </p:spPr>
        <p:txBody>
          <a:bodyPr lIns="0" tIns="0" rIns="0" bIns="0" rtlCol="0" anchor="t">
            <a:spAutoFit/>
          </a:bodyPr>
          <a:lstStyle/>
          <a:p>
            <a:pPr algn="l">
              <a:lnSpc>
                <a:spcPts val="1539"/>
              </a:lnSpc>
            </a:pPr>
            <a:r>
              <a:rPr lang="en-US" sz="1100" spc="6" dirty="0">
                <a:solidFill>
                  <a:srgbClr val="464395"/>
                </a:solidFill>
                <a:latin typeface="IBM Plex Sans"/>
                <a:ea typeface="IBM Plex Sans"/>
                <a:cs typeface="IBM Plex Sans"/>
                <a:sym typeface="IBM Plex Sans"/>
              </a:rPr>
              <a:t>ADMISSION</a:t>
            </a:r>
          </a:p>
        </p:txBody>
      </p:sp>
      <p:sp>
        <p:nvSpPr>
          <p:cNvPr id="50" name="TextBox 50"/>
          <p:cNvSpPr txBox="1"/>
          <p:nvPr/>
        </p:nvSpPr>
        <p:spPr>
          <a:xfrm>
            <a:off x="1107748" y="411985"/>
            <a:ext cx="1496263" cy="405699"/>
          </a:xfrm>
          <a:prstGeom prst="rect">
            <a:avLst/>
          </a:prstGeom>
        </p:spPr>
        <p:txBody>
          <a:bodyPr lIns="0" tIns="0" rIns="0" bIns="0" rtlCol="0" anchor="t">
            <a:spAutoFit/>
          </a:bodyPr>
          <a:lstStyle/>
          <a:p>
            <a:pPr algn="l">
              <a:lnSpc>
                <a:spcPts val="3359"/>
              </a:lnSpc>
            </a:pPr>
            <a:r>
              <a:rPr lang="en-US" sz="2400" b="1" spc="14" dirty="0">
                <a:solidFill>
                  <a:srgbClr val="231F20"/>
                </a:solidFill>
                <a:latin typeface="IBM Plex Sans Bold"/>
                <a:ea typeface="IBM Plex Sans Bold"/>
                <a:cs typeface="IBM Plex Sans Bold"/>
                <a:sym typeface="IBM Plex Sans Bold"/>
              </a:rPr>
              <a:t>MASTERE</a:t>
            </a:r>
          </a:p>
        </p:txBody>
      </p:sp>
      <p:sp>
        <p:nvSpPr>
          <p:cNvPr id="52" name="TextBox 51">
            <a:extLst>
              <a:ext uri="{FF2B5EF4-FFF2-40B4-BE49-F238E27FC236}">
                <a16:creationId xmlns:a16="http://schemas.microsoft.com/office/drawing/2014/main" id="{08B6434F-E251-F3F4-A8EE-0DB40DADF62C}"/>
              </a:ext>
            </a:extLst>
          </p:cNvPr>
          <p:cNvSpPr txBox="1"/>
          <p:nvPr/>
        </p:nvSpPr>
        <p:spPr>
          <a:xfrm>
            <a:off x="1256030" y="1299715"/>
            <a:ext cx="1040102" cy="192938"/>
          </a:xfrm>
          <a:prstGeom prst="rect">
            <a:avLst/>
          </a:prstGeom>
        </p:spPr>
        <p:txBody>
          <a:bodyPr wrap="square" lIns="0" tIns="0" rIns="0" bIns="0" rtlCol="0" anchor="t">
            <a:spAutoFit/>
          </a:bodyPr>
          <a:lstStyle/>
          <a:p>
            <a:pPr algn="just">
              <a:lnSpc>
                <a:spcPts val="1614"/>
              </a:lnSpc>
            </a:pPr>
            <a:r>
              <a:rPr lang="en-US" sz="1200" spc="7" dirty="0">
                <a:solidFill>
                  <a:srgbClr val="464395"/>
                </a:solidFill>
                <a:latin typeface="IBM Plex Sans"/>
                <a:ea typeface="IBM Plex Sans"/>
                <a:cs typeface="IBM Plex Sans"/>
                <a:sym typeface="IBM Plex Sans"/>
              </a:rPr>
              <a:t>2 INTAKES</a:t>
            </a:r>
            <a:endParaRPr lang="en-US" sz="1200" i="1" spc="4" dirty="0">
              <a:solidFill>
                <a:srgbClr val="231F20"/>
              </a:solidFill>
              <a:latin typeface="IBM Plex Sans Italics"/>
              <a:ea typeface="IBM Plex Sans Italics"/>
              <a:cs typeface="IBM Plex Sans Italics"/>
              <a:sym typeface="IBM Plex Sans Italics"/>
            </a:endParaRPr>
          </a:p>
        </p:txBody>
      </p:sp>
      <p:sp>
        <p:nvSpPr>
          <p:cNvPr id="53" name="TextBox 31">
            <a:extLst>
              <a:ext uri="{FF2B5EF4-FFF2-40B4-BE49-F238E27FC236}">
                <a16:creationId xmlns:a16="http://schemas.microsoft.com/office/drawing/2014/main" id="{63339F6C-44AA-C06C-C876-B9C66129B42B}"/>
              </a:ext>
            </a:extLst>
          </p:cNvPr>
          <p:cNvSpPr txBox="1"/>
          <p:nvPr/>
        </p:nvSpPr>
        <p:spPr>
          <a:xfrm>
            <a:off x="1252559" y="1505911"/>
            <a:ext cx="812873" cy="192938"/>
          </a:xfrm>
          <a:prstGeom prst="rect">
            <a:avLst/>
          </a:prstGeom>
        </p:spPr>
        <p:txBody>
          <a:bodyPr lIns="0" tIns="0" rIns="0" bIns="0" rtlCol="0" anchor="t">
            <a:spAutoFit/>
          </a:bodyPr>
          <a:lstStyle/>
          <a:p>
            <a:pPr>
              <a:lnSpc>
                <a:spcPts val="1614"/>
              </a:lnSpc>
            </a:pPr>
            <a:r>
              <a:rPr lang="en-US" sz="1200" i="1" spc="7" dirty="0">
                <a:solidFill>
                  <a:srgbClr val="231F20"/>
                </a:solidFill>
                <a:latin typeface="IBM Plex Sans Italics"/>
                <a:ea typeface="IBM Plex Sans Italics"/>
                <a:cs typeface="IBM Plex Sans Italics"/>
                <a:sym typeface="IBM Plex Sans Italics"/>
              </a:rPr>
              <a:t>Fall Spring</a:t>
            </a:r>
            <a:endParaRPr lang="en-US" sz="1200" i="1" spc="4" dirty="0">
              <a:solidFill>
                <a:srgbClr val="231F20"/>
              </a:solidFill>
              <a:latin typeface="IBM Plex Sans Italics"/>
              <a:ea typeface="IBM Plex Sans Italics"/>
              <a:cs typeface="IBM Plex Sans Italics"/>
              <a:sym typeface="IBM Plex Sans Italics"/>
            </a:endParaRPr>
          </a:p>
        </p:txBody>
      </p:sp>
      <p:sp>
        <p:nvSpPr>
          <p:cNvPr id="55" name="TextBox 34">
            <a:extLst>
              <a:ext uri="{FF2B5EF4-FFF2-40B4-BE49-F238E27FC236}">
                <a16:creationId xmlns:a16="http://schemas.microsoft.com/office/drawing/2014/main" id="{7F360BAA-61BF-FE8B-0AC4-A991BC941086}"/>
              </a:ext>
            </a:extLst>
          </p:cNvPr>
          <p:cNvSpPr txBox="1"/>
          <p:nvPr/>
        </p:nvSpPr>
        <p:spPr>
          <a:xfrm>
            <a:off x="2467440" y="1508374"/>
            <a:ext cx="838811" cy="221792"/>
          </a:xfrm>
          <a:prstGeom prst="rect">
            <a:avLst/>
          </a:prstGeom>
        </p:spPr>
        <p:txBody>
          <a:bodyPr lIns="0" tIns="0" rIns="0" bIns="0" rtlCol="0" anchor="t">
            <a:spAutoFit/>
          </a:bodyPr>
          <a:lstStyle/>
          <a:p>
            <a:pPr>
              <a:lnSpc>
                <a:spcPts val="1908"/>
              </a:lnSpc>
            </a:pPr>
            <a:r>
              <a:rPr lang="en-US" sz="1200" i="1" spc="4" dirty="0" err="1">
                <a:solidFill>
                  <a:srgbClr val="231F20"/>
                </a:solidFill>
                <a:latin typeface="IBM Plex Sans Italics"/>
                <a:ea typeface="IBM Plex Sans Italics"/>
                <a:cs typeface="IBM Plex Sans Italics"/>
                <a:sym typeface="IBM Plex Sans Italics"/>
              </a:rPr>
              <a:t>English &amp; French</a:t>
            </a:r>
            <a:r>
              <a:rPr lang="en-US" sz="1200" i="1" spc="4" dirty="0">
                <a:solidFill>
                  <a:srgbClr val="231F20"/>
                </a:solidFill>
                <a:latin typeface="IBM Plex Sans Italics"/>
                <a:ea typeface="IBM Plex Sans Italics"/>
                <a:cs typeface="IBM Plex Sans Italics"/>
                <a:sym typeface="IBM Plex Sans Italics"/>
              </a:rPr>
              <a:t/>
            </a:r>
          </a:p>
        </p:txBody>
      </p:sp>
      <p:sp>
        <p:nvSpPr>
          <p:cNvPr id="56" name="TextBox 53">
            <a:extLst>
              <a:ext uri="{FF2B5EF4-FFF2-40B4-BE49-F238E27FC236}">
                <a16:creationId xmlns:a16="http://schemas.microsoft.com/office/drawing/2014/main" id="{C7B0528E-AFDC-2B75-9630-CDE5B04D540C}"/>
              </a:ext>
            </a:extLst>
          </p:cNvPr>
          <p:cNvSpPr txBox="1"/>
          <p:nvPr/>
        </p:nvSpPr>
        <p:spPr>
          <a:xfrm>
            <a:off x="3909566" y="1257967"/>
            <a:ext cx="1091866" cy="212174"/>
          </a:xfrm>
          <a:prstGeom prst="rect">
            <a:avLst/>
          </a:prstGeom>
        </p:spPr>
        <p:txBody>
          <a:bodyPr lIns="0" tIns="0" rIns="0" bIns="0" rtlCol="0" anchor="t">
            <a:spAutoFit/>
          </a:bodyPr>
          <a:lstStyle/>
          <a:p>
            <a:pPr algn="just">
              <a:lnSpc>
                <a:spcPts val="1796"/>
              </a:lnSpc>
            </a:pPr>
            <a:r>
              <a:rPr lang="en-US" sz="1200" spc="4" dirty="0">
                <a:solidFill>
                  <a:srgbClr val="464395"/>
                </a:solidFill>
                <a:latin typeface="IBM Plex Sans"/>
                <a:ea typeface="IBM Plex Sans"/>
                <a:cs typeface="IBM Plex Sans"/>
                <a:sym typeface="IBM Plex Sans"/>
              </a:rPr>
              <a:t>INTERNSHIP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p:cNvGrpSpPr>
            <a:grpSpLocks noChangeAspect="1"/>
          </p:cNvGrpSpPr>
          <p:nvPr/>
        </p:nvGrpSpPr>
        <p:grpSpPr>
          <a:xfrm>
            <a:off x="1202512" y="4924130"/>
            <a:ext cx="762505" cy="679580"/>
            <a:chOff x="0" y="0"/>
            <a:chExt cx="762495" cy="679577"/>
          </a:xfrm>
        </p:grpSpPr>
        <p:sp>
          <p:nvSpPr>
            <p:cNvPr id="3" name="Freeform 3"/>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7112"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p:cNvSpPr/>
            <p:nvPr/>
          </p:nvSpPr>
          <p:spPr>
            <a:xfrm>
              <a:off x="260477" y="267970"/>
              <a:ext cx="120269" cy="140081"/>
            </a:xfrm>
            <a:custGeom>
              <a:avLst/>
              <a:gdLst/>
              <a:ahLst/>
              <a:cxnLst/>
              <a:rect l="l" t="t" r="r" b="b"/>
              <a:pathLst>
                <a:path w="120269"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071" y="0"/>
                  </a:cubicBezTo>
                  <a:lnTo>
                    <a:pt x="76581" y="1778"/>
                  </a:lnTo>
                  <a:cubicBezTo>
                    <a:pt x="91313" y="8890"/>
                    <a:pt x="97663" y="13716"/>
                    <a:pt x="103124" y="19939"/>
                  </a:cubicBezTo>
                  <a:lnTo>
                    <a:pt x="115697" y="42037"/>
                  </a:lnTo>
                  <a:cubicBezTo>
                    <a:pt x="118745" y="50546"/>
                    <a:pt x="120269" y="59944"/>
                    <a:pt x="120269" y="70104"/>
                  </a:cubicBezTo>
                  <a:moveTo>
                    <a:pt x="88773" y="70104"/>
                  </a:moveTo>
                  <a:lnTo>
                    <a:pt x="88011" y="58293"/>
                  </a:lnTo>
                  <a:cubicBezTo>
                    <a:pt x="85217" y="48006"/>
                    <a:pt x="83185" y="43561"/>
                    <a:pt x="80645" y="39878"/>
                  </a:cubicBezTo>
                  <a:lnTo>
                    <a:pt x="75057" y="33401"/>
                  </a:lnTo>
                  <a:lnTo>
                    <a:pt x="64262" y="28448"/>
                  </a:lnTo>
                  <a:cubicBezTo>
                    <a:pt x="55753" y="28448"/>
                    <a:pt x="51816" y="29464"/>
                    <a:pt x="48260" y="31496"/>
                  </a:cubicBezTo>
                  <a:lnTo>
                    <a:pt x="41783" y="36322"/>
                  </a:lnTo>
                  <a:cubicBezTo>
                    <a:pt x="36703" y="43688"/>
                    <a:pt x="34671" y="48133"/>
                    <a:pt x="33274" y="53340"/>
                  </a:cubicBezTo>
                  <a:lnTo>
                    <a:pt x="31115" y="64135"/>
                  </a:lnTo>
                  <a:cubicBezTo>
                    <a:pt x="31115" y="76454"/>
                    <a:pt x="31877" y="82042"/>
                    <a:pt x="33274" y="87122"/>
                  </a:cubicBezTo>
                  <a:lnTo>
                    <a:pt x="36703" y="96520"/>
                  </a:lnTo>
                  <a:cubicBezTo>
                    <a:pt x="41783" y="103886"/>
                    <a:pt x="44831" y="106807"/>
                    <a:pt x="48387" y="108712"/>
                  </a:cubicBezTo>
                  <a:lnTo>
                    <a:pt x="55753" y="111760"/>
                  </a:lnTo>
                  <a:lnTo>
                    <a:pt x="68199" y="110744"/>
                  </a:lnTo>
                  <a:cubicBezTo>
                    <a:pt x="75184" y="106680"/>
                    <a:pt x="78232" y="103886"/>
                    <a:pt x="80772" y="100203"/>
                  </a:cubicBezTo>
                  <a:lnTo>
                    <a:pt x="85344" y="92075"/>
                  </a:lnTo>
                  <a:cubicBezTo>
                    <a:pt x="88138" y="81915"/>
                    <a:pt x="88900" y="76327"/>
                    <a:pt x="88900" y="70104"/>
                  </a:cubicBezTo>
                </a:path>
              </a:pathLst>
            </a:custGeom>
            <a:solidFill>
              <a:srgbClr val="7DE314"/>
            </a:solidFill>
          </p:spPr>
          <p:txBody>
            <a:bodyPr/>
            <a:lstStyle/>
            <a:p>
              <a:endParaRPr lang="fr-FR"/>
            </a:p>
          </p:txBody>
        </p:sp>
        <p:sp>
          <p:nvSpPr>
            <p:cNvPr id="7" name="Freeform 7"/>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036" y="37719"/>
                    <a:pt x="31115" y="39751"/>
                  </a:cubicBezTo>
                  <a:lnTo>
                    <a:pt x="24765" y="43434"/>
                  </a:lnTo>
                  <a:lnTo>
                    <a:pt x="13970" y="48260"/>
                  </a:lnTo>
                  <a:cubicBezTo>
                    <a:pt x="6350" y="50419"/>
                    <a:pt x="3048"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p:cNvGrpSpPr>
            <a:grpSpLocks noChangeAspect="1"/>
          </p:cNvGrpSpPr>
          <p:nvPr/>
        </p:nvGrpSpPr>
        <p:grpSpPr>
          <a:xfrm>
            <a:off x="3461909" y="4916900"/>
            <a:ext cx="762505" cy="686800"/>
            <a:chOff x="0" y="0"/>
            <a:chExt cx="762495" cy="686803"/>
          </a:xfrm>
        </p:grpSpPr>
        <p:sp>
          <p:nvSpPr>
            <p:cNvPr id="9" name="Freeform 9"/>
            <p:cNvSpPr/>
            <p:nvPr/>
          </p:nvSpPr>
          <p:spPr>
            <a:xfrm>
              <a:off x="63500" y="63500"/>
              <a:ext cx="635508" cy="559816"/>
            </a:xfrm>
            <a:custGeom>
              <a:avLst/>
              <a:gdLst/>
              <a:ahLst/>
              <a:cxnLst/>
              <a:rect l="l" t="t" r="r" b="b"/>
              <a:pathLst>
                <a:path w="635508" h="559816">
                  <a:moveTo>
                    <a:pt x="631698" y="294132"/>
                  </a:moveTo>
                  <a:lnTo>
                    <a:pt x="487045" y="545592"/>
                  </a:lnTo>
                  <a:cubicBezTo>
                    <a:pt x="481965" y="554482"/>
                    <a:pt x="472567" y="559816"/>
                    <a:pt x="462407" y="559816"/>
                  </a:cubicBezTo>
                  <a:lnTo>
                    <a:pt x="173101" y="559816"/>
                  </a:lnTo>
                  <a:cubicBezTo>
                    <a:pt x="162941" y="559816"/>
                    <a:pt x="153543" y="554355"/>
                    <a:pt x="148463" y="545592"/>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p:cNvGrpSpPr>
            <a:grpSpLocks noChangeAspect="1"/>
          </p:cNvGrpSpPr>
          <p:nvPr/>
        </p:nvGrpSpPr>
        <p:grpSpPr>
          <a:xfrm>
            <a:off x="0" y="2584247"/>
            <a:ext cx="7559993" cy="1642539"/>
            <a:chOff x="0" y="0"/>
            <a:chExt cx="7559992" cy="1642542"/>
          </a:xfrm>
        </p:grpSpPr>
        <p:sp>
          <p:nvSpPr>
            <p:cNvPr id="15" name="Freeform 15"/>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16" name="Group 16"/>
          <p:cNvGrpSpPr>
            <a:grpSpLocks noChangeAspect="1"/>
          </p:cNvGrpSpPr>
          <p:nvPr/>
        </p:nvGrpSpPr>
        <p:grpSpPr>
          <a:xfrm>
            <a:off x="5475351" y="4909652"/>
            <a:ext cx="762505" cy="694058"/>
            <a:chOff x="0" y="0"/>
            <a:chExt cx="762495" cy="694055"/>
          </a:xfrm>
        </p:grpSpPr>
        <p:sp>
          <p:nvSpPr>
            <p:cNvPr id="17" name="Freeform 17"/>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8" name="Freeform 18"/>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9" name="Freeform 19"/>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20" name="Freeform 20"/>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21" name="Freeform 21"/>
            <p:cNvSpPr/>
            <p:nvPr/>
          </p:nvSpPr>
          <p:spPr>
            <a:xfrm>
              <a:off x="388493"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2" name="Group 22"/>
          <p:cNvGrpSpPr>
            <a:grpSpLocks noChangeAspect="1"/>
          </p:cNvGrpSpPr>
          <p:nvPr/>
        </p:nvGrpSpPr>
        <p:grpSpPr>
          <a:xfrm>
            <a:off x="454638" y="296494"/>
            <a:ext cx="6466446" cy="1976704"/>
            <a:chOff x="0" y="0"/>
            <a:chExt cx="6466446" cy="1976704"/>
          </a:xfrm>
        </p:grpSpPr>
        <p:sp>
          <p:nvSpPr>
            <p:cNvPr id="23" name="Freeform 23"/>
            <p:cNvSpPr/>
            <p:nvPr/>
          </p:nvSpPr>
          <p:spPr>
            <a:xfrm>
              <a:off x="1884299" y="123647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4" name="Freeform 24"/>
            <p:cNvSpPr/>
            <p:nvPr/>
          </p:nvSpPr>
          <p:spPr>
            <a:xfrm>
              <a:off x="3229102" y="122643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5" name="Freeform 25"/>
            <p:cNvSpPr/>
            <p:nvPr/>
          </p:nvSpPr>
          <p:spPr>
            <a:xfrm>
              <a:off x="4606036" y="1220978"/>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6" name="Freeform 26"/>
            <p:cNvSpPr/>
            <p:nvPr/>
          </p:nvSpPr>
          <p:spPr>
            <a:xfrm>
              <a:off x="63500" y="381000"/>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7" name="Freeform 27"/>
            <p:cNvSpPr/>
            <p:nvPr/>
          </p:nvSpPr>
          <p:spPr>
            <a:xfrm>
              <a:off x="559435" y="179451"/>
              <a:ext cx="1947672" cy="416433"/>
            </a:xfrm>
            <a:custGeom>
              <a:avLst/>
              <a:gdLst/>
              <a:ahLst/>
              <a:cxnLst/>
              <a:rect l="l" t="t" r="r" b="b"/>
              <a:pathLst>
                <a:path w="1947672" h="416433">
                  <a:moveTo>
                    <a:pt x="0" y="416433"/>
                  </a:moveTo>
                  <a:lnTo>
                    <a:pt x="1947672" y="416433"/>
                  </a:lnTo>
                  <a:lnTo>
                    <a:pt x="1947672" y="0"/>
                  </a:lnTo>
                  <a:lnTo>
                    <a:pt x="0" y="0"/>
                  </a:lnTo>
                  <a:close/>
                </a:path>
              </a:pathLst>
            </a:custGeom>
            <a:solidFill>
              <a:srgbClr val="FFFFFF"/>
            </a:solidFill>
          </p:spPr>
          <p:txBody>
            <a:bodyPr/>
            <a:lstStyle/>
            <a:p>
              <a:endParaRPr lang="fr-FR"/>
            </a:p>
          </p:txBody>
        </p:sp>
        <p:sp>
          <p:nvSpPr>
            <p:cNvPr id="28" name="Freeform 28"/>
            <p:cNvSpPr/>
            <p:nvPr/>
          </p:nvSpPr>
          <p:spPr>
            <a:xfrm>
              <a:off x="5722620" y="63500"/>
              <a:ext cx="680339" cy="646176"/>
            </a:xfrm>
            <a:custGeom>
              <a:avLst/>
              <a:gdLst/>
              <a:ahLst/>
              <a:cxnLst/>
              <a:rect l="l" t="t" r="r" b="b"/>
              <a:pathLst>
                <a:path w="680339" h="646176">
                  <a:moveTo>
                    <a:pt x="340233" y="646049"/>
                  </a:moveTo>
                  <a:cubicBezTo>
                    <a:pt x="528066" y="646049"/>
                    <a:pt x="680339" y="501396"/>
                    <a:pt x="680339" y="322961"/>
                  </a:cubicBezTo>
                  <a:cubicBezTo>
                    <a:pt x="680339" y="144526"/>
                    <a:pt x="528066" y="0"/>
                    <a:pt x="340233" y="0"/>
                  </a:cubicBezTo>
                  <a:cubicBezTo>
                    <a:pt x="152400"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9" name="Freeform 29"/>
            <p:cNvSpPr/>
            <p:nvPr/>
          </p:nvSpPr>
          <p:spPr>
            <a:xfrm>
              <a:off x="566674" y="123647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grpSp>
      <p:sp>
        <p:nvSpPr>
          <p:cNvPr id="30" name="TextBox 99"/>
          <p:cNvSpPr txBox="1"/>
          <p:nvPr/>
        </p:nvSpPr>
        <p:spPr>
          <a:xfrm>
            <a:off x="6672167" y="9979838"/>
            <a:ext cx="248917" cy="240665"/>
          </a:xfrm>
          <a:prstGeom prst="rect">
            <a:avLst/>
          </a:prstGeom>
        </p:spPr>
        <p:txBody>
          <a:bodyPr lIns="0" tIns="0" rIns="0" bIns="0" rtlCol="0" anchor="t">
            <a:spAutoFit/>
          </a:bodyPr>
          <a:lstStyle/>
          <a:p>
            <a:pPr algn="l">
              <a:lnSpc>
                <a:spcPts val="1959"/>
              </a:lnSpc>
            </a:pPr>
            <a:r>
              <a:rPr lang="en-US" sz="1399" b="1" spc="8" dirty="0">
                <a:solidFill>
                  <a:srgbClr val="231F20"/>
                </a:solidFill>
                <a:latin typeface="IBM Plex Sans Bold"/>
                <a:ea typeface="IBM Plex Sans Bold"/>
                <a:cs typeface="IBM Plex Sans Bold"/>
                <a:sym typeface="IBM Plex Sans Bold"/>
              </a:rPr>
              <a:t>22</a:t>
            </a:r>
          </a:p>
        </p:txBody>
      </p:sp>
      <p:sp>
        <p:nvSpPr>
          <p:cNvPr id="32" name="TextBox 32"/>
          <p:cNvSpPr txBox="1"/>
          <p:nvPr/>
        </p:nvSpPr>
        <p:spPr>
          <a:xfrm>
            <a:off x="643661" y="6581470"/>
            <a:ext cx="1773936" cy="179536"/>
          </a:xfrm>
          <a:prstGeom prst="rect">
            <a:avLst/>
          </a:prstGeom>
        </p:spPr>
        <p:txBody>
          <a:bodyPr wrap="square" lIns="0" tIns="0" rIns="0" bIns="0" rtlCol="0" anchor="t">
            <a:spAutoFit/>
          </a:bodyPr>
          <a:lstStyle/>
          <a:p>
            <a:pPr algn="l">
              <a:lnSpc>
                <a:spcPts val="1439"/>
              </a:lnSpc>
            </a:pPr>
            <a:r>
              <a:rPr lang="en-US" sz="1200" i="1" spc="4" dirty="0">
                <a:solidFill>
                  <a:srgbClr val="231F20"/>
                </a:solidFill>
                <a:latin typeface="IBM Plex Sans Italics"/>
                <a:ea typeface="IBM Plex Sans Italics"/>
                <a:cs typeface="IBM Plex Sans Italics"/>
                <a:sym typeface="IBM Plex Sans Italics"/>
              </a:rPr>
              <a:t>French Language &amp; culture every morning
Professionals Workshops, Seminars and Exhibitions
Project Management in Intercultural environment</a:t>
            </a:r>
          </a:p>
        </p:txBody>
      </p:sp>
      <p:sp>
        <p:nvSpPr>
          <p:cNvPr id="33" name="TextBox 33"/>
          <p:cNvSpPr txBox="1"/>
          <p:nvPr/>
        </p:nvSpPr>
        <p:spPr>
          <a:xfrm>
            <a:off x="798281" y="5606948"/>
            <a:ext cx="1856994" cy="179536"/>
          </a:xfrm>
          <a:prstGeom prst="rect">
            <a:avLst/>
          </a:prstGeom>
        </p:spPr>
        <p:txBody>
          <a:bodyPr wrap="square"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WELCOME VARIOUS BACHELOR BACKGROUNDS</a:t>
            </a:r>
          </a:p>
        </p:txBody>
      </p:sp>
      <p:sp>
        <p:nvSpPr>
          <p:cNvPr id="34" name="TextBox 35"/>
          <p:cNvSpPr txBox="1"/>
          <p:nvPr/>
        </p:nvSpPr>
        <p:spPr>
          <a:xfrm>
            <a:off x="618277" y="8558289"/>
            <a:ext cx="3238353" cy="179536"/>
          </a:xfrm>
          <a:prstGeom prst="rect">
            <a:avLst/>
          </a:prstGeom>
        </p:spPr>
        <p:txBody>
          <a:bodyPr wrap="square" lIns="0" tIns="0" rIns="0" bIns="0" rtlCol="0" anchor="t">
            <a:spAutoFit/>
          </a:bodyPr>
          <a:lstStyle/>
          <a:p>
            <a:pPr algn="l">
              <a:lnSpc>
                <a:spcPts val="1439"/>
              </a:lnSpc>
            </a:pPr>
            <a:r>
              <a:rPr lang="en-US" sz="1200" i="1" spc="4" dirty="0" err="1">
                <a:solidFill>
                  <a:srgbClr val="1A1447"/>
                </a:solidFill>
                <a:latin typeface="IBM Plex Sans Italics"/>
                <a:ea typeface="IBM Plex Sans Italics"/>
                <a:cs typeface="IBM Plex Sans Italics"/>
                <a:sym typeface="IBM Plex Sans Italics"/>
              </a:rPr>
              <a:t>• Product or Brand manager 
• International Marketing officer/manager 
• Sales officer/manager
• Key account manager
• International strategy/business manager 
• Purchase manager</a:t>
            </a:r>
            <a:endParaRPr lang="en-US" sz="1200" i="1" spc="4" dirty="0">
              <a:solidFill>
                <a:srgbClr val="1A1447"/>
              </a:solidFill>
              <a:latin typeface="IBM Plex Sans Italics"/>
              <a:ea typeface="IBM Plex Sans Italics"/>
              <a:cs typeface="IBM Plex Sans Italics"/>
              <a:sym typeface="IBM Plex Sans Italics"/>
            </a:endParaRPr>
          </a:p>
        </p:txBody>
      </p:sp>
      <p:sp>
        <p:nvSpPr>
          <p:cNvPr id="35" name="TextBox 52"/>
          <p:cNvSpPr txBox="1"/>
          <p:nvPr/>
        </p:nvSpPr>
        <p:spPr>
          <a:xfrm>
            <a:off x="2445344" y="1281655"/>
            <a:ext cx="838810" cy="212174"/>
          </a:xfrm>
          <a:prstGeom prst="rect">
            <a:avLst/>
          </a:prstGeom>
        </p:spPr>
        <p:txBody>
          <a:bodyPr lIns="0" tIns="0" rIns="0" bIns="0" rtlCol="0" anchor="t">
            <a:spAutoFit/>
          </a:bodyPr>
          <a:lstStyle/>
          <a:p>
            <a:pPr algn="just">
              <a:lnSpc>
                <a:spcPts val="1783"/>
              </a:lnSpc>
            </a:pPr>
            <a:r>
              <a:rPr lang="en-US" sz="1200" spc="7" dirty="0">
                <a:solidFill>
                  <a:srgbClr val="464395"/>
                </a:solidFill>
                <a:latin typeface="IBM Plex Sans"/>
                <a:ea typeface="IBM Plex Sans"/>
                <a:cs typeface="IBM Plex Sans"/>
                <a:sym typeface="IBM Plex Sans"/>
              </a:rPr>
              <a:t>LANGUAGE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6" name="TextBox 38"/>
          <p:cNvSpPr txBox="1"/>
          <p:nvPr/>
        </p:nvSpPr>
        <p:spPr>
          <a:xfrm>
            <a:off x="3923062" y="1483624"/>
            <a:ext cx="951900" cy="212174"/>
          </a:xfrm>
          <a:prstGeom prst="rect">
            <a:avLst/>
          </a:prstGeom>
        </p:spPr>
        <p:txBody>
          <a:bodyPr lIns="0" tIns="0" rIns="0" bIns="0" rtlCol="0" anchor="t">
            <a:spAutoFit/>
          </a:bodyPr>
          <a:lstStyle/>
          <a:p>
            <a:pPr>
              <a:lnSpc>
                <a:spcPts val="1796"/>
              </a:lnSpc>
            </a:pPr>
            <a:r>
              <a:rPr lang="en-US" sz="1200" i="1" spc="7" dirty="0">
                <a:solidFill>
                  <a:srgbClr val="231F20"/>
                </a:solidFill>
                <a:latin typeface="IBM Plex Sans Italics"/>
                <a:ea typeface="IBM Plex Sans Italics"/>
                <a:cs typeface="IBM Plex Sans Italics"/>
                <a:sym typeface="IBM Plex Sans Italics"/>
              </a:rPr>
              <a:t>3-6 months experience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7" name="TextBox 36"/>
          <p:cNvSpPr txBox="1"/>
          <p:nvPr/>
        </p:nvSpPr>
        <p:spPr>
          <a:xfrm>
            <a:off x="2951845" y="6563801"/>
            <a:ext cx="1773936" cy="179536"/>
          </a:xfrm>
          <a:prstGeom prst="rect">
            <a:avLst/>
          </a:prstGeom>
        </p:spPr>
        <p:txBody>
          <a:bodyPr wrap="square" lIns="0" tIns="0" rIns="0" bIns="0" rtlCol="0" anchor="t">
            <a:spAutoFit/>
          </a:bodyPr>
          <a:lstStyle/>
          <a:p>
            <a:pPr algn="just">
              <a:lnSpc>
                <a:spcPts val="1439"/>
              </a:lnSpc>
            </a:pPr>
            <a:r>
              <a:rPr lang="en-US" sz="1200" i="1" spc="4" dirty="0">
                <a:solidFill>
                  <a:srgbClr val="231F20"/>
                </a:solidFill>
                <a:latin typeface="IBM Plex Sans Italics"/>
                <a:ea typeface="IBM Plex Sans Italics"/>
                <a:cs typeface="IBM Plex Sans Italics"/>
                <a:sym typeface="IBM Plex Sans Italics"/>
              </a:rPr>
              <a:t>Market analysis &amp; International Marketing
Case study and Digital Marketing practices
Professional Networking and job hunting</a:t>
            </a:r>
          </a:p>
        </p:txBody>
      </p:sp>
      <p:sp>
        <p:nvSpPr>
          <p:cNvPr id="38" name="TextBox 37"/>
          <p:cNvSpPr txBox="1"/>
          <p:nvPr/>
        </p:nvSpPr>
        <p:spPr>
          <a:xfrm>
            <a:off x="2883389" y="5606948"/>
            <a:ext cx="1856994"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YOU CAN START FROM FRENCH BEGINNER</a:t>
            </a:r>
          </a:p>
        </p:txBody>
      </p:sp>
      <p:sp>
        <p:nvSpPr>
          <p:cNvPr id="39" name="TextBox 39"/>
          <p:cNvSpPr txBox="1"/>
          <p:nvPr/>
        </p:nvSpPr>
        <p:spPr>
          <a:xfrm>
            <a:off x="5196249" y="1527315"/>
            <a:ext cx="1306830" cy="179536"/>
          </a:xfrm>
          <a:prstGeom prst="rect">
            <a:avLst/>
          </a:prstGeom>
        </p:spPr>
        <p:txBody>
          <a:bodyPr lIns="0" tIns="0" rIns="0" bIns="0" rtlCol="0" anchor="t">
            <a:spAutoFit/>
          </a:bodyPr>
          <a:lstStyle/>
          <a:p>
            <a:pPr>
              <a:lnSpc>
                <a:spcPts val="1439"/>
              </a:lnSpc>
            </a:pPr>
            <a:r>
              <a:rPr lang="en-US" sz="1200" i="1" spc="4" dirty="0">
                <a:solidFill>
                  <a:srgbClr val="231F20"/>
                </a:solidFill>
                <a:latin typeface="IBM Plex Sans Italics"/>
                <a:ea typeface="IBM Plex Sans Italics"/>
                <a:cs typeface="IBM Plex Sans Italics"/>
                <a:sym typeface="IBM Plex Sans Italics"/>
              </a:rPr>
              <a:t>On file and interview</a:t>
            </a:r>
          </a:p>
        </p:txBody>
      </p:sp>
      <p:sp>
        <p:nvSpPr>
          <p:cNvPr id="40" name="TextBox 41"/>
          <p:cNvSpPr txBox="1"/>
          <p:nvPr/>
        </p:nvSpPr>
        <p:spPr>
          <a:xfrm>
            <a:off x="5127250" y="6542094"/>
            <a:ext cx="1456639" cy="179536"/>
          </a:xfrm>
          <a:prstGeom prst="rect">
            <a:avLst/>
          </a:prstGeom>
        </p:spPr>
        <p:txBody>
          <a:bodyPr lIns="0" tIns="0" rIns="0" bIns="0" rtlCol="0" anchor="t">
            <a:spAutoFit/>
          </a:bodyPr>
          <a:lstStyle/>
          <a:p>
            <a:pPr algn="l">
              <a:lnSpc>
                <a:spcPts val="1439"/>
              </a:lnSpc>
            </a:pPr>
            <a:r>
              <a:rPr lang="en-US" sz="1200" i="1" spc="4" dirty="0">
                <a:solidFill>
                  <a:srgbClr val="231F20"/>
                </a:solidFill>
                <a:latin typeface="IBM Plex Sans Italics"/>
                <a:ea typeface="IBM Plex Sans Italics"/>
                <a:cs typeface="IBM Plex Sans Italics"/>
                <a:sym typeface="IBM Plex Sans Italics"/>
              </a:rPr>
              <a:t>Corporate Finance &amp; Management
Business Model, Plan &amp; Development</a:t>
            </a:r>
          </a:p>
        </p:txBody>
      </p:sp>
      <p:sp>
        <p:nvSpPr>
          <p:cNvPr id="41" name="TextBox 40"/>
          <p:cNvSpPr txBox="1"/>
          <p:nvPr/>
        </p:nvSpPr>
        <p:spPr>
          <a:xfrm>
            <a:off x="5130670" y="5606948"/>
            <a:ext cx="1641348"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DOUBLE DEGREE INCLUDING ONE RNCP</a:t>
            </a:r>
          </a:p>
        </p:txBody>
      </p:sp>
      <p:sp>
        <p:nvSpPr>
          <p:cNvPr id="42" name="TextBox 42"/>
          <p:cNvSpPr txBox="1"/>
          <p:nvPr/>
        </p:nvSpPr>
        <p:spPr>
          <a:xfrm>
            <a:off x="611800" y="2786767"/>
            <a:ext cx="6092133" cy="179536"/>
          </a:xfrm>
          <a:prstGeom prst="rect">
            <a:avLst/>
          </a:prstGeom>
        </p:spPr>
        <p:txBody>
          <a:bodyPr lIns="0" tIns="0" rIns="0" bIns="0" rtlCol="0" anchor="t">
            <a:spAutoFit/>
          </a:bodyPr>
          <a:lstStyle/>
          <a:p>
            <a:pPr algn="just">
              <a:lnSpc>
                <a:spcPts val="1439"/>
              </a:lnSpc>
            </a:pPr>
            <a:r>
              <a:rPr lang="en-US" sz="1200" spc="7" dirty="0">
                <a:solidFill>
                  <a:srgbClr val="FFFFFF"/>
                </a:solidFill>
                <a:latin typeface="IBM Plex Sans"/>
                <a:ea typeface="IBM Plex Sans"/>
                <a:cs typeface="IBM Plex Sans"/>
                <a:sym typeface="IBM Plex Sans"/>
              </a:rPr>
              <a:t>The International Business Management (IBM) is a general program with a particular focus on the international aspects of management needed in today’s business world. 
The program integrates studies in all business activities such as marketing, finance, accounting, and market trends. The goal is to develop the most reliable policies and strate- gies that successfully achieve the objectives of a company in an international environment. </a:t>
            </a:r>
          </a:p>
        </p:txBody>
      </p:sp>
      <p:sp>
        <p:nvSpPr>
          <p:cNvPr id="43" name="TextBox 43"/>
          <p:cNvSpPr txBox="1"/>
          <p:nvPr/>
        </p:nvSpPr>
        <p:spPr>
          <a:xfrm>
            <a:off x="6278525" y="429625"/>
            <a:ext cx="525475" cy="397269"/>
          </a:xfrm>
          <a:prstGeom prst="rect">
            <a:avLst/>
          </a:prstGeom>
        </p:spPr>
        <p:txBody>
          <a:bodyPr lIns="0" tIns="0" rIns="0" bIns="0" rtlCol="0" anchor="t">
            <a:spAutoFit/>
          </a:bodyPr>
          <a:lstStyle/>
          <a:p>
            <a:pPr algn="ctr">
              <a:lnSpc>
                <a:spcPts val="1660"/>
              </a:lnSpc>
            </a:pPr>
            <a:r>
              <a:rPr lang="en-US" sz="1399" b="1" spc="8" dirty="0">
                <a:solidFill>
                  <a:srgbClr val="FFFFFF"/>
                </a:solidFill>
                <a:latin typeface="IBM Plex Sans Bold"/>
                <a:ea typeface="IBM Plex Sans Bold"/>
                <a:cs typeface="IBM Plex Sans Bold"/>
                <a:sym typeface="IBM Plex Sans Bold"/>
              </a:rPr>
              <a:t>2 </a:t>
            </a:r>
          </a:p>
          <a:p>
            <a:pPr algn="l">
              <a:lnSpc>
                <a:spcPts val="1423"/>
              </a:lnSpc>
            </a:pPr>
            <a:r>
              <a:rPr lang="en-US" sz="1200" b="1" spc="7" dirty="0">
                <a:solidFill>
                  <a:srgbClr val="FFFFFF"/>
                </a:solidFill>
                <a:latin typeface="IBM Plex Sans Bold"/>
                <a:ea typeface="IBM Plex Sans Bold"/>
                <a:cs typeface="IBM Plex Sans Bold"/>
                <a:sym typeface="IBM Plex Sans Bold"/>
              </a:rPr>
              <a:t>YEARS</a:t>
            </a:r>
          </a:p>
        </p:txBody>
      </p:sp>
      <p:sp>
        <p:nvSpPr>
          <p:cNvPr id="44" name="TextBox 44"/>
          <p:cNvSpPr txBox="1"/>
          <p:nvPr/>
        </p:nvSpPr>
        <p:spPr>
          <a:xfrm>
            <a:off x="2560053" y="10301611"/>
            <a:ext cx="2515629" cy="151428"/>
          </a:xfrm>
          <a:prstGeom prst="rect">
            <a:avLst/>
          </a:prstGeom>
        </p:spPr>
        <p:txBody>
          <a:bodyPr lIns="0" tIns="0" rIns="0" bIns="0" rtlCol="0" anchor="t">
            <a:spAutoFit/>
          </a:bodyPr>
          <a:lstStyle/>
          <a:p>
            <a:pPr algn="l">
              <a:lnSpc>
                <a:spcPts val="1260"/>
              </a:lnSpc>
            </a:pPr>
            <a:r>
              <a:rPr lang="en-US" sz="900" i="1" spc="25" dirty="0" err="1">
                <a:solidFill>
                  <a:srgbClr val="939496"/>
                </a:solidFill>
                <a:latin typeface="IBM Plex Sans Italics"/>
                <a:ea typeface="IBM Plex Sans Italics"/>
                <a:cs typeface="IBM Plex Sans Italics"/>
                <a:sym typeface="IBM Plex Sans Italics"/>
              </a:rPr>
              <a:t>Etablissement</a:t>
            </a:r>
            <a:r>
              <a:rPr lang="en-US" sz="900" i="1" spc="25" dirty="0">
                <a:solidFill>
                  <a:srgbClr val="939496"/>
                </a:solidFill>
                <a:latin typeface="IBM Plex Sans Italics"/>
                <a:ea typeface="IBM Plex Sans Italics"/>
                <a:cs typeface="IBM Plex Sans Italics"/>
                <a:sym typeface="IBM Plex Sans Italics"/>
              </a:rPr>
              <a:t> </a:t>
            </a:r>
            <a:r>
              <a:rPr lang="en-US" sz="900" i="1" spc="25" dirty="0" err="1">
                <a:solidFill>
                  <a:srgbClr val="939496"/>
                </a:solidFill>
                <a:latin typeface="IBM Plex Sans Italics"/>
                <a:ea typeface="IBM Plex Sans Italics"/>
                <a:cs typeface="IBM Plex Sans Italics"/>
                <a:sym typeface="IBM Plex Sans Italics"/>
              </a:rPr>
              <a:t>d’enseignement</a:t>
            </a:r>
            <a:r>
              <a:rPr lang="en-US" sz="900" i="1" spc="25" dirty="0">
                <a:solidFill>
                  <a:srgbClr val="939496"/>
                </a:solidFill>
                <a:latin typeface="IBM Plex Sans Italics"/>
                <a:ea typeface="IBM Plex Sans Italics"/>
                <a:cs typeface="IBM Plex Sans Italics"/>
                <a:sym typeface="IBM Plex Sans Italics"/>
              </a:rPr>
              <a:t> supérieur </a:t>
            </a:r>
            <a:r>
              <a:rPr lang="en-US" sz="900" i="1" spc="25" dirty="0" err="1">
                <a:solidFill>
                  <a:srgbClr val="939496"/>
                </a:solidFill>
                <a:latin typeface="IBM Plex Sans Italics"/>
                <a:ea typeface="IBM Plex Sans Italics"/>
                <a:cs typeface="IBM Plex Sans Italics"/>
                <a:sym typeface="IBM Plex Sans Italics"/>
              </a:rPr>
              <a:t>privé</a:t>
            </a:r>
            <a:endParaRPr lang="en-US" sz="900" i="1" spc="25" dirty="0">
              <a:solidFill>
                <a:srgbClr val="939496"/>
              </a:solidFill>
              <a:latin typeface="IBM Plex Sans Italics"/>
              <a:ea typeface="IBM Plex Sans Italics"/>
              <a:cs typeface="IBM Plex Sans Italics"/>
              <a:sym typeface="IBM Plex Sans Italics"/>
            </a:endParaRPr>
          </a:p>
        </p:txBody>
      </p:sp>
      <p:sp>
        <p:nvSpPr>
          <p:cNvPr id="45" name="TextBox 46"/>
          <p:cNvSpPr txBox="1"/>
          <p:nvPr/>
        </p:nvSpPr>
        <p:spPr>
          <a:xfrm>
            <a:off x="626278" y="6127490"/>
            <a:ext cx="3837772"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TEACHING UNITS</a:t>
            </a:r>
          </a:p>
        </p:txBody>
      </p:sp>
      <p:sp>
        <p:nvSpPr>
          <p:cNvPr id="46" name="TextBox 45"/>
          <p:cNvSpPr txBox="1"/>
          <p:nvPr/>
        </p:nvSpPr>
        <p:spPr>
          <a:xfrm>
            <a:off x="618277" y="8095164"/>
            <a:ext cx="3464773" cy="299056"/>
          </a:xfrm>
          <a:prstGeom prst="rect">
            <a:avLst/>
          </a:prstGeom>
        </p:spPr>
        <p:txBody>
          <a:bodyPr wrap="square" lIns="0" tIns="0" rIns="0" bIns="0" rtlCol="0" anchor="t">
            <a:spAutoFit/>
          </a:bodyPr>
          <a:lstStyle/>
          <a:p>
            <a:pPr algn="l">
              <a:lnSpc>
                <a:spcPts val="2520"/>
              </a:lnSpc>
            </a:pPr>
            <a:r>
              <a:rPr lang="en-US" sz="1800" b="1" i="1">
                <a:solidFill>
                  <a:srgbClr val="EA8C39"/>
                </a:solidFill>
                <a:latin typeface="IBM Plex Sans Bold Italics"/>
                <a:ea typeface="IBM Plex Sans Bold Italics"/>
                <a:cs typeface="IBM Plex Sans Bold Italics"/>
                <a:sym typeface="IBM Plex Sans Bold Italics"/>
              </a:rPr>
              <a:t>OCCUPATIONS</a:t>
            </a:r>
          </a:p>
        </p:txBody>
      </p:sp>
      <p:sp>
        <p:nvSpPr>
          <p:cNvPr id="47" name="TextBox 47"/>
          <p:cNvSpPr txBox="1"/>
          <p:nvPr/>
        </p:nvSpPr>
        <p:spPr>
          <a:xfrm>
            <a:off x="600894" y="4421000"/>
            <a:ext cx="386315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TOP3 - KEY POINTS</a:t>
            </a:r>
          </a:p>
        </p:txBody>
      </p:sp>
      <p:sp>
        <p:nvSpPr>
          <p:cNvPr id="48" name="TextBox 48"/>
          <p:cNvSpPr txBox="1"/>
          <p:nvPr/>
        </p:nvSpPr>
        <p:spPr>
          <a:xfrm>
            <a:off x="1127645" y="915400"/>
            <a:ext cx="5150879" cy="299056"/>
          </a:xfrm>
          <a:prstGeom prst="rect">
            <a:avLst/>
          </a:prstGeom>
        </p:spPr>
        <p:txBody>
          <a:bodyPr wrap="square" lIns="0" tIns="0" rIns="0" bIns="0" rtlCol="0" anchor="t">
            <a:spAutoFit/>
          </a:bodyPr>
          <a:lstStyle/>
          <a:p>
            <a:pPr algn="l">
              <a:lnSpc>
                <a:spcPts val="2520"/>
              </a:lnSpc>
            </a:pPr>
            <a:r>
              <a:rPr lang="en-US" sz="1800" b="1" spc="7" dirty="0">
                <a:solidFill>
                  <a:srgbClr val="1A1447"/>
                </a:solidFill>
                <a:latin typeface="IBM Plex Sans Bold"/>
                <a:ea typeface="IBM Plex Sans Bold"/>
                <a:cs typeface="IBM Plex Sans Bold"/>
                <a:sym typeface="IBM Plex Sans Bold"/>
              </a:rPr>
              <a:t>INTERNATIONAL BUSINESS MANAGEMENT</a:t>
            </a:r>
          </a:p>
        </p:txBody>
      </p:sp>
      <p:sp>
        <p:nvSpPr>
          <p:cNvPr id="49" name="TextBox 49"/>
          <p:cNvSpPr txBox="1"/>
          <p:nvPr/>
        </p:nvSpPr>
        <p:spPr>
          <a:xfrm>
            <a:off x="5150644" y="1289818"/>
            <a:ext cx="783022" cy="192491"/>
          </a:xfrm>
          <a:prstGeom prst="rect">
            <a:avLst/>
          </a:prstGeom>
        </p:spPr>
        <p:txBody>
          <a:bodyPr lIns="0" tIns="0" rIns="0" bIns="0" rtlCol="0" anchor="t">
            <a:spAutoFit/>
          </a:bodyPr>
          <a:lstStyle/>
          <a:p>
            <a:pPr algn="l">
              <a:lnSpc>
                <a:spcPts val="1539"/>
              </a:lnSpc>
            </a:pPr>
            <a:r>
              <a:rPr lang="en-US" sz="1100" spc="6" dirty="0">
                <a:solidFill>
                  <a:srgbClr val="464395"/>
                </a:solidFill>
                <a:latin typeface="IBM Plex Sans"/>
                <a:ea typeface="IBM Plex Sans"/>
                <a:cs typeface="IBM Plex Sans"/>
                <a:sym typeface="IBM Plex Sans"/>
              </a:rPr>
              <a:t>ADMISSION</a:t>
            </a:r>
          </a:p>
        </p:txBody>
      </p:sp>
      <p:sp>
        <p:nvSpPr>
          <p:cNvPr id="50" name="TextBox 50"/>
          <p:cNvSpPr txBox="1"/>
          <p:nvPr/>
        </p:nvSpPr>
        <p:spPr>
          <a:xfrm>
            <a:off x="1107748" y="411985"/>
            <a:ext cx="1496263" cy="405699"/>
          </a:xfrm>
          <a:prstGeom prst="rect">
            <a:avLst/>
          </a:prstGeom>
        </p:spPr>
        <p:txBody>
          <a:bodyPr lIns="0" tIns="0" rIns="0" bIns="0" rtlCol="0" anchor="t">
            <a:spAutoFit/>
          </a:bodyPr>
          <a:lstStyle/>
          <a:p>
            <a:pPr algn="l">
              <a:lnSpc>
                <a:spcPts val="3359"/>
              </a:lnSpc>
            </a:pPr>
            <a:r>
              <a:rPr lang="en-US" sz="2400" b="1" spc="14" dirty="0">
                <a:solidFill>
                  <a:srgbClr val="231F20"/>
                </a:solidFill>
                <a:latin typeface="IBM Plex Sans Bold"/>
                <a:ea typeface="IBM Plex Sans Bold"/>
                <a:cs typeface="IBM Plex Sans Bold"/>
                <a:sym typeface="IBM Plex Sans Bold"/>
              </a:rPr>
              <a:t>MASTERE</a:t>
            </a:r>
          </a:p>
        </p:txBody>
      </p:sp>
      <p:sp>
        <p:nvSpPr>
          <p:cNvPr id="52" name="TextBox 51">
            <a:extLst>
              <a:ext uri="{FF2B5EF4-FFF2-40B4-BE49-F238E27FC236}">
                <a16:creationId xmlns:a16="http://schemas.microsoft.com/office/drawing/2014/main" id="{08B6434F-E251-F3F4-A8EE-0DB40DADF62C}"/>
              </a:ext>
            </a:extLst>
          </p:cNvPr>
          <p:cNvSpPr txBox="1"/>
          <p:nvPr/>
        </p:nvSpPr>
        <p:spPr>
          <a:xfrm>
            <a:off x="1256030" y="1299715"/>
            <a:ext cx="1040102" cy="192938"/>
          </a:xfrm>
          <a:prstGeom prst="rect">
            <a:avLst/>
          </a:prstGeom>
        </p:spPr>
        <p:txBody>
          <a:bodyPr wrap="square" lIns="0" tIns="0" rIns="0" bIns="0" rtlCol="0" anchor="t">
            <a:spAutoFit/>
          </a:bodyPr>
          <a:lstStyle/>
          <a:p>
            <a:pPr algn="just">
              <a:lnSpc>
                <a:spcPts val="1614"/>
              </a:lnSpc>
            </a:pPr>
            <a:r>
              <a:rPr lang="en-US" sz="1200" spc="7" dirty="0">
                <a:solidFill>
                  <a:srgbClr val="464395"/>
                </a:solidFill>
                <a:latin typeface="IBM Plex Sans"/>
                <a:ea typeface="IBM Plex Sans"/>
                <a:cs typeface="IBM Plex Sans"/>
                <a:sym typeface="IBM Plex Sans"/>
              </a:rPr>
              <a:t>2 INTAKES</a:t>
            </a:r>
            <a:endParaRPr lang="en-US" sz="1200" i="1" spc="4" dirty="0">
              <a:solidFill>
                <a:srgbClr val="231F20"/>
              </a:solidFill>
              <a:latin typeface="IBM Plex Sans Italics"/>
              <a:ea typeface="IBM Plex Sans Italics"/>
              <a:cs typeface="IBM Plex Sans Italics"/>
              <a:sym typeface="IBM Plex Sans Italics"/>
            </a:endParaRPr>
          </a:p>
        </p:txBody>
      </p:sp>
      <p:sp>
        <p:nvSpPr>
          <p:cNvPr id="53" name="TextBox 31">
            <a:extLst>
              <a:ext uri="{FF2B5EF4-FFF2-40B4-BE49-F238E27FC236}">
                <a16:creationId xmlns:a16="http://schemas.microsoft.com/office/drawing/2014/main" id="{63339F6C-44AA-C06C-C876-B9C66129B42B}"/>
              </a:ext>
            </a:extLst>
          </p:cNvPr>
          <p:cNvSpPr txBox="1"/>
          <p:nvPr/>
        </p:nvSpPr>
        <p:spPr>
          <a:xfrm>
            <a:off x="1252559" y="1505911"/>
            <a:ext cx="812873" cy="192938"/>
          </a:xfrm>
          <a:prstGeom prst="rect">
            <a:avLst/>
          </a:prstGeom>
        </p:spPr>
        <p:txBody>
          <a:bodyPr lIns="0" tIns="0" rIns="0" bIns="0" rtlCol="0" anchor="t">
            <a:spAutoFit/>
          </a:bodyPr>
          <a:lstStyle/>
          <a:p>
            <a:pPr>
              <a:lnSpc>
                <a:spcPts val="1614"/>
              </a:lnSpc>
            </a:pPr>
            <a:r>
              <a:rPr lang="en-US" sz="1200" i="1" spc="7" dirty="0">
                <a:solidFill>
                  <a:srgbClr val="231F20"/>
                </a:solidFill>
                <a:latin typeface="IBM Plex Sans Italics"/>
                <a:ea typeface="IBM Plex Sans Italics"/>
                <a:cs typeface="IBM Plex Sans Italics"/>
                <a:sym typeface="IBM Plex Sans Italics"/>
              </a:rPr>
              <a:t>Fall Spring</a:t>
            </a:r>
            <a:endParaRPr lang="en-US" sz="1200" i="1" spc="4" dirty="0">
              <a:solidFill>
                <a:srgbClr val="231F20"/>
              </a:solidFill>
              <a:latin typeface="IBM Plex Sans Italics"/>
              <a:ea typeface="IBM Plex Sans Italics"/>
              <a:cs typeface="IBM Plex Sans Italics"/>
              <a:sym typeface="IBM Plex Sans Italics"/>
            </a:endParaRPr>
          </a:p>
        </p:txBody>
      </p:sp>
      <p:sp>
        <p:nvSpPr>
          <p:cNvPr id="55" name="TextBox 34">
            <a:extLst>
              <a:ext uri="{FF2B5EF4-FFF2-40B4-BE49-F238E27FC236}">
                <a16:creationId xmlns:a16="http://schemas.microsoft.com/office/drawing/2014/main" id="{7F360BAA-61BF-FE8B-0AC4-A991BC941086}"/>
              </a:ext>
            </a:extLst>
          </p:cNvPr>
          <p:cNvSpPr txBox="1"/>
          <p:nvPr/>
        </p:nvSpPr>
        <p:spPr>
          <a:xfrm>
            <a:off x="2467440" y="1508374"/>
            <a:ext cx="838811" cy="221792"/>
          </a:xfrm>
          <a:prstGeom prst="rect">
            <a:avLst/>
          </a:prstGeom>
        </p:spPr>
        <p:txBody>
          <a:bodyPr lIns="0" tIns="0" rIns="0" bIns="0" rtlCol="0" anchor="t">
            <a:spAutoFit/>
          </a:bodyPr>
          <a:lstStyle/>
          <a:p>
            <a:pPr>
              <a:lnSpc>
                <a:spcPts val="1908"/>
              </a:lnSpc>
            </a:pPr>
            <a:r>
              <a:rPr lang="en-US" sz="1200" i="1" spc="4" dirty="0" err="1">
                <a:solidFill>
                  <a:srgbClr val="231F20"/>
                </a:solidFill>
                <a:latin typeface="IBM Plex Sans Italics"/>
                <a:ea typeface="IBM Plex Sans Italics"/>
                <a:cs typeface="IBM Plex Sans Italics"/>
                <a:sym typeface="IBM Plex Sans Italics"/>
              </a:rPr>
              <a:t>English &amp; French</a:t>
            </a:r>
            <a:r>
              <a:rPr lang="en-US" sz="1200" i="1" spc="4" dirty="0">
                <a:solidFill>
                  <a:srgbClr val="231F20"/>
                </a:solidFill>
                <a:latin typeface="IBM Plex Sans Italics"/>
                <a:ea typeface="IBM Plex Sans Italics"/>
                <a:cs typeface="IBM Plex Sans Italics"/>
                <a:sym typeface="IBM Plex Sans Italics"/>
              </a:rPr>
              <a:t/>
            </a:r>
          </a:p>
        </p:txBody>
      </p:sp>
      <p:sp>
        <p:nvSpPr>
          <p:cNvPr id="56" name="TextBox 53">
            <a:extLst>
              <a:ext uri="{FF2B5EF4-FFF2-40B4-BE49-F238E27FC236}">
                <a16:creationId xmlns:a16="http://schemas.microsoft.com/office/drawing/2014/main" id="{C7B0528E-AFDC-2B75-9630-CDE5B04D540C}"/>
              </a:ext>
            </a:extLst>
          </p:cNvPr>
          <p:cNvSpPr txBox="1"/>
          <p:nvPr/>
        </p:nvSpPr>
        <p:spPr>
          <a:xfrm>
            <a:off x="3909566" y="1257967"/>
            <a:ext cx="1091866" cy="212174"/>
          </a:xfrm>
          <a:prstGeom prst="rect">
            <a:avLst/>
          </a:prstGeom>
        </p:spPr>
        <p:txBody>
          <a:bodyPr lIns="0" tIns="0" rIns="0" bIns="0" rtlCol="0" anchor="t">
            <a:spAutoFit/>
          </a:bodyPr>
          <a:lstStyle/>
          <a:p>
            <a:pPr algn="just">
              <a:lnSpc>
                <a:spcPts val="1796"/>
              </a:lnSpc>
            </a:pPr>
            <a:r>
              <a:rPr lang="en-US" sz="1200" spc="4" dirty="0">
                <a:solidFill>
                  <a:srgbClr val="464395"/>
                </a:solidFill>
                <a:latin typeface="IBM Plex Sans"/>
                <a:ea typeface="IBM Plex Sans"/>
                <a:cs typeface="IBM Plex Sans"/>
                <a:sym typeface="IBM Plex Sans"/>
              </a:rPr>
              <a:t>INTERNSHIP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p:cNvGrpSpPr>
            <a:grpSpLocks noChangeAspect="1"/>
          </p:cNvGrpSpPr>
          <p:nvPr/>
        </p:nvGrpSpPr>
        <p:grpSpPr>
          <a:xfrm>
            <a:off x="1202512" y="4924130"/>
            <a:ext cx="762505" cy="679580"/>
            <a:chOff x="0" y="0"/>
            <a:chExt cx="762495" cy="679577"/>
          </a:xfrm>
        </p:grpSpPr>
        <p:sp>
          <p:nvSpPr>
            <p:cNvPr id="3" name="Freeform 3"/>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7112"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p:cNvSpPr/>
            <p:nvPr/>
          </p:nvSpPr>
          <p:spPr>
            <a:xfrm>
              <a:off x="260477" y="267970"/>
              <a:ext cx="120269" cy="140081"/>
            </a:xfrm>
            <a:custGeom>
              <a:avLst/>
              <a:gdLst/>
              <a:ahLst/>
              <a:cxnLst/>
              <a:rect l="l" t="t" r="r" b="b"/>
              <a:pathLst>
                <a:path w="120269"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071" y="0"/>
                  </a:cubicBezTo>
                  <a:lnTo>
                    <a:pt x="76581" y="1778"/>
                  </a:lnTo>
                  <a:cubicBezTo>
                    <a:pt x="91313" y="8890"/>
                    <a:pt x="97663" y="13716"/>
                    <a:pt x="103124" y="19939"/>
                  </a:cubicBezTo>
                  <a:lnTo>
                    <a:pt x="115697" y="42037"/>
                  </a:lnTo>
                  <a:cubicBezTo>
                    <a:pt x="118745" y="50546"/>
                    <a:pt x="120269" y="59944"/>
                    <a:pt x="120269" y="70104"/>
                  </a:cubicBezTo>
                  <a:moveTo>
                    <a:pt x="88773" y="70104"/>
                  </a:moveTo>
                  <a:lnTo>
                    <a:pt x="88011" y="58293"/>
                  </a:lnTo>
                  <a:cubicBezTo>
                    <a:pt x="85217" y="48006"/>
                    <a:pt x="83185" y="43561"/>
                    <a:pt x="80645" y="39878"/>
                  </a:cubicBezTo>
                  <a:lnTo>
                    <a:pt x="75057" y="33401"/>
                  </a:lnTo>
                  <a:lnTo>
                    <a:pt x="64262" y="28448"/>
                  </a:lnTo>
                  <a:cubicBezTo>
                    <a:pt x="55753" y="28448"/>
                    <a:pt x="51816" y="29464"/>
                    <a:pt x="48260" y="31496"/>
                  </a:cubicBezTo>
                  <a:lnTo>
                    <a:pt x="41783" y="36322"/>
                  </a:lnTo>
                  <a:cubicBezTo>
                    <a:pt x="36703" y="43688"/>
                    <a:pt x="34671" y="48133"/>
                    <a:pt x="33274" y="53340"/>
                  </a:cubicBezTo>
                  <a:lnTo>
                    <a:pt x="31115" y="64135"/>
                  </a:lnTo>
                  <a:cubicBezTo>
                    <a:pt x="31115" y="76454"/>
                    <a:pt x="31877" y="82042"/>
                    <a:pt x="33274" y="87122"/>
                  </a:cubicBezTo>
                  <a:lnTo>
                    <a:pt x="36703" y="96520"/>
                  </a:lnTo>
                  <a:cubicBezTo>
                    <a:pt x="41783" y="103886"/>
                    <a:pt x="44831" y="106807"/>
                    <a:pt x="48387" y="108712"/>
                  </a:cubicBezTo>
                  <a:lnTo>
                    <a:pt x="55753" y="111760"/>
                  </a:lnTo>
                  <a:lnTo>
                    <a:pt x="68199" y="110744"/>
                  </a:lnTo>
                  <a:cubicBezTo>
                    <a:pt x="75184" y="106680"/>
                    <a:pt x="78232" y="103886"/>
                    <a:pt x="80772" y="100203"/>
                  </a:cubicBezTo>
                  <a:lnTo>
                    <a:pt x="85344" y="92075"/>
                  </a:lnTo>
                  <a:cubicBezTo>
                    <a:pt x="88138" y="81915"/>
                    <a:pt x="88900" y="76327"/>
                    <a:pt x="88900" y="70104"/>
                  </a:cubicBezTo>
                </a:path>
              </a:pathLst>
            </a:custGeom>
            <a:solidFill>
              <a:srgbClr val="7DE314"/>
            </a:solidFill>
          </p:spPr>
          <p:txBody>
            <a:bodyPr/>
            <a:lstStyle/>
            <a:p>
              <a:endParaRPr lang="fr-FR"/>
            </a:p>
          </p:txBody>
        </p:sp>
        <p:sp>
          <p:nvSpPr>
            <p:cNvPr id="7" name="Freeform 7"/>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036" y="37719"/>
                    <a:pt x="31115" y="39751"/>
                  </a:cubicBezTo>
                  <a:lnTo>
                    <a:pt x="24765" y="43434"/>
                  </a:lnTo>
                  <a:lnTo>
                    <a:pt x="13970" y="48260"/>
                  </a:lnTo>
                  <a:cubicBezTo>
                    <a:pt x="6350" y="50419"/>
                    <a:pt x="3048"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p:cNvGrpSpPr>
            <a:grpSpLocks noChangeAspect="1"/>
          </p:cNvGrpSpPr>
          <p:nvPr/>
        </p:nvGrpSpPr>
        <p:grpSpPr>
          <a:xfrm>
            <a:off x="3461909" y="4916900"/>
            <a:ext cx="762505" cy="686800"/>
            <a:chOff x="0" y="0"/>
            <a:chExt cx="762495" cy="686803"/>
          </a:xfrm>
        </p:grpSpPr>
        <p:sp>
          <p:nvSpPr>
            <p:cNvPr id="9" name="Freeform 9"/>
            <p:cNvSpPr/>
            <p:nvPr/>
          </p:nvSpPr>
          <p:spPr>
            <a:xfrm>
              <a:off x="63500" y="63500"/>
              <a:ext cx="635508" cy="559816"/>
            </a:xfrm>
            <a:custGeom>
              <a:avLst/>
              <a:gdLst/>
              <a:ahLst/>
              <a:cxnLst/>
              <a:rect l="l" t="t" r="r" b="b"/>
              <a:pathLst>
                <a:path w="635508" h="559816">
                  <a:moveTo>
                    <a:pt x="631698" y="294132"/>
                  </a:moveTo>
                  <a:lnTo>
                    <a:pt x="487045" y="545592"/>
                  </a:lnTo>
                  <a:cubicBezTo>
                    <a:pt x="481965" y="554482"/>
                    <a:pt x="472567" y="559816"/>
                    <a:pt x="462407" y="559816"/>
                  </a:cubicBezTo>
                  <a:lnTo>
                    <a:pt x="173101" y="559816"/>
                  </a:lnTo>
                  <a:cubicBezTo>
                    <a:pt x="162941" y="559816"/>
                    <a:pt x="153543" y="554355"/>
                    <a:pt x="148463" y="545592"/>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p:cNvGrpSpPr>
            <a:grpSpLocks noChangeAspect="1"/>
          </p:cNvGrpSpPr>
          <p:nvPr/>
        </p:nvGrpSpPr>
        <p:grpSpPr>
          <a:xfrm>
            <a:off x="0" y="2584247"/>
            <a:ext cx="7559993" cy="1642539"/>
            <a:chOff x="0" y="0"/>
            <a:chExt cx="7559992" cy="1642542"/>
          </a:xfrm>
        </p:grpSpPr>
        <p:sp>
          <p:nvSpPr>
            <p:cNvPr id="15" name="Freeform 15"/>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16" name="Group 16"/>
          <p:cNvGrpSpPr>
            <a:grpSpLocks noChangeAspect="1"/>
          </p:cNvGrpSpPr>
          <p:nvPr/>
        </p:nvGrpSpPr>
        <p:grpSpPr>
          <a:xfrm>
            <a:off x="5475351" y="4909652"/>
            <a:ext cx="762505" cy="694058"/>
            <a:chOff x="0" y="0"/>
            <a:chExt cx="762495" cy="694055"/>
          </a:xfrm>
        </p:grpSpPr>
        <p:sp>
          <p:nvSpPr>
            <p:cNvPr id="17" name="Freeform 17"/>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8" name="Freeform 18"/>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9" name="Freeform 19"/>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20" name="Freeform 20"/>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21" name="Freeform 21"/>
            <p:cNvSpPr/>
            <p:nvPr/>
          </p:nvSpPr>
          <p:spPr>
            <a:xfrm>
              <a:off x="388493"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2" name="Group 22"/>
          <p:cNvGrpSpPr>
            <a:grpSpLocks noChangeAspect="1"/>
          </p:cNvGrpSpPr>
          <p:nvPr/>
        </p:nvGrpSpPr>
        <p:grpSpPr>
          <a:xfrm>
            <a:off x="454638" y="296494"/>
            <a:ext cx="6466446" cy="1976704"/>
            <a:chOff x="0" y="0"/>
            <a:chExt cx="6466446" cy="1976704"/>
          </a:xfrm>
        </p:grpSpPr>
        <p:sp>
          <p:nvSpPr>
            <p:cNvPr id="23" name="Freeform 23"/>
            <p:cNvSpPr/>
            <p:nvPr/>
          </p:nvSpPr>
          <p:spPr>
            <a:xfrm>
              <a:off x="1884299" y="123647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4" name="Freeform 24"/>
            <p:cNvSpPr/>
            <p:nvPr/>
          </p:nvSpPr>
          <p:spPr>
            <a:xfrm>
              <a:off x="3229102" y="122643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5" name="Freeform 25"/>
            <p:cNvSpPr/>
            <p:nvPr/>
          </p:nvSpPr>
          <p:spPr>
            <a:xfrm>
              <a:off x="4606036" y="1220978"/>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6" name="Freeform 26"/>
            <p:cNvSpPr/>
            <p:nvPr/>
          </p:nvSpPr>
          <p:spPr>
            <a:xfrm>
              <a:off x="63500" y="381000"/>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7" name="Freeform 27"/>
            <p:cNvSpPr/>
            <p:nvPr/>
          </p:nvSpPr>
          <p:spPr>
            <a:xfrm>
              <a:off x="559435" y="179451"/>
              <a:ext cx="1947672" cy="416433"/>
            </a:xfrm>
            <a:custGeom>
              <a:avLst/>
              <a:gdLst/>
              <a:ahLst/>
              <a:cxnLst/>
              <a:rect l="l" t="t" r="r" b="b"/>
              <a:pathLst>
                <a:path w="1947672" h="416433">
                  <a:moveTo>
                    <a:pt x="0" y="416433"/>
                  </a:moveTo>
                  <a:lnTo>
                    <a:pt x="1947672" y="416433"/>
                  </a:lnTo>
                  <a:lnTo>
                    <a:pt x="1947672" y="0"/>
                  </a:lnTo>
                  <a:lnTo>
                    <a:pt x="0" y="0"/>
                  </a:lnTo>
                  <a:close/>
                </a:path>
              </a:pathLst>
            </a:custGeom>
            <a:solidFill>
              <a:srgbClr val="FFFFFF"/>
            </a:solidFill>
          </p:spPr>
          <p:txBody>
            <a:bodyPr/>
            <a:lstStyle/>
            <a:p>
              <a:endParaRPr lang="fr-FR"/>
            </a:p>
          </p:txBody>
        </p:sp>
        <p:sp>
          <p:nvSpPr>
            <p:cNvPr id="28" name="Freeform 28"/>
            <p:cNvSpPr/>
            <p:nvPr/>
          </p:nvSpPr>
          <p:spPr>
            <a:xfrm>
              <a:off x="5722620" y="63500"/>
              <a:ext cx="680339" cy="646176"/>
            </a:xfrm>
            <a:custGeom>
              <a:avLst/>
              <a:gdLst/>
              <a:ahLst/>
              <a:cxnLst/>
              <a:rect l="l" t="t" r="r" b="b"/>
              <a:pathLst>
                <a:path w="680339" h="646176">
                  <a:moveTo>
                    <a:pt x="340233" y="646049"/>
                  </a:moveTo>
                  <a:cubicBezTo>
                    <a:pt x="528066" y="646049"/>
                    <a:pt x="680339" y="501396"/>
                    <a:pt x="680339" y="322961"/>
                  </a:cubicBezTo>
                  <a:cubicBezTo>
                    <a:pt x="680339" y="144526"/>
                    <a:pt x="528066" y="0"/>
                    <a:pt x="340233" y="0"/>
                  </a:cubicBezTo>
                  <a:cubicBezTo>
                    <a:pt x="152400"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9" name="Freeform 29"/>
            <p:cNvSpPr/>
            <p:nvPr/>
          </p:nvSpPr>
          <p:spPr>
            <a:xfrm>
              <a:off x="566674" y="123647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grpSp>
      <p:sp>
        <p:nvSpPr>
          <p:cNvPr id="30" name="TextBox 99"/>
          <p:cNvSpPr txBox="1"/>
          <p:nvPr/>
        </p:nvSpPr>
        <p:spPr>
          <a:xfrm>
            <a:off x="6672167" y="9979838"/>
            <a:ext cx="248917" cy="240665"/>
          </a:xfrm>
          <a:prstGeom prst="rect">
            <a:avLst/>
          </a:prstGeom>
        </p:spPr>
        <p:txBody>
          <a:bodyPr lIns="0" tIns="0" rIns="0" bIns="0" rtlCol="0" anchor="t">
            <a:spAutoFit/>
          </a:bodyPr>
          <a:lstStyle/>
          <a:p>
            <a:pPr algn="l">
              <a:lnSpc>
                <a:spcPts val="1959"/>
              </a:lnSpc>
            </a:pPr>
            <a:r>
              <a:rPr lang="en-US" sz="1399" b="1" spc="8" dirty="0">
                <a:solidFill>
                  <a:srgbClr val="231F20"/>
                </a:solidFill>
                <a:latin typeface="IBM Plex Sans Bold"/>
                <a:ea typeface="IBM Plex Sans Bold"/>
                <a:cs typeface="IBM Plex Sans Bold"/>
                <a:sym typeface="IBM Plex Sans Bold"/>
              </a:rPr>
              <a:t>23</a:t>
            </a:r>
          </a:p>
        </p:txBody>
      </p:sp>
      <p:sp>
        <p:nvSpPr>
          <p:cNvPr id="32" name="TextBox 32"/>
          <p:cNvSpPr txBox="1"/>
          <p:nvPr/>
        </p:nvSpPr>
        <p:spPr>
          <a:xfrm>
            <a:off x="643661" y="6581470"/>
            <a:ext cx="1773936" cy="179536"/>
          </a:xfrm>
          <a:prstGeom prst="rect">
            <a:avLst/>
          </a:prstGeom>
        </p:spPr>
        <p:txBody>
          <a:bodyPr wrap="square" lIns="0" tIns="0" rIns="0" bIns="0" rtlCol="0" anchor="t">
            <a:spAutoFit/>
          </a:bodyPr>
          <a:lstStyle/>
          <a:p>
            <a:pPr algn="l">
              <a:lnSpc>
                <a:spcPts val="1439"/>
              </a:lnSpc>
            </a:pPr>
            <a:r>
              <a:rPr lang="en-US" sz="1200" i="1" spc="4" dirty="0">
                <a:solidFill>
                  <a:srgbClr val="231F20"/>
                </a:solidFill>
                <a:latin typeface="IBM Plex Sans Italics"/>
                <a:ea typeface="IBM Plex Sans Italics"/>
                <a:cs typeface="IBM Plex Sans Italics"/>
                <a:sym typeface="IBM Plex Sans Italics"/>
              </a:rPr>
              <a:t>French Language &amp; culture every morning
Professionals Workshops, Seminars and Exhibitions
Project Management in Intercultural environment</a:t>
            </a:r>
          </a:p>
        </p:txBody>
      </p:sp>
      <p:sp>
        <p:nvSpPr>
          <p:cNvPr id="33" name="TextBox 33"/>
          <p:cNvSpPr txBox="1"/>
          <p:nvPr/>
        </p:nvSpPr>
        <p:spPr>
          <a:xfrm>
            <a:off x="798281" y="5606948"/>
            <a:ext cx="1856994" cy="179536"/>
          </a:xfrm>
          <a:prstGeom prst="rect">
            <a:avLst/>
          </a:prstGeom>
        </p:spPr>
        <p:txBody>
          <a:bodyPr wrap="square"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WELCOME VARIOUS BACHELOR BACKGROUNDS</a:t>
            </a:r>
          </a:p>
        </p:txBody>
      </p:sp>
      <p:sp>
        <p:nvSpPr>
          <p:cNvPr id="34" name="TextBox 35"/>
          <p:cNvSpPr txBox="1"/>
          <p:nvPr/>
        </p:nvSpPr>
        <p:spPr>
          <a:xfrm>
            <a:off x="618277" y="8558289"/>
            <a:ext cx="3238353" cy="179536"/>
          </a:xfrm>
          <a:prstGeom prst="rect">
            <a:avLst/>
          </a:prstGeom>
        </p:spPr>
        <p:txBody>
          <a:bodyPr wrap="square" lIns="0" tIns="0" rIns="0" bIns="0" rtlCol="0" anchor="t">
            <a:spAutoFit/>
          </a:bodyPr>
          <a:lstStyle/>
          <a:p>
            <a:pPr algn="l">
              <a:lnSpc>
                <a:spcPts val="1439"/>
              </a:lnSpc>
            </a:pPr>
            <a:r>
              <a:rPr lang="en-US" sz="1200" i="1" spc="4" dirty="0" err="1">
                <a:solidFill>
                  <a:srgbClr val="1A1447"/>
                </a:solidFill>
                <a:latin typeface="IBM Plex Sans Italics"/>
                <a:ea typeface="IBM Plex Sans Italics"/>
                <a:cs typeface="IBM Plex Sans Italics"/>
                <a:sym typeface="IBM Plex Sans Italics"/>
              </a:rPr>
              <a:t>• Product or Brand manager 
• International Marketing officer/manager 
• Key account manager
• International strategy/business manager 
• Purchase manager
• Supplychain specialist
</a:t>
            </a:r>
            <a:endParaRPr lang="en-US" sz="1200" i="1" spc="4" dirty="0">
              <a:solidFill>
                <a:srgbClr val="1A1447"/>
              </a:solidFill>
              <a:latin typeface="IBM Plex Sans Italics"/>
              <a:ea typeface="IBM Plex Sans Italics"/>
              <a:cs typeface="IBM Plex Sans Italics"/>
              <a:sym typeface="IBM Plex Sans Italics"/>
            </a:endParaRPr>
          </a:p>
        </p:txBody>
      </p:sp>
      <p:sp>
        <p:nvSpPr>
          <p:cNvPr id="35" name="TextBox 52"/>
          <p:cNvSpPr txBox="1"/>
          <p:nvPr/>
        </p:nvSpPr>
        <p:spPr>
          <a:xfrm>
            <a:off x="2445344" y="1281655"/>
            <a:ext cx="838810" cy="212174"/>
          </a:xfrm>
          <a:prstGeom prst="rect">
            <a:avLst/>
          </a:prstGeom>
        </p:spPr>
        <p:txBody>
          <a:bodyPr lIns="0" tIns="0" rIns="0" bIns="0" rtlCol="0" anchor="t">
            <a:spAutoFit/>
          </a:bodyPr>
          <a:lstStyle/>
          <a:p>
            <a:pPr algn="just">
              <a:lnSpc>
                <a:spcPts val="1783"/>
              </a:lnSpc>
            </a:pPr>
            <a:r>
              <a:rPr lang="en-US" sz="1200" spc="7" dirty="0">
                <a:solidFill>
                  <a:srgbClr val="464395"/>
                </a:solidFill>
                <a:latin typeface="IBM Plex Sans"/>
                <a:ea typeface="IBM Plex Sans"/>
                <a:cs typeface="IBM Plex Sans"/>
                <a:sym typeface="IBM Plex Sans"/>
              </a:rPr>
              <a:t>LANGUAGE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6" name="TextBox 38"/>
          <p:cNvSpPr txBox="1"/>
          <p:nvPr/>
        </p:nvSpPr>
        <p:spPr>
          <a:xfrm>
            <a:off x="3923062" y="1483624"/>
            <a:ext cx="951900" cy="212174"/>
          </a:xfrm>
          <a:prstGeom prst="rect">
            <a:avLst/>
          </a:prstGeom>
        </p:spPr>
        <p:txBody>
          <a:bodyPr lIns="0" tIns="0" rIns="0" bIns="0" rtlCol="0" anchor="t">
            <a:spAutoFit/>
          </a:bodyPr>
          <a:lstStyle/>
          <a:p>
            <a:pPr>
              <a:lnSpc>
                <a:spcPts val="1796"/>
              </a:lnSpc>
            </a:pPr>
            <a:r>
              <a:rPr lang="en-US" sz="1200" i="1" spc="7" dirty="0">
                <a:solidFill>
                  <a:srgbClr val="231F20"/>
                </a:solidFill>
                <a:latin typeface="IBM Plex Sans Italics"/>
                <a:ea typeface="IBM Plex Sans Italics"/>
                <a:cs typeface="IBM Plex Sans Italics"/>
                <a:sym typeface="IBM Plex Sans Italics"/>
              </a:rPr>
              <a:t>3-6 months experience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7" name="TextBox 36"/>
          <p:cNvSpPr txBox="1"/>
          <p:nvPr/>
        </p:nvSpPr>
        <p:spPr>
          <a:xfrm>
            <a:off x="2951845" y="6563801"/>
            <a:ext cx="1773936" cy="179536"/>
          </a:xfrm>
          <a:prstGeom prst="rect">
            <a:avLst/>
          </a:prstGeom>
        </p:spPr>
        <p:txBody>
          <a:bodyPr wrap="square" lIns="0" tIns="0" rIns="0" bIns="0" rtlCol="0" anchor="t">
            <a:spAutoFit/>
          </a:bodyPr>
          <a:lstStyle/>
          <a:p>
            <a:pPr algn="just">
              <a:lnSpc>
                <a:spcPts val="1439"/>
              </a:lnSpc>
            </a:pPr>
            <a:r>
              <a:rPr lang="en-US" sz="1200" i="1" spc="4" dirty="0">
                <a:solidFill>
                  <a:srgbClr val="231F20"/>
                </a:solidFill>
                <a:latin typeface="IBM Plex Sans Italics"/>
                <a:ea typeface="IBM Plex Sans Italics"/>
                <a:cs typeface="IBM Plex Sans Italics"/>
                <a:sym typeface="IBM Plex Sans Italics"/>
              </a:rPr>
              <a:t>Market analysis &amp; International Marketing
Case study and Digital Marketing practices
Purchasing &amp; Supplychain management
</a:t>
            </a:r>
          </a:p>
        </p:txBody>
      </p:sp>
      <p:sp>
        <p:nvSpPr>
          <p:cNvPr id="38" name="TextBox 37"/>
          <p:cNvSpPr txBox="1"/>
          <p:nvPr/>
        </p:nvSpPr>
        <p:spPr>
          <a:xfrm>
            <a:off x="2883389" y="5606948"/>
            <a:ext cx="1856994"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YOU CAN START FROM FRENCH BEGINNER</a:t>
            </a:r>
          </a:p>
        </p:txBody>
      </p:sp>
      <p:sp>
        <p:nvSpPr>
          <p:cNvPr id="39" name="TextBox 39"/>
          <p:cNvSpPr txBox="1"/>
          <p:nvPr/>
        </p:nvSpPr>
        <p:spPr>
          <a:xfrm>
            <a:off x="5196249" y="1527315"/>
            <a:ext cx="1306830" cy="179536"/>
          </a:xfrm>
          <a:prstGeom prst="rect">
            <a:avLst/>
          </a:prstGeom>
        </p:spPr>
        <p:txBody>
          <a:bodyPr lIns="0" tIns="0" rIns="0" bIns="0" rtlCol="0" anchor="t">
            <a:spAutoFit/>
          </a:bodyPr>
          <a:lstStyle/>
          <a:p>
            <a:pPr>
              <a:lnSpc>
                <a:spcPts val="1439"/>
              </a:lnSpc>
            </a:pPr>
            <a:r>
              <a:rPr lang="en-US" sz="1200" i="1" spc="4" dirty="0">
                <a:solidFill>
                  <a:srgbClr val="231F20"/>
                </a:solidFill>
                <a:latin typeface="IBM Plex Sans Italics"/>
                <a:ea typeface="IBM Plex Sans Italics"/>
                <a:cs typeface="IBM Plex Sans Italics"/>
                <a:sym typeface="IBM Plex Sans Italics"/>
              </a:rPr>
              <a:t>On file and interview</a:t>
            </a:r>
          </a:p>
        </p:txBody>
      </p:sp>
      <p:sp>
        <p:nvSpPr>
          <p:cNvPr id="40" name="TextBox 41"/>
          <p:cNvSpPr txBox="1"/>
          <p:nvPr/>
        </p:nvSpPr>
        <p:spPr>
          <a:xfrm>
            <a:off x="5127250" y="6542094"/>
            <a:ext cx="1456639" cy="179536"/>
          </a:xfrm>
          <a:prstGeom prst="rect">
            <a:avLst/>
          </a:prstGeom>
        </p:spPr>
        <p:txBody>
          <a:bodyPr lIns="0" tIns="0" rIns="0" bIns="0" rtlCol="0" anchor="t">
            <a:spAutoFit/>
          </a:bodyPr>
          <a:lstStyle/>
          <a:p>
            <a:pPr algn="l">
              <a:lnSpc>
                <a:spcPts val="1439"/>
              </a:lnSpc>
            </a:pPr>
            <a:r>
              <a:rPr lang="en-US" sz="1200" i="1" spc="4" dirty="0">
                <a:solidFill>
                  <a:srgbClr val="231F20"/>
                </a:solidFill>
                <a:latin typeface="IBM Plex Sans Italics"/>
                <a:ea typeface="IBM Plex Sans Italics"/>
                <a:cs typeface="IBM Plex Sans Italics"/>
                <a:sym typeface="IBM Plex Sans Italics"/>
              </a:rPr>
              <a:t>Corporate Finance &amp; Management
Business Model, Plan &amp; Development
Professional Networking and job hunting
</a:t>
            </a:r>
          </a:p>
        </p:txBody>
      </p:sp>
      <p:sp>
        <p:nvSpPr>
          <p:cNvPr id="41" name="TextBox 40"/>
          <p:cNvSpPr txBox="1"/>
          <p:nvPr/>
        </p:nvSpPr>
        <p:spPr>
          <a:xfrm>
            <a:off x="5130670" y="5606948"/>
            <a:ext cx="1641348"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DOUBLE DEGREE INCLUDING ONE RNCP</a:t>
            </a:r>
          </a:p>
        </p:txBody>
      </p:sp>
      <p:sp>
        <p:nvSpPr>
          <p:cNvPr id="42" name="TextBox 42"/>
          <p:cNvSpPr txBox="1"/>
          <p:nvPr/>
        </p:nvSpPr>
        <p:spPr>
          <a:xfrm>
            <a:off x="611800" y="2786767"/>
            <a:ext cx="6092133" cy="179536"/>
          </a:xfrm>
          <a:prstGeom prst="rect">
            <a:avLst/>
          </a:prstGeom>
        </p:spPr>
        <p:txBody>
          <a:bodyPr lIns="0" tIns="0" rIns="0" bIns="0" rtlCol="0" anchor="t">
            <a:spAutoFit/>
          </a:bodyPr>
          <a:lstStyle/>
          <a:p>
            <a:pPr algn="just">
              <a:lnSpc>
                <a:spcPts val="1439"/>
              </a:lnSpc>
            </a:pPr>
            <a:r>
              <a:rPr lang="en-US" sz="1200" spc="7" dirty="0">
                <a:solidFill>
                  <a:srgbClr val="FFFFFF"/>
                </a:solidFill>
                <a:latin typeface="IBM Plex Sans"/>
                <a:ea typeface="IBM Plex Sans"/>
                <a:cs typeface="IBM Plex Sans"/>
                <a:sym typeface="IBM Plex Sans"/>
              </a:rPr>
              <a:t>The Supply Chain and International Management (SCIM) allows you to acquire skills in management of international operations.
This course aims to train technical managers capable of evolving in International Trade companies. Initial knowledge in International Trade / Logistics / Purchasing is necessary to be able to follow this training.</a:t>
            </a:r>
          </a:p>
        </p:txBody>
      </p:sp>
      <p:sp>
        <p:nvSpPr>
          <p:cNvPr id="43" name="TextBox 43"/>
          <p:cNvSpPr txBox="1"/>
          <p:nvPr/>
        </p:nvSpPr>
        <p:spPr>
          <a:xfrm>
            <a:off x="6278525" y="429625"/>
            <a:ext cx="525475" cy="397269"/>
          </a:xfrm>
          <a:prstGeom prst="rect">
            <a:avLst/>
          </a:prstGeom>
        </p:spPr>
        <p:txBody>
          <a:bodyPr lIns="0" tIns="0" rIns="0" bIns="0" rtlCol="0" anchor="t">
            <a:spAutoFit/>
          </a:bodyPr>
          <a:lstStyle/>
          <a:p>
            <a:pPr algn="ctr">
              <a:lnSpc>
                <a:spcPts val="1660"/>
              </a:lnSpc>
            </a:pPr>
            <a:r>
              <a:rPr lang="en-US" sz="1399" b="1" spc="8" dirty="0">
                <a:solidFill>
                  <a:srgbClr val="FFFFFF"/>
                </a:solidFill>
                <a:latin typeface="IBM Plex Sans Bold"/>
                <a:ea typeface="IBM Plex Sans Bold"/>
                <a:cs typeface="IBM Plex Sans Bold"/>
                <a:sym typeface="IBM Plex Sans Bold"/>
              </a:rPr>
              <a:t>2 </a:t>
            </a:r>
          </a:p>
          <a:p>
            <a:pPr algn="l">
              <a:lnSpc>
                <a:spcPts val="1423"/>
              </a:lnSpc>
            </a:pPr>
            <a:r>
              <a:rPr lang="en-US" sz="1200" b="1" spc="7" dirty="0">
                <a:solidFill>
                  <a:srgbClr val="FFFFFF"/>
                </a:solidFill>
                <a:latin typeface="IBM Plex Sans Bold"/>
                <a:ea typeface="IBM Plex Sans Bold"/>
                <a:cs typeface="IBM Plex Sans Bold"/>
                <a:sym typeface="IBM Plex Sans Bold"/>
              </a:rPr>
              <a:t>YEARS</a:t>
            </a:r>
          </a:p>
        </p:txBody>
      </p:sp>
      <p:sp>
        <p:nvSpPr>
          <p:cNvPr id="44" name="TextBox 44"/>
          <p:cNvSpPr txBox="1"/>
          <p:nvPr/>
        </p:nvSpPr>
        <p:spPr>
          <a:xfrm>
            <a:off x="2560053" y="10301611"/>
            <a:ext cx="2515629" cy="151428"/>
          </a:xfrm>
          <a:prstGeom prst="rect">
            <a:avLst/>
          </a:prstGeom>
        </p:spPr>
        <p:txBody>
          <a:bodyPr lIns="0" tIns="0" rIns="0" bIns="0" rtlCol="0" anchor="t">
            <a:spAutoFit/>
          </a:bodyPr>
          <a:lstStyle/>
          <a:p>
            <a:pPr algn="l">
              <a:lnSpc>
                <a:spcPts val="1260"/>
              </a:lnSpc>
            </a:pPr>
            <a:r>
              <a:rPr lang="en-US" sz="900" i="1" spc="25" dirty="0" err="1">
                <a:solidFill>
                  <a:srgbClr val="939496"/>
                </a:solidFill>
                <a:latin typeface="IBM Plex Sans Italics"/>
                <a:ea typeface="IBM Plex Sans Italics"/>
                <a:cs typeface="IBM Plex Sans Italics"/>
                <a:sym typeface="IBM Plex Sans Italics"/>
              </a:rPr>
              <a:t>Etablissement</a:t>
            </a:r>
            <a:r>
              <a:rPr lang="en-US" sz="900" i="1" spc="25" dirty="0">
                <a:solidFill>
                  <a:srgbClr val="939496"/>
                </a:solidFill>
                <a:latin typeface="IBM Plex Sans Italics"/>
                <a:ea typeface="IBM Plex Sans Italics"/>
                <a:cs typeface="IBM Plex Sans Italics"/>
                <a:sym typeface="IBM Plex Sans Italics"/>
              </a:rPr>
              <a:t> </a:t>
            </a:r>
            <a:r>
              <a:rPr lang="en-US" sz="900" i="1" spc="25" dirty="0" err="1">
                <a:solidFill>
                  <a:srgbClr val="939496"/>
                </a:solidFill>
                <a:latin typeface="IBM Plex Sans Italics"/>
                <a:ea typeface="IBM Plex Sans Italics"/>
                <a:cs typeface="IBM Plex Sans Italics"/>
                <a:sym typeface="IBM Plex Sans Italics"/>
              </a:rPr>
              <a:t>d’enseignement</a:t>
            </a:r>
            <a:r>
              <a:rPr lang="en-US" sz="900" i="1" spc="25" dirty="0">
                <a:solidFill>
                  <a:srgbClr val="939496"/>
                </a:solidFill>
                <a:latin typeface="IBM Plex Sans Italics"/>
                <a:ea typeface="IBM Plex Sans Italics"/>
                <a:cs typeface="IBM Plex Sans Italics"/>
                <a:sym typeface="IBM Plex Sans Italics"/>
              </a:rPr>
              <a:t> supérieur </a:t>
            </a:r>
            <a:r>
              <a:rPr lang="en-US" sz="900" i="1" spc="25" dirty="0" err="1">
                <a:solidFill>
                  <a:srgbClr val="939496"/>
                </a:solidFill>
                <a:latin typeface="IBM Plex Sans Italics"/>
                <a:ea typeface="IBM Plex Sans Italics"/>
                <a:cs typeface="IBM Plex Sans Italics"/>
                <a:sym typeface="IBM Plex Sans Italics"/>
              </a:rPr>
              <a:t>privé</a:t>
            </a:r>
            <a:endParaRPr lang="en-US" sz="900" i="1" spc="25" dirty="0">
              <a:solidFill>
                <a:srgbClr val="939496"/>
              </a:solidFill>
              <a:latin typeface="IBM Plex Sans Italics"/>
              <a:ea typeface="IBM Plex Sans Italics"/>
              <a:cs typeface="IBM Plex Sans Italics"/>
              <a:sym typeface="IBM Plex Sans Italics"/>
            </a:endParaRPr>
          </a:p>
        </p:txBody>
      </p:sp>
      <p:sp>
        <p:nvSpPr>
          <p:cNvPr id="45" name="TextBox 46"/>
          <p:cNvSpPr txBox="1"/>
          <p:nvPr/>
        </p:nvSpPr>
        <p:spPr>
          <a:xfrm>
            <a:off x="626278" y="6127490"/>
            <a:ext cx="3837772"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TEACHING UNITS</a:t>
            </a:r>
          </a:p>
        </p:txBody>
      </p:sp>
      <p:sp>
        <p:nvSpPr>
          <p:cNvPr id="46" name="TextBox 45"/>
          <p:cNvSpPr txBox="1"/>
          <p:nvPr/>
        </p:nvSpPr>
        <p:spPr>
          <a:xfrm>
            <a:off x="618277" y="8095164"/>
            <a:ext cx="3464773" cy="299056"/>
          </a:xfrm>
          <a:prstGeom prst="rect">
            <a:avLst/>
          </a:prstGeom>
        </p:spPr>
        <p:txBody>
          <a:bodyPr wrap="square" lIns="0" tIns="0" rIns="0" bIns="0" rtlCol="0" anchor="t">
            <a:spAutoFit/>
          </a:bodyPr>
          <a:lstStyle/>
          <a:p>
            <a:pPr algn="l">
              <a:lnSpc>
                <a:spcPts val="2520"/>
              </a:lnSpc>
            </a:pPr>
            <a:r>
              <a:rPr lang="en-US" sz="1800" b="1" i="1">
                <a:solidFill>
                  <a:srgbClr val="EA8C39"/>
                </a:solidFill>
                <a:latin typeface="IBM Plex Sans Bold Italics"/>
                <a:ea typeface="IBM Plex Sans Bold Italics"/>
                <a:cs typeface="IBM Plex Sans Bold Italics"/>
                <a:sym typeface="IBM Plex Sans Bold Italics"/>
              </a:rPr>
              <a:t>OCCUPATIONS</a:t>
            </a:r>
          </a:p>
        </p:txBody>
      </p:sp>
      <p:sp>
        <p:nvSpPr>
          <p:cNvPr id="47" name="TextBox 47"/>
          <p:cNvSpPr txBox="1"/>
          <p:nvPr/>
        </p:nvSpPr>
        <p:spPr>
          <a:xfrm>
            <a:off x="600894" y="4421000"/>
            <a:ext cx="386315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TOP3 - KEY POINTS</a:t>
            </a:r>
          </a:p>
        </p:txBody>
      </p:sp>
      <p:sp>
        <p:nvSpPr>
          <p:cNvPr id="48" name="TextBox 48"/>
          <p:cNvSpPr txBox="1"/>
          <p:nvPr/>
        </p:nvSpPr>
        <p:spPr>
          <a:xfrm>
            <a:off x="1127645" y="915400"/>
            <a:ext cx="5150879" cy="299056"/>
          </a:xfrm>
          <a:prstGeom prst="rect">
            <a:avLst/>
          </a:prstGeom>
        </p:spPr>
        <p:txBody>
          <a:bodyPr wrap="square" lIns="0" tIns="0" rIns="0" bIns="0" rtlCol="0" anchor="t">
            <a:spAutoFit/>
          </a:bodyPr>
          <a:lstStyle/>
          <a:p>
            <a:pPr algn="l">
              <a:lnSpc>
                <a:spcPts val="2520"/>
              </a:lnSpc>
            </a:pPr>
            <a:r>
              <a:rPr lang="en-US" sz="1800" b="1" spc="7" dirty="0">
                <a:solidFill>
                  <a:srgbClr val="1A1447"/>
                </a:solidFill>
                <a:latin typeface="IBM Plex Sans Bold"/>
                <a:ea typeface="IBM Plex Sans Bold"/>
                <a:cs typeface="IBM Plex Sans Bold"/>
                <a:sym typeface="IBM Plex Sans Bold"/>
              </a:rPr>
              <a:t>SUPPLY CHAIN AND INTL MANAGEMENT</a:t>
            </a:r>
          </a:p>
        </p:txBody>
      </p:sp>
      <p:sp>
        <p:nvSpPr>
          <p:cNvPr id="49" name="TextBox 49"/>
          <p:cNvSpPr txBox="1"/>
          <p:nvPr/>
        </p:nvSpPr>
        <p:spPr>
          <a:xfrm>
            <a:off x="5150644" y="1289818"/>
            <a:ext cx="783022" cy="192491"/>
          </a:xfrm>
          <a:prstGeom prst="rect">
            <a:avLst/>
          </a:prstGeom>
        </p:spPr>
        <p:txBody>
          <a:bodyPr lIns="0" tIns="0" rIns="0" bIns="0" rtlCol="0" anchor="t">
            <a:spAutoFit/>
          </a:bodyPr>
          <a:lstStyle/>
          <a:p>
            <a:pPr algn="l">
              <a:lnSpc>
                <a:spcPts val="1539"/>
              </a:lnSpc>
            </a:pPr>
            <a:r>
              <a:rPr lang="en-US" sz="1100" spc="6" dirty="0">
                <a:solidFill>
                  <a:srgbClr val="464395"/>
                </a:solidFill>
                <a:latin typeface="IBM Plex Sans"/>
                <a:ea typeface="IBM Plex Sans"/>
                <a:cs typeface="IBM Plex Sans"/>
                <a:sym typeface="IBM Plex Sans"/>
              </a:rPr>
              <a:t>ADMISSION</a:t>
            </a:r>
          </a:p>
        </p:txBody>
      </p:sp>
      <p:sp>
        <p:nvSpPr>
          <p:cNvPr id="50" name="TextBox 50"/>
          <p:cNvSpPr txBox="1"/>
          <p:nvPr/>
        </p:nvSpPr>
        <p:spPr>
          <a:xfrm>
            <a:off x="1107748" y="411985"/>
            <a:ext cx="1496263" cy="405699"/>
          </a:xfrm>
          <a:prstGeom prst="rect">
            <a:avLst/>
          </a:prstGeom>
        </p:spPr>
        <p:txBody>
          <a:bodyPr lIns="0" tIns="0" rIns="0" bIns="0" rtlCol="0" anchor="t">
            <a:spAutoFit/>
          </a:bodyPr>
          <a:lstStyle/>
          <a:p>
            <a:pPr algn="l">
              <a:lnSpc>
                <a:spcPts val="3359"/>
              </a:lnSpc>
            </a:pPr>
            <a:r>
              <a:rPr lang="en-US" sz="2400" b="1" spc="14" dirty="0">
                <a:solidFill>
                  <a:srgbClr val="231F20"/>
                </a:solidFill>
                <a:latin typeface="IBM Plex Sans Bold"/>
                <a:ea typeface="IBM Plex Sans Bold"/>
                <a:cs typeface="IBM Plex Sans Bold"/>
                <a:sym typeface="IBM Plex Sans Bold"/>
              </a:rPr>
              <a:t>MASTERE</a:t>
            </a:r>
          </a:p>
        </p:txBody>
      </p:sp>
      <p:sp>
        <p:nvSpPr>
          <p:cNvPr id="52" name="TextBox 51">
            <a:extLst>
              <a:ext uri="{FF2B5EF4-FFF2-40B4-BE49-F238E27FC236}">
                <a16:creationId xmlns:a16="http://schemas.microsoft.com/office/drawing/2014/main" id="{08B6434F-E251-F3F4-A8EE-0DB40DADF62C}"/>
              </a:ext>
            </a:extLst>
          </p:cNvPr>
          <p:cNvSpPr txBox="1"/>
          <p:nvPr/>
        </p:nvSpPr>
        <p:spPr>
          <a:xfrm>
            <a:off x="1256030" y="1299715"/>
            <a:ext cx="1040102" cy="192938"/>
          </a:xfrm>
          <a:prstGeom prst="rect">
            <a:avLst/>
          </a:prstGeom>
        </p:spPr>
        <p:txBody>
          <a:bodyPr wrap="square" lIns="0" tIns="0" rIns="0" bIns="0" rtlCol="0" anchor="t">
            <a:spAutoFit/>
          </a:bodyPr>
          <a:lstStyle/>
          <a:p>
            <a:pPr algn="just">
              <a:lnSpc>
                <a:spcPts val="1614"/>
              </a:lnSpc>
            </a:pPr>
            <a:r>
              <a:rPr lang="en-US" sz="1200" spc="7" dirty="0">
                <a:solidFill>
                  <a:srgbClr val="464395"/>
                </a:solidFill>
                <a:latin typeface="IBM Plex Sans"/>
                <a:ea typeface="IBM Plex Sans"/>
                <a:cs typeface="IBM Plex Sans"/>
                <a:sym typeface="IBM Plex Sans"/>
              </a:rPr>
              <a:t>2 INTAKES</a:t>
            </a:r>
            <a:endParaRPr lang="en-US" sz="1200" i="1" spc="4" dirty="0">
              <a:solidFill>
                <a:srgbClr val="231F20"/>
              </a:solidFill>
              <a:latin typeface="IBM Plex Sans Italics"/>
              <a:ea typeface="IBM Plex Sans Italics"/>
              <a:cs typeface="IBM Plex Sans Italics"/>
              <a:sym typeface="IBM Plex Sans Italics"/>
            </a:endParaRPr>
          </a:p>
        </p:txBody>
      </p:sp>
      <p:sp>
        <p:nvSpPr>
          <p:cNvPr id="53" name="TextBox 31">
            <a:extLst>
              <a:ext uri="{FF2B5EF4-FFF2-40B4-BE49-F238E27FC236}">
                <a16:creationId xmlns:a16="http://schemas.microsoft.com/office/drawing/2014/main" id="{63339F6C-44AA-C06C-C876-B9C66129B42B}"/>
              </a:ext>
            </a:extLst>
          </p:cNvPr>
          <p:cNvSpPr txBox="1"/>
          <p:nvPr/>
        </p:nvSpPr>
        <p:spPr>
          <a:xfrm>
            <a:off x="1252559" y="1505911"/>
            <a:ext cx="812873" cy="192938"/>
          </a:xfrm>
          <a:prstGeom prst="rect">
            <a:avLst/>
          </a:prstGeom>
        </p:spPr>
        <p:txBody>
          <a:bodyPr lIns="0" tIns="0" rIns="0" bIns="0" rtlCol="0" anchor="t">
            <a:spAutoFit/>
          </a:bodyPr>
          <a:lstStyle/>
          <a:p>
            <a:pPr>
              <a:lnSpc>
                <a:spcPts val="1614"/>
              </a:lnSpc>
            </a:pPr>
            <a:r>
              <a:rPr lang="en-US" sz="1200" i="1" spc="7" dirty="0">
                <a:solidFill>
                  <a:srgbClr val="231F20"/>
                </a:solidFill>
                <a:latin typeface="IBM Plex Sans Italics"/>
                <a:ea typeface="IBM Plex Sans Italics"/>
                <a:cs typeface="IBM Plex Sans Italics"/>
                <a:sym typeface="IBM Plex Sans Italics"/>
              </a:rPr>
              <a:t>Fall Spring</a:t>
            </a:r>
            <a:endParaRPr lang="en-US" sz="1200" i="1" spc="4" dirty="0">
              <a:solidFill>
                <a:srgbClr val="231F20"/>
              </a:solidFill>
              <a:latin typeface="IBM Plex Sans Italics"/>
              <a:ea typeface="IBM Plex Sans Italics"/>
              <a:cs typeface="IBM Plex Sans Italics"/>
              <a:sym typeface="IBM Plex Sans Italics"/>
            </a:endParaRPr>
          </a:p>
        </p:txBody>
      </p:sp>
      <p:sp>
        <p:nvSpPr>
          <p:cNvPr id="55" name="TextBox 34">
            <a:extLst>
              <a:ext uri="{FF2B5EF4-FFF2-40B4-BE49-F238E27FC236}">
                <a16:creationId xmlns:a16="http://schemas.microsoft.com/office/drawing/2014/main" id="{7F360BAA-61BF-FE8B-0AC4-A991BC941086}"/>
              </a:ext>
            </a:extLst>
          </p:cNvPr>
          <p:cNvSpPr txBox="1"/>
          <p:nvPr/>
        </p:nvSpPr>
        <p:spPr>
          <a:xfrm>
            <a:off x="2467440" y="1508374"/>
            <a:ext cx="838811" cy="221792"/>
          </a:xfrm>
          <a:prstGeom prst="rect">
            <a:avLst/>
          </a:prstGeom>
        </p:spPr>
        <p:txBody>
          <a:bodyPr lIns="0" tIns="0" rIns="0" bIns="0" rtlCol="0" anchor="t">
            <a:spAutoFit/>
          </a:bodyPr>
          <a:lstStyle/>
          <a:p>
            <a:pPr>
              <a:lnSpc>
                <a:spcPts val="1908"/>
              </a:lnSpc>
            </a:pPr>
            <a:r>
              <a:rPr lang="en-US" sz="1200" i="1" spc="4" dirty="0" err="1">
                <a:solidFill>
                  <a:srgbClr val="231F20"/>
                </a:solidFill>
                <a:latin typeface="IBM Plex Sans Italics"/>
                <a:ea typeface="IBM Plex Sans Italics"/>
                <a:cs typeface="IBM Plex Sans Italics"/>
                <a:sym typeface="IBM Plex Sans Italics"/>
              </a:rPr>
              <a:t>English &amp; French</a:t>
            </a:r>
            <a:r>
              <a:rPr lang="en-US" sz="1200" i="1" spc="4" dirty="0">
                <a:solidFill>
                  <a:srgbClr val="231F20"/>
                </a:solidFill>
                <a:latin typeface="IBM Plex Sans Italics"/>
                <a:ea typeface="IBM Plex Sans Italics"/>
                <a:cs typeface="IBM Plex Sans Italics"/>
                <a:sym typeface="IBM Plex Sans Italics"/>
              </a:rPr>
              <a:t/>
            </a:r>
          </a:p>
        </p:txBody>
      </p:sp>
      <p:sp>
        <p:nvSpPr>
          <p:cNvPr id="56" name="TextBox 53">
            <a:extLst>
              <a:ext uri="{FF2B5EF4-FFF2-40B4-BE49-F238E27FC236}">
                <a16:creationId xmlns:a16="http://schemas.microsoft.com/office/drawing/2014/main" id="{C7B0528E-AFDC-2B75-9630-CDE5B04D540C}"/>
              </a:ext>
            </a:extLst>
          </p:cNvPr>
          <p:cNvSpPr txBox="1"/>
          <p:nvPr/>
        </p:nvSpPr>
        <p:spPr>
          <a:xfrm>
            <a:off x="3909566" y="1257967"/>
            <a:ext cx="1091866" cy="212174"/>
          </a:xfrm>
          <a:prstGeom prst="rect">
            <a:avLst/>
          </a:prstGeom>
        </p:spPr>
        <p:txBody>
          <a:bodyPr lIns="0" tIns="0" rIns="0" bIns="0" rtlCol="0" anchor="t">
            <a:spAutoFit/>
          </a:bodyPr>
          <a:lstStyle/>
          <a:p>
            <a:pPr algn="just">
              <a:lnSpc>
                <a:spcPts val="1796"/>
              </a:lnSpc>
            </a:pPr>
            <a:r>
              <a:rPr lang="en-US" sz="1200" spc="4" dirty="0">
                <a:solidFill>
                  <a:srgbClr val="464395"/>
                </a:solidFill>
                <a:latin typeface="IBM Plex Sans"/>
                <a:ea typeface="IBM Plex Sans"/>
                <a:cs typeface="IBM Plex Sans"/>
                <a:sym typeface="IBM Plex Sans"/>
              </a:rPr>
              <a:t>INTERNSHIP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p:cNvGrpSpPr>
            <a:grpSpLocks noChangeAspect="1"/>
          </p:cNvGrpSpPr>
          <p:nvPr/>
        </p:nvGrpSpPr>
        <p:grpSpPr>
          <a:xfrm>
            <a:off x="1202512" y="4924130"/>
            <a:ext cx="762505" cy="679580"/>
            <a:chOff x="0" y="0"/>
            <a:chExt cx="762495" cy="679577"/>
          </a:xfrm>
        </p:grpSpPr>
        <p:sp>
          <p:nvSpPr>
            <p:cNvPr id="3" name="Freeform 3"/>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7112"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p:cNvSpPr/>
            <p:nvPr/>
          </p:nvSpPr>
          <p:spPr>
            <a:xfrm>
              <a:off x="260477" y="267970"/>
              <a:ext cx="120269" cy="140081"/>
            </a:xfrm>
            <a:custGeom>
              <a:avLst/>
              <a:gdLst/>
              <a:ahLst/>
              <a:cxnLst/>
              <a:rect l="l" t="t" r="r" b="b"/>
              <a:pathLst>
                <a:path w="120269"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071" y="0"/>
                  </a:cubicBezTo>
                  <a:lnTo>
                    <a:pt x="76581" y="1778"/>
                  </a:lnTo>
                  <a:cubicBezTo>
                    <a:pt x="91313" y="8890"/>
                    <a:pt x="97663" y="13716"/>
                    <a:pt x="103124" y="19939"/>
                  </a:cubicBezTo>
                  <a:lnTo>
                    <a:pt x="115697" y="42037"/>
                  </a:lnTo>
                  <a:cubicBezTo>
                    <a:pt x="118745" y="50546"/>
                    <a:pt x="120269" y="59944"/>
                    <a:pt x="120269" y="70104"/>
                  </a:cubicBezTo>
                  <a:moveTo>
                    <a:pt x="88773" y="70104"/>
                  </a:moveTo>
                  <a:lnTo>
                    <a:pt x="88011" y="58293"/>
                  </a:lnTo>
                  <a:cubicBezTo>
                    <a:pt x="85217" y="48006"/>
                    <a:pt x="83185" y="43561"/>
                    <a:pt x="80645" y="39878"/>
                  </a:cubicBezTo>
                  <a:lnTo>
                    <a:pt x="75057" y="33401"/>
                  </a:lnTo>
                  <a:lnTo>
                    <a:pt x="64262" y="28448"/>
                  </a:lnTo>
                  <a:cubicBezTo>
                    <a:pt x="55753" y="28448"/>
                    <a:pt x="51816" y="29464"/>
                    <a:pt x="48260" y="31496"/>
                  </a:cubicBezTo>
                  <a:lnTo>
                    <a:pt x="41783" y="36322"/>
                  </a:lnTo>
                  <a:cubicBezTo>
                    <a:pt x="36703" y="43688"/>
                    <a:pt x="34671" y="48133"/>
                    <a:pt x="33274" y="53340"/>
                  </a:cubicBezTo>
                  <a:lnTo>
                    <a:pt x="31115" y="64135"/>
                  </a:lnTo>
                  <a:cubicBezTo>
                    <a:pt x="31115" y="76454"/>
                    <a:pt x="31877" y="82042"/>
                    <a:pt x="33274" y="87122"/>
                  </a:cubicBezTo>
                  <a:lnTo>
                    <a:pt x="36703" y="96520"/>
                  </a:lnTo>
                  <a:cubicBezTo>
                    <a:pt x="41783" y="103886"/>
                    <a:pt x="44831" y="106807"/>
                    <a:pt x="48387" y="108712"/>
                  </a:cubicBezTo>
                  <a:lnTo>
                    <a:pt x="55753" y="111760"/>
                  </a:lnTo>
                  <a:lnTo>
                    <a:pt x="68199" y="110744"/>
                  </a:lnTo>
                  <a:cubicBezTo>
                    <a:pt x="75184" y="106680"/>
                    <a:pt x="78232" y="103886"/>
                    <a:pt x="80772" y="100203"/>
                  </a:cubicBezTo>
                  <a:lnTo>
                    <a:pt x="85344" y="92075"/>
                  </a:lnTo>
                  <a:cubicBezTo>
                    <a:pt x="88138" y="81915"/>
                    <a:pt x="88900" y="76327"/>
                    <a:pt x="88900" y="70104"/>
                  </a:cubicBezTo>
                </a:path>
              </a:pathLst>
            </a:custGeom>
            <a:solidFill>
              <a:srgbClr val="7DE314"/>
            </a:solidFill>
          </p:spPr>
          <p:txBody>
            <a:bodyPr/>
            <a:lstStyle/>
            <a:p>
              <a:endParaRPr lang="fr-FR"/>
            </a:p>
          </p:txBody>
        </p:sp>
        <p:sp>
          <p:nvSpPr>
            <p:cNvPr id="7" name="Freeform 7"/>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036" y="37719"/>
                    <a:pt x="31115" y="39751"/>
                  </a:cubicBezTo>
                  <a:lnTo>
                    <a:pt x="24765" y="43434"/>
                  </a:lnTo>
                  <a:lnTo>
                    <a:pt x="13970" y="48260"/>
                  </a:lnTo>
                  <a:cubicBezTo>
                    <a:pt x="6350" y="50419"/>
                    <a:pt x="3048"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p:cNvGrpSpPr>
            <a:grpSpLocks noChangeAspect="1"/>
          </p:cNvGrpSpPr>
          <p:nvPr/>
        </p:nvGrpSpPr>
        <p:grpSpPr>
          <a:xfrm>
            <a:off x="3461909" y="4916900"/>
            <a:ext cx="762505" cy="686800"/>
            <a:chOff x="0" y="0"/>
            <a:chExt cx="762495" cy="686803"/>
          </a:xfrm>
        </p:grpSpPr>
        <p:sp>
          <p:nvSpPr>
            <p:cNvPr id="9" name="Freeform 9"/>
            <p:cNvSpPr/>
            <p:nvPr/>
          </p:nvSpPr>
          <p:spPr>
            <a:xfrm>
              <a:off x="63500" y="63500"/>
              <a:ext cx="635508" cy="559816"/>
            </a:xfrm>
            <a:custGeom>
              <a:avLst/>
              <a:gdLst/>
              <a:ahLst/>
              <a:cxnLst/>
              <a:rect l="l" t="t" r="r" b="b"/>
              <a:pathLst>
                <a:path w="635508" h="559816">
                  <a:moveTo>
                    <a:pt x="631698" y="294132"/>
                  </a:moveTo>
                  <a:lnTo>
                    <a:pt x="487045" y="545592"/>
                  </a:lnTo>
                  <a:cubicBezTo>
                    <a:pt x="481965" y="554482"/>
                    <a:pt x="472567" y="559816"/>
                    <a:pt x="462407" y="559816"/>
                  </a:cubicBezTo>
                  <a:lnTo>
                    <a:pt x="173101" y="559816"/>
                  </a:lnTo>
                  <a:cubicBezTo>
                    <a:pt x="162941" y="559816"/>
                    <a:pt x="153543" y="554355"/>
                    <a:pt x="148463" y="545592"/>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p:cNvGrpSpPr>
            <a:grpSpLocks noChangeAspect="1"/>
          </p:cNvGrpSpPr>
          <p:nvPr/>
        </p:nvGrpSpPr>
        <p:grpSpPr>
          <a:xfrm>
            <a:off x="0" y="2584247"/>
            <a:ext cx="7559993" cy="1642539"/>
            <a:chOff x="0" y="0"/>
            <a:chExt cx="7559992" cy="1642542"/>
          </a:xfrm>
        </p:grpSpPr>
        <p:sp>
          <p:nvSpPr>
            <p:cNvPr id="15" name="Freeform 15"/>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16" name="Group 16"/>
          <p:cNvGrpSpPr>
            <a:grpSpLocks noChangeAspect="1"/>
          </p:cNvGrpSpPr>
          <p:nvPr/>
        </p:nvGrpSpPr>
        <p:grpSpPr>
          <a:xfrm>
            <a:off x="5475351" y="4909652"/>
            <a:ext cx="762505" cy="694058"/>
            <a:chOff x="0" y="0"/>
            <a:chExt cx="762495" cy="694055"/>
          </a:xfrm>
        </p:grpSpPr>
        <p:sp>
          <p:nvSpPr>
            <p:cNvPr id="17" name="Freeform 17"/>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8" name="Freeform 18"/>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9" name="Freeform 19"/>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20" name="Freeform 20"/>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21" name="Freeform 21"/>
            <p:cNvSpPr/>
            <p:nvPr/>
          </p:nvSpPr>
          <p:spPr>
            <a:xfrm>
              <a:off x="388493"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2" name="Group 22"/>
          <p:cNvGrpSpPr>
            <a:grpSpLocks noChangeAspect="1"/>
          </p:cNvGrpSpPr>
          <p:nvPr/>
        </p:nvGrpSpPr>
        <p:grpSpPr>
          <a:xfrm>
            <a:off x="454638" y="296494"/>
            <a:ext cx="6466446" cy="1976704"/>
            <a:chOff x="0" y="0"/>
            <a:chExt cx="6466446" cy="1976704"/>
          </a:xfrm>
        </p:grpSpPr>
        <p:sp>
          <p:nvSpPr>
            <p:cNvPr id="23" name="Freeform 23"/>
            <p:cNvSpPr/>
            <p:nvPr/>
          </p:nvSpPr>
          <p:spPr>
            <a:xfrm>
              <a:off x="1884299" y="123647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4" name="Freeform 24"/>
            <p:cNvSpPr/>
            <p:nvPr/>
          </p:nvSpPr>
          <p:spPr>
            <a:xfrm>
              <a:off x="3229102" y="122643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5" name="Freeform 25"/>
            <p:cNvSpPr/>
            <p:nvPr/>
          </p:nvSpPr>
          <p:spPr>
            <a:xfrm>
              <a:off x="4606036" y="1220978"/>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6" name="Freeform 26"/>
            <p:cNvSpPr/>
            <p:nvPr/>
          </p:nvSpPr>
          <p:spPr>
            <a:xfrm>
              <a:off x="63500" y="381000"/>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7" name="Freeform 27"/>
            <p:cNvSpPr/>
            <p:nvPr/>
          </p:nvSpPr>
          <p:spPr>
            <a:xfrm>
              <a:off x="559435" y="179451"/>
              <a:ext cx="1947672" cy="416433"/>
            </a:xfrm>
            <a:custGeom>
              <a:avLst/>
              <a:gdLst/>
              <a:ahLst/>
              <a:cxnLst/>
              <a:rect l="l" t="t" r="r" b="b"/>
              <a:pathLst>
                <a:path w="1947672" h="416433">
                  <a:moveTo>
                    <a:pt x="0" y="416433"/>
                  </a:moveTo>
                  <a:lnTo>
                    <a:pt x="1947672" y="416433"/>
                  </a:lnTo>
                  <a:lnTo>
                    <a:pt x="1947672" y="0"/>
                  </a:lnTo>
                  <a:lnTo>
                    <a:pt x="0" y="0"/>
                  </a:lnTo>
                  <a:close/>
                </a:path>
              </a:pathLst>
            </a:custGeom>
            <a:solidFill>
              <a:srgbClr val="FFFFFF"/>
            </a:solidFill>
          </p:spPr>
          <p:txBody>
            <a:bodyPr/>
            <a:lstStyle/>
            <a:p>
              <a:endParaRPr lang="fr-FR"/>
            </a:p>
          </p:txBody>
        </p:sp>
        <p:sp>
          <p:nvSpPr>
            <p:cNvPr id="28" name="Freeform 28"/>
            <p:cNvSpPr/>
            <p:nvPr/>
          </p:nvSpPr>
          <p:spPr>
            <a:xfrm>
              <a:off x="5722620" y="63500"/>
              <a:ext cx="680339" cy="646176"/>
            </a:xfrm>
            <a:custGeom>
              <a:avLst/>
              <a:gdLst/>
              <a:ahLst/>
              <a:cxnLst/>
              <a:rect l="l" t="t" r="r" b="b"/>
              <a:pathLst>
                <a:path w="680339" h="646176">
                  <a:moveTo>
                    <a:pt x="340233" y="646049"/>
                  </a:moveTo>
                  <a:cubicBezTo>
                    <a:pt x="528066" y="646049"/>
                    <a:pt x="680339" y="501396"/>
                    <a:pt x="680339" y="322961"/>
                  </a:cubicBezTo>
                  <a:cubicBezTo>
                    <a:pt x="680339" y="144526"/>
                    <a:pt x="528066" y="0"/>
                    <a:pt x="340233" y="0"/>
                  </a:cubicBezTo>
                  <a:cubicBezTo>
                    <a:pt x="152400"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9" name="Freeform 29"/>
            <p:cNvSpPr/>
            <p:nvPr/>
          </p:nvSpPr>
          <p:spPr>
            <a:xfrm>
              <a:off x="566674" y="123647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grpSp>
      <p:sp>
        <p:nvSpPr>
          <p:cNvPr id="30" name="TextBox 99"/>
          <p:cNvSpPr txBox="1"/>
          <p:nvPr/>
        </p:nvSpPr>
        <p:spPr>
          <a:xfrm>
            <a:off x="6672167" y="9979838"/>
            <a:ext cx="248917" cy="240665"/>
          </a:xfrm>
          <a:prstGeom prst="rect">
            <a:avLst/>
          </a:prstGeom>
        </p:spPr>
        <p:txBody>
          <a:bodyPr lIns="0" tIns="0" rIns="0" bIns="0" rtlCol="0" anchor="t">
            <a:spAutoFit/>
          </a:bodyPr>
          <a:lstStyle/>
          <a:p>
            <a:pPr algn="l">
              <a:lnSpc>
                <a:spcPts val="1959"/>
              </a:lnSpc>
            </a:pPr>
            <a:r>
              <a:rPr lang="en-US" sz="1399" b="1" spc="8" dirty="0">
                <a:solidFill>
                  <a:srgbClr val="231F20"/>
                </a:solidFill>
                <a:latin typeface="IBM Plex Sans Bold"/>
                <a:ea typeface="IBM Plex Sans Bold"/>
                <a:cs typeface="IBM Plex Sans Bold"/>
                <a:sym typeface="IBM Plex Sans Bold"/>
              </a:rPr>
              <a:t>24</a:t>
            </a:r>
          </a:p>
        </p:txBody>
      </p:sp>
      <p:sp>
        <p:nvSpPr>
          <p:cNvPr id="32" name="TextBox 32"/>
          <p:cNvSpPr txBox="1"/>
          <p:nvPr/>
        </p:nvSpPr>
        <p:spPr>
          <a:xfrm>
            <a:off x="643661" y="6581470"/>
            <a:ext cx="1773936" cy="179536"/>
          </a:xfrm>
          <a:prstGeom prst="rect">
            <a:avLst/>
          </a:prstGeom>
        </p:spPr>
        <p:txBody>
          <a:bodyPr wrap="square" lIns="0" tIns="0" rIns="0" bIns="0" rtlCol="0" anchor="t">
            <a:spAutoFit/>
          </a:bodyPr>
          <a:lstStyle/>
          <a:p>
            <a:pPr algn="l">
              <a:lnSpc>
                <a:spcPts val="1439"/>
              </a:lnSpc>
            </a:pPr>
            <a:r>
              <a:rPr lang="en-US" sz="1200" i="1" spc="4" dirty="0">
                <a:solidFill>
                  <a:srgbClr val="231F20"/>
                </a:solidFill>
                <a:latin typeface="IBM Plex Sans Italics"/>
                <a:ea typeface="IBM Plex Sans Italics"/>
                <a:cs typeface="IBM Plex Sans Italics"/>
                <a:sym typeface="IBM Plex Sans Italics"/>
              </a:rPr>
              <a:t>Analyse et Marketing International 
Culture et relations internationales
Gestion et pilotage de performance</a:t>
            </a:r>
          </a:p>
        </p:txBody>
      </p:sp>
      <p:sp>
        <p:nvSpPr>
          <p:cNvPr id="33" name="TextBox 33"/>
          <p:cNvSpPr txBox="1"/>
          <p:nvPr/>
        </p:nvSpPr>
        <p:spPr>
          <a:xfrm>
            <a:off x="798281" y="5606948"/>
            <a:ext cx="1856994" cy="179536"/>
          </a:xfrm>
          <a:prstGeom prst="rect">
            <a:avLst/>
          </a:prstGeom>
        </p:spPr>
        <p:txBody>
          <a:bodyPr wrap="square"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TENTER LE PRIX MOOVJEE ET SOYEZ FINANCE</a:t>
            </a:r>
          </a:p>
        </p:txBody>
      </p:sp>
      <p:sp>
        <p:nvSpPr>
          <p:cNvPr id="34" name="TextBox 35"/>
          <p:cNvSpPr txBox="1"/>
          <p:nvPr/>
        </p:nvSpPr>
        <p:spPr>
          <a:xfrm>
            <a:off x="618277" y="8558289"/>
            <a:ext cx="3238353" cy="179536"/>
          </a:xfrm>
          <a:prstGeom prst="rect">
            <a:avLst/>
          </a:prstGeom>
        </p:spPr>
        <p:txBody>
          <a:bodyPr wrap="square" lIns="0" tIns="0" rIns="0" bIns="0" rtlCol="0" anchor="t">
            <a:spAutoFit/>
          </a:bodyPr>
          <a:lstStyle/>
          <a:p>
            <a:pPr algn="l">
              <a:lnSpc>
                <a:spcPts val="1439"/>
              </a:lnSpc>
            </a:pPr>
            <a:r>
              <a:rPr lang="en-US" sz="1200" i="1" spc="4" dirty="0" err="1">
                <a:solidFill>
                  <a:srgbClr val="1A1447"/>
                </a:solidFill>
                <a:latin typeface="IBM Plex Sans Italics"/>
                <a:ea typeface="IBM Plex Sans Italics"/>
                <a:cs typeface="IBM Plex Sans Italics"/>
                <a:sym typeface="IBM Plex Sans Italics"/>
              </a:rPr>
              <a:t>• Développeur d’Affaires Internationales
• Responsable Produits
• Chargé d’affaires
• Responsable Marketing
• Manager de grands comptes
• Consultant d’affaires</a:t>
            </a:r>
            <a:endParaRPr lang="en-US" sz="1200" i="1" spc="4" dirty="0">
              <a:solidFill>
                <a:srgbClr val="1A1447"/>
              </a:solidFill>
              <a:latin typeface="IBM Plex Sans Italics"/>
              <a:ea typeface="IBM Plex Sans Italics"/>
              <a:cs typeface="IBM Plex Sans Italics"/>
              <a:sym typeface="IBM Plex Sans Italics"/>
            </a:endParaRPr>
          </a:p>
        </p:txBody>
      </p:sp>
      <p:sp>
        <p:nvSpPr>
          <p:cNvPr id="35" name="TextBox 52"/>
          <p:cNvSpPr txBox="1"/>
          <p:nvPr/>
        </p:nvSpPr>
        <p:spPr>
          <a:xfrm>
            <a:off x="2445344" y="1281655"/>
            <a:ext cx="838810" cy="212174"/>
          </a:xfrm>
          <a:prstGeom prst="rect">
            <a:avLst/>
          </a:prstGeom>
        </p:spPr>
        <p:txBody>
          <a:bodyPr lIns="0" tIns="0" rIns="0" bIns="0" rtlCol="0" anchor="t">
            <a:spAutoFit/>
          </a:bodyPr>
          <a:lstStyle/>
          <a:p>
            <a:pPr algn="just">
              <a:lnSpc>
                <a:spcPts val="1783"/>
              </a:lnSpc>
            </a:pPr>
            <a:r>
              <a:rPr lang="en-US" sz="1200" spc="7" dirty="0">
                <a:solidFill>
                  <a:srgbClr val="464395"/>
                </a:solidFill>
                <a:latin typeface="IBM Plex Sans"/>
                <a:ea typeface="IBM Plex Sans"/>
                <a:cs typeface="IBM Plex Sans"/>
                <a:sym typeface="IBM Plex Sans"/>
              </a:rPr>
              <a:t>LANGUE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6" name="TextBox 38"/>
          <p:cNvSpPr txBox="1"/>
          <p:nvPr/>
        </p:nvSpPr>
        <p:spPr>
          <a:xfrm>
            <a:off x="3923062" y="1483624"/>
            <a:ext cx="951900" cy="212174"/>
          </a:xfrm>
          <a:prstGeom prst="rect">
            <a:avLst/>
          </a:prstGeom>
        </p:spPr>
        <p:txBody>
          <a:bodyPr lIns="0" tIns="0" rIns="0" bIns="0" rtlCol="0" anchor="t">
            <a:spAutoFit/>
          </a:bodyPr>
          <a:lstStyle/>
          <a:p>
            <a:pPr>
              <a:lnSpc>
                <a:spcPts val="1796"/>
              </a:lnSpc>
            </a:pPr>
            <a:r>
              <a:rPr lang="en-US" sz="1200" i="1" spc="7" dirty="0">
                <a:solidFill>
                  <a:srgbClr val="231F20"/>
                </a:solidFill>
                <a:latin typeface="IBM Plex Sans Italics"/>
                <a:ea typeface="IBM Plex Sans Italics"/>
                <a:cs typeface="IBM Plex Sans Italics"/>
                <a:sym typeface="IBM Plex Sans Italics"/>
              </a:rPr>
              <a:t>3-6 mois en entreprise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7" name="TextBox 36"/>
          <p:cNvSpPr txBox="1"/>
          <p:nvPr/>
        </p:nvSpPr>
        <p:spPr>
          <a:xfrm>
            <a:off x="2951845" y="6563801"/>
            <a:ext cx="1773936" cy="179536"/>
          </a:xfrm>
          <a:prstGeom prst="rect">
            <a:avLst/>
          </a:prstGeom>
        </p:spPr>
        <p:txBody>
          <a:bodyPr wrap="square" lIns="0" tIns="0" rIns="0" bIns="0" rtlCol="0" anchor="t">
            <a:spAutoFit/>
          </a:bodyPr>
          <a:lstStyle/>
          <a:p>
            <a:pPr algn="just">
              <a:lnSpc>
                <a:spcPts val="1439"/>
              </a:lnSpc>
            </a:pPr>
            <a:r>
              <a:rPr lang="en-US" sz="1200" i="1" spc="4" dirty="0">
                <a:solidFill>
                  <a:srgbClr val="231F20"/>
                </a:solidFill>
                <a:latin typeface="IBM Plex Sans Italics"/>
                <a:ea typeface="IBM Plex Sans Italics"/>
                <a:cs typeface="IBM Plex Sans Italics"/>
                <a:sym typeface="IBM Plex Sans Italics"/>
              </a:rPr>
              <a:t>Management, Structure d’entreprise et gestion 
Définir et piloter une stratégie commerciale
Anglais général et Anglais des affaires
</a:t>
            </a:r>
          </a:p>
        </p:txBody>
      </p:sp>
      <p:sp>
        <p:nvSpPr>
          <p:cNvPr id="38" name="TextBox 37"/>
          <p:cNvSpPr txBox="1"/>
          <p:nvPr/>
        </p:nvSpPr>
        <p:spPr>
          <a:xfrm>
            <a:off x="2883389" y="5606948"/>
            <a:ext cx="1856994"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POSSIBILITE D’UN SEMESTRE A L’ETRANGER</a:t>
            </a:r>
          </a:p>
        </p:txBody>
      </p:sp>
      <p:sp>
        <p:nvSpPr>
          <p:cNvPr id="39" name="TextBox 39"/>
          <p:cNvSpPr txBox="1"/>
          <p:nvPr/>
        </p:nvSpPr>
        <p:spPr>
          <a:xfrm>
            <a:off x="5196249" y="1527315"/>
            <a:ext cx="1306830" cy="179536"/>
          </a:xfrm>
          <a:prstGeom prst="rect">
            <a:avLst/>
          </a:prstGeom>
        </p:spPr>
        <p:txBody>
          <a:bodyPr lIns="0" tIns="0" rIns="0" bIns="0" rtlCol="0" anchor="t">
            <a:spAutoFit/>
          </a:bodyPr>
          <a:lstStyle/>
          <a:p>
            <a:pPr>
              <a:lnSpc>
                <a:spcPts val="1439"/>
              </a:lnSpc>
            </a:pPr>
            <a:r>
              <a:rPr lang="en-US" sz="1200" i="1" spc="4" dirty="0">
                <a:solidFill>
                  <a:srgbClr val="231F20"/>
                </a:solidFill>
                <a:latin typeface="IBM Plex Sans Italics"/>
                <a:ea typeface="IBM Plex Sans Italics"/>
                <a:cs typeface="IBM Plex Sans Italics"/>
                <a:sym typeface="IBM Plex Sans Italics"/>
              </a:rPr>
              <a:t>Sur dossier et entretien</a:t>
            </a:r>
          </a:p>
        </p:txBody>
      </p:sp>
      <p:sp>
        <p:nvSpPr>
          <p:cNvPr id="40" name="TextBox 41"/>
          <p:cNvSpPr txBox="1"/>
          <p:nvPr/>
        </p:nvSpPr>
        <p:spPr>
          <a:xfrm>
            <a:off x="5127250" y="6542094"/>
            <a:ext cx="1456639" cy="179536"/>
          </a:xfrm>
          <a:prstGeom prst="rect">
            <a:avLst/>
          </a:prstGeom>
        </p:spPr>
        <p:txBody>
          <a:bodyPr lIns="0" tIns="0" rIns="0" bIns="0" rtlCol="0" anchor="t">
            <a:spAutoFit/>
          </a:bodyPr>
          <a:lstStyle/>
          <a:p>
            <a:pPr algn="l">
              <a:lnSpc>
                <a:spcPts val="1439"/>
              </a:lnSpc>
            </a:pPr>
            <a:r>
              <a:rPr lang="en-US" sz="1200" i="1" spc="4" dirty="0">
                <a:solidFill>
                  <a:srgbClr val="231F20"/>
                </a:solidFill>
                <a:latin typeface="IBM Plex Sans Italics"/>
                <a:ea typeface="IBM Plex Sans Italics"/>
                <a:cs typeface="IBM Plex Sans Italics"/>
                <a:sym typeface="IBM Plex Sans Italics"/>
              </a:rPr>
              <a:t>Droit et applications dans les entreprises
Simulation business et gestion de projets
Ateliers et rencontres professionnelles
</a:t>
            </a:r>
          </a:p>
        </p:txBody>
      </p:sp>
      <p:sp>
        <p:nvSpPr>
          <p:cNvPr id="41" name="TextBox 40"/>
          <p:cNvSpPr txBox="1"/>
          <p:nvPr/>
        </p:nvSpPr>
        <p:spPr>
          <a:xfrm>
            <a:off x="5130670" y="5606948"/>
            <a:ext cx="1641348"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TITRE AVEC LABEL RNCP EN OPTION</a:t>
            </a:r>
          </a:p>
        </p:txBody>
      </p:sp>
      <p:sp>
        <p:nvSpPr>
          <p:cNvPr id="42" name="TextBox 42"/>
          <p:cNvSpPr txBox="1"/>
          <p:nvPr/>
        </p:nvSpPr>
        <p:spPr>
          <a:xfrm>
            <a:off x="611800" y="2786767"/>
            <a:ext cx="6092133" cy="179536"/>
          </a:xfrm>
          <a:prstGeom prst="rect">
            <a:avLst/>
          </a:prstGeom>
        </p:spPr>
        <p:txBody>
          <a:bodyPr lIns="0" tIns="0" rIns="0" bIns="0" rtlCol="0" anchor="t">
            <a:spAutoFit/>
          </a:bodyPr>
          <a:lstStyle/>
          <a:p>
            <a:pPr algn="just">
              <a:lnSpc>
                <a:spcPts val="1439"/>
              </a:lnSpc>
            </a:pPr>
            <a:r>
              <a:rPr lang="en-US" sz="1200" spc="7" dirty="0">
                <a:solidFill>
                  <a:srgbClr val="FFFFFF"/>
                </a:solidFill>
                <a:latin typeface="IBM Plex Sans"/>
                <a:ea typeface="IBM Plex Sans"/>
                <a:cs typeface="IBM Plex Sans"/>
                <a:sym typeface="IBM Plex Sans"/>
              </a:rPr>
              <a:t>Le Bac+5 Management et Affaires Internationales (MAI) permet d’acquérir des compétences de leadership dans un contexte de développement international. 
Le développeur d’affaires internationales dispose d’excellentes compétences relationnelles, culturelles, d’observations et de leadership. Il convient plus particulièrement aux personnes ayant une première expérience professionnelle et capables de développer un réseau.</a:t>
            </a:r>
          </a:p>
        </p:txBody>
      </p:sp>
      <p:sp>
        <p:nvSpPr>
          <p:cNvPr id="43" name="TextBox 43"/>
          <p:cNvSpPr txBox="1"/>
          <p:nvPr/>
        </p:nvSpPr>
        <p:spPr>
          <a:xfrm>
            <a:off x="6278525" y="429625"/>
            <a:ext cx="525475" cy="397269"/>
          </a:xfrm>
          <a:prstGeom prst="rect">
            <a:avLst/>
          </a:prstGeom>
        </p:spPr>
        <p:txBody>
          <a:bodyPr lIns="0" tIns="0" rIns="0" bIns="0" rtlCol="0" anchor="t">
            <a:spAutoFit/>
          </a:bodyPr>
          <a:lstStyle/>
          <a:p>
            <a:pPr algn="ctr">
              <a:lnSpc>
                <a:spcPts val="1660"/>
              </a:lnSpc>
            </a:pPr>
            <a:r>
              <a:rPr lang="en-US" sz="1399" b="1" spc="8" dirty="0">
                <a:solidFill>
                  <a:srgbClr val="FFFFFF"/>
                </a:solidFill>
                <a:latin typeface="IBM Plex Sans Bold"/>
                <a:ea typeface="IBM Plex Sans Bold"/>
                <a:cs typeface="IBM Plex Sans Bold"/>
                <a:sym typeface="IBM Plex Sans Bold"/>
              </a:rPr>
              <a:t>2 </a:t>
            </a:r>
          </a:p>
          <a:p>
            <a:pPr algn="l">
              <a:lnSpc>
                <a:spcPts val="1423"/>
              </a:lnSpc>
            </a:pPr>
            <a:r>
              <a:rPr lang="en-US" sz="1200" b="1" spc="7" dirty="0">
                <a:solidFill>
                  <a:srgbClr val="FFFFFF"/>
                </a:solidFill>
                <a:latin typeface="IBM Plex Sans Bold"/>
                <a:ea typeface="IBM Plex Sans Bold"/>
                <a:cs typeface="IBM Plex Sans Bold"/>
                <a:sym typeface="IBM Plex Sans Bold"/>
              </a:rPr>
              <a:t>YEARS</a:t>
            </a:r>
          </a:p>
        </p:txBody>
      </p:sp>
      <p:sp>
        <p:nvSpPr>
          <p:cNvPr id="44" name="TextBox 44"/>
          <p:cNvSpPr txBox="1"/>
          <p:nvPr/>
        </p:nvSpPr>
        <p:spPr>
          <a:xfrm>
            <a:off x="2560053" y="10301611"/>
            <a:ext cx="2515629" cy="151428"/>
          </a:xfrm>
          <a:prstGeom prst="rect">
            <a:avLst/>
          </a:prstGeom>
        </p:spPr>
        <p:txBody>
          <a:bodyPr lIns="0" tIns="0" rIns="0" bIns="0" rtlCol="0" anchor="t">
            <a:spAutoFit/>
          </a:bodyPr>
          <a:lstStyle/>
          <a:p>
            <a:pPr algn="l">
              <a:lnSpc>
                <a:spcPts val="1260"/>
              </a:lnSpc>
            </a:pPr>
            <a:r>
              <a:rPr lang="en-US" sz="900" i="1" spc="25" dirty="0" err="1">
                <a:solidFill>
                  <a:srgbClr val="939496"/>
                </a:solidFill>
                <a:latin typeface="IBM Plex Sans Italics"/>
                <a:ea typeface="IBM Plex Sans Italics"/>
                <a:cs typeface="IBM Plex Sans Italics"/>
                <a:sym typeface="IBM Plex Sans Italics"/>
              </a:rPr>
              <a:t>Etablissement</a:t>
            </a:r>
            <a:r>
              <a:rPr lang="en-US" sz="900" i="1" spc="25" dirty="0">
                <a:solidFill>
                  <a:srgbClr val="939496"/>
                </a:solidFill>
                <a:latin typeface="IBM Plex Sans Italics"/>
                <a:ea typeface="IBM Plex Sans Italics"/>
                <a:cs typeface="IBM Plex Sans Italics"/>
                <a:sym typeface="IBM Plex Sans Italics"/>
              </a:rPr>
              <a:t> </a:t>
            </a:r>
            <a:r>
              <a:rPr lang="en-US" sz="900" i="1" spc="25" dirty="0" err="1">
                <a:solidFill>
                  <a:srgbClr val="939496"/>
                </a:solidFill>
                <a:latin typeface="IBM Plex Sans Italics"/>
                <a:ea typeface="IBM Plex Sans Italics"/>
                <a:cs typeface="IBM Plex Sans Italics"/>
                <a:sym typeface="IBM Plex Sans Italics"/>
              </a:rPr>
              <a:t>d’enseignement</a:t>
            </a:r>
            <a:r>
              <a:rPr lang="en-US" sz="900" i="1" spc="25" dirty="0">
                <a:solidFill>
                  <a:srgbClr val="939496"/>
                </a:solidFill>
                <a:latin typeface="IBM Plex Sans Italics"/>
                <a:ea typeface="IBM Plex Sans Italics"/>
                <a:cs typeface="IBM Plex Sans Italics"/>
                <a:sym typeface="IBM Plex Sans Italics"/>
              </a:rPr>
              <a:t> supérieur </a:t>
            </a:r>
            <a:r>
              <a:rPr lang="en-US" sz="900" i="1" spc="25" dirty="0" err="1">
                <a:solidFill>
                  <a:srgbClr val="939496"/>
                </a:solidFill>
                <a:latin typeface="IBM Plex Sans Italics"/>
                <a:ea typeface="IBM Plex Sans Italics"/>
                <a:cs typeface="IBM Plex Sans Italics"/>
                <a:sym typeface="IBM Plex Sans Italics"/>
              </a:rPr>
              <a:t>privé</a:t>
            </a:r>
            <a:endParaRPr lang="en-US" sz="900" i="1" spc="25" dirty="0">
              <a:solidFill>
                <a:srgbClr val="939496"/>
              </a:solidFill>
              <a:latin typeface="IBM Plex Sans Italics"/>
              <a:ea typeface="IBM Plex Sans Italics"/>
              <a:cs typeface="IBM Plex Sans Italics"/>
              <a:sym typeface="IBM Plex Sans Italics"/>
            </a:endParaRPr>
          </a:p>
        </p:txBody>
      </p:sp>
      <p:sp>
        <p:nvSpPr>
          <p:cNvPr id="45" name="TextBox 46"/>
          <p:cNvSpPr txBox="1"/>
          <p:nvPr/>
        </p:nvSpPr>
        <p:spPr>
          <a:xfrm>
            <a:off x="626278" y="6127490"/>
            <a:ext cx="3837772"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ENSEIGNEMENTS</a:t>
            </a:r>
          </a:p>
        </p:txBody>
      </p:sp>
      <p:sp>
        <p:nvSpPr>
          <p:cNvPr id="46" name="TextBox 45"/>
          <p:cNvSpPr txBox="1"/>
          <p:nvPr/>
        </p:nvSpPr>
        <p:spPr>
          <a:xfrm>
            <a:off x="618277" y="8095164"/>
            <a:ext cx="3464773" cy="299056"/>
          </a:xfrm>
          <a:prstGeom prst="rect">
            <a:avLst/>
          </a:prstGeom>
        </p:spPr>
        <p:txBody>
          <a:bodyPr wrap="square" lIns="0" tIns="0" rIns="0" bIns="0" rtlCol="0" anchor="t">
            <a:spAutoFit/>
          </a:bodyPr>
          <a:lstStyle/>
          <a:p>
            <a:pPr algn="l">
              <a:lnSpc>
                <a:spcPts val="2520"/>
              </a:lnSpc>
            </a:pPr>
            <a:r>
              <a:rPr lang="en-US" sz="1800" b="1" i="1">
                <a:solidFill>
                  <a:srgbClr val="EA8C39"/>
                </a:solidFill>
                <a:latin typeface="IBM Plex Sans Bold Italics"/>
                <a:ea typeface="IBM Plex Sans Bold Italics"/>
                <a:cs typeface="IBM Plex Sans Bold Italics"/>
                <a:sym typeface="IBM Plex Sans Bold Italics"/>
              </a:rPr>
              <a:t>OPPORTUNITÉS MÉTIERS</a:t>
            </a:r>
          </a:p>
        </p:txBody>
      </p:sp>
      <p:sp>
        <p:nvSpPr>
          <p:cNvPr id="47" name="TextBox 47"/>
          <p:cNvSpPr txBox="1"/>
          <p:nvPr/>
        </p:nvSpPr>
        <p:spPr>
          <a:xfrm>
            <a:off x="600894" y="4421000"/>
            <a:ext cx="386315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TOP3 - POINTS FORTS</a:t>
            </a:r>
          </a:p>
        </p:txBody>
      </p:sp>
      <p:sp>
        <p:nvSpPr>
          <p:cNvPr id="48" name="TextBox 48"/>
          <p:cNvSpPr txBox="1"/>
          <p:nvPr/>
        </p:nvSpPr>
        <p:spPr>
          <a:xfrm>
            <a:off x="1127645" y="915400"/>
            <a:ext cx="5150879" cy="299056"/>
          </a:xfrm>
          <a:prstGeom prst="rect">
            <a:avLst/>
          </a:prstGeom>
        </p:spPr>
        <p:txBody>
          <a:bodyPr wrap="square" lIns="0" tIns="0" rIns="0" bIns="0" rtlCol="0" anchor="t">
            <a:spAutoFit/>
          </a:bodyPr>
          <a:lstStyle/>
          <a:p>
            <a:pPr algn="l">
              <a:lnSpc>
                <a:spcPts val="2520"/>
              </a:lnSpc>
            </a:pPr>
            <a:r>
              <a:rPr lang="en-US" sz="1800" b="1" spc="7" dirty="0">
                <a:solidFill>
                  <a:srgbClr val="1A1447"/>
                </a:solidFill>
                <a:latin typeface="IBM Plex Sans Bold"/>
                <a:ea typeface="IBM Plex Sans Bold"/>
                <a:cs typeface="IBM Plex Sans Bold"/>
                <a:sym typeface="IBM Plex Sans Bold"/>
              </a:rPr>
              <a:t>MANAGEMENT, AFFAIRES INTERNATIONALES</a:t>
            </a:r>
          </a:p>
        </p:txBody>
      </p:sp>
      <p:sp>
        <p:nvSpPr>
          <p:cNvPr id="49" name="TextBox 49"/>
          <p:cNvSpPr txBox="1"/>
          <p:nvPr/>
        </p:nvSpPr>
        <p:spPr>
          <a:xfrm>
            <a:off x="5150644" y="1289818"/>
            <a:ext cx="783022" cy="192491"/>
          </a:xfrm>
          <a:prstGeom prst="rect">
            <a:avLst/>
          </a:prstGeom>
        </p:spPr>
        <p:txBody>
          <a:bodyPr lIns="0" tIns="0" rIns="0" bIns="0" rtlCol="0" anchor="t">
            <a:spAutoFit/>
          </a:bodyPr>
          <a:lstStyle/>
          <a:p>
            <a:pPr algn="l">
              <a:lnSpc>
                <a:spcPts val="1539"/>
              </a:lnSpc>
            </a:pPr>
            <a:r>
              <a:rPr lang="en-US" sz="1100" spc="6" dirty="0">
                <a:solidFill>
                  <a:srgbClr val="464395"/>
                </a:solidFill>
                <a:latin typeface="IBM Plex Sans"/>
                <a:ea typeface="IBM Plex Sans"/>
                <a:cs typeface="IBM Plex Sans"/>
                <a:sym typeface="IBM Plex Sans"/>
              </a:rPr>
              <a:t>ADMISSION</a:t>
            </a:r>
          </a:p>
        </p:txBody>
      </p:sp>
      <p:sp>
        <p:nvSpPr>
          <p:cNvPr id="50" name="TextBox 50"/>
          <p:cNvSpPr txBox="1"/>
          <p:nvPr/>
        </p:nvSpPr>
        <p:spPr>
          <a:xfrm>
            <a:off x="1107748" y="411985"/>
            <a:ext cx="1496263" cy="405699"/>
          </a:xfrm>
          <a:prstGeom prst="rect">
            <a:avLst/>
          </a:prstGeom>
        </p:spPr>
        <p:txBody>
          <a:bodyPr lIns="0" tIns="0" rIns="0" bIns="0" rtlCol="0" anchor="t">
            <a:spAutoFit/>
          </a:bodyPr>
          <a:lstStyle/>
          <a:p>
            <a:pPr algn="l">
              <a:lnSpc>
                <a:spcPts val="3359"/>
              </a:lnSpc>
            </a:pPr>
            <a:r>
              <a:rPr lang="en-US" sz="2400" b="1" spc="14" dirty="0">
                <a:solidFill>
                  <a:srgbClr val="231F20"/>
                </a:solidFill>
                <a:latin typeface="IBM Plex Sans Bold"/>
                <a:ea typeface="IBM Plex Sans Bold"/>
                <a:cs typeface="IBM Plex Sans Bold"/>
                <a:sym typeface="IBM Plex Sans Bold"/>
              </a:rPr>
              <a:t>MASTERE</a:t>
            </a:r>
          </a:p>
        </p:txBody>
      </p:sp>
      <p:sp>
        <p:nvSpPr>
          <p:cNvPr id="52" name="TextBox 51">
            <a:extLst>
              <a:ext uri="{FF2B5EF4-FFF2-40B4-BE49-F238E27FC236}">
                <a16:creationId xmlns:a16="http://schemas.microsoft.com/office/drawing/2014/main" id="{08B6434F-E251-F3F4-A8EE-0DB40DADF62C}"/>
              </a:ext>
            </a:extLst>
          </p:cNvPr>
          <p:cNvSpPr txBox="1"/>
          <p:nvPr/>
        </p:nvSpPr>
        <p:spPr>
          <a:xfrm>
            <a:off x="1256030" y="1299715"/>
            <a:ext cx="1040102" cy="192938"/>
          </a:xfrm>
          <a:prstGeom prst="rect">
            <a:avLst/>
          </a:prstGeom>
        </p:spPr>
        <p:txBody>
          <a:bodyPr wrap="square" lIns="0" tIns="0" rIns="0" bIns="0" rtlCol="0" anchor="t">
            <a:spAutoFit/>
          </a:bodyPr>
          <a:lstStyle/>
          <a:p>
            <a:pPr algn="just">
              <a:lnSpc>
                <a:spcPts val="1614"/>
              </a:lnSpc>
            </a:pPr>
            <a:r>
              <a:rPr lang="en-US" sz="1200" spc="7" dirty="0">
                <a:solidFill>
                  <a:srgbClr val="464395"/>
                </a:solidFill>
                <a:latin typeface="IBM Plex Sans"/>
                <a:ea typeface="IBM Plex Sans"/>
                <a:cs typeface="IBM Plex Sans"/>
                <a:sym typeface="IBM Plex Sans"/>
              </a:rPr>
              <a:t>2 RENTRÉES</a:t>
            </a:r>
            <a:endParaRPr lang="en-US" sz="1200" i="1" spc="4" dirty="0">
              <a:solidFill>
                <a:srgbClr val="231F20"/>
              </a:solidFill>
              <a:latin typeface="IBM Plex Sans Italics"/>
              <a:ea typeface="IBM Plex Sans Italics"/>
              <a:cs typeface="IBM Plex Sans Italics"/>
              <a:sym typeface="IBM Plex Sans Italics"/>
            </a:endParaRPr>
          </a:p>
        </p:txBody>
      </p:sp>
      <p:sp>
        <p:nvSpPr>
          <p:cNvPr id="53" name="TextBox 31">
            <a:extLst>
              <a:ext uri="{FF2B5EF4-FFF2-40B4-BE49-F238E27FC236}">
                <a16:creationId xmlns:a16="http://schemas.microsoft.com/office/drawing/2014/main" id="{63339F6C-44AA-C06C-C876-B9C66129B42B}"/>
              </a:ext>
            </a:extLst>
          </p:cNvPr>
          <p:cNvSpPr txBox="1"/>
          <p:nvPr/>
        </p:nvSpPr>
        <p:spPr>
          <a:xfrm>
            <a:off x="1252559" y="1505911"/>
            <a:ext cx="812873" cy="192938"/>
          </a:xfrm>
          <a:prstGeom prst="rect">
            <a:avLst/>
          </a:prstGeom>
        </p:spPr>
        <p:txBody>
          <a:bodyPr lIns="0" tIns="0" rIns="0" bIns="0" rtlCol="0" anchor="t">
            <a:spAutoFit/>
          </a:bodyPr>
          <a:lstStyle/>
          <a:p>
            <a:pPr>
              <a:lnSpc>
                <a:spcPts val="1614"/>
              </a:lnSpc>
            </a:pPr>
            <a:r>
              <a:rPr lang="en-US" sz="1200" i="1" spc="7" dirty="0">
                <a:solidFill>
                  <a:srgbClr val="231F20"/>
                </a:solidFill>
                <a:latin typeface="IBM Plex Sans Italics"/>
                <a:ea typeface="IBM Plex Sans Italics"/>
                <a:cs typeface="IBM Plex Sans Italics"/>
                <a:sym typeface="IBM Plex Sans Italics"/>
              </a:rPr>
              <a:t>Automne Printemps</a:t>
            </a:r>
            <a:endParaRPr lang="en-US" sz="1200" i="1" spc="4" dirty="0">
              <a:solidFill>
                <a:srgbClr val="231F20"/>
              </a:solidFill>
              <a:latin typeface="IBM Plex Sans Italics"/>
              <a:ea typeface="IBM Plex Sans Italics"/>
              <a:cs typeface="IBM Plex Sans Italics"/>
              <a:sym typeface="IBM Plex Sans Italics"/>
            </a:endParaRPr>
          </a:p>
        </p:txBody>
      </p:sp>
      <p:sp>
        <p:nvSpPr>
          <p:cNvPr id="55" name="TextBox 34">
            <a:extLst>
              <a:ext uri="{FF2B5EF4-FFF2-40B4-BE49-F238E27FC236}">
                <a16:creationId xmlns:a16="http://schemas.microsoft.com/office/drawing/2014/main" id="{7F360BAA-61BF-FE8B-0AC4-A991BC941086}"/>
              </a:ext>
            </a:extLst>
          </p:cNvPr>
          <p:cNvSpPr txBox="1"/>
          <p:nvPr/>
        </p:nvSpPr>
        <p:spPr>
          <a:xfrm>
            <a:off x="2467440" y="1508374"/>
            <a:ext cx="838811" cy="221792"/>
          </a:xfrm>
          <a:prstGeom prst="rect">
            <a:avLst/>
          </a:prstGeom>
        </p:spPr>
        <p:txBody>
          <a:bodyPr lIns="0" tIns="0" rIns="0" bIns="0" rtlCol="0" anchor="t">
            <a:spAutoFit/>
          </a:bodyPr>
          <a:lstStyle/>
          <a:p>
            <a:pPr>
              <a:lnSpc>
                <a:spcPts val="1908"/>
              </a:lnSpc>
            </a:pPr>
            <a:r>
              <a:rPr lang="en-US" sz="1200" i="1" spc="4" dirty="0" err="1">
                <a:solidFill>
                  <a:srgbClr val="231F20"/>
                </a:solidFill>
                <a:latin typeface="IBM Plex Sans Italics"/>
                <a:ea typeface="IBM Plex Sans Italics"/>
                <a:cs typeface="IBM Plex Sans Italics"/>
                <a:sym typeface="IBM Plex Sans Italics"/>
              </a:rPr>
              <a:t>Français et Anglais</a:t>
            </a:r>
            <a:r>
              <a:rPr lang="en-US" sz="1200" i="1" spc="4" dirty="0">
                <a:solidFill>
                  <a:srgbClr val="231F20"/>
                </a:solidFill>
                <a:latin typeface="IBM Plex Sans Italics"/>
                <a:ea typeface="IBM Plex Sans Italics"/>
                <a:cs typeface="IBM Plex Sans Italics"/>
                <a:sym typeface="IBM Plex Sans Italics"/>
              </a:rPr>
              <a:t/>
            </a:r>
          </a:p>
        </p:txBody>
      </p:sp>
      <p:sp>
        <p:nvSpPr>
          <p:cNvPr id="56" name="TextBox 53">
            <a:extLst>
              <a:ext uri="{FF2B5EF4-FFF2-40B4-BE49-F238E27FC236}">
                <a16:creationId xmlns:a16="http://schemas.microsoft.com/office/drawing/2014/main" id="{C7B0528E-AFDC-2B75-9630-CDE5B04D540C}"/>
              </a:ext>
            </a:extLst>
          </p:cNvPr>
          <p:cNvSpPr txBox="1"/>
          <p:nvPr/>
        </p:nvSpPr>
        <p:spPr>
          <a:xfrm>
            <a:off x="3909566" y="1257967"/>
            <a:ext cx="1091866" cy="212174"/>
          </a:xfrm>
          <a:prstGeom prst="rect">
            <a:avLst/>
          </a:prstGeom>
        </p:spPr>
        <p:txBody>
          <a:bodyPr lIns="0" tIns="0" rIns="0" bIns="0" rtlCol="0" anchor="t">
            <a:spAutoFit/>
          </a:bodyPr>
          <a:lstStyle/>
          <a:p>
            <a:pPr algn="just">
              <a:lnSpc>
                <a:spcPts val="1796"/>
              </a:lnSpc>
            </a:pPr>
            <a:r>
              <a:rPr lang="en-US" sz="1200" spc="4" dirty="0">
                <a:solidFill>
                  <a:srgbClr val="464395"/>
                </a:solidFill>
                <a:latin typeface="IBM Plex Sans"/>
                <a:ea typeface="IBM Plex Sans"/>
                <a:cs typeface="IBM Plex Sans"/>
                <a:sym typeface="IBM Plex Sans"/>
              </a:rPr>
              <a:t>STAGE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p:cNvGrpSpPr>
            <a:grpSpLocks noChangeAspect="1"/>
          </p:cNvGrpSpPr>
          <p:nvPr/>
        </p:nvGrpSpPr>
        <p:grpSpPr>
          <a:xfrm>
            <a:off x="1202512" y="4924130"/>
            <a:ext cx="762505" cy="679580"/>
            <a:chOff x="0" y="0"/>
            <a:chExt cx="762495" cy="679577"/>
          </a:xfrm>
        </p:grpSpPr>
        <p:sp>
          <p:nvSpPr>
            <p:cNvPr id="3" name="Freeform 3"/>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7112"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p:cNvSpPr/>
            <p:nvPr/>
          </p:nvSpPr>
          <p:spPr>
            <a:xfrm>
              <a:off x="260477" y="267970"/>
              <a:ext cx="120269" cy="140081"/>
            </a:xfrm>
            <a:custGeom>
              <a:avLst/>
              <a:gdLst/>
              <a:ahLst/>
              <a:cxnLst/>
              <a:rect l="l" t="t" r="r" b="b"/>
              <a:pathLst>
                <a:path w="120269"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071" y="0"/>
                  </a:cubicBezTo>
                  <a:lnTo>
                    <a:pt x="76581" y="1778"/>
                  </a:lnTo>
                  <a:cubicBezTo>
                    <a:pt x="91313" y="8890"/>
                    <a:pt x="97663" y="13716"/>
                    <a:pt x="103124" y="19939"/>
                  </a:cubicBezTo>
                  <a:lnTo>
                    <a:pt x="115697" y="42037"/>
                  </a:lnTo>
                  <a:cubicBezTo>
                    <a:pt x="118745" y="50546"/>
                    <a:pt x="120269" y="59944"/>
                    <a:pt x="120269" y="70104"/>
                  </a:cubicBezTo>
                  <a:moveTo>
                    <a:pt x="88773" y="70104"/>
                  </a:moveTo>
                  <a:lnTo>
                    <a:pt x="88011" y="58293"/>
                  </a:lnTo>
                  <a:cubicBezTo>
                    <a:pt x="85217" y="48006"/>
                    <a:pt x="83185" y="43561"/>
                    <a:pt x="80645" y="39878"/>
                  </a:cubicBezTo>
                  <a:lnTo>
                    <a:pt x="75057" y="33401"/>
                  </a:lnTo>
                  <a:lnTo>
                    <a:pt x="64262" y="28448"/>
                  </a:lnTo>
                  <a:cubicBezTo>
                    <a:pt x="55753" y="28448"/>
                    <a:pt x="51816" y="29464"/>
                    <a:pt x="48260" y="31496"/>
                  </a:cubicBezTo>
                  <a:lnTo>
                    <a:pt x="41783" y="36322"/>
                  </a:lnTo>
                  <a:cubicBezTo>
                    <a:pt x="36703" y="43688"/>
                    <a:pt x="34671" y="48133"/>
                    <a:pt x="33274" y="53340"/>
                  </a:cubicBezTo>
                  <a:lnTo>
                    <a:pt x="31115" y="64135"/>
                  </a:lnTo>
                  <a:cubicBezTo>
                    <a:pt x="31115" y="76454"/>
                    <a:pt x="31877" y="82042"/>
                    <a:pt x="33274" y="87122"/>
                  </a:cubicBezTo>
                  <a:lnTo>
                    <a:pt x="36703" y="96520"/>
                  </a:lnTo>
                  <a:cubicBezTo>
                    <a:pt x="41783" y="103886"/>
                    <a:pt x="44831" y="106807"/>
                    <a:pt x="48387" y="108712"/>
                  </a:cubicBezTo>
                  <a:lnTo>
                    <a:pt x="55753" y="111760"/>
                  </a:lnTo>
                  <a:lnTo>
                    <a:pt x="68199" y="110744"/>
                  </a:lnTo>
                  <a:cubicBezTo>
                    <a:pt x="75184" y="106680"/>
                    <a:pt x="78232" y="103886"/>
                    <a:pt x="80772" y="100203"/>
                  </a:cubicBezTo>
                  <a:lnTo>
                    <a:pt x="85344" y="92075"/>
                  </a:lnTo>
                  <a:cubicBezTo>
                    <a:pt x="88138" y="81915"/>
                    <a:pt x="88900" y="76327"/>
                    <a:pt x="88900" y="70104"/>
                  </a:cubicBezTo>
                </a:path>
              </a:pathLst>
            </a:custGeom>
            <a:solidFill>
              <a:srgbClr val="7DE314"/>
            </a:solidFill>
          </p:spPr>
          <p:txBody>
            <a:bodyPr/>
            <a:lstStyle/>
            <a:p>
              <a:endParaRPr lang="fr-FR"/>
            </a:p>
          </p:txBody>
        </p:sp>
        <p:sp>
          <p:nvSpPr>
            <p:cNvPr id="7" name="Freeform 7"/>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036" y="37719"/>
                    <a:pt x="31115" y="39751"/>
                  </a:cubicBezTo>
                  <a:lnTo>
                    <a:pt x="24765" y="43434"/>
                  </a:lnTo>
                  <a:lnTo>
                    <a:pt x="13970" y="48260"/>
                  </a:lnTo>
                  <a:cubicBezTo>
                    <a:pt x="6350" y="50419"/>
                    <a:pt x="3048"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p:cNvGrpSpPr>
            <a:grpSpLocks noChangeAspect="1"/>
          </p:cNvGrpSpPr>
          <p:nvPr/>
        </p:nvGrpSpPr>
        <p:grpSpPr>
          <a:xfrm>
            <a:off x="3461909" y="4916900"/>
            <a:ext cx="762505" cy="686800"/>
            <a:chOff x="0" y="0"/>
            <a:chExt cx="762495" cy="686803"/>
          </a:xfrm>
        </p:grpSpPr>
        <p:sp>
          <p:nvSpPr>
            <p:cNvPr id="9" name="Freeform 9"/>
            <p:cNvSpPr/>
            <p:nvPr/>
          </p:nvSpPr>
          <p:spPr>
            <a:xfrm>
              <a:off x="63500" y="63500"/>
              <a:ext cx="635508" cy="559816"/>
            </a:xfrm>
            <a:custGeom>
              <a:avLst/>
              <a:gdLst/>
              <a:ahLst/>
              <a:cxnLst/>
              <a:rect l="l" t="t" r="r" b="b"/>
              <a:pathLst>
                <a:path w="635508" h="559816">
                  <a:moveTo>
                    <a:pt x="631698" y="294132"/>
                  </a:moveTo>
                  <a:lnTo>
                    <a:pt x="487045" y="545592"/>
                  </a:lnTo>
                  <a:cubicBezTo>
                    <a:pt x="481965" y="554482"/>
                    <a:pt x="472567" y="559816"/>
                    <a:pt x="462407" y="559816"/>
                  </a:cubicBezTo>
                  <a:lnTo>
                    <a:pt x="173101" y="559816"/>
                  </a:lnTo>
                  <a:cubicBezTo>
                    <a:pt x="162941" y="559816"/>
                    <a:pt x="153543" y="554355"/>
                    <a:pt x="148463" y="545592"/>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p:cNvGrpSpPr>
            <a:grpSpLocks noChangeAspect="1"/>
          </p:cNvGrpSpPr>
          <p:nvPr/>
        </p:nvGrpSpPr>
        <p:grpSpPr>
          <a:xfrm>
            <a:off x="0" y="2584247"/>
            <a:ext cx="7559993" cy="1642539"/>
            <a:chOff x="0" y="0"/>
            <a:chExt cx="7559992" cy="1642542"/>
          </a:xfrm>
        </p:grpSpPr>
        <p:sp>
          <p:nvSpPr>
            <p:cNvPr id="15" name="Freeform 15"/>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16" name="Group 16"/>
          <p:cNvGrpSpPr>
            <a:grpSpLocks noChangeAspect="1"/>
          </p:cNvGrpSpPr>
          <p:nvPr/>
        </p:nvGrpSpPr>
        <p:grpSpPr>
          <a:xfrm>
            <a:off x="5475351" y="4909652"/>
            <a:ext cx="762505" cy="694058"/>
            <a:chOff x="0" y="0"/>
            <a:chExt cx="762495" cy="694055"/>
          </a:xfrm>
        </p:grpSpPr>
        <p:sp>
          <p:nvSpPr>
            <p:cNvPr id="17" name="Freeform 17"/>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8" name="Freeform 18"/>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9" name="Freeform 19"/>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20" name="Freeform 20"/>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21" name="Freeform 21"/>
            <p:cNvSpPr/>
            <p:nvPr/>
          </p:nvSpPr>
          <p:spPr>
            <a:xfrm>
              <a:off x="388493"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2" name="Group 22"/>
          <p:cNvGrpSpPr>
            <a:grpSpLocks noChangeAspect="1"/>
          </p:cNvGrpSpPr>
          <p:nvPr/>
        </p:nvGrpSpPr>
        <p:grpSpPr>
          <a:xfrm>
            <a:off x="454638" y="296494"/>
            <a:ext cx="6466446" cy="1976704"/>
            <a:chOff x="0" y="0"/>
            <a:chExt cx="6466446" cy="1976704"/>
          </a:xfrm>
        </p:grpSpPr>
        <p:sp>
          <p:nvSpPr>
            <p:cNvPr id="23" name="Freeform 23"/>
            <p:cNvSpPr/>
            <p:nvPr/>
          </p:nvSpPr>
          <p:spPr>
            <a:xfrm>
              <a:off x="1884299" y="123647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4" name="Freeform 24"/>
            <p:cNvSpPr/>
            <p:nvPr/>
          </p:nvSpPr>
          <p:spPr>
            <a:xfrm>
              <a:off x="3229102" y="122643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5" name="Freeform 25"/>
            <p:cNvSpPr/>
            <p:nvPr/>
          </p:nvSpPr>
          <p:spPr>
            <a:xfrm>
              <a:off x="4606036" y="1220978"/>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6" name="Freeform 26"/>
            <p:cNvSpPr/>
            <p:nvPr/>
          </p:nvSpPr>
          <p:spPr>
            <a:xfrm>
              <a:off x="63500" y="381000"/>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7" name="Freeform 27"/>
            <p:cNvSpPr/>
            <p:nvPr/>
          </p:nvSpPr>
          <p:spPr>
            <a:xfrm>
              <a:off x="559435" y="179451"/>
              <a:ext cx="1947672" cy="416433"/>
            </a:xfrm>
            <a:custGeom>
              <a:avLst/>
              <a:gdLst/>
              <a:ahLst/>
              <a:cxnLst/>
              <a:rect l="l" t="t" r="r" b="b"/>
              <a:pathLst>
                <a:path w="1947672" h="416433">
                  <a:moveTo>
                    <a:pt x="0" y="416433"/>
                  </a:moveTo>
                  <a:lnTo>
                    <a:pt x="1947672" y="416433"/>
                  </a:lnTo>
                  <a:lnTo>
                    <a:pt x="1947672" y="0"/>
                  </a:lnTo>
                  <a:lnTo>
                    <a:pt x="0" y="0"/>
                  </a:lnTo>
                  <a:close/>
                </a:path>
              </a:pathLst>
            </a:custGeom>
            <a:solidFill>
              <a:srgbClr val="FFFFFF"/>
            </a:solidFill>
          </p:spPr>
          <p:txBody>
            <a:bodyPr/>
            <a:lstStyle/>
            <a:p>
              <a:endParaRPr lang="fr-FR"/>
            </a:p>
          </p:txBody>
        </p:sp>
        <p:sp>
          <p:nvSpPr>
            <p:cNvPr id="28" name="Freeform 28"/>
            <p:cNvSpPr/>
            <p:nvPr/>
          </p:nvSpPr>
          <p:spPr>
            <a:xfrm>
              <a:off x="5722620" y="63500"/>
              <a:ext cx="680339" cy="646176"/>
            </a:xfrm>
            <a:custGeom>
              <a:avLst/>
              <a:gdLst/>
              <a:ahLst/>
              <a:cxnLst/>
              <a:rect l="l" t="t" r="r" b="b"/>
              <a:pathLst>
                <a:path w="680339" h="646176">
                  <a:moveTo>
                    <a:pt x="340233" y="646049"/>
                  </a:moveTo>
                  <a:cubicBezTo>
                    <a:pt x="528066" y="646049"/>
                    <a:pt x="680339" y="501396"/>
                    <a:pt x="680339" y="322961"/>
                  </a:cubicBezTo>
                  <a:cubicBezTo>
                    <a:pt x="680339" y="144526"/>
                    <a:pt x="528066" y="0"/>
                    <a:pt x="340233" y="0"/>
                  </a:cubicBezTo>
                  <a:cubicBezTo>
                    <a:pt x="152400"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9" name="Freeform 29"/>
            <p:cNvSpPr/>
            <p:nvPr/>
          </p:nvSpPr>
          <p:spPr>
            <a:xfrm>
              <a:off x="566674" y="123647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grpSp>
      <p:sp>
        <p:nvSpPr>
          <p:cNvPr id="30" name="TextBox 99"/>
          <p:cNvSpPr txBox="1"/>
          <p:nvPr/>
        </p:nvSpPr>
        <p:spPr>
          <a:xfrm>
            <a:off x="6672167" y="9979838"/>
            <a:ext cx="248917" cy="240665"/>
          </a:xfrm>
          <a:prstGeom prst="rect">
            <a:avLst/>
          </a:prstGeom>
        </p:spPr>
        <p:txBody>
          <a:bodyPr lIns="0" tIns="0" rIns="0" bIns="0" rtlCol="0" anchor="t">
            <a:spAutoFit/>
          </a:bodyPr>
          <a:lstStyle/>
          <a:p>
            <a:pPr algn="l">
              <a:lnSpc>
                <a:spcPts val="1959"/>
              </a:lnSpc>
            </a:pPr>
            <a:r>
              <a:rPr lang="en-US" sz="1399" b="1" spc="8" dirty="0">
                <a:solidFill>
                  <a:srgbClr val="231F20"/>
                </a:solidFill>
                <a:latin typeface="IBM Plex Sans Bold"/>
                <a:ea typeface="IBM Plex Sans Bold"/>
                <a:cs typeface="IBM Plex Sans Bold"/>
                <a:sym typeface="IBM Plex Sans Bold"/>
              </a:rPr>
              <a:t>25</a:t>
            </a:r>
          </a:p>
        </p:txBody>
      </p:sp>
      <p:sp>
        <p:nvSpPr>
          <p:cNvPr id="32" name="TextBox 32"/>
          <p:cNvSpPr txBox="1"/>
          <p:nvPr/>
        </p:nvSpPr>
        <p:spPr>
          <a:xfrm>
            <a:off x="643661" y="6581470"/>
            <a:ext cx="1773936" cy="179536"/>
          </a:xfrm>
          <a:prstGeom prst="rect">
            <a:avLst/>
          </a:prstGeom>
        </p:spPr>
        <p:txBody>
          <a:bodyPr wrap="square" lIns="0" tIns="0" rIns="0" bIns="0" rtlCol="0" anchor="t">
            <a:spAutoFit/>
          </a:bodyPr>
          <a:lstStyle/>
          <a:p>
            <a:pPr algn="l">
              <a:lnSpc>
                <a:spcPts val="1439"/>
              </a:lnSpc>
            </a:pPr>
            <a:r>
              <a:rPr lang="en-US" sz="1200" i="1" spc="4" dirty="0">
                <a:solidFill>
                  <a:srgbClr val="231F20"/>
                </a:solidFill>
                <a:latin typeface="IBM Plex Sans Italics"/>
                <a:ea typeface="IBM Plex Sans Italics"/>
                <a:cs typeface="IBM Plex Sans Italics"/>
                <a:sym typeface="IBM Plex Sans Italics"/>
              </a:rPr>
              <a:t>Search Engine Management (SEO/SEA)
Stratégies de marketing digital et international
Gestion et pilotage de performance
</a:t>
            </a:r>
          </a:p>
        </p:txBody>
      </p:sp>
      <p:sp>
        <p:nvSpPr>
          <p:cNvPr id="33" name="TextBox 33"/>
          <p:cNvSpPr txBox="1"/>
          <p:nvPr/>
        </p:nvSpPr>
        <p:spPr>
          <a:xfrm>
            <a:off x="798281" y="5606948"/>
            <a:ext cx="1856994" cy="179536"/>
          </a:xfrm>
          <a:prstGeom prst="rect">
            <a:avLst/>
          </a:prstGeom>
        </p:spPr>
        <p:txBody>
          <a:bodyPr wrap="square"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DEVELOPPER UN PROJET A PETIT BUDGET
</a:t>
            </a:r>
          </a:p>
        </p:txBody>
      </p:sp>
      <p:sp>
        <p:nvSpPr>
          <p:cNvPr id="34" name="TextBox 35"/>
          <p:cNvSpPr txBox="1"/>
          <p:nvPr/>
        </p:nvSpPr>
        <p:spPr>
          <a:xfrm>
            <a:off x="618277" y="8558289"/>
            <a:ext cx="3238353" cy="179536"/>
          </a:xfrm>
          <a:prstGeom prst="rect">
            <a:avLst/>
          </a:prstGeom>
        </p:spPr>
        <p:txBody>
          <a:bodyPr wrap="square" lIns="0" tIns="0" rIns="0" bIns="0" rtlCol="0" anchor="t">
            <a:spAutoFit/>
          </a:bodyPr>
          <a:lstStyle/>
          <a:p>
            <a:pPr algn="l">
              <a:lnSpc>
                <a:spcPts val="1439"/>
              </a:lnSpc>
            </a:pPr>
            <a:r>
              <a:rPr lang="en-US" sz="1200" i="1" spc="4" dirty="0" err="1">
                <a:solidFill>
                  <a:srgbClr val="1A1447"/>
                </a:solidFill>
                <a:latin typeface="IBM Plex Sans Italics"/>
                <a:ea typeface="IBM Plex Sans Italics"/>
                <a:cs typeface="IBM Plex Sans Italics"/>
                <a:sym typeface="IBM Plex Sans Italics"/>
              </a:rPr>
              <a:t>• Responsable de communication digitale
• Consultant en stratégie digitale
• Responsable en marketing digital
• Responsable de stratégie commercial
• Chargé de campagnes SEO/SEA
• Chef de projet digital
</a:t>
            </a:r>
            <a:endParaRPr lang="en-US" sz="1200" i="1" spc="4" dirty="0">
              <a:solidFill>
                <a:srgbClr val="1A1447"/>
              </a:solidFill>
              <a:latin typeface="IBM Plex Sans Italics"/>
              <a:ea typeface="IBM Plex Sans Italics"/>
              <a:cs typeface="IBM Plex Sans Italics"/>
              <a:sym typeface="IBM Plex Sans Italics"/>
            </a:endParaRPr>
          </a:p>
        </p:txBody>
      </p:sp>
      <p:sp>
        <p:nvSpPr>
          <p:cNvPr id="35" name="TextBox 52"/>
          <p:cNvSpPr txBox="1"/>
          <p:nvPr/>
        </p:nvSpPr>
        <p:spPr>
          <a:xfrm>
            <a:off x="2445344" y="1281655"/>
            <a:ext cx="838810" cy="212174"/>
          </a:xfrm>
          <a:prstGeom prst="rect">
            <a:avLst/>
          </a:prstGeom>
        </p:spPr>
        <p:txBody>
          <a:bodyPr lIns="0" tIns="0" rIns="0" bIns="0" rtlCol="0" anchor="t">
            <a:spAutoFit/>
          </a:bodyPr>
          <a:lstStyle/>
          <a:p>
            <a:pPr algn="just">
              <a:lnSpc>
                <a:spcPts val="1783"/>
              </a:lnSpc>
            </a:pPr>
            <a:r>
              <a:rPr lang="en-US" sz="1200" spc="7" dirty="0">
                <a:solidFill>
                  <a:srgbClr val="464395"/>
                </a:solidFill>
                <a:latin typeface="IBM Plex Sans"/>
                <a:ea typeface="IBM Plex Sans"/>
                <a:cs typeface="IBM Plex Sans"/>
                <a:sym typeface="IBM Plex Sans"/>
              </a:rPr>
              <a:t>LANGUE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6" name="TextBox 38"/>
          <p:cNvSpPr txBox="1"/>
          <p:nvPr/>
        </p:nvSpPr>
        <p:spPr>
          <a:xfrm>
            <a:off x="3923062" y="1483624"/>
            <a:ext cx="951900" cy="212174"/>
          </a:xfrm>
          <a:prstGeom prst="rect">
            <a:avLst/>
          </a:prstGeom>
        </p:spPr>
        <p:txBody>
          <a:bodyPr lIns="0" tIns="0" rIns="0" bIns="0" rtlCol="0" anchor="t">
            <a:spAutoFit/>
          </a:bodyPr>
          <a:lstStyle/>
          <a:p>
            <a:pPr>
              <a:lnSpc>
                <a:spcPts val="1796"/>
              </a:lnSpc>
            </a:pPr>
            <a:r>
              <a:rPr lang="en-US" sz="1200" i="1" spc="7" dirty="0">
                <a:solidFill>
                  <a:srgbClr val="231F20"/>
                </a:solidFill>
                <a:latin typeface="IBM Plex Sans Italics"/>
                <a:ea typeface="IBM Plex Sans Italics"/>
                <a:cs typeface="IBM Plex Sans Italics"/>
                <a:sym typeface="IBM Plex Sans Italics"/>
              </a:rPr>
              <a:t>3-6 mois en entreprise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7" name="TextBox 36"/>
          <p:cNvSpPr txBox="1"/>
          <p:nvPr/>
        </p:nvSpPr>
        <p:spPr>
          <a:xfrm>
            <a:off x="2951845" y="6563801"/>
            <a:ext cx="1773936" cy="179536"/>
          </a:xfrm>
          <a:prstGeom prst="rect">
            <a:avLst/>
          </a:prstGeom>
        </p:spPr>
        <p:txBody>
          <a:bodyPr wrap="square" lIns="0" tIns="0" rIns="0" bIns="0" rtlCol="0" anchor="t">
            <a:spAutoFit/>
          </a:bodyPr>
          <a:lstStyle/>
          <a:p>
            <a:pPr algn="just">
              <a:lnSpc>
                <a:spcPts val="1439"/>
              </a:lnSpc>
            </a:pPr>
            <a:r>
              <a:rPr lang="en-US" sz="1200" i="1" spc="4" dirty="0">
                <a:solidFill>
                  <a:srgbClr val="231F20"/>
                </a:solidFill>
                <a:latin typeface="IBM Plex Sans Italics"/>
                <a:ea typeface="IBM Plex Sans Italics"/>
                <a:cs typeface="IBM Plex Sans Italics"/>
                <a:sym typeface="IBM Plex Sans Italics"/>
              </a:rPr>
              <a:t>Management, Structure d’entreprise et gestion 
Définir et piloter une stratégie commerciale
Anglais général et Anglais des affaires
</a:t>
            </a:r>
          </a:p>
        </p:txBody>
      </p:sp>
      <p:sp>
        <p:nvSpPr>
          <p:cNvPr id="38" name="TextBox 37"/>
          <p:cNvSpPr txBox="1"/>
          <p:nvPr/>
        </p:nvSpPr>
        <p:spPr>
          <a:xfrm>
            <a:off x="2883389" y="5606948"/>
            <a:ext cx="1856994"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SURFER SUR LA VAGUE DU DIGITAL
</a:t>
            </a:r>
          </a:p>
        </p:txBody>
      </p:sp>
      <p:sp>
        <p:nvSpPr>
          <p:cNvPr id="39" name="TextBox 39"/>
          <p:cNvSpPr txBox="1"/>
          <p:nvPr/>
        </p:nvSpPr>
        <p:spPr>
          <a:xfrm>
            <a:off x="5196249" y="1527315"/>
            <a:ext cx="1306830" cy="179536"/>
          </a:xfrm>
          <a:prstGeom prst="rect">
            <a:avLst/>
          </a:prstGeom>
        </p:spPr>
        <p:txBody>
          <a:bodyPr lIns="0" tIns="0" rIns="0" bIns="0" rtlCol="0" anchor="t">
            <a:spAutoFit/>
          </a:bodyPr>
          <a:lstStyle/>
          <a:p>
            <a:pPr>
              <a:lnSpc>
                <a:spcPts val="1439"/>
              </a:lnSpc>
            </a:pPr>
            <a:r>
              <a:rPr lang="en-US" sz="1200" i="1" spc="4" dirty="0">
                <a:solidFill>
                  <a:srgbClr val="231F20"/>
                </a:solidFill>
                <a:latin typeface="IBM Plex Sans Italics"/>
                <a:ea typeface="IBM Plex Sans Italics"/>
                <a:cs typeface="IBM Plex Sans Italics"/>
                <a:sym typeface="IBM Plex Sans Italics"/>
              </a:rPr>
              <a:t>Sur dossier et entretien</a:t>
            </a:r>
          </a:p>
        </p:txBody>
      </p:sp>
      <p:sp>
        <p:nvSpPr>
          <p:cNvPr id="40" name="TextBox 41"/>
          <p:cNvSpPr txBox="1"/>
          <p:nvPr/>
        </p:nvSpPr>
        <p:spPr>
          <a:xfrm>
            <a:off x="5127250" y="6542094"/>
            <a:ext cx="1456639" cy="179536"/>
          </a:xfrm>
          <a:prstGeom prst="rect">
            <a:avLst/>
          </a:prstGeom>
        </p:spPr>
        <p:txBody>
          <a:bodyPr lIns="0" tIns="0" rIns="0" bIns="0" rtlCol="0" anchor="t">
            <a:spAutoFit/>
          </a:bodyPr>
          <a:lstStyle/>
          <a:p>
            <a:pPr algn="l">
              <a:lnSpc>
                <a:spcPts val="1439"/>
              </a:lnSpc>
            </a:pPr>
            <a:r>
              <a:rPr lang="en-US" sz="1200" i="1" spc="4" dirty="0">
                <a:solidFill>
                  <a:srgbClr val="231F20"/>
                </a:solidFill>
                <a:latin typeface="IBM Plex Sans Italics"/>
                <a:ea typeface="IBM Plex Sans Italics"/>
                <a:cs typeface="IBM Plex Sans Italics"/>
                <a:sym typeface="IBM Plex Sans Italics"/>
              </a:rPr>
              <a:t>Canaux de distribution et communication
Simulation business et gestion de projets
Ateliers et rencontres professionnelles
</a:t>
            </a:r>
          </a:p>
        </p:txBody>
      </p:sp>
      <p:sp>
        <p:nvSpPr>
          <p:cNvPr id="41" name="TextBox 40"/>
          <p:cNvSpPr txBox="1"/>
          <p:nvPr/>
        </p:nvSpPr>
        <p:spPr>
          <a:xfrm>
            <a:off x="5130670" y="5606948"/>
            <a:ext cx="1641348"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TITRE AVEC LABEL RNCP EN OPTION
</a:t>
            </a:r>
          </a:p>
        </p:txBody>
      </p:sp>
      <p:sp>
        <p:nvSpPr>
          <p:cNvPr id="42" name="TextBox 42"/>
          <p:cNvSpPr txBox="1"/>
          <p:nvPr/>
        </p:nvSpPr>
        <p:spPr>
          <a:xfrm>
            <a:off x="611800" y="2786767"/>
            <a:ext cx="6092133" cy="179536"/>
          </a:xfrm>
          <a:prstGeom prst="rect">
            <a:avLst/>
          </a:prstGeom>
        </p:spPr>
        <p:txBody>
          <a:bodyPr lIns="0" tIns="0" rIns="0" bIns="0" rtlCol="0" anchor="t">
            <a:spAutoFit/>
          </a:bodyPr>
          <a:lstStyle/>
          <a:p>
            <a:pPr algn="just">
              <a:lnSpc>
                <a:spcPts val="1439"/>
              </a:lnSpc>
            </a:pPr>
            <a:r>
              <a:rPr lang="en-US" sz="1200" spc="7" dirty="0">
                <a:solidFill>
                  <a:srgbClr val="FFFFFF"/>
                </a:solidFill>
                <a:latin typeface="IBM Plex Sans"/>
                <a:ea typeface="IBM Plex Sans"/>
                <a:cs typeface="IBM Plex Sans"/>
                <a:sym typeface="IBM Plex Sans"/>
              </a:rPr>
              <a:t>Le Bac+5 Management, Marketing Digital (MMD) vise à acquérir des compétences en conception, mise en œuvre et évaluation de la stratégie digitale pour accompagner les entreprises dans leur développement digital.
Cette formation demande à être à l’aise avec les outils digitaux, les calculs, les processus et les plans d’automatisation. Une curiosité et une grande autonomie dans la recherche d’informations et beaucoup de pratique sont primordiaux.
</a:t>
            </a:r>
          </a:p>
        </p:txBody>
      </p:sp>
      <p:sp>
        <p:nvSpPr>
          <p:cNvPr id="43" name="TextBox 43"/>
          <p:cNvSpPr txBox="1"/>
          <p:nvPr/>
        </p:nvSpPr>
        <p:spPr>
          <a:xfrm>
            <a:off x="6278525" y="429625"/>
            <a:ext cx="525475" cy="397269"/>
          </a:xfrm>
          <a:prstGeom prst="rect">
            <a:avLst/>
          </a:prstGeom>
        </p:spPr>
        <p:txBody>
          <a:bodyPr lIns="0" tIns="0" rIns="0" bIns="0" rtlCol="0" anchor="t">
            <a:spAutoFit/>
          </a:bodyPr>
          <a:lstStyle/>
          <a:p>
            <a:pPr algn="ctr">
              <a:lnSpc>
                <a:spcPts val="1660"/>
              </a:lnSpc>
            </a:pPr>
            <a:r>
              <a:rPr lang="en-US" sz="1399" b="1" spc="8" dirty="0">
                <a:solidFill>
                  <a:srgbClr val="FFFFFF"/>
                </a:solidFill>
                <a:latin typeface="IBM Plex Sans Bold"/>
                <a:ea typeface="IBM Plex Sans Bold"/>
                <a:cs typeface="IBM Plex Sans Bold"/>
                <a:sym typeface="IBM Plex Sans Bold"/>
              </a:rPr>
              <a:t>2 </a:t>
            </a:r>
          </a:p>
          <a:p>
            <a:pPr algn="l">
              <a:lnSpc>
                <a:spcPts val="1423"/>
              </a:lnSpc>
            </a:pPr>
            <a:r>
              <a:rPr lang="en-US" sz="1200" b="1" spc="7" dirty="0">
                <a:solidFill>
                  <a:srgbClr val="FFFFFF"/>
                </a:solidFill>
                <a:latin typeface="IBM Plex Sans Bold"/>
                <a:ea typeface="IBM Plex Sans Bold"/>
                <a:cs typeface="IBM Plex Sans Bold"/>
                <a:sym typeface="IBM Plex Sans Bold"/>
              </a:rPr>
              <a:t>YEARS</a:t>
            </a:r>
          </a:p>
        </p:txBody>
      </p:sp>
      <p:sp>
        <p:nvSpPr>
          <p:cNvPr id="44" name="TextBox 44"/>
          <p:cNvSpPr txBox="1"/>
          <p:nvPr/>
        </p:nvSpPr>
        <p:spPr>
          <a:xfrm>
            <a:off x="2560053" y="10301611"/>
            <a:ext cx="2515629" cy="151428"/>
          </a:xfrm>
          <a:prstGeom prst="rect">
            <a:avLst/>
          </a:prstGeom>
        </p:spPr>
        <p:txBody>
          <a:bodyPr lIns="0" tIns="0" rIns="0" bIns="0" rtlCol="0" anchor="t">
            <a:spAutoFit/>
          </a:bodyPr>
          <a:lstStyle/>
          <a:p>
            <a:pPr algn="l">
              <a:lnSpc>
                <a:spcPts val="1260"/>
              </a:lnSpc>
            </a:pPr>
            <a:r>
              <a:rPr lang="en-US" sz="900" i="1" spc="25" dirty="0" err="1">
                <a:solidFill>
                  <a:srgbClr val="939496"/>
                </a:solidFill>
                <a:latin typeface="IBM Plex Sans Italics"/>
                <a:ea typeface="IBM Plex Sans Italics"/>
                <a:cs typeface="IBM Plex Sans Italics"/>
                <a:sym typeface="IBM Plex Sans Italics"/>
              </a:rPr>
              <a:t>Etablissement</a:t>
            </a:r>
            <a:r>
              <a:rPr lang="en-US" sz="900" i="1" spc="25" dirty="0">
                <a:solidFill>
                  <a:srgbClr val="939496"/>
                </a:solidFill>
                <a:latin typeface="IBM Plex Sans Italics"/>
                <a:ea typeface="IBM Plex Sans Italics"/>
                <a:cs typeface="IBM Plex Sans Italics"/>
                <a:sym typeface="IBM Plex Sans Italics"/>
              </a:rPr>
              <a:t> </a:t>
            </a:r>
            <a:r>
              <a:rPr lang="en-US" sz="900" i="1" spc="25" dirty="0" err="1">
                <a:solidFill>
                  <a:srgbClr val="939496"/>
                </a:solidFill>
                <a:latin typeface="IBM Plex Sans Italics"/>
                <a:ea typeface="IBM Plex Sans Italics"/>
                <a:cs typeface="IBM Plex Sans Italics"/>
                <a:sym typeface="IBM Plex Sans Italics"/>
              </a:rPr>
              <a:t>d’enseignement</a:t>
            </a:r>
            <a:r>
              <a:rPr lang="en-US" sz="900" i="1" spc="25" dirty="0">
                <a:solidFill>
                  <a:srgbClr val="939496"/>
                </a:solidFill>
                <a:latin typeface="IBM Plex Sans Italics"/>
                <a:ea typeface="IBM Plex Sans Italics"/>
                <a:cs typeface="IBM Plex Sans Italics"/>
                <a:sym typeface="IBM Plex Sans Italics"/>
              </a:rPr>
              <a:t> supérieur </a:t>
            </a:r>
            <a:r>
              <a:rPr lang="en-US" sz="900" i="1" spc="25" dirty="0" err="1">
                <a:solidFill>
                  <a:srgbClr val="939496"/>
                </a:solidFill>
                <a:latin typeface="IBM Plex Sans Italics"/>
                <a:ea typeface="IBM Plex Sans Italics"/>
                <a:cs typeface="IBM Plex Sans Italics"/>
                <a:sym typeface="IBM Plex Sans Italics"/>
              </a:rPr>
              <a:t>privé</a:t>
            </a:r>
            <a:endParaRPr lang="en-US" sz="900" i="1" spc="25" dirty="0">
              <a:solidFill>
                <a:srgbClr val="939496"/>
              </a:solidFill>
              <a:latin typeface="IBM Plex Sans Italics"/>
              <a:ea typeface="IBM Plex Sans Italics"/>
              <a:cs typeface="IBM Plex Sans Italics"/>
              <a:sym typeface="IBM Plex Sans Italics"/>
            </a:endParaRPr>
          </a:p>
        </p:txBody>
      </p:sp>
      <p:sp>
        <p:nvSpPr>
          <p:cNvPr id="45" name="TextBox 46"/>
          <p:cNvSpPr txBox="1"/>
          <p:nvPr/>
        </p:nvSpPr>
        <p:spPr>
          <a:xfrm>
            <a:off x="626278" y="6127490"/>
            <a:ext cx="3837772"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ENSEIGNEMENTS</a:t>
            </a:r>
          </a:p>
        </p:txBody>
      </p:sp>
      <p:sp>
        <p:nvSpPr>
          <p:cNvPr id="46" name="TextBox 45"/>
          <p:cNvSpPr txBox="1"/>
          <p:nvPr/>
        </p:nvSpPr>
        <p:spPr>
          <a:xfrm>
            <a:off x="618277" y="8095164"/>
            <a:ext cx="3464773" cy="299056"/>
          </a:xfrm>
          <a:prstGeom prst="rect">
            <a:avLst/>
          </a:prstGeom>
        </p:spPr>
        <p:txBody>
          <a:bodyPr wrap="square" lIns="0" tIns="0" rIns="0" bIns="0" rtlCol="0" anchor="t">
            <a:spAutoFit/>
          </a:bodyPr>
          <a:lstStyle/>
          <a:p>
            <a:pPr algn="l">
              <a:lnSpc>
                <a:spcPts val="2520"/>
              </a:lnSpc>
            </a:pPr>
            <a:r>
              <a:rPr lang="en-US" sz="1800" b="1" i="1">
                <a:solidFill>
                  <a:srgbClr val="EA8C39"/>
                </a:solidFill>
                <a:latin typeface="IBM Plex Sans Bold Italics"/>
                <a:ea typeface="IBM Plex Sans Bold Italics"/>
                <a:cs typeface="IBM Plex Sans Bold Italics"/>
                <a:sym typeface="IBM Plex Sans Bold Italics"/>
              </a:rPr>
              <a:t>OPPORTUNITÉS MÉTIERS</a:t>
            </a:r>
          </a:p>
        </p:txBody>
      </p:sp>
      <p:sp>
        <p:nvSpPr>
          <p:cNvPr id="47" name="TextBox 47"/>
          <p:cNvSpPr txBox="1"/>
          <p:nvPr/>
        </p:nvSpPr>
        <p:spPr>
          <a:xfrm>
            <a:off x="600894" y="4421000"/>
            <a:ext cx="386315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TOP3 - POINTS FORTS</a:t>
            </a:r>
          </a:p>
        </p:txBody>
      </p:sp>
      <p:sp>
        <p:nvSpPr>
          <p:cNvPr id="48" name="TextBox 48"/>
          <p:cNvSpPr txBox="1"/>
          <p:nvPr/>
        </p:nvSpPr>
        <p:spPr>
          <a:xfrm>
            <a:off x="1127645" y="915400"/>
            <a:ext cx="5150879" cy="299056"/>
          </a:xfrm>
          <a:prstGeom prst="rect">
            <a:avLst/>
          </a:prstGeom>
        </p:spPr>
        <p:txBody>
          <a:bodyPr wrap="square" lIns="0" tIns="0" rIns="0" bIns="0" rtlCol="0" anchor="t">
            <a:spAutoFit/>
          </a:bodyPr>
          <a:lstStyle/>
          <a:p>
            <a:pPr algn="l">
              <a:lnSpc>
                <a:spcPts val="2520"/>
              </a:lnSpc>
            </a:pPr>
            <a:r>
              <a:rPr lang="en-US" sz="1800" b="1" spc="7" dirty="0">
                <a:solidFill>
                  <a:srgbClr val="1A1447"/>
                </a:solidFill>
                <a:latin typeface="IBM Plex Sans Bold"/>
                <a:ea typeface="IBM Plex Sans Bold"/>
                <a:cs typeface="IBM Plex Sans Bold"/>
                <a:sym typeface="IBM Plex Sans Bold"/>
              </a:rPr>
              <a:t>MANAGEMENT, MARKETING DIGITAL</a:t>
            </a:r>
          </a:p>
        </p:txBody>
      </p:sp>
      <p:sp>
        <p:nvSpPr>
          <p:cNvPr id="49" name="TextBox 49"/>
          <p:cNvSpPr txBox="1"/>
          <p:nvPr/>
        </p:nvSpPr>
        <p:spPr>
          <a:xfrm>
            <a:off x="5150644" y="1289818"/>
            <a:ext cx="783022" cy="192491"/>
          </a:xfrm>
          <a:prstGeom prst="rect">
            <a:avLst/>
          </a:prstGeom>
        </p:spPr>
        <p:txBody>
          <a:bodyPr lIns="0" tIns="0" rIns="0" bIns="0" rtlCol="0" anchor="t">
            <a:spAutoFit/>
          </a:bodyPr>
          <a:lstStyle/>
          <a:p>
            <a:pPr algn="l">
              <a:lnSpc>
                <a:spcPts val="1539"/>
              </a:lnSpc>
            </a:pPr>
            <a:r>
              <a:rPr lang="en-US" sz="1100" spc="6" dirty="0">
                <a:solidFill>
                  <a:srgbClr val="464395"/>
                </a:solidFill>
                <a:latin typeface="IBM Plex Sans"/>
                <a:ea typeface="IBM Plex Sans"/>
                <a:cs typeface="IBM Plex Sans"/>
                <a:sym typeface="IBM Plex Sans"/>
              </a:rPr>
              <a:t>ADMISSION</a:t>
            </a:r>
          </a:p>
        </p:txBody>
      </p:sp>
      <p:sp>
        <p:nvSpPr>
          <p:cNvPr id="50" name="TextBox 50"/>
          <p:cNvSpPr txBox="1"/>
          <p:nvPr/>
        </p:nvSpPr>
        <p:spPr>
          <a:xfrm>
            <a:off x="1107748" y="411985"/>
            <a:ext cx="1496263" cy="405699"/>
          </a:xfrm>
          <a:prstGeom prst="rect">
            <a:avLst/>
          </a:prstGeom>
        </p:spPr>
        <p:txBody>
          <a:bodyPr lIns="0" tIns="0" rIns="0" bIns="0" rtlCol="0" anchor="t">
            <a:spAutoFit/>
          </a:bodyPr>
          <a:lstStyle/>
          <a:p>
            <a:pPr algn="l">
              <a:lnSpc>
                <a:spcPts val="3359"/>
              </a:lnSpc>
            </a:pPr>
            <a:r>
              <a:rPr lang="en-US" sz="2400" b="1" spc="14" dirty="0">
                <a:solidFill>
                  <a:srgbClr val="231F20"/>
                </a:solidFill>
                <a:latin typeface="IBM Plex Sans Bold"/>
                <a:ea typeface="IBM Plex Sans Bold"/>
                <a:cs typeface="IBM Plex Sans Bold"/>
                <a:sym typeface="IBM Plex Sans Bold"/>
              </a:rPr>
              <a:t>MASTERE</a:t>
            </a:r>
          </a:p>
        </p:txBody>
      </p:sp>
      <p:sp>
        <p:nvSpPr>
          <p:cNvPr id="52" name="TextBox 51">
            <a:extLst>
              <a:ext uri="{FF2B5EF4-FFF2-40B4-BE49-F238E27FC236}">
                <a16:creationId xmlns:a16="http://schemas.microsoft.com/office/drawing/2014/main" id="{08B6434F-E251-F3F4-A8EE-0DB40DADF62C}"/>
              </a:ext>
            </a:extLst>
          </p:cNvPr>
          <p:cNvSpPr txBox="1"/>
          <p:nvPr/>
        </p:nvSpPr>
        <p:spPr>
          <a:xfrm>
            <a:off x="1256030" y="1299715"/>
            <a:ext cx="1040102" cy="192938"/>
          </a:xfrm>
          <a:prstGeom prst="rect">
            <a:avLst/>
          </a:prstGeom>
        </p:spPr>
        <p:txBody>
          <a:bodyPr wrap="square" lIns="0" tIns="0" rIns="0" bIns="0" rtlCol="0" anchor="t">
            <a:spAutoFit/>
          </a:bodyPr>
          <a:lstStyle/>
          <a:p>
            <a:pPr algn="just">
              <a:lnSpc>
                <a:spcPts val="1614"/>
              </a:lnSpc>
            </a:pPr>
            <a:r>
              <a:rPr lang="en-US" sz="1200" spc="7" dirty="0">
                <a:solidFill>
                  <a:srgbClr val="464395"/>
                </a:solidFill>
                <a:latin typeface="IBM Plex Sans"/>
                <a:ea typeface="IBM Plex Sans"/>
                <a:cs typeface="IBM Plex Sans"/>
                <a:sym typeface="IBM Plex Sans"/>
              </a:rPr>
              <a:t>2 RENTRÉES</a:t>
            </a:r>
            <a:endParaRPr lang="en-US" sz="1200" i="1" spc="4" dirty="0">
              <a:solidFill>
                <a:srgbClr val="231F20"/>
              </a:solidFill>
              <a:latin typeface="IBM Plex Sans Italics"/>
              <a:ea typeface="IBM Plex Sans Italics"/>
              <a:cs typeface="IBM Plex Sans Italics"/>
              <a:sym typeface="IBM Plex Sans Italics"/>
            </a:endParaRPr>
          </a:p>
        </p:txBody>
      </p:sp>
      <p:sp>
        <p:nvSpPr>
          <p:cNvPr id="53" name="TextBox 31">
            <a:extLst>
              <a:ext uri="{FF2B5EF4-FFF2-40B4-BE49-F238E27FC236}">
                <a16:creationId xmlns:a16="http://schemas.microsoft.com/office/drawing/2014/main" id="{63339F6C-44AA-C06C-C876-B9C66129B42B}"/>
              </a:ext>
            </a:extLst>
          </p:cNvPr>
          <p:cNvSpPr txBox="1"/>
          <p:nvPr/>
        </p:nvSpPr>
        <p:spPr>
          <a:xfrm>
            <a:off x="1252559" y="1505911"/>
            <a:ext cx="812873" cy="192938"/>
          </a:xfrm>
          <a:prstGeom prst="rect">
            <a:avLst/>
          </a:prstGeom>
        </p:spPr>
        <p:txBody>
          <a:bodyPr lIns="0" tIns="0" rIns="0" bIns="0" rtlCol="0" anchor="t">
            <a:spAutoFit/>
          </a:bodyPr>
          <a:lstStyle/>
          <a:p>
            <a:pPr>
              <a:lnSpc>
                <a:spcPts val="1614"/>
              </a:lnSpc>
            </a:pPr>
            <a:r>
              <a:rPr lang="en-US" sz="1200" i="1" spc="7" dirty="0">
                <a:solidFill>
                  <a:srgbClr val="231F20"/>
                </a:solidFill>
                <a:latin typeface="IBM Plex Sans Italics"/>
                <a:ea typeface="IBM Plex Sans Italics"/>
                <a:cs typeface="IBM Plex Sans Italics"/>
                <a:sym typeface="IBM Plex Sans Italics"/>
              </a:rPr>
              <a:t>Automne Printemps</a:t>
            </a:r>
            <a:endParaRPr lang="en-US" sz="1200" i="1" spc="4" dirty="0">
              <a:solidFill>
                <a:srgbClr val="231F20"/>
              </a:solidFill>
              <a:latin typeface="IBM Plex Sans Italics"/>
              <a:ea typeface="IBM Plex Sans Italics"/>
              <a:cs typeface="IBM Plex Sans Italics"/>
              <a:sym typeface="IBM Plex Sans Italics"/>
            </a:endParaRPr>
          </a:p>
        </p:txBody>
      </p:sp>
      <p:sp>
        <p:nvSpPr>
          <p:cNvPr id="55" name="TextBox 34">
            <a:extLst>
              <a:ext uri="{FF2B5EF4-FFF2-40B4-BE49-F238E27FC236}">
                <a16:creationId xmlns:a16="http://schemas.microsoft.com/office/drawing/2014/main" id="{7F360BAA-61BF-FE8B-0AC4-A991BC941086}"/>
              </a:ext>
            </a:extLst>
          </p:cNvPr>
          <p:cNvSpPr txBox="1"/>
          <p:nvPr/>
        </p:nvSpPr>
        <p:spPr>
          <a:xfrm>
            <a:off x="2467440" y="1508374"/>
            <a:ext cx="838811" cy="221792"/>
          </a:xfrm>
          <a:prstGeom prst="rect">
            <a:avLst/>
          </a:prstGeom>
        </p:spPr>
        <p:txBody>
          <a:bodyPr lIns="0" tIns="0" rIns="0" bIns="0" rtlCol="0" anchor="t">
            <a:spAutoFit/>
          </a:bodyPr>
          <a:lstStyle/>
          <a:p>
            <a:pPr>
              <a:lnSpc>
                <a:spcPts val="1908"/>
              </a:lnSpc>
            </a:pPr>
            <a:r>
              <a:rPr lang="en-US" sz="1200" i="1" spc="4" dirty="0" err="1">
                <a:solidFill>
                  <a:srgbClr val="231F20"/>
                </a:solidFill>
                <a:latin typeface="IBM Plex Sans Italics"/>
                <a:ea typeface="IBM Plex Sans Italics"/>
                <a:cs typeface="IBM Plex Sans Italics"/>
                <a:sym typeface="IBM Plex Sans Italics"/>
              </a:rPr>
              <a:t>Français et Anglais</a:t>
            </a:r>
            <a:r>
              <a:rPr lang="en-US" sz="1200" i="1" spc="4" dirty="0">
                <a:solidFill>
                  <a:srgbClr val="231F20"/>
                </a:solidFill>
                <a:latin typeface="IBM Plex Sans Italics"/>
                <a:ea typeface="IBM Plex Sans Italics"/>
                <a:cs typeface="IBM Plex Sans Italics"/>
                <a:sym typeface="IBM Plex Sans Italics"/>
              </a:rPr>
              <a:t/>
            </a:r>
          </a:p>
        </p:txBody>
      </p:sp>
      <p:sp>
        <p:nvSpPr>
          <p:cNvPr id="56" name="TextBox 53">
            <a:extLst>
              <a:ext uri="{FF2B5EF4-FFF2-40B4-BE49-F238E27FC236}">
                <a16:creationId xmlns:a16="http://schemas.microsoft.com/office/drawing/2014/main" id="{C7B0528E-AFDC-2B75-9630-CDE5B04D540C}"/>
              </a:ext>
            </a:extLst>
          </p:cNvPr>
          <p:cNvSpPr txBox="1"/>
          <p:nvPr/>
        </p:nvSpPr>
        <p:spPr>
          <a:xfrm>
            <a:off x="3909566" y="1257967"/>
            <a:ext cx="1091866" cy="212174"/>
          </a:xfrm>
          <a:prstGeom prst="rect">
            <a:avLst/>
          </a:prstGeom>
        </p:spPr>
        <p:txBody>
          <a:bodyPr lIns="0" tIns="0" rIns="0" bIns="0" rtlCol="0" anchor="t">
            <a:spAutoFit/>
          </a:bodyPr>
          <a:lstStyle/>
          <a:p>
            <a:pPr algn="just">
              <a:lnSpc>
                <a:spcPts val="1796"/>
              </a:lnSpc>
            </a:pPr>
            <a:r>
              <a:rPr lang="en-US" sz="1200" spc="4" dirty="0">
                <a:solidFill>
                  <a:srgbClr val="464395"/>
                </a:solidFill>
                <a:latin typeface="IBM Plex Sans"/>
                <a:ea typeface="IBM Plex Sans"/>
                <a:cs typeface="IBM Plex Sans"/>
                <a:sym typeface="IBM Plex Sans"/>
              </a:rPr>
              <a:t>STAGE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p:cNvGrpSpPr>
            <a:grpSpLocks noChangeAspect="1"/>
          </p:cNvGrpSpPr>
          <p:nvPr/>
        </p:nvGrpSpPr>
        <p:grpSpPr>
          <a:xfrm>
            <a:off x="1202512" y="4924130"/>
            <a:ext cx="762505" cy="679580"/>
            <a:chOff x="0" y="0"/>
            <a:chExt cx="762495" cy="679577"/>
          </a:xfrm>
        </p:grpSpPr>
        <p:sp>
          <p:nvSpPr>
            <p:cNvPr id="3" name="Freeform 3"/>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7112"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p:cNvSpPr/>
            <p:nvPr/>
          </p:nvSpPr>
          <p:spPr>
            <a:xfrm>
              <a:off x="260477" y="267970"/>
              <a:ext cx="120269" cy="140081"/>
            </a:xfrm>
            <a:custGeom>
              <a:avLst/>
              <a:gdLst/>
              <a:ahLst/>
              <a:cxnLst/>
              <a:rect l="l" t="t" r="r" b="b"/>
              <a:pathLst>
                <a:path w="120269"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071" y="0"/>
                  </a:cubicBezTo>
                  <a:lnTo>
                    <a:pt x="76581" y="1778"/>
                  </a:lnTo>
                  <a:cubicBezTo>
                    <a:pt x="91313" y="8890"/>
                    <a:pt x="97663" y="13716"/>
                    <a:pt x="103124" y="19939"/>
                  </a:cubicBezTo>
                  <a:lnTo>
                    <a:pt x="115697" y="42037"/>
                  </a:lnTo>
                  <a:cubicBezTo>
                    <a:pt x="118745" y="50546"/>
                    <a:pt x="120269" y="59944"/>
                    <a:pt x="120269" y="70104"/>
                  </a:cubicBezTo>
                  <a:moveTo>
                    <a:pt x="88773" y="70104"/>
                  </a:moveTo>
                  <a:lnTo>
                    <a:pt x="88011" y="58293"/>
                  </a:lnTo>
                  <a:cubicBezTo>
                    <a:pt x="85217" y="48006"/>
                    <a:pt x="83185" y="43561"/>
                    <a:pt x="80645" y="39878"/>
                  </a:cubicBezTo>
                  <a:lnTo>
                    <a:pt x="75057" y="33401"/>
                  </a:lnTo>
                  <a:lnTo>
                    <a:pt x="64262" y="28448"/>
                  </a:lnTo>
                  <a:cubicBezTo>
                    <a:pt x="55753" y="28448"/>
                    <a:pt x="51816" y="29464"/>
                    <a:pt x="48260" y="31496"/>
                  </a:cubicBezTo>
                  <a:lnTo>
                    <a:pt x="41783" y="36322"/>
                  </a:lnTo>
                  <a:cubicBezTo>
                    <a:pt x="36703" y="43688"/>
                    <a:pt x="34671" y="48133"/>
                    <a:pt x="33274" y="53340"/>
                  </a:cubicBezTo>
                  <a:lnTo>
                    <a:pt x="31115" y="64135"/>
                  </a:lnTo>
                  <a:cubicBezTo>
                    <a:pt x="31115" y="76454"/>
                    <a:pt x="31877" y="82042"/>
                    <a:pt x="33274" y="87122"/>
                  </a:cubicBezTo>
                  <a:lnTo>
                    <a:pt x="36703" y="96520"/>
                  </a:lnTo>
                  <a:cubicBezTo>
                    <a:pt x="41783" y="103886"/>
                    <a:pt x="44831" y="106807"/>
                    <a:pt x="48387" y="108712"/>
                  </a:cubicBezTo>
                  <a:lnTo>
                    <a:pt x="55753" y="111760"/>
                  </a:lnTo>
                  <a:lnTo>
                    <a:pt x="68199" y="110744"/>
                  </a:lnTo>
                  <a:cubicBezTo>
                    <a:pt x="75184" y="106680"/>
                    <a:pt x="78232" y="103886"/>
                    <a:pt x="80772" y="100203"/>
                  </a:cubicBezTo>
                  <a:lnTo>
                    <a:pt x="85344" y="92075"/>
                  </a:lnTo>
                  <a:cubicBezTo>
                    <a:pt x="88138" y="81915"/>
                    <a:pt x="88900" y="76327"/>
                    <a:pt x="88900" y="70104"/>
                  </a:cubicBezTo>
                </a:path>
              </a:pathLst>
            </a:custGeom>
            <a:solidFill>
              <a:srgbClr val="7DE314"/>
            </a:solidFill>
          </p:spPr>
          <p:txBody>
            <a:bodyPr/>
            <a:lstStyle/>
            <a:p>
              <a:endParaRPr lang="fr-FR"/>
            </a:p>
          </p:txBody>
        </p:sp>
        <p:sp>
          <p:nvSpPr>
            <p:cNvPr id="7" name="Freeform 7"/>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036" y="37719"/>
                    <a:pt x="31115" y="39751"/>
                  </a:cubicBezTo>
                  <a:lnTo>
                    <a:pt x="24765" y="43434"/>
                  </a:lnTo>
                  <a:lnTo>
                    <a:pt x="13970" y="48260"/>
                  </a:lnTo>
                  <a:cubicBezTo>
                    <a:pt x="6350" y="50419"/>
                    <a:pt x="3048"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p:cNvGrpSpPr>
            <a:grpSpLocks noChangeAspect="1"/>
          </p:cNvGrpSpPr>
          <p:nvPr/>
        </p:nvGrpSpPr>
        <p:grpSpPr>
          <a:xfrm>
            <a:off x="3461909" y="4916900"/>
            <a:ext cx="762505" cy="686800"/>
            <a:chOff x="0" y="0"/>
            <a:chExt cx="762495" cy="686803"/>
          </a:xfrm>
        </p:grpSpPr>
        <p:sp>
          <p:nvSpPr>
            <p:cNvPr id="9" name="Freeform 9"/>
            <p:cNvSpPr/>
            <p:nvPr/>
          </p:nvSpPr>
          <p:spPr>
            <a:xfrm>
              <a:off x="63500" y="63500"/>
              <a:ext cx="635508" cy="559816"/>
            </a:xfrm>
            <a:custGeom>
              <a:avLst/>
              <a:gdLst/>
              <a:ahLst/>
              <a:cxnLst/>
              <a:rect l="l" t="t" r="r" b="b"/>
              <a:pathLst>
                <a:path w="635508" h="559816">
                  <a:moveTo>
                    <a:pt x="631698" y="294132"/>
                  </a:moveTo>
                  <a:lnTo>
                    <a:pt x="487045" y="545592"/>
                  </a:lnTo>
                  <a:cubicBezTo>
                    <a:pt x="481965" y="554482"/>
                    <a:pt x="472567" y="559816"/>
                    <a:pt x="462407" y="559816"/>
                  </a:cubicBezTo>
                  <a:lnTo>
                    <a:pt x="173101" y="559816"/>
                  </a:lnTo>
                  <a:cubicBezTo>
                    <a:pt x="162941" y="559816"/>
                    <a:pt x="153543" y="554355"/>
                    <a:pt x="148463" y="545592"/>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p:cNvGrpSpPr>
            <a:grpSpLocks noChangeAspect="1"/>
          </p:cNvGrpSpPr>
          <p:nvPr/>
        </p:nvGrpSpPr>
        <p:grpSpPr>
          <a:xfrm>
            <a:off x="0" y="2584247"/>
            <a:ext cx="7559993" cy="1642539"/>
            <a:chOff x="0" y="0"/>
            <a:chExt cx="7559992" cy="1642542"/>
          </a:xfrm>
        </p:grpSpPr>
        <p:sp>
          <p:nvSpPr>
            <p:cNvPr id="15" name="Freeform 15"/>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16" name="Group 16"/>
          <p:cNvGrpSpPr>
            <a:grpSpLocks noChangeAspect="1"/>
          </p:cNvGrpSpPr>
          <p:nvPr/>
        </p:nvGrpSpPr>
        <p:grpSpPr>
          <a:xfrm>
            <a:off x="5475351" y="4909652"/>
            <a:ext cx="762505" cy="694058"/>
            <a:chOff x="0" y="0"/>
            <a:chExt cx="762495" cy="694055"/>
          </a:xfrm>
        </p:grpSpPr>
        <p:sp>
          <p:nvSpPr>
            <p:cNvPr id="17" name="Freeform 17"/>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8" name="Freeform 18"/>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9" name="Freeform 19"/>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20" name="Freeform 20"/>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21" name="Freeform 21"/>
            <p:cNvSpPr/>
            <p:nvPr/>
          </p:nvSpPr>
          <p:spPr>
            <a:xfrm>
              <a:off x="388493"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2" name="Group 22"/>
          <p:cNvGrpSpPr>
            <a:grpSpLocks noChangeAspect="1"/>
          </p:cNvGrpSpPr>
          <p:nvPr/>
        </p:nvGrpSpPr>
        <p:grpSpPr>
          <a:xfrm>
            <a:off x="454638" y="296494"/>
            <a:ext cx="6466446" cy="1976704"/>
            <a:chOff x="0" y="0"/>
            <a:chExt cx="6466446" cy="1976704"/>
          </a:xfrm>
        </p:grpSpPr>
        <p:sp>
          <p:nvSpPr>
            <p:cNvPr id="23" name="Freeform 23"/>
            <p:cNvSpPr/>
            <p:nvPr/>
          </p:nvSpPr>
          <p:spPr>
            <a:xfrm>
              <a:off x="1884299" y="123647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4" name="Freeform 24"/>
            <p:cNvSpPr/>
            <p:nvPr/>
          </p:nvSpPr>
          <p:spPr>
            <a:xfrm>
              <a:off x="3229102" y="122643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5" name="Freeform 25"/>
            <p:cNvSpPr/>
            <p:nvPr/>
          </p:nvSpPr>
          <p:spPr>
            <a:xfrm>
              <a:off x="4606036" y="1220978"/>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6" name="Freeform 26"/>
            <p:cNvSpPr/>
            <p:nvPr/>
          </p:nvSpPr>
          <p:spPr>
            <a:xfrm>
              <a:off x="63500" y="381000"/>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7" name="Freeform 27"/>
            <p:cNvSpPr/>
            <p:nvPr/>
          </p:nvSpPr>
          <p:spPr>
            <a:xfrm>
              <a:off x="559435" y="179451"/>
              <a:ext cx="1947672" cy="416433"/>
            </a:xfrm>
            <a:custGeom>
              <a:avLst/>
              <a:gdLst/>
              <a:ahLst/>
              <a:cxnLst/>
              <a:rect l="l" t="t" r="r" b="b"/>
              <a:pathLst>
                <a:path w="1947672" h="416433">
                  <a:moveTo>
                    <a:pt x="0" y="416433"/>
                  </a:moveTo>
                  <a:lnTo>
                    <a:pt x="1947672" y="416433"/>
                  </a:lnTo>
                  <a:lnTo>
                    <a:pt x="1947672" y="0"/>
                  </a:lnTo>
                  <a:lnTo>
                    <a:pt x="0" y="0"/>
                  </a:lnTo>
                  <a:close/>
                </a:path>
              </a:pathLst>
            </a:custGeom>
            <a:solidFill>
              <a:srgbClr val="FFFFFF"/>
            </a:solidFill>
          </p:spPr>
          <p:txBody>
            <a:bodyPr/>
            <a:lstStyle/>
            <a:p>
              <a:endParaRPr lang="fr-FR"/>
            </a:p>
          </p:txBody>
        </p:sp>
        <p:sp>
          <p:nvSpPr>
            <p:cNvPr id="28" name="Freeform 28"/>
            <p:cNvSpPr/>
            <p:nvPr/>
          </p:nvSpPr>
          <p:spPr>
            <a:xfrm>
              <a:off x="5722620" y="63500"/>
              <a:ext cx="680339" cy="646176"/>
            </a:xfrm>
            <a:custGeom>
              <a:avLst/>
              <a:gdLst/>
              <a:ahLst/>
              <a:cxnLst/>
              <a:rect l="l" t="t" r="r" b="b"/>
              <a:pathLst>
                <a:path w="680339" h="646176">
                  <a:moveTo>
                    <a:pt x="340233" y="646049"/>
                  </a:moveTo>
                  <a:cubicBezTo>
                    <a:pt x="528066" y="646049"/>
                    <a:pt x="680339" y="501396"/>
                    <a:pt x="680339" y="322961"/>
                  </a:cubicBezTo>
                  <a:cubicBezTo>
                    <a:pt x="680339" y="144526"/>
                    <a:pt x="528066" y="0"/>
                    <a:pt x="340233" y="0"/>
                  </a:cubicBezTo>
                  <a:cubicBezTo>
                    <a:pt x="152400"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9" name="Freeform 29"/>
            <p:cNvSpPr/>
            <p:nvPr/>
          </p:nvSpPr>
          <p:spPr>
            <a:xfrm>
              <a:off x="566674" y="123647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grpSp>
      <p:sp>
        <p:nvSpPr>
          <p:cNvPr id="30" name="TextBox 99"/>
          <p:cNvSpPr txBox="1"/>
          <p:nvPr/>
        </p:nvSpPr>
        <p:spPr>
          <a:xfrm>
            <a:off x="6672167" y="9979838"/>
            <a:ext cx="248917" cy="240665"/>
          </a:xfrm>
          <a:prstGeom prst="rect">
            <a:avLst/>
          </a:prstGeom>
        </p:spPr>
        <p:txBody>
          <a:bodyPr lIns="0" tIns="0" rIns="0" bIns="0" rtlCol="0" anchor="t">
            <a:spAutoFit/>
          </a:bodyPr>
          <a:lstStyle/>
          <a:p>
            <a:pPr algn="l">
              <a:lnSpc>
                <a:spcPts val="1959"/>
              </a:lnSpc>
            </a:pPr>
            <a:r>
              <a:rPr lang="en-US" sz="1399" b="1" spc="8" dirty="0">
                <a:solidFill>
                  <a:srgbClr val="231F20"/>
                </a:solidFill>
                <a:latin typeface="IBM Plex Sans Bold"/>
                <a:ea typeface="IBM Plex Sans Bold"/>
                <a:cs typeface="IBM Plex Sans Bold"/>
                <a:sym typeface="IBM Plex Sans Bold"/>
              </a:rPr>
              <a:t>26</a:t>
            </a:r>
          </a:p>
        </p:txBody>
      </p:sp>
      <p:sp>
        <p:nvSpPr>
          <p:cNvPr id="32" name="TextBox 32"/>
          <p:cNvSpPr txBox="1"/>
          <p:nvPr/>
        </p:nvSpPr>
        <p:spPr>
          <a:xfrm>
            <a:off x="643661" y="6581470"/>
            <a:ext cx="1773936" cy="179536"/>
          </a:xfrm>
          <a:prstGeom prst="rect">
            <a:avLst/>
          </a:prstGeom>
        </p:spPr>
        <p:txBody>
          <a:bodyPr wrap="square" lIns="0" tIns="0" rIns="0" bIns="0" rtlCol="0" anchor="t">
            <a:spAutoFit/>
          </a:bodyPr>
          <a:lstStyle/>
          <a:p>
            <a:pPr algn="l">
              <a:lnSpc>
                <a:spcPts val="1439"/>
              </a:lnSpc>
            </a:pPr>
            <a:r>
              <a:rPr lang="en-US" sz="1200" i="1" spc="4" dirty="0">
                <a:solidFill>
                  <a:srgbClr val="231F20"/>
                </a:solidFill>
                <a:latin typeface="IBM Plex Sans Italics"/>
                <a:ea typeface="IBM Plex Sans Italics"/>
                <a:cs typeface="IBM Plex Sans Italics"/>
                <a:sym typeface="IBM Plex Sans Italics"/>
              </a:rPr>
              <a:t>Analyser un flux de travail et les sources de données
Elaborer une stratégie de transformation digitale
Concevoir un plan de projet avec ses ressources</a:t>
            </a:r>
          </a:p>
        </p:txBody>
      </p:sp>
      <p:sp>
        <p:nvSpPr>
          <p:cNvPr id="33" name="TextBox 33"/>
          <p:cNvSpPr txBox="1"/>
          <p:nvPr/>
        </p:nvSpPr>
        <p:spPr>
          <a:xfrm>
            <a:off x="798281" y="5606948"/>
            <a:ext cx="1856994" cy="179536"/>
          </a:xfrm>
          <a:prstGeom prst="rect">
            <a:avLst/>
          </a:prstGeom>
        </p:spPr>
        <p:txBody>
          <a:bodyPr wrap="square"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DEVELOPPER UN PROJET A PETIT BUDGET</a:t>
            </a:r>
          </a:p>
        </p:txBody>
      </p:sp>
      <p:sp>
        <p:nvSpPr>
          <p:cNvPr id="34" name="TextBox 35"/>
          <p:cNvSpPr txBox="1"/>
          <p:nvPr/>
        </p:nvSpPr>
        <p:spPr>
          <a:xfrm>
            <a:off x="618277" y="8558289"/>
            <a:ext cx="3238353" cy="179536"/>
          </a:xfrm>
          <a:prstGeom prst="rect">
            <a:avLst/>
          </a:prstGeom>
        </p:spPr>
        <p:txBody>
          <a:bodyPr wrap="square" lIns="0" tIns="0" rIns="0" bIns="0" rtlCol="0" anchor="t">
            <a:spAutoFit/>
          </a:bodyPr>
          <a:lstStyle/>
          <a:p>
            <a:pPr algn="l">
              <a:lnSpc>
                <a:spcPts val="1439"/>
              </a:lnSpc>
            </a:pPr>
            <a:r>
              <a:rPr lang="en-US" sz="1200" i="1" spc="4" dirty="0" err="1">
                <a:solidFill>
                  <a:srgbClr val="1A1447"/>
                </a:solidFill>
                <a:latin typeface="IBM Plex Sans Italics"/>
                <a:ea typeface="IBM Plex Sans Italics"/>
                <a:cs typeface="IBM Plex Sans Italics"/>
                <a:sym typeface="IBM Plex Sans Italics"/>
              </a:rPr>
              <a:t>• Product Builder no-code.
• Responsable de développement de produits numériques.
• Consultant en solutions no-code et transformation digitale.
• Expert en automatisation des processus métier.</a:t>
            </a:r>
            <a:endParaRPr lang="en-US" sz="1200" i="1" spc="4" dirty="0">
              <a:solidFill>
                <a:srgbClr val="1A1447"/>
              </a:solidFill>
              <a:latin typeface="IBM Plex Sans Italics"/>
              <a:ea typeface="IBM Plex Sans Italics"/>
              <a:cs typeface="IBM Plex Sans Italics"/>
              <a:sym typeface="IBM Plex Sans Italics"/>
            </a:endParaRPr>
          </a:p>
        </p:txBody>
      </p:sp>
      <p:sp>
        <p:nvSpPr>
          <p:cNvPr id="35" name="TextBox 52"/>
          <p:cNvSpPr txBox="1"/>
          <p:nvPr/>
        </p:nvSpPr>
        <p:spPr>
          <a:xfrm>
            <a:off x="2445344" y="1281655"/>
            <a:ext cx="838810" cy="212174"/>
          </a:xfrm>
          <a:prstGeom prst="rect">
            <a:avLst/>
          </a:prstGeom>
        </p:spPr>
        <p:txBody>
          <a:bodyPr lIns="0" tIns="0" rIns="0" bIns="0" rtlCol="0" anchor="t">
            <a:spAutoFit/>
          </a:bodyPr>
          <a:lstStyle/>
          <a:p>
            <a:pPr algn="just">
              <a:lnSpc>
                <a:spcPts val="1783"/>
              </a:lnSpc>
            </a:pPr>
            <a:r>
              <a:rPr lang="en-US" sz="1200" spc="7" dirty="0">
                <a:solidFill>
                  <a:srgbClr val="464395"/>
                </a:solidFill>
                <a:latin typeface="IBM Plex Sans"/>
                <a:ea typeface="IBM Plex Sans"/>
                <a:cs typeface="IBM Plex Sans"/>
                <a:sym typeface="IBM Plex Sans"/>
              </a:rPr>
              <a:t>LANGUE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6" name="TextBox 38"/>
          <p:cNvSpPr txBox="1"/>
          <p:nvPr/>
        </p:nvSpPr>
        <p:spPr>
          <a:xfrm>
            <a:off x="3923062" y="1483624"/>
            <a:ext cx="951900" cy="212174"/>
          </a:xfrm>
          <a:prstGeom prst="rect">
            <a:avLst/>
          </a:prstGeom>
        </p:spPr>
        <p:txBody>
          <a:bodyPr lIns="0" tIns="0" rIns="0" bIns="0" rtlCol="0" anchor="t">
            <a:spAutoFit/>
          </a:bodyPr>
          <a:lstStyle/>
          <a:p>
            <a:pPr>
              <a:lnSpc>
                <a:spcPts val="1796"/>
              </a:lnSpc>
            </a:pPr>
            <a:r>
              <a:rPr lang="en-US" sz="1200" i="1" spc="7" dirty="0">
                <a:solidFill>
                  <a:srgbClr val="231F20"/>
                </a:solidFill>
                <a:latin typeface="IBM Plex Sans Italics"/>
                <a:ea typeface="IBM Plex Sans Italics"/>
                <a:cs typeface="IBM Plex Sans Italics"/>
                <a:sym typeface="IBM Plex Sans Italics"/>
              </a:rPr>
              <a:t>4-6 mois/an en entreprise</a:t>
            </a:r>
            <a:endParaRPr lang="en-US" sz="1200" i="1" spc="4" dirty="0">
              <a:solidFill>
                <a:srgbClr val="231F20"/>
              </a:solidFill>
              <a:latin typeface="IBM Plex Sans Italics"/>
              <a:ea typeface="IBM Plex Sans Italics"/>
              <a:cs typeface="IBM Plex Sans Italics"/>
              <a:sym typeface="IBM Plex Sans Italics"/>
            </a:endParaRPr>
          </a:p>
        </p:txBody>
      </p:sp>
      <p:sp>
        <p:nvSpPr>
          <p:cNvPr id="37" name="TextBox 36"/>
          <p:cNvSpPr txBox="1"/>
          <p:nvPr/>
        </p:nvSpPr>
        <p:spPr>
          <a:xfrm>
            <a:off x="2951845" y="6563801"/>
            <a:ext cx="1773936" cy="179536"/>
          </a:xfrm>
          <a:prstGeom prst="rect">
            <a:avLst/>
          </a:prstGeom>
        </p:spPr>
        <p:txBody>
          <a:bodyPr wrap="square" lIns="0" tIns="0" rIns="0" bIns="0" rtlCol="0" anchor="t">
            <a:spAutoFit/>
          </a:bodyPr>
          <a:lstStyle/>
          <a:p>
            <a:pPr algn="just">
              <a:lnSpc>
                <a:spcPts val="1439"/>
              </a:lnSpc>
            </a:pPr>
            <a:r>
              <a:rPr lang="en-US" sz="1200" i="1" spc="4" dirty="0">
                <a:solidFill>
                  <a:srgbClr val="231F20"/>
                </a:solidFill>
                <a:latin typeface="IBM Plex Sans Italics"/>
                <a:ea typeface="IBM Plex Sans Italics"/>
                <a:cs typeface="IBM Plex Sans Italics"/>
                <a:sym typeface="IBM Plex Sans Italics"/>
              </a:rPr>
              <a:t>Créer un flux de travail automatisé complexe
Intégrer l’IA dans l’architecture du workflow
Sécuriser les transferts et stockage de données</a:t>
            </a:r>
          </a:p>
        </p:txBody>
      </p:sp>
      <p:sp>
        <p:nvSpPr>
          <p:cNvPr id="38" name="TextBox 37"/>
          <p:cNvSpPr txBox="1"/>
          <p:nvPr/>
        </p:nvSpPr>
        <p:spPr>
          <a:xfrm>
            <a:off x="2883389" y="5606948"/>
            <a:ext cx="1856994"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SURFER SUR LA VAGUE DU DIGITAL</a:t>
            </a:r>
          </a:p>
        </p:txBody>
      </p:sp>
      <p:sp>
        <p:nvSpPr>
          <p:cNvPr id="39" name="TextBox 39"/>
          <p:cNvSpPr txBox="1"/>
          <p:nvPr/>
        </p:nvSpPr>
        <p:spPr>
          <a:xfrm>
            <a:off x="5196249" y="1527315"/>
            <a:ext cx="1306830" cy="179536"/>
          </a:xfrm>
          <a:prstGeom prst="rect">
            <a:avLst/>
          </a:prstGeom>
        </p:spPr>
        <p:txBody>
          <a:bodyPr lIns="0" tIns="0" rIns="0" bIns="0" rtlCol="0" anchor="t">
            <a:spAutoFit/>
          </a:bodyPr>
          <a:lstStyle/>
          <a:p>
            <a:pPr>
              <a:lnSpc>
                <a:spcPts val="1439"/>
              </a:lnSpc>
            </a:pPr>
            <a:r>
              <a:rPr lang="en-US" sz="1200" i="1" spc="4" dirty="0">
                <a:solidFill>
                  <a:srgbClr val="231F20"/>
                </a:solidFill>
                <a:latin typeface="IBM Plex Sans Italics"/>
                <a:ea typeface="IBM Plex Sans Italics"/>
                <a:cs typeface="IBM Plex Sans Italics"/>
                <a:sym typeface="IBM Plex Sans Italics"/>
              </a:rPr>
              <a:t>Sur dossier et entretien</a:t>
            </a:r>
          </a:p>
        </p:txBody>
      </p:sp>
      <p:sp>
        <p:nvSpPr>
          <p:cNvPr id="40" name="TextBox 41"/>
          <p:cNvSpPr txBox="1"/>
          <p:nvPr/>
        </p:nvSpPr>
        <p:spPr>
          <a:xfrm>
            <a:off x="5127250" y="6542094"/>
            <a:ext cx="1456639" cy="179536"/>
          </a:xfrm>
          <a:prstGeom prst="rect">
            <a:avLst/>
          </a:prstGeom>
        </p:spPr>
        <p:txBody>
          <a:bodyPr lIns="0" tIns="0" rIns="0" bIns="0" rtlCol="0" anchor="t">
            <a:spAutoFit/>
          </a:bodyPr>
          <a:lstStyle/>
          <a:p>
            <a:pPr algn="l">
              <a:lnSpc>
                <a:spcPts val="1439"/>
              </a:lnSpc>
            </a:pPr>
            <a:r>
              <a:rPr lang="en-US" sz="1200" i="1" spc="4" dirty="0">
                <a:solidFill>
                  <a:srgbClr val="231F20"/>
                </a:solidFill>
                <a:latin typeface="IBM Plex Sans Italics"/>
                <a:ea typeface="IBM Plex Sans Italics"/>
                <a:cs typeface="IBM Plex Sans Italics"/>
                <a:sym typeface="IBM Plex Sans Italics"/>
              </a:rPr>
              <a:t>Superviser une équipe de concepteurs No-code
Piloter l’adoption des outils numériques
Gérer un projet, son impact financier et humain</a:t>
            </a:r>
          </a:p>
        </p:txBody>
      </p:sp>
      <p:sp>
        <p:nvSpPr>
          <p:cNvPr id="41" name="TextBox 40"/>
          <p:cNvSpPr txBox="1"/>
          <p:nvPr/>
        </p:nvSpPr>
        <p:spPr>
          <a:xfrm>
            <a:off x="5130670" y="5606948"/>
            <a:ext cx="1641348"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TITRE AVEC LABEL RNCP EN OPTION</a:t>
            </a:r>
          </a:p>
        </p:txBody>
      </p:sp>
      <p:sp>
        <p:nvSpPr>
          <p:cNvPr id="42" name="TextBox 42"/>
          <p:cNvSpPr txBox="1"/>
          <p:nvPr/>
        </p:nvSpPr>
        <p:spPr>
          <a:xfrm>
            <a:off x="611800" y="2786767"/>
            <a:ext cx="6092133" cy="179536"/>
          </a:xfrm>
          <a:prstGeom prst="rect">
            <a:avLst/>
          </a:prstGeom>
        </p:spPr>
        <p:txBody>
          <a:bodyPr lIns="0" tIns="0" rIns="0" bIns="0" rtlCol="0" anchor="t">
            <a:spAutoFit/>
          </a:bodyPr>
          <a:lstStyle/>
          <a:p>
            <a:pPr algn="just">
              <a:lnSpc>
                <a:spcPts val="1439"/>
              </a:lnSpc>
            </a:pPr>
            <a:r>
              <a:rPr lang="en-US" sz="1200" spc="7" dirty="0">
                <a:solidFill>
                  <a:srgbClr val="FFFFFF"/>
                </a:solidFill>
                <a:latin typeface="IBM Plex Sans"/>
                <a:ea typeface="IBM Plex Sans"/>
                <a:cs typeface="IBM Plex Sans"/>
                <a:sym typeface="IBM Plex Sans"/>
              </a:rPr>
              <a:t>La formation "Product Builder No-Code : IA et Automatisation" vise à former des professionnels capables de concevoir et gérer des solutions numériques complètes en utilisant des plateformes no-code et intégrant l’usage de l’Intelligence Artificielle. 
Cette certification répond au besoin des entreprises souhaitant accélérer leur transformation digitale, centraliser leurs processus et automatiser leurs flux de travail (workflows). Les titulaires du titre seront aptes à concevoir des produits numériques répondant aux exigences des parties prenantes.</a:t>
            </a:r>
          </a:p>
        </p:txBody>
      </p:sp>
      <p:sp>
        <p:nvSpPr>
          <p:cNvPr id="43" name="TextBox 43"/>
          <p:cNvSpPr txBox="1"/>
          <p:nvPr/>
        </p:nvSpPr>
        <p:spPr>
          <a:xfrm>
            <a:off x="6278525" y="429625"/>
            <a:ext cx="525475" cy="397269"/>
          </a:xfrm>
          <a:prstGeom prst="rect">
            <a:avLst/>
          </a:prstGeom>
        </p:spPr>
        <p:txBody>
          <a:bodyPr lIns="0" tIns="0" rIns="0" bIns="0" rtlCol="0" anchor="t">
            <a:spAutoFit/>
          </a:bodyPr>
          <a:lstStyle/>
          <a:p>
            <a:pPr algn="ctr">
              <a:lnSpc>
                <a:spcPts val="1660"/>
              </a:lnSpc>
            </a:pPr>
            <a:r>
              <a:rPr lang="en-US" sz="1399" b="1" spc="8" dirty="0">
                <a:solidFill>
                  <a:srgbClr val="FFFFFF"/>
                </a:solidFill>
                <a:latin typeface="IBM Plex Sans Bold"/>
                <a:ea typeface="IBM Plex Sans Bold"/>
                <a:cs typeface="IBM Plex Sans Bold"/>
                <a:sym typeface="IBM Plex Sans Bold"/>
              </a:rPr>
              <a:t>2 </a:t>
            </a:r>
          </a:p>
          <a:p>
            <a:pPr algn="l">
              <a:lnSpc>
                <a:spcPts val="1423"/>
              </a:lnSpc>
            </a:pPr>
            <a:r>
              <a:rPr lang="en-US" sz="1200" b="1" spc="7" dirty="0">
                <a:solidFill>
                  <a:srgbClr val="FFFFFF"/>
                </a:solidFill>
                <a:latin typeface="IBM Plex Sans Bold"/>
                <a:ea typeface="IBM Plex Sans Bold"/>
                <a:cs typeface="IBM Plex Sans Bold"/>
                <a:sym typeface="IBM Plex Sans Bold"/>
              </a:rPr>
              <a:t>YEARS</a:t>
            </a:r>
          </a:p>
        </p:txBody>
      </p:sp>
      <p:sp>
        <p:nvSpPr>
          <p:cNvPr id="44" name="TextBox 44"/>
          <p:cNvSpPr txBox="1"/>
          <p:nvPr/>
        </p:nvSpPr>
        <p:spPr>
          <a:xfrm>
            <a:off x="2560053" y="10301611"/>
            <a:ext cx="2515629" cy="151428"/>
          </a:xfrm>
          <a:prstGeom prst="rect">
            <a:avLst/>
          </a:prstGeom>
        </p:spPr>
        <p:txBody>
          <a:bodyPr lIns="0" tIns="0" rIns="0" bIns="0" rtlCol="0" anchor="t">
            <a:spAutoFit/>
          </a:bodyPr>
          <a:lstStyle/>
          <a:p>
            <a:pPr algn="l">
              <a:lnSpc>
                <a:spcPts val="1260"/>
              </a:lnSpc>
            </a:pPr>
            <a:r>
              <a:rPr lang="en-US" sz="900" i="1" spc="25" dirty="0" err="1">
                <a:solidFill>
                  <a:srgbClr val="939496"/>
                </a:solidFill>
                <a:latin typeface="IBM Plex Sans Italics"/>
                <a:ea typeface="IBM Plex Sans Italics"/>
                <a:cs typeface="IBM Plex Sans Italics"/>
                <a:sym typeface="IBM Plex Sans Italics"/>
              </a:rPr>
              <a:t>Etablissement</a:t>
            </a:r>
            <a:r>
              <a:rPr lang="en-US" sz="900" i="1" spc="25" dirty="0">
                <a:solidFill>
                  <a:srgbClr val="939496"/>
                </a:solidFill>
                <a:latin typeface="IBM Plex Sans Italics"/>
                <a:ea typeface="IBM Plex Sans Italics"/>
                <a:cs typeface="IBM Plex Sans Italics"/>
                <a:sym typeface="IBM Plex Sans Italics"/>
              </a:rPr>
              <a:t> </a:t>
            </a:r>
            <a:r>
              <a:rPr lang="en-US" sz="900" i="1" spc="25" dirty="0" err="1">
                <a:solidFill>
                  <a:srgbClr val="939496"/>
                </a:solidFill>
                <a:latin typeface="IBM Plex Sans Italics"/>
                <a:ea typeface="IBM Plex Sans Italics"/>
                <a:cs typeface="IBM Plex Sans Italics"/>
                <a:sym typeface="IBM Plex Sans Italics"/>
              </a:rPr>
              <a:t>d’enseignement</a:t>
            </a:r>
            <a:r>
              <a:rPr lang="en-US" sz="900" i="1" spc="25" dirty="0">
                <a:solidFill>
                  <a:srgbClr val="939496"/>
                </a:solidFill>
                <a:latin typeface="IBM Plex Sans Italics"/>
                <a:ea typeface="IBM Plex Sans Italics"/>
                <a:cs typeface="IBM Plex Sans Italics"/>
                <a:sym typeface="IBM Plex Sans Italics"/>
              </a:rPr>
              <a:t> supérieur </a:t>
            </a:r>
            <a:r>
              <a:rPr lang="en-US" sz="900" i="1" spc="25" dirty="0" err="1">
                <a:solidFill>
                  <a:srgbClr val="939496"/>
                </a:solidFill>
                <a:latin typeface="IBM Plex Sans Italics"/>
                <a:ea typeface="IBM Plex Sans Italics"/>
                <a:cs typeface="IBM Plex Sans Italics"/>
                <a:sym typeface="IBM Plex Sans Italics"/>
              </a:rPr>
              <a:t>privé</a:t>
            </a:r>
            <a:endParaRPr lang="en-US" sz="900" i="1" spc="25" dirty="0">
              <a:solidFill>
                <a:srgbClr val="939496"/>
              </a:solidFill>
              <a:latin typeface="IBM Plex Sans Italics"/>
              <a:ea typeface="IBM Plex Sans Italics"/>
              <a:cs typeface="IBM Plex Sans Italics"/>
              <a:sym typeface="IBM Plex Sans Italics"/>
            </a:endParaRPr>
          </a:p>
        </p:txBody>
      </p:sp>
      <p:sp>
        <p:nvSpPr>
          <p:cNvPr id="45" name="TextBox 46"/>
          <p:cNvSpPr txBox="1"/>
          <p:nvPr/>
        </p:nvSpPr>
        <p:spPr>
          <a:xfrm>
            <a:off x="626278" y="6127490"/>
            <a:ext cx="3837772"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ENSEIGNEMENTS</a:t>
            </a:r>
          </a:p>
        </p:txBody>
      </p:sp>
      <p:sp>
        <p:nvSpPr>
          <p:cNvPr id="46" name="TextBox 45"/>
          <p:cNvSpPr txBox="1"/>
          <p:nvPr/>
        </p:nvSpPr>
        <p:spPr>
          <a:xfrm>
            <a:off x="618277" y="8095164"/>
            <a:ext cx="3464773" cy="299056"/>
          </a:xfrm>
          <a:prstGeom prst="rect">
            <a:avLst/>
          </a:prstGeom>
        </p:spPr>
        <p:txBody>
          <a:bodyPr wrap="square" lIns="0" tIns="0" rIns="0" bIns="0" rtlCol="0" anchor="t">
            <a:spAutoFit/>
          </a:bodyPr>
          <a:lstStyle/>
          <a:p>
            <a:pPr algn="l">
              <a:lnSpc>
                <a:spcPts val="2520"/>
              </a:lnSpc>
            </a:pPr>
            <a:r>
              <a:rPr lang="en-US" sz="1800" b="1" i="1">
                <a:solidFill>
                  <a:srgbClr val="EA8C39"/>
                </a:solidFill>
                <a:latin typeface="IBM Plex Sans Bold Italics"/>
                <a:ea typeface="IBM Plex Sans Bold Italics"/>
                <a:cs typeface="IBM Plex Sans Bold Italics"/>
                <a:sym typeface="IBM Plex Sans Bold Italics"/>
              </a:rPr>
              <a:t>OPPORTUNITÉS MÉTIERS</a:t>
            </a:r>
          </a:p>
        </p:txBody>
      </p:sp>
      <p:sp>
        <p:nvSpPr>
          <p:cNvPr id="47" name="TextBox 47"/>
          <p:cNvSpPr txBox="1"/>
          <p:nvPr/>
        </p:nvSpPr>
        <p:spPr>
          <a:xfrm>
            <a:off x="600894" y="4421000"/>
            <a:ext cx="386315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TOP3 - POINTS FORTS</a:t>
            </a:r>
          </a:p>
        </p:txBody>
      </p:sp>
      <p:sp>
        <p:nvSpPr>
          <p:cNvPr id="48" name="TextBox 48"/>
          <p:cNvSpPr txBox="1"/>
          <p:nvPr/>
        </p:nvSpPr>
        <p:spPr>
          <a:xfrm>
            <a:off x="1127645" y="915400"/>
            <a:ext cx="5150879" cy="299056"/>
          </a:xfrm>
          <a:prstGeom prst="rect">
            <a:avLst/>
          </a:prstGeom>
        </p:spPr>
        <p:txBody>
          <a:bodyPr wrap="square" lIns="0" tIns="0" rIns="0" bIns="0" rtlCol="0" anchor="t">
            <a:spAutoFit/>
          </a:bodyPr>
          <a:lstStyle/>
          <a:p>
            <a:pPr algn="l">
              <a:lnSpc>
                <a:spcPts val="2520"/>
              </a:lnSpc>
            </a:pPr>
            <a:r>
              <a:rPr lang="en-US" sz="1800" b="1" spc="7" dirty="0">
                <a:solidFill>
                  <a:srgbClr val="1A1447"/>
                </a:solidFill>
                <a:latin typeface="IBM Plex Sans Bold"/>
                <a:ea typeface="IBM Plex Sans Bold"/>
                <a:cs typeface="IBM Plex Sans Bold"/>
                <a:sym typeface="IBM Plex Sans Bold"/>
              </a:rPr>
              <a:t>BUILDER NO-CODE : IA ET AUTOMATISATION</a:t>
            </a:r>
          </a:p>
        </p:txBody>
      </p:sp>
      <p:sp>
        <p:nvSpPr>
          <p:cNvPr id="49" name="TextBox 49"/>
          <p:cNvSpPr txBox="1"/>
          <p:nvPr/>
        </p:nvSpPr>
        <p:spPr>
          <a:xfrm>
            <a:off x="5150644" y="1289818"/>
            <a:ext cx="783022" cy="192491"/>
          </a:xfrm>
          <a:prstGeom prst="rect">
            <a:avLst/>
          </a:prstGeom>
        </p:spPr>
        <p:txBody>
          <a:bodyPr lIns="0" tIns="0" rIns="0" bIns="0" rtlCol="0" anchor="t">
            <a:spAutoFit/>
          </a:bodyPr>
          <a:lstStyle/>
          <a:p>
            <a:pPr algn="l">
              <a:lnSpc>
                <a:spcPts val="1539"/>
              </a:lnSpc>
            </a:pPr>
            <a:r>
              <a:rPr lang="en-US" sz="1100" spc="6" dirty="0">
                <a:solidFill>
                  <a:srgbClr val="464395"/>
                </a:solidFill>
                <a:latin typeface="IBM Plex Sans"/>
                <a:ea typeface="IBM Plex Sans"/>
                <a:cs typeface="IBM Plex Sans"/>
                <a:sym typeface="IBM Plex Sans"/>
              </a:rPr>
              <a:t>ADMISSION</a:t>
            </a:r>
          </a:p>
        </p:txBody>
      </p:sp>
      <p:sp>
        <p:nvSpPr>
          <p:cNvPr id="50" name="TextBox 50"/>
          <p:cNvSpPr txBox="1"/>
          <p:nvPr/>
        </p:nvSpPr>
        <p:spPr>
          <a:xfrm>
            <a:off x="1107748" y="411985"/>
            <a:ext cx="1496263" cy="405699"/>
          </a:xfrm>
          <a:prstGeom prst="rect">
            <a:avLst/>
          </a:prstGeom>
        </p:spPr>
        <p:txBody>
          <a:bodyPr lIns="0" tIns="0" rIns="0" bIns="0" rtlCol="0" anchor="t">
            <a:spAutoFit/>
          </a:bodyPr>
          <a:lstStyle/>
          <a:p>
            <a:pPr algn="l">
              <a:lnSpc>
                <a:spcPts val="3359"/>
              </a:lnSpc>
            </a:pPr>
            <a:r>
              <a:rPr lang="en-US" sz="2400" b="1" spc="14" dirty="0">
                <a:solidFill>
                  <a:srgbClr val="231F20"/>
                </a:solidFill>
                <a:latin typeface="IBM Plex Sans Bold"/>
                <a:ea typeface="IBM Plex Sans Bold"/>
                <a:cs typeface="IBM Plex Sans Bold"/>
                <a:sym typeface="IBM Plex Sans Bold"/>
              </a:rPr>
              <a:t>MASTERE</a:t>
            </a:r>
          </a:p>
        </p:txBody>
      </p:sp>
      <p:sp>
        <p:nvSpPr>
          <p:cNvPr id="52" name="TextBox 51">
            <a:extLst>
              <a:ext uri="{FF2B5EF4-FFF2-40B4-BE49-F238E27FC236}">
                <a16:creationId xmlns:a16="http://schemas.microsoft.com/office/drawing/2014/main" id="{08B6434F-E251-F3F4-A8EE-0DB40DADF62C}"/>
              </a:ext>
            </a:extLst>
          </p:cNvPr>
          <p:cNvSpPr txBox="1"/>
          <p:nvPr/>
        </p:nvSpPr>
        <p:spPr>
          <a:xfrm>
            <a:off x="1256030" y="1299715"/>
            <a:ext cx="1040102" cy="192938"/>
          </a:xfrm>
          <a:prstGeom prst="rect">
            <a:avLst/>
          </a:prstGeom>
        </p:spPr>
        <p:txBody>
          <a:bodyPr wrap="square" lIns="0" tIns="0" rIns="0" bIns="0" rtlCol="0" anchor="t">
            <a:spAutoFit/>
          </a:bodyPr>
          <a:lstStyle/>
          <a:p>
            <a:pPr algn="just">
              <a:lnSpc>
                <a:spcPts val="1614"/>
              </a:lnSpc>
            </a:pPr>
            <a:r>
              <a:rPr lang="en-US" sz="1200" spc="7" dirty="0">
                <a:solidFill>
                  <a:srgbClr val="464395"/>
                </a:solidFill>
                <a:latin typeface="IBM Plex Sans"/>
                <a:ea typeface="IBM Plex Sans"/>
                <a:cs typeface="IBM Plex Sans"/>
                <a:sym typeface="IBM Plex Sans"/>
              </a:rPr>
              <a:t>2 RENTRÉES</a:t>
            </a:r>
            <a:endParaRPr lang="en-US" sz="1200" i="1" spc="4" dirty="0">
              <a:solidFill>
                <a:srgbClr val="231F20"/>
              </a:solidFill>
              <a:latin typeface="IBM Plex Sans Italics"/>
              <a:ea typeface="IBM Plex Sans Italics"/>
              <a:cs typeface="IBM Plex Sans Italics"/>
              <a:sym typeface="IBM Plex Sans Italics"/>
            </a:endParaRPr>
          </a:p>
        </p:txBody>
      </p:sp>
      <p:sp>
        <p:nvSpPr>
          <p:cNvPr id="53" name="TextBox 31">
            <a:extLst>
              <a:ext uri="{FF2B5EF4-FFF2-40B4-BE49-F238E27FC236}">
                <a16:creationId xmlns:a16="http://schemas.microsoft.com/office/drawing/2014/main" id="{63339F6C-44AA-C06C-C876-B9C66129B42B}"/>
              </a:ext>
            </a:extLst>
          </p:cNvPr>
          <p:cNvSpPr txBox="1"/>
          <p:nvPr/>
        </p:nvSpPr>
        <p:spPr>
          <a:xfrm>
            <a:off x="1252559" y="1505911"/>
            <a:ext cx="812873" cy="192938"/>
          </a:xfrm>
          <a:prstGeom prst="rect">
            <a:avLst/>
          </a:prstGeom>
        </p:spPr>
        <p:txBody>
          <a:bodyPr lIns="0" tIns="0" rIns="0" bIns="0" rtlCol="0" anchor="t">
            <a:spAutoFit/>
          </a:bodyPr>
          <a:lstStyle/>
          <a:p>
            <a:pPr>
              <a:lnSpc>
                <a:spcPts val="1614"/>
              </a:lnSpc>
            </a:pPr>
            <a:r>
              <a:rPr lang="en-US" sz="1200" i="1" spc="7" dirty="0">
                <a:solidFill>
                  <a:srgbClr val="231F20"/>
                </a:solidFill>
                <a:latin typeface="IBM Plex Sans Italics"/>
                <a:ea typeface="IBM Plex Sans Italics"/>
                <a:cs typeface="IBM Plex Sans Italics"/>
                <a:sym typeface="IBM Plex Sans Italics"/>
              </a:rPr>
              <a:t>Automne Printemps</a:t>
            </a:r>
            <a:endParaRPr lang="en-US" sz="1200" i="1" spc="4" dirty="0">
              <a:solidFill>
                <a:srgbClr val="231F20"/>
              </a:solidFill>
              <a:latin typeface="IBM Plex Sans Italics"/>
              <a:ea typeface="IBM Plex Sans Italics"/>
              <a:cs typeface="IBM Plex Sans Italics"/>
              <a:sym typeface="IBM Plex Sans Italics"/>
            </a:endParaRPr>
          </a:p>
        </p:txBody>
      </p:sp>
      <p:sp>
        <p:nvSpPr>
          <p:cNvPr id="55" name="TextBox 34">
            <a:extLst>
              <a:ext uri="{FF2B5EF4-FFF2-40B4-BE49-F238E27FC236}">
                <a16:creationId xmlns:a16="http://schemas.microsoft.com/office/drawing/2014/main" id="{7F360BAA-61BF-FE8B-0AC4-A991BC941086}"/>
              </a:ext>
            </a:extLst>
          </p:cNvPr>
          <p:cNvSpPr txBox="1"/>
          <p:nvPr/>
        </p:nvSpPr>
        <p:spPr>
          <a:xfrm>
            <a:off x="2467440" y="1508374"/>
            <a:ext cx="838811" cy="221792"/>
          </a:xfrm>
          <a:prstGeom prst="rect">
            <a:avLst/>
          </a:prstGeom>
        </p:spPr>
        <p:txBody>
          <a:bodyPr lIns="0" tIns="0" rIns="0" bIns="0" rtlCol="0" anchor="t">
            <a:spAutoFit/>
          </a:bodyPr>
          <a:lstStyle/>
          <a:p>
            <a:pPr>
              <a:lnSpc>
                <a:spcPts val="1908"/>
              </a:lnSpc>
            </a:pPr>
            <a:r>
              <a:rPr lang="en-US" sz="1200" i="1" spc="4" dirty="0" err="1">
                <a:solidFill>
                  <a:srgbClr val="231F20"/>
                </a:solidFill>
                <a:latin typeface="IBM Plex Sans Italics"/>
                <a:ea typeface="IBM Plex Sans Italics"/>
                <a:cs typeface="IBM Plex Sans Italics"/>
                <a:sym typeface="IBM Plex Sans Italics"/>
              </a:rPr>
              <a:t>Français et Anglais</a:t>
            </a:r>
            <a:r>
              <a:rPr lang="en-US" sz="1200" i="1" spc="4" dirty="0">
                <a:solidFill>
                  <a:srgbClr val="231F20"/>
                </a:solidFill>
                <a:latin typeface="IBM Plex Sans Italics"/>
                <a:ea typeface="IBM Plex Sans Italics"/>
                <a:cs typeface="IBM Plex Sans Italics"/>
                <a:sym typeface="IBM Plex Sans Italics"/>
              </a:rPr>
              <a:t/>
            </a:r>
          </a:p>
        </p:txBody>
      </p:sp>
      <p:sp>
        <p:nvSpPr>
          <p:cNvPr id="56" name="TextBox 53">
            <a:extLst>
              <a:ext uri="{FF2B5EF4-FFF2-40B4-BE49-F238E27FC236}">
                <a16:creationId xmlns:a16="http://schemas.microsoft.com/office/drawing/2014/main" id="{C7B0528E-AFDC-2B75-9630-CDE5B04D540C}"/>
              </a:ext>
            </a:extLst>
          </p:cNvPr>
          <p:cNvSpPr txBox="1"/>
          <p:nvPr/>
        </p:nvSpPr>
        <p:spPr>
          <a:xfrm>
            <a:off x="3909566" y="1257967"/>
            <a:ext cx="1091866" cy="212174"/>
          </a:xfrm>
          <a:prstGeom prst="rect">
            <a:avLst/>
          </a:prstGeom>
        </p:spPr>
        <p:txBody>
          <a:bodyPr lIns="0" tIns="0" rIns="0" bIns="0" rtlCol="0" anchor="t">
            <a:spAutoFit/>
          </a:bodyPr>
          <a:lstStyle/>
          <a:p>
            <a:pPr algn="just">
              <a:lnSpc>
                <a:spcPts val="1796"/>
              </a:lnSpc>
            </a:pPr>
            <a:r>
              <a:rPr lang="en-US" sz="1200" spc="4" dirty="0">
                <a:solidFill>
                  <a:srgbClr val="464395"/>
                </a:solidFill>
                <a:latin typeface="IBM Plex Sans"/>
                <a:ea typeface="IBM Plex Sans"/>
                <a:cs typeface="IBM Plex Sans"/>
                <a:sym typeface="IBM Plex Sans"/>
              </a:rPr>
              <a:t>STAGE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p:cNvGrpSpPr>
            <a:grpSpLocks noChangeAspect="1"/>
          </p:cNvGrpSpPr>
          <p:nvPr/>
        </p:nvGrpSpPr>
        <p:grpSpPr>
          <a:xfrm>
            <a:off x="1380363" y="4894745"/>
            <a:ext cx="762505" cy="679580"/>
            <a:chOff x="0" y="0"/>
            <a:chExt cx="762495" cy="679577"/>
          </a:xfrm>
        </p:grpSpPr>
        <p:sp>
          <p:nvSpPr>
            <p:cNvPr id="3" name="Freeform 3"/>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7112"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p:cNvSpPr/>
            <p:nvPr/>
          </p:nvSpPr>
          <p:spPr>
            <a:xfrm>
              <a:off x="260477" y="267970"/>
              <a:ext cx="120396" cy="140081"/>
            </a:xfrm>
            <a:custGeom>
              <a:avLst/>
              <a:gdLst/>
              <a:ahLst/>
              <a:cxnLst/>
              <a:rect l="l" t="t" r="r" b="b"/>
              <a:pathLst>
                <a:path w="120396"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198" y="0"/>
                  </a:cubicBezTo>
                  <a:lnTo>
                    <a:pt x="76708" y="1778"/>
                  </a:lnTo>
                  <a:cubicBezTo>
                    <a:pt x="91440" y="8890"/>
                    <a:pt x="97790" y="13716"/>
                    <a:pt x="103251" y="19939"/>
                  </a:cubicBezTo>
                  <a:lnTo>
                    <a:pt x="115824" y="42037"/>
                  </a:lnTo>
                  <a:cubicBezTo>
                    <a:pt x="118872" y="50546"/>
                    <a:pt x="120396" y="59944"/>
                    <a:pt x="120396" y="70104"/>
                  </a:cubicBezTo>
                  <a:moveTo>
                    <a:pt x="88900" y="70104"/>
                  </a:moveTo>
                  <a:lnTo>
                    <a:pt x="88265" y="58293"/>
                  </a:lnTo>
                  <a:cubicBezTo>
                    <a:pt x="85471" y="48006"/>
                    <a:pt x="83439" y="43561"/>
                    <a:pt x="80899" y="39878"/>
                  </a:cubicBezTo>
                  <a:lnTo>
                    <a:pt x="75311" y="33401"/>
                  </a:lnTo>
                  <a:lnTo>
                    <a:pt x="64516" y="28448"/>
                  </a:lnTo>
                  <a:cubicBezTo>
                    <a:pt x="56007" y="28448"/>
                    <a:pt x="52070" y="29464"/>
                    <a:pt x="48514" y="31496"/>
                  </a:cubicBezTo>
                  <a:lnTo>
                    <a:pt x="42037" y="36322"/>
                  </a:lnTo>
                  <a:cubicBezTo>
                    <a:pt x="36957" y="43688"/>
                    <a:pt x="34925" y="48133"/>
                    <a:pt x="33528" y="53340"/>
                  </a:cubicBezTo>
                  <a:lnTo>
                    <a:pt x="31369" y="64135"/>
                  </a:lnTo>
                  <a:cubicBezTo>
                    <a:pt x="31369" y="76454"/>
                    <a:pt x="32004" y="82042"/>
                    <a:pt x="33528" y="87122"/>
                  </a:cubicBezTo>
                  <a:lnTo>
                    <a:pt x="36957" y="96520"/>
                  </a:lnTo>
                  <a:cubicBezTo>
                    <a:pt x="42037" y="103886"/>
                    <a:pt x="45085" y="106807"/>
                    <a:pt x="48641" y="108712"/>
                  </a:cubicBezTo>
                  <a:lnTo>
                    <a:pt x="56007" y="111760"/>
                  </a:lnTo>
                  <a:lnTo>
                    <a:pt x="68453" y="110744"/>
                  </a:lnTo>
                  <a:cubicBezTo>
                    <a:pt x="75438" y="106680"/>
                    <a:pt x="78486" y="103886"/>
                    <a:pt x="81026" y="100203"/>
                  </a:cubicBezTo>
                  <a:lnTo>
                    <a:pt x="85598" y="92075"/>
                  </a:lnTo>
                  <a:cubicBezTo>
                    <a:pt x="88392" y="81915"/>
                    <a:pt x="89027" y="76327"/>
                    <a:pt x="89027" y="70104"/>
                  </a:cubicBezTo>
                </a:path>
              </a:pathLst>
            </a:custGeom>
            <a:solidFill>
              <a:srgbClr val="7DE314"/>
            </a:solidFill>
          </p:spPr>
          <p:txBody>
            <a:bodyPr/>
            <a:lstStyle/>
            <a:p>
              <a:endParaRPr lang="fr-FR"/>
            </a:p>
          </p:txBody>
        </p:sp>
        <p:sp>
          <p:nvSpPr>
            <p:cNvPr id="7" name="Freeform 7"/>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036" y="37719"/>
                    <a:pt x="31115" y="39751"/>
                  </a:cubicBezTo>
                  <a:lnTo>
                    <a:pt x="24765" y="43434"/>
                  </a:lnTo>
                  <a:lnTo>
                    <a:pt x="13970" y="48260"/>
                  </a:lnTo>
                  <a:cubicBezTo>
                    <a:pt x="6350" y="50419"/>
                    <a:pt x="2921"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p:cNvGrpSpPr>
            <a:grpSpLocks noChangeAspect="1"/>
          </p:cNvGrpSpPr>
          <p:nvPr/>
        </p:nvGrpSpPr>
        <p:grpSpPr>
          <a:xfrm>
            <a:off x="3639750" y="4887516"/>
            <a:ext cx="762505" cy="686800"/>
            <a:chOff x="0" y="0"/>
            <a:chExt cx="762495" cy="686803"/>
          </a:xfrm>
        </p:grpSpPr>
        <p:sp>
          <p:nvSpPr>
            <p:cNvPr id="9" name="Freeform 9"/>
            <p:cNvSpPr/>
            <p:nvPr/>
          </p:nvSpPr>
          <p:spPr>
            <a:xfrm>
              <a:off x="63500" y="63500"/>
              <a:ext cx="635508" cy="559689"/>
            </a:xfrm>
            <a:custGeom>
              <a:avLst/>
              <a:gdLst/>
              <a:ahLst/>
              <a:cxnLst/>
              <a:rect l="l" t="t" r="r" b="b"/>
              <a:pathLst>
                <a:path w="635508" h="559689">
                  <a:moveTo>
                    <a:pt x="631698" y="294132"/>
                  </a:moveTo>
                  <a:lnTo>
                    <a:pt x="487045" y="545465"/>
                  </a:lnTo>
                  <a:cubicBezTo>
                    <a:pt x="481965" y="554355"/>
                    <a:pt x="472567" y="559689"/>
                    <a:pt x="462407" y="559689"/>
                  </a:cubicBezTo>
                  <a:lnTo>
                    <a:pt x="173101" y="559689"/>
                  </a:lnTo>
                  <a:cubicBezTo>
                    <a:pt x="162941" y="559689"/>
                    <a:pt x="153543" y="554228"/>
                    <a:pt x="148463" y="545465"/>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p:cNvGrpSpPr>
            <a:grpSpLocks noChangeAspect="1"/>
          </p:cNvGrpSpPr>
          <p:nvPr/>
        </p:nvGrpSpPr>
        <p:grpSpPr>
          <a:xfrm>
            <a:off x="0" y="2592886"/>
            <a:ext cx="7559993" cy="1642539"/>
            <a:chOff x="0" y="0"/>
            <a:chExt cx="7559992" cy="1642542"/>
          </a:xfrm>
        </p:grpSpPr>
        <p:sp>
          <p:nvSpPr>
            <p:cNvPr id="15" name="Freeform 15"/>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grpSp>
        <p:nvGrpSpPr>
          <p:cNvPr id="16" name="Group 16"/>
          <p:cNvGrpSpPr>
            <a:grpSpLocks noChangeAspect="1"/>
          </p:cNvGrpSpPr>
          <p:nvPr/>
        </p:nvGrpSpPr>
        <p:grpSpPr>
          <a:xfrm>
            <a:off x="5653192" y="4880277"/>
            <a:ext cx="762505" cy="694058"/>
            <a:chOff x="0" y="0"/>
            <a:chExt cx="762495" cy="694055"/>
          </a:xfrm>
        </p:grpSpPr>
        <p:sp>
          <p:nvSpPr>
            <p:cNvPr id="17" name="Freeform 17"/>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8" name="Freeform 18"/>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9" name="Freeform 19"/>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20" name="Freeform 20"/>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21" name="Freeform 21"/>
            <p:cNvSpPr/>
            <p:nvPr/>
          </p:nvSpPr>
          <p:spPr>
            <a:xfrm>
              <a:off x="388620"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2" name="Group 22"/>
          <p:cNvGrpSpPr>
            <a:grpSpLocks noChangeAspect="1"/>
          </p:cNvGrpSpPr>
          <p:nvPr/>
        </p:nvGrpSpPr>
        <p:grpSpPr>
          <a:xfrm>
            <a:off x="623635" y="305124"/>
            <a:ext cx="6466446" cy="1976704"/>
            <a:chOff x="0" y="0"/>
            <a:chExt cx="6466446" cy="1976704"/>
          </a:xfrm>
        </p:grpSpPr>
        <p:sp>
          <p:nvSpPr>
            <p:cNvPr id="23" name="Freeform 23"/>
            <p:cNvSpPr/>
            <p:nvPr/>
          </p:nvSpPr>
          <p:spPr>
            <a:xfrm>
              <a:off x="63500" y="381000"/>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a:p>
          </p:txBody>
        </p:sp>
        <p:sp>
          <p:nvSpPr>
            <p:cNvPr id="24" name="Freeform 24"/>
            <p:cNvSpPr/>
            <p:nvPr/>
          </p:nvSpPr>
          <p:spPr>
            <a:xfrm>
              <a:off x="559435" y="179451"/>
              <a:ext cx="1947672" cy="416433"/>
            </a:xfrm>
            <a:custGeom>
              <a:avLst/>
              <a:gdLst/>
              <a:ahLst/>
              <a:cxnLst/>
              <a:rect l="l" t="t" r="r" b="b"/>
              <a:pathLst>
                <a:path w="1947672" h="416433">
                  <a:moveTo>
                    <a:pt x="0" y="416433"/>
                  </a:moveTo>
                  <a:lnTo>
                    <a:pt x="1947672" y="416433"/>
                  </a:lnTo>
                  <a:lnTo>
                    <a:pt x="1947672" y="0"/>
                  </a:lnTo>
                  <a:lnTo>
                    <a:pt x="0" y="0"/>
                  </a:lnTo>
                  <a:close/>
                </a:path>
              </a:pathLst>
            </a:custGeom>
            <a:solidFill>
              <a:srgbClr val="FFFFFF"/>
            </a:solidFill>
          </p:spPr>
          <p:txBody>
            <a:bodyPr/>
            <a:lstStyle/>
            <a:p>
              <a:endParaRPr lang="fr-FR"/>
            </a:p>
          </p:txBody>
        </p:sp>
        <p:sp>
          <p:nvSpPr>
            <p:cNvPr id="25" name="Freeform 25"/>
            <p:cNvSpPr/>
            <p:nvPr/>
          </p:nvSpPr>
          <p:spPr>
            <a:xfrm>
              <a:off x="5722620" y="63500"/>
              <a:ext cx="680339" cy="646176"/>
            </a:xfrm>
            <a:custGeom>
              <a:avLst/>
              <a:gdLst/>
              <a:ahLst/>
              <a:cxnLst/>
              <a:rect l="l" t="t" r="r" b="b"/>
              <a:pathLst>
                <a:path w="680339" h="646176">
                  <a:moveTo>
                    <a:pt x="340233" y="646049"/>
                  </a:moveTo>
                  <a:cubicBezTo>
                    <a:pt x="528066" y="646049"/>
                    <a:pt x="680339" y="501396"/>
                    <a:pt x="680339" y="322961"/>
                  </a:cubicBezTo>
                  <a:cubicBezTo>
                    <a:pt x="680339" y="144526"/>
                    <a:pt x="528066" y="0"/>
                    <a:pt x="340233" y="0"/>
                  </a:cubicBezTo>
                  <a:cubicBezTo>
                    <a:pt x="152400"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26" name="Freeform 26"/>
            <p:cNvSpPr/>
            <p:nvPr/>
          </p:nvSpPr>
          <p:spPr>
            <a:xfrm>
              <a:off x="1884299" y="134962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7" name="Freeform 27"/>
            <p:cNvSpPr/>
            <p:nvPr/>
          </p:nvSpPr>
          <p:spPr>
            <a:xfrm>
              <a:off x="3229102" y="1339596"/>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8" name="Freeform 28"/>
            <p:cNvSpPr/>
            <p:nvPr/>
          </p:nvSpPr>
          <p:spPr>
            <a:xfrm>
              <a:off x="4741037" y="1334135"/>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29" name="Freeform 29"/>
            <p:cNvSpPr/>
            <p:nvPr/>
          </p:nvSpPr>
          <p:spPr>
            <a:xfrm>
              <a:off x="566674" y="1349629"/>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grpSp>
      <p:sp>
        <p:nvSpPr>
          <p:cNvPr id="30" name="TextBox 99"/>
          <p:cNvSpPr txBox="1"/>
          <p:nvPr/>
        </p:nvSpPr>
        <p:spPr>
          <a:xfrm>
            <a:off x="6672167" y="9971913"/>
            <a:ext cx="248917" cy="240665"/>
          </a:xfrm>
          <a:prstGeom prst="rect">
            <a:avLst/>
          </a:prstGeom>
        </p:spPr>
        <p:txBody>
          <a:bodyPr lIns="0" tIns="0" rIns="0" bIns="0" rtlCol="0" anchor="t">
            <a:spAutoFit/>
          </a:bodyPr>
          <a:lstStyle/>
          <a:p>
            <a:pPr algn="l">
              <a:lnSpc>
                <a:spcPts val="1959"/>
              </a:lnSpc>
            </a:pPr>
            <a:r>
              <a:rPr lang="en-US" sz="1399" b="1" spc="2">
                <a:solidFill>
                  <a:srgbClr val="231F20"/>
                </a:solidFill>
                <a:latin typeface="Open Sans Bold"/>
                <a:ea typeface="Open Sans Bold"/>
                <a:cs typeface="Open Sans Bold"/>
                <a:sym typeface="Open Sans Bold"/>
              </a:rPr>
              <a:t>28</a:t>
            </a:r>
          </a:p>
        </p:txBody>
      </p:sp>
      <p:sp>
        <p:nvSpPr>
          <p:cNvPr id="31" name="TextBox 46"/>
          <p:cNvSpPr txBox="1"/>
          <p:nvPr/>
        </p:nvSpPr>
        <p:spPr>
          <a:xfrm>
            <a:off x="796119" y="6182554"/>
            <a:ext cx="3224382" cy="299056"/>
          </a:xfrm>
          <a:prstGeom prst="rect">
            <a:avLst/>
          </a:prstGeom>
        </p:spPr>
        <p:txBody>
          <a:bodyPr wrap="square" lIns="0" tIns="0" rIns="0" bIns="0" rtlCol="0" anchor="t">
            <a:spAutoFit/>
          </a:bodyPr>
          <a:lstStyle/>
          <a:p>
            <a:pPr algn="l">
              <a:lnSpc>
                <a:spcPts val="2520"/>
              </a:lnSpc>
            </a:pPr>
            <a:r>
              <a:rPr lang="en-US" sz="1800" b="1" i="1" spc="9" dirty="0">
                <a:solidFill>
                  <a:srgbClr val="EA8C39"/>
                </a:solidFill>
                <a:latin typeface="IBM Plex Sans Bold Italics"/>
                <a:ea typeface="IBM Plex Sans Bold Italics"/>
                <a:cs typeface="IBM Plex Sans Bold Italics"/>
                <a:sym typeface="IBM Plex Sans Bold Italics"/>
              </a:rPr>
              <a:t>ENSEIGNEMENTS</a:t>
            </a:r>
          </a:p>
        </p:txBody>
      </p:sp>
      <p:sp>
        <p:nvSpPr>
          <p:cNvPr id="32" name="TextBox 47"/>
          <p:cNvSpPr txBox="1"/>
          <p:nvPr/>
        </p:nvSpPr>
        <p:spPr>
          <a:xfrm>
            <a:off x="778744" y="4391616"/>
            <a:ext cx="3990106" cy="299056"/>
          </a:xfrm>
          <a:prstGeom prst="rect">
            <a:avLst/>
          </a:prstGeom>
        </p:spPr>
        <p:txBody>
          <a:bodyPr wrap="square" lIns="0" tIns="0" rIns="0" bIns="0" rtlCol="0" anchor="t">
            <a:spAutoFit/>
          </a:bodyPr>
          <a:lstStyle/>
          <a:p>
            <a:pPr algn="l">
              <a:lnSpc>
                <a:spcPts val="2520"/>
              </a:lnSpc>
            </a:pPr>
            <a:r>
              <a:rPr lang="en-US" sz="1800" b="1" i="1" spc="9" dirty="0">
                <a:solidFill>
                  <a:srgbClr val="EA8C39"/>
                </a:solidFill>
                <a:latin typeface="IBM Plex Sans Bold Italics"/>
                <a:ea typeface="IBM Plex Sans Bold Italics"/>
                <a:cs typeface="IBM Plex Sans Bold Italics"/>
                <a:sym typeface="IBM Plex Sans Bold Italics"/>
              </a:rPr>
              <a:t>TOP3 - POINTS FORTS</a:t>
            </a:r>
          </a:p>
        </p:txBody>
      </p:sp>
      <p:sp>
        <p:nvSpPr>
          <p:cNvPr id="33" name="TextBox 45"/>
          <p:cNvSpPr txBox="1"/>
          <p:nvPr/>
        </p:nvSpPr>
        <p:spPr>
          <a:xfrm>
            <a:off x="804129" y="8159772"/>
            <a:ext cx="3850362" cy="299056"/>
          </a:xfrm>
          <a:prstGeom prst="rect">
            <a:avLst/>
          </a:prstGeom>
        </p:spPr>
        <p:txBody>
          <a:bodyPr lIns="0" tIns="0" rIns="0" bIns="0" rtlCol="0" anchor="t">
            <a:spAutoFit/>
          </a:bodyPr>
          <a:lstStyle/>
          <a:p>
            <a:pPr algn="l">
              <a:lnSpc>
                <a:spcPts val="2520"/>
              </a:lnSpc>
            </a:pPr>
            <a:r>
              <a:rPr lang="en-US" sz="1800" b="1" i="1" spc="9" dirty="0">
                <a:solidFill>
                  <a:srgbClr val="EA8C39"/>
                </a:solidFill>
                <a:latin typeface="IBM Plex Sans Bold Italics"/>
                <a:ea typeface="IBM Plex Sans Bold Italics"/>
                <a:cs typeface="IBM Plex Sans Bold Italics"/>
                <a:sym typeface="IBM Plex Sans Bold Italics"/>
              </a:rPr>
              <a:t>OPPORTUNITÉS MÉTIERS</a:t>
            </a:r>
          </a:p>
        </p:txBody>
      </p:sp>
      <p:sp>
        <p:nvSpPr>
          <p:cNvPr id="34" name="TextBox 48"/>
          <p:cNvSpPr txBox="1"/>
          <p:nvPr/>
        </p:nvSpPr>
        <p:spPr>
          <a:xfrm>
            <a:off x="1274693" y="911790"/>
            <a:ext cx="5145157" cy="299056"/>
          </a:xfrm>
          <a:prstGeom prst="rect">
            <a:avLst/>
          </a:prstGeom>
        </p:spPr>
        <p:txBody>
          <a:bodyPr wrap="square" lIns="0" tIns="0" rIns="0" bIns="0" rtlCol="0" anchor="t">
            <a:spAutoFit/>
          </a:bodyPr>
          <a:lstStyle/>
          <a:p>
            <a:pPr algn="l">
              <a:lnSpc>
                <a:spcPts val="2520"/>
              </a:lnSpc>
            </a:pPr>
            <a:r>
              <a:rPr lang="en-US" sz="1800" b="1" spc="7" dirty="0">
                <a:solidFill>
                  <a:srgbClr val="1A1447"/>
                </a:solidFill>
                <a:latin typeface="IBM Plex Sans Bold"/>
                <a:ea typeface="IBM Plex Sans Bold"/>
                <a:cs typeface="IBM Plex Sans Bold"/>
                <a:sym typeface="IBM Plex Sans Bold"/>
              </a:rPr>
              <a:t>Programme d'Excellence en Stratégie de Carrière et Entrepreneuriat (PESCE)</a:t>
            </a:r>
          </a:p>
        </p:txBody>
      </p:sp>
      <p:sp>
        <p:nvSpPr>
          <p:cNvPr id="35" name="TextBox 50"/>
          <p:cNvSpPr txBox="1"/>
          <p:nvPr/>
        </p:nvSpPr>
        <p:spPr>
          <a:xfrm>
            <a:off x="1274693" y="430139"/>
            <a:ext cx="1496263" cy="406458"/>
          </a:xfrm>
          <a:prstGeom prst="rect">
            <a:avLst/>
          </a:prstGeom>
        </p:spPr>
        <p:txBody>
          <a:bodyPr lIns="0" tIns="0" rIns="0" bIns="0" rtlCol="0" anchor="t">
            <a:spAutoFit/>
          </a:bodyPr>
          <a:lstStyle/>
          <a:p>
            <a:pPr algn="l">
              <a:lnSpc>
                <a:spcPts val="3359"/>
              </a:lnSpc>
            </a:pPr>
            <a:r>
              <a:rPr lang="en-US" sz="2400" b="1" spc="4" dirty="0">
                <a:solidFill>
                  <a:srgbClr val="231F20"/>
                </a:solidFill>
                <a:latin typeface="Open Sans Bold"/>
                <a:ea typeface="Open Sans Bold"/>
                <a:cs typeface="Open Sans Bold"/>
                <a:sym typeface="Open Sans Bold"/>
              </a:rPr>
              <a:t>BAC+6</a:t>
            </a:r>
          </a:p>
        </p:txBody>
      </p:sp>
      <p:sp>
        <p:nvSpPr>
          <p:cNvPr id="36" name="TextBox 51"/>
          <p:cNvSpPr txBox="1"/>
          <p:nvPr/>
        </p:nvSpPr>
        <p:spPr>
          <a:xfrm>
            <a:off x="1302506" y="1517485"/>
            <a:ext cx="1158317" cy="192938"/>
          </a:xfrm>
          <a:prstGeom prst="rect">
            <a:avLst/>
          </a:prstGeom>
        </p:spPr>
        <p:txBody>
          <a:bodyPr wrap="square" lIns="0" tIns="0" rIns="0" bIns="0" rtlCol="0" anchor="t">
            <a:spAutoFit/>
          </a:bodyPr>
          <a:lstStyle/>
          <a:p>
            <a:pPr algn="just">
              <a:lnSpc>
                <a:spcPts val="1614"/>
              </a:lnSpc>
            </a:pPr>
            <a:r>
              <a:rPr lang="en-US" sz="1200" spc="7" dirty="0">
                <a:solidFill>
                  <a:srgbClr val="464395"/>
                </a:solidFill>
                <a:latin typeface="IBM Plex Sans"/>
                <a:ea typeface="IBM Plex Sans"/>
                <a:cs typeface="IBM Plex Sans"/>
                <a:sym typeface="IBM Plex Sans"/>
              </a:rPr>
              <a:t>2 RENTRÉES</a:t>
            </a:r>
            <a:endParaRPr lang="en-US" sz="1200" i="1" spc="6" dirty="0">
              <a:solidFill>
                <a:srgbClr val="231F20"/>
              </a:solidFill>
              <a:latin typeface="IBM Plex Sans Italics"/>
              <a:ea typeface="IBM Plex Sans Italics"/>
              <a:cs typeface="IBM Plex Sans Italics"/>
              <a:sym typeface="IBM Plex Sans Italics"/>
            </a:endParaRPr>
          </a:p>
        </p:txBody>
      </p:sp>
      <p:sp>
        <p:nvSpPr>
          <p:cNvPr id="37" name="TextBox 32"/>
          <p:cNvSpPr txBox="1"/>
          <p:nvPr/>
        </p:nvSpPr>
        <p:spPr>
          <a:xfrm>
            <a:off x="827465" y="6658127"/>
            <a:ext cx="1683477" cy="154466"/>
          </a:xfrm>
          <a:prstGeom prst="rect">
            <a:avLst/>
          </a:prstGeom>
        </p:spPr>
        <p:txBody>
          <a:bodyPr lIns="0" tIns="0" rIns="0" bIns="0" rtlCol="0" anchor="t">
            <a:spAutoFit/>
          </a:bodyPr>
          <a:lstStyle/>
          <a:p>
            <a:pPr marL="0" lvl="0" indent="0" algn="l">
              <a:lnSpc>
                <a:spcPts val="1200"/>
              </a:lnSpc>
              <a:spcBef>
                <a:spcPct val="0"/>
              </a:spcBef>
            </a:pPr>
            <a:r>
              <a:rPr lang="en-US" sz="1200" i="1" spc="6" dirty="0">
                <a:solidFill>
                  <a:srgbClr val="231F20"/>
                </a:solidFill>
                <a:latin typeface="IBM Plex Sans Italics"/>
                <a:ea typeface="IBM Plex Sans Italics"/>
                <a:cs typeface="IBM Plex Sans Italics"/>
                <a:sym typeface="IBM Plex Sans Italics"/>
              </a:rPr>
              <a:t>Developpement personnel et leadership
Stratégies de marketing digital et international
Gestion et pilotage de performance</a:t>
            </a:r>
            <a:endParaRPr lang="en-US" sz="1200" i="1" u="none" strike="noStrike" spc="6" dirty="0">
              <a:solidFill>
                <a:srgbClr val="231F20"/>
              </a:solidFill>
              <a:latin typeface="IBM Plex Sans Italics"/>
              <a:ea typeface="IBM Plex Sans Italics"/>
              <a:cs typeface="IBM Plex Sans Italics"/>
              <a:sym typeface="IBM Plex Sans Italics"/>
            </a:endParaRPr>
          </a:p>
        </p:txBody>
      </p:sp>
      <p:sp>
        <p:nvSpPr>
          <p:cNvPr id="38" name="TextBox 33"/>
          <p:cNvSpPr txBox="1"/>
          <p:nvPr/>
        </p:nvSpPr>
        <p:spPr>
          <a:xfrm>
            <a:off x="922553" y="5577573"/>
            <a:ext cx="1818113" cy="179536"/>
          </a:xfrm>
          <a:prstGeom prst="rect">
            <a:avLst/>
          </a:prstGeom>
        </p:spPr>
        <p:txBody>
          <a:bodyPr lIns="0" tIns="0" rIns="0" bIns="0" rtlCol="0" anchor="t">
            <a:spAutoFit/>
          </a:bodyPr>
          <a:lstStyle/>
          <a:p>
            <a:pPr algn="ctr">
              <a:lnSpc>
                <a:spcPts val="1439"/>
              </a:lnSpc>
            </a:pPr>
            <a:r>
              <a:rPr lang="en-US" sz="1200" i="1" spc="6" dirty="0">
                <a:solidFill>
                  <a:srgbClr val="1A1447"/>
                </a:solidFill>
                <a:latin typeface="IBM Plex Sans Italics"/>
                <a:ea typeface="IBM Plex Sans Italics"/>
                <a:cs typeface="IBM Plex Sans Italics"/>
                <a:sym typeface="IBM Plex Sans Italics"/>
              </a:rPr>
              <a:t>APPROCHE PRATIQUE ET PROFESSIONNALISANTE
</a:t>
            </a:r>
          </a:p>
        </p:txBody>
      </p:sp>
      <p:sp>
        <p:nvSpPr>
          <p:cNvPr id="39" name="TextBox 52"/>
          <p:cNvSpPr txBox="1"/>
          <p:nvPr/>
        </p:nvSpPr>
        <p:spPr>
          <a:xfrm>
            <a:off x="2664000" y="1485071"/>
            <a:ext cx="723062" cy="212174"/>
          </a:xfrm>
          <a:prstGeom prst="rect">
            <a:avLst/>
          </a:prstGeom>
        </p:spPr>
        <p:txBody>
          <a:bodyPr lIns="0" tIns="0" rIns="0" bIns="0" rtlCol="0" anchor="t">
            <a:spAutoFit/>
          </a:bodyPr>
          <a:lstStyle/>
          <a:p>
            <a:pPr algn="l">
              <a:lnSpc>
                <a:spcPts val="1783"/>
              </a:lnSpc>
            </a:pPr>
            <a:r>
              <a:rPr lang="en-US" sz="1200" spc="6" dirty="0">
                <a:solidFill>
                  <a:srgbClr val="464395"/>
                </a:solidFill>
                <a:latin typeface="IBM Plex Sans"/>
                <a:ea typeface="IBM Plex Sans"/>
                <a:cs typeface="IBM Plex Sans"/>
                <a:sym typeface="IBM Plex Sans"/>
              </a:rPr>
              <a:t>LANGUE</a:t>
            </a:r>
            <a:endParaRPr lang="en-US" sz="1200" i="1" spc="6" dirty="0">
              <a:solidFill>
                <a:srgbClr val="231F20"/>
              </a:solidFill>
              <a:latin typeface="IBM Plex Sans Italics"/>
              <a:ea typeface="IBM Plex Sans Italics"/>
              <a:cs typeface="IBM Plex Sans Italics"/>
              <a:sym typeface="IBM Plex Sans Italics"/>
            </a:endParaRPr>
          </a:p>
        </p:txBody>
      </p:sp>
      <p:sp>
        <p:nvSpPr>
          <p:cNvPr id="40" name="TextBox 35"/>
          <p:cNvSpPr txBox="1"/>
          <p:nvPr/>
        </p:nvSpPr>
        <p:spPr>
          <a:xfrm>
            <a:off x="796119" y="8528914"/>
            <a:ext cx="2997689" cy="179536"/>
          </a:xfrm>
          <a:prstGeom prst="rect">
            <a:avLst/>
          </a:prstGeom>
        </p:spPr>
        <p:txBody>
          <a:bodyPr lIns="0" tIns="0" rIns="0" bIns="0" rtlCol="0" anchor="t">
            <a:spAutoFit/>
          </a:bodyPr>
          <a:lstStyle/>
          <a:p>
            <a:pPr marL="129540" lvl="1" algn="just">
              <a:lnSpc>
                <a:spcPts val="1439"/>
              </a:lnSpc>
            </a:pPr>
            <a:r>
              <a:rPr lang="en-US" sz="1200" i="1" spc="6" dirty="0" err="1">
                <a:solidFill>
                  <a:srgbClr val="1A1447"/>
                </a:solidFill>
                <a:latin typeface="IBM Plex Sans Italics"/>
                <a:ea typeface="IBM Plex Sans Italics"/>
                <a:cs typeface="IBM Plex Sans Italics"/>
                <a:sym typeface="IBM Plex Sans Italics"/>
              </a:rPr>
              <a:t>• Créateur d’entreprise
• Consultant en stratégie
• Manager de projet
• Responsable du développement
• Responsable Relations Publiques
• Coach en développement de carrière
• Responsable innovation
</a:t>
            </a:r>
            <a:endParaRPr lang="en-US" sz="1200" i="1" spc="6" dirty="0">
              <a:solidFill>
                <a:srgbClr val="1A1447"/>
              </a:solidFill>
              <a:latin typeface="IBM Plex Sans Italics"/>
              <a:ea typeface="IBM Plex Sans Italics"/>
              <a:cs typeface="IBM Plex Sans Italics"/>
              <a:sym typeface="IBM Plex Sans Italics"/>
            </a:endParaRPr>
          </a:p>
        </p:txBody>
      </p:sp>
      <p:sp>
        <p:nvSpPr>
          <p:cNvPr id="41" name="TextBox 37"/>
          <p:cNvSpPr txBox="1"/>
          <p:nvPr/>
        </p:nvSpPr>
        <p:spPr>
          <a:xfrm>
            <a:off x="3173397" y="5577573"/>
            <a:ext cx="1632661" cy="179536"/>
          </a:xfrm>
          <a:prstGeom prst="rect">
            <a:avLst/>
          </a:prstGeom>
        </p:spPr>
        <p:txBody>
          <a:bodyPr lIns="0" tIns="0" rIns="0" bIns="0" rtlCol="0" anchor="t">
            <a:spAutoFit/>
          </a:bodyPr>
          <a:lstStyle/>
          <a:p>
            <a:pPr algn="ctr">
              <a:lnSpc>
                <a:spcPts val="1439"/>
              </a:lnSpc>
            </a:pPr>
            <a:r>
              <a:rPr lang="en-US" sz="1200" i="1" spc="6" dirty="0">
                <a:solidFill>
                  <a:srgbClr val="1A1447"/>
                </a:solidFill>
                <a:latin typeface="IBM Plex Sans Italics"/>
                <a:ea typeface="IBM Plex Sans Italics"/>
                <a:cs typeface="IBM Plex Sans Italics"/>
                <a:sym typeface="IBM Plex Sans Italics"/>
              </a:rPr>
              <a:t>FOCUS SUR L'ENTREPRENEURIAT</a:t>
            </a:r>
          </a:p>
        </p:txBody>
      </p:sp>
      <p:sp>
        <p:nvSpPr>
          <p:cNvPr id="42" name="TextBox 36"/>
          <p:cNvSpPr txBox="1"/>
          <p:nvPr/>
        </p:nvSpPr>
        <p:spPr>
          <a:xfrm>
            <a:off x="3135649" y="6640468"/>
            <a:ext cx="1766992"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6" dirty="0">
                <a:solidFill>
                  <a:srgbClr val="231F20"/>
                </a:solidFill>
                <a:latin typeface="IBM Plex Sans Italics"/>
                <a:ea typeface="IBM Plex Sans Italics"/>
                <a:cs typeface="IBM Plex Sans Italics"/>
                <a:sym typeface="IBM Plex Sans Italics"/>
              </a:rPr>
              <a:t>Management, Structure d’entreprise et gestion 
Définir et piloter une stratégie commerciale
Business Communication Anglais/Français
</a:t>
            </a:r>
          </a:p>
        </p:txBody>
      </p:sp>
      <p:sp>
        <p:nvSpPr>
          <p:cNvPr id="43" name="TextBox 53"/>
          <p:cNvSpPr txBox="1"/>
          <p:nvPr/>
        </p:nvSpPr>
        <p:spPr>
          <a:xfrm>
            <a:off x="3925248" y="1507960"/>
            <a:ext cx="983504" cy="212174"/>
          </a:xfrm>
          <a:prstGeom prst="rect">
            <a:avLst/>
          </a:prstGeom>
        </p:spPr>
        <p:txBody>
          <a:bodyPr lIns="0" tIns="0" rIns="0" bIns="0" rtlCol="0" anchor="t">
            <a:spAutoFit/>
          </a:bodyPr>
          <a:lstStyle/>
          <a:p>
            <a:pPr algn="l">
              <a:lnSpc>
                <a:spcPts val="1796"/>
              </a:lnSpc>
            </a:pPr>
            <a:r>
              <a:rPr lang="en-US" sz="1200" spc="7" dirty="0">
                <a:solidFill>
                  <a:srgbClr val="464395"/>
                </a:solidFill>
                <a:latin typeface="IBM Plex Sans"/>
                <a:ea typeface="IBM Plex Sans"/>
                <a:cs typeface="IBM Plex Sans"/>
                <a:sym typeface="IBM Plex Sans"/>
              </a:rPr>
              <a:t>STAGE</a:t>
            </a:r>
          </a:p>
        </p:txBody>
      </p:sp>
      <p:sp>
        <p:nvSpPr>
          <p:cNvPr id="44" name="TextBox 39"/>
          <p:cNvSpPr txBox="1"/>
          <p:nvPr/>
        </p:nvSpPr>
        <p:spPr>
          <a:xfrm>
            <a:off x="5446938" y="1716900"/>
            <a:ext cx="788670" cy="179536"/>
          </a:xfrm>
          <a:prstGeom prst="rect">
            <a:avLst/>
          </a:prstGeom>
        </p:spPr>
        <p:txBody>
          <a:bodyPr lIns="0" tIns="0" rIns="0" bIns="0" rtlCol="0" anchor="t">
            <a:spAutoFit/>
          </a:bodyPr>
          <a:lstStyle/>
          <a:p>
            <a:pPr>
              <a:lnSpc>
                <a:spcPts val="1439"/>
              </a:lnSpc>
            </a:pPr>
            <a:r>
              <a:rPr lang="en-US" sz="1200" i="1" spc="6" dirty="0">
                <a:solidFill>
                  <a:srgbClr val="231F20"/>
                </a:solidFill>
                <a:latin typeface="IBM Plex Sans Italics"/>
                <a:ea typeface="IBM Plex Sans Italics"/>
                <a:cs typeface="IBM Plex Sans Italics"/>
                <a:sym typeface="IBM Plex Sans Italics"/>
              </a:rPr>
              <a:t>Sur dossier et entretien</a:t>
            </a:r>
          </a:p>
        </p:txBody>
      </p:sp>
      <p:sp>
        <p:nvSpPr>
          <p:cNvPr id="45" name="TextBox 40"/>
          <p:cNvSpPr txBox="1"/>
          <p:nvPr/>
        </p:nvSpPr>
        <p:spPr>
          <a:xfrm>
            <a:off x="5294186" y="5577573"/>
            <a:ext cx="1766350" cy="179536"/>
          </a:xfrm>
          <a:prstGeom prst="rect">
            <a:avLst/>
          </a:prstGeom>
        </p:spPr>
        <p:txBody>
          <a:bodyPr lIns="0" tIns="0" rIns="0" bIns="0" rtlCol="0" anchor="t">
            <a:spAutoFit/>
          </a:bodyPr>
          <a:lstStyle/>
          <a:p>
            <a:pPr algn="ctr">
              <a:lnSpc>
                <a:spcPts val="1439"/>
              </a:lnSpc>
            </a:pPr>
            <a:r>
              <a:rPr lang="en-US" sz="1200" i="1" spc="6" dirty="0">
                <a:solidFill>
                  <a:srgbClr val="1A1447"/>
                </a:solidFill>
                <a:latin typeface="IBM Plex Sans Italics"/>
                <a:ea typeface="IBM Plex Sans Italics"/>
                <a:cs typeface="IBM Plex Sans Italics"/>
                <a:sym typeface="IBM Plex Sans Italics"/>
              </a:rPr>
              <a:t>DÉVELOPPEMENT DE LA RECHERCHE APPLIQUÉE
</a:t>
            </a:r>
          </a:p>
        </p:txBody>
      </p:sp>
      <p:sp>
        <p:nvSpPr>
          <p:cNvPr id="46" name="TextBox 43"/>
          <p:cNvSpPr txBox="1"/>
          <p:nvPr/>
        </p:nvSpPr>
        <p:spPr>
          <a:xfrm>
            <a:off x="6505746" y="468239"/>
            <a:ext cx="332842" cy="383311"/>
          </a:xfrm>
          <a:prstGeom prst="rect">
            <a:avLst/>
          </a:prstGeom>
        </p:spPr>
        <p:txBody>
          <a:bodyPr lIns="0" tIns="0" rIns="0" bIns="0" rtlCol="0" anchor="t">
            <a:spAutoFit/>
          </a:bodyPr>
          <a:lstStyle/>
          <a:p>
            <a:pPr algn="ctr">
              <a:lnSpc>
                <a:spcPts val="1660"/>
              </a:lnSpc>
            </a:pPr>
            <a:r>
              <a:rPr lang="en-US" sz="1399" b="1" spc="2" dirty="0">
                <a:solidFill>
                  <a:srgbClr val="FFFFFF"/>
                </a:solidFill>
                <a:latin typeface="Open Sans Bold"/>
                <a:ea typeface="Open Sans Bold"/>
                <a:cs typeface="Open Sans Bold"/>
                <a:sym typeface="Open Sans Bold"/>
              </a:rPr>
              <a:t>1 </a:t>
            </a:r>
          </a:p>
          <a:p>
            <a:pPr algn="ctr">
              <a:lnSpc>
                <a:spcPts val="1423"/>
              </a:lnSpc>
            </a:pPr>
            <a:r>
              <a:rPr lang="en-US" sz="1200" b="1" spc="2" dirty="0">
                <a:solidFill>
                  <a:srgbClr val="FFFFFF"/>
                </a:solidFill>
                <a:latin typeface="Open Sans Bold"/>
                <a:ea typeface="Open Sans Bold"/>
                <a:cs typeface="Open Sans Bold"/>
                <a:sym typeface="Open Sans Bold"/>
              </a:rPr>
              <a:t>AN</a:t>
            </a:r>
          </a:p>
        </p:txBody>
      </p:sp>
      <p:sp>
        <p:nvSpPr>
          <p:cNvPr id="47" name="TextBox 42"/>
          <p:cNvSpPr txBox="1"/>
          <p:nvPr/>
        </p:nvSpPr>
        <p:spPr>
          <a:xfrm>
            <a:off x="756000" y="2631872"/>
            <a:ext cx="6040626" cy="179536"/>
          </a:xfrm>
          <a:prstGeom prst="rect">
            <a:avLst/>
          </a:prstGeom>
        </p:spPr>
        <p:txBody>
          <a:bodyPr lIns="0" tIns="0" rIns="0" bIns="0" rtlCol="0" anchor="t">
            <a:spAutoFit/>
          </a:bodyPr>
          <a:lstStyle/>
          <a:p>
            <a:pPr algn="l">
              <a:lnSpc>
                <a:spcPts val="1439"/>
              </a:lnSpc>
            </a:pPr>
            <a:r>
              <a:rPr lang="en-US" sz="1200" spc="7" dirty="0">
                <a:solidFill>
                  <a:srgbClr val="FFFFFF"/>
                </a:solidFill>
                <a:latin typeface="IBM Plex Sans"/>
                <a:ea typeface="IBM Plex Sans"/>
                <a:cs typeface="IBM Plex Sans"/>
                <a:sym typeface="IBM Plex Sans"/>
              </a:rPr>
              <a:t> Il s’agit d’une formation innovante conçue pour préparer les futurs leaders aux défis du marché global. Ancré dans une approche professionnelle de projets pratiques, ce programme vise à doter les participants des compétences stratégiques et entrepreneuriales indispensables pour exceller dans leurs carrières. 
Avec un focus sur le développement personnel, l'analyse de marché et l'innovation, vivez une expérience d'apprentissage enrichissante. Rejoignez-nous pour transformer vos ambitions en réussite et devenir un acteur clé de l'entrepreneuriat de demain.
</a:t>
            </a:r>
          </a:p>
        </p:txBody>
      </p:sp>
      <p:sp>
        <p:nvSpPr>
          <p:cNvPr id="48" name="TextBox 41"/>
          <p:cNvSpPr txBox="1"/>
          <p:nvPr/>
        </p:nvSpPr>
        <p:spPr>
          <a:xfrm>
            <a:off x="5311045" y="6618761"/>
            <a:ext cx="1610039" cy="154466"/>
          </a:xfrm>
          <a:prstGeom prst="rect">
            <a:avLst/>
          </a:prstGeom>
        </p:spPr>
        <p:txBody>
          <a:bodyPr lIns="0" tIns="0" rIns="0" bIns="0" rtlCol="0" anchor="t">
            <a:spAutoFit/>
          </a:bodyPr>
          <a:lstStyle/>
          <a:p>
            <a:pPr algn="just">
              <a:lnSpc>
                <a:spcPts val="1200"/>
              </a:lnSpc>
            </a:pPr>
            <a:r>
              <a:rPr lang="en-US" sz="1200" i="1" spc="6" dirty="0">
                <a:solidFill>
                  <a:srgbClr val="231F20"/>
                </a:solidFill>
                <a:latin typeface="IBM Plex Sans Italics"/>
                <a:ea typeface="IBM Plex Sans Italics"/>
                <a:cs typeface="IBM Plex Sans Italics"/>
                <a:sym typeface="IBM Plex Sans Italics"/>
              </a:rPr>
              <a:t>Canaux de distribution et communication
Simulation business et 
gestion de projets
Networking et entrepreneuriat
</a:t>
            </a:r>
          </a:p>
        </p:txBody>
      </p:sp>
      <p:sp>
        <p:nvSpPr>
          <p:cNvPr id="49" name="TextBox 44"/>
          <p:cNvSpPr txBox="1"/>
          <p:nvPr/>
        </p:nvSpPr>
        <p:spPr>
          <a:xfrm>
            <a:off x="2497055" y="10250005"/>
            <a:ext cx="2515629" cy="151428"/>
          </a:xfrm>
          <a:prstGeom prst="rect">
            <a:avLst/>
          </a:prstGeom>
        </p:spPr>
        <p:txBody>
          <a:bodyPr lIns="0" tIns="0" rIns="0" bIns="0" rtlCol="0" anchor="t">
            <a:spAutoFit/>
          </a:bodyPr>
          <a:lstStyle/>
          <a:p>
            <a:pPr algn="l">
              <a:lnSpc>
                <a:spcPts val="1260"/>
              </a:lnSpc>
            </a:pPr>
            <a:r>
              <a:rPr lang="en-US" sz="900" i="1" spc="26">
                <a:solidFill>
                  <a:srgbClr val="939496"/>
                </a:solidFill>
                <a:latin typeface="IBM Plex Sans Italics"/>
                <a:ea typeface="IBM Plex Sans Italics"/>
                <a:cs typeface="IBM Plex Sans Italics"/>
                <a:sym typeface="IBM Plex Sans Italics"/>
              </a:rPr>
              <a:t>Etablissement d’enseignement supérieur privé</a:t>
            </a:r>
          </a:p>
        </p:txBody>
      </p:sp>
      <p:sp>
        <p:nvSpPr>
          <p:cNvPr id="50" name="TextBox 49"/>
          <p:cNvSpPr txBox="1"/>
          <p:nvPr/>
        </p:nvSpPr>
        <p:spPr>
          <a:xfrm>
            <a:off x="5452586" y="1494596"/>
            <a:ext cx="783022" cy="192491"/>
          </a:xfrm>
          <a:prstGeom prst="rect">
            <a:avLst/>
          </a:prstGeom>
        </p:spPr>
        <p:txBody>
          <a:bodyPr lIns="0" tIns="0" rIns="0" bIns="0" rtlCol="0" anchor="t">
            <a:spAutoFit/>
          </a:bodyPr>
          <a:lstStyle/>
          <a:p>
            <a:pPr algn="l">
              <a:lnSpc>
                <a:spcPts val="1539"/>
              </a:lnSpc>
            </a:pPr>
            <a:r>
              <a:rPr lang="en-US" sz="1100" spc="6" dirty="0">
                <a:solidFill>
                  <a:srgbClr val="464395"/>
                </a:solidFill>
                <a:latin typeface="IBM Plex Sans"/>
                <a:ea typeface="IBM Plex Sans"/>
                <a:cs typeface="IBM Plex Sans"/>
                <a:sym typeface="IBM Plex Sans"/>
              </a:rPr>
              <a:t>ADMISSION</a:t>
            </a:r>
          </a:p>
        </p:txBody>
      </p:sp>
      <p:sp>
        <p:nvSpPr>
          <p:cNvPr id="51" name="TextBox 34">
            <a:extLst>
              <a:ext uri="{FF2B5EF4-FFF2-40B4-BE49-F238E27FC236}">
                <a16:creationId xmlns:a16="http://schemas.microsoft.com/office/drawing/2014/main" id="{CC0210CA-C893-8B54-7DCC-26ECCB5BBD5E}"/>
              </a:ext>
            </a:extLst>
          </p:cNvPr>
          <p:cNvSpPr txBox="1"/>
          <p:nvPr/>
        </p:nvSpPr>
        <p:spPr>
          <a:xfrm>
            <a:off x="2661175" y="1713840"/>
            <a:ext cx="723062" cy="212174"/>
          </a:xfrm>
          <a:prstGeom prst="rect">
            <a:avLst/>
          </a:prstGeom>
        </p:spPr>
        <p:txBody>
          <a:bodyPr lIns="0" tIns="0" rIns="0" bIns="0" rtlCol="0" anchor="t">
            <a:spAutoFit/>
          </a:bodyPr>
          <a:lstStyle/>
          <a:p>
            <a:pPr algn="l">
              <a:lnSpc>
                <a:spcPts val="1783"/>
              </a:lnSpc>
            </a:pPr>
            <a:r>
              <a:rPr lang="en-US" sz="1200" i="1" spc="6" dirty="0">
                <a:solidFill>
                  <a:srgbClr val="231F20"/>
                </a:solidFill>
                <a:latin typeface="IBM Plex Sans Italics"/>
                <a:ea typeface="IBM Plex Sans Italics"/>
                <a:cs typeface="IBM Plex Sans Italics"/>
                <a:sym typeface="IBM Plex Sans Italics"/>
              </a:rPr>
              <a:t>Français et Anglais</a:t>
            </a:r>
          </a:p>
        </p:txBody>
      </p:sp>
      <p:sp>
        <p:nvSpPr>
          <p:cNvPr id="52" name="TextBox 38">
            <a:extLst>
              <a:ext uri="{FF2B5EF4-FFF2-40B4-BE49-F238E27FC236}">
                <a16:creationId xmlns:a16="http://schemas.microsoft.com/office/drawing/2014/main" id="{0571E810-DE32-3ED7-2CF5-8369BB9F97AE}"/>
              </a:ext>
            </a:extLst>
          </p:cNvPr>
          <p:cNvSpPr txBox="1"/>
          <p:nvPr/>
        </p:nvSpPr>
        <p:spPr>
          <a:xfrm>
            <a:off x="3924805" y="1694420"/>
            <a:ext cx="1022483" cy="212174"/>
          </a:xfrm>
          <a:prstGeom prst="rect">
            <a:avLst/>
          </a:prstGeom>
        </p:spPr>
        <p:txBody>
          <a:bodyPr wrap="square" lIns="0" tIns="0" rIns="0" bIns="0" rtlCol="0" anchor="t">
            <a:spAutoFit/>
          </a:bodyPr>
          <a:lstStyle/>
          <a:p>
            <a:pPr algn="l">
              <a:lnSpc>
                <a:spcPts val="1796"/>
              </a:lnSpc>
            </a:pPr>
            <a:r>
              <a:rPr lang="en-US" sz="1200" i="1" spc="6" dirty="0">
                <a:solidFill>
                  <a:srgbClr val="231F20"/>
                </a:solidFill>
                <a:latin typeface="IBM Plex Sans Italics"/>
                <a:ea typeface="IBM Plex Sans Italics"/>
                <a:cs typeface="IBM Plex Sans Italics"/>
                <a:sym typeface="IBM Plex Sans Italics"/>
              </a:rPr>
              <a:t>6 mois en entreprise</a:t>
            </a:r>
          </a:p>
        </p:txBody>
      </p:sp>
      <p:sp>
        <p:nvSpPr>
          <p:cNvPr id="53" name="TextBox 31">
            <a:extLst>
              <a:ext uri="{FF2B5EF4-FFF2-40B4-BE49-F238E27FC236}">
                <a16:creationId xmlns:a16="http://schemas.microsoft.com/office/drawing/2014/main" id="{59F2F614-DB59-88D3-F06C-A9764E0F35CD}"/>
              </a:ext>
            </a:extLst>
          </p:cNvPr>
          <p:cNvSpPr txBox="1"/>
          <p:nvPr/>
        </p:nvSpPr>
        <p:spPr>
          <a:xfrm>
            <a:off x="1302506" y="1722168"/>
            <a:ext cx="918219" cy="192938"/>
          </a:xfrm>
          <a:prstGeom prst="rect">
            <a:avLst/>
          </a:prstGeom>
        </p:spPr>
        <p:txBody>
          <a:bodyPr lIns="0" tIns="0" rIns="0" bIns="0" rtlCol="0" anchor="t">
            <a:spAutoFit/>
          </a:bodyPr>
          <a:lstStyle/>
          <a:p>
            <a:pPr>
              <a:lnSpc>
                <a:spcPts val="1614"/>
              </a:lnSpc>
            </a:pPr>
            <a:r>
              <a:rPr lang="en-US" sz="1200" i="1" spc="7" dirty="0">
                <a:solidFill>
                  <a:srgbClr val="231F20"/>
                </a:solidFill>
                <a:latin typeface="IBM Plex Sans Italics"/>
                <a:ea typeface="IBM Plex Sans Italics"/>
                <a:cs typeface="IBM Plex Sans Italics"/>
                <a:sym typeface="IBM Plex Sans Italics"/>
              </a:rPr>
              <a:t>Automne Printemps</a:t>
            </a:r>
            <a:endParaRPr lang="en-US" sz="1200" i="1" spc="6" dirty="0">
              <a:solidFill>
                <a:srgbClr val="231F20"/>
              </a:solidFill>
              <a:latin typeface="IBM Plex Sans Italics"/>
              <a:ea typeface="IBM Plex Sans Italics"/>
              <a:cs typeface="IBM Plex Sans Italics"/>
              <a:sym typeface="IBM Plex Sans Italics"/>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Group 2">
            <a:extLst>
              <a:ext uri="{FF2B5EF4-FFF2-40B4-BE49-F238E27FC236}">
                <a16:creationId xmlns:a16="http://schemas.microsoft.com/office/drawing/2014/main" id="{9E4D447C-9A35-23A7-CFFF-2ACF59B99B8A}"/>
              </a:ext>
            </a:extLst>
          </p:cNvPr>
          <p:cNvGrpSpPr>
            <a:grpSpLocks noChangeAspect="1"/>
          </p:cNvGrpSpPr>
          <p:nvPr/>
        </p:nvGrpSpPr>
        <p:grpSpPr>
          <a:xfrm>
            <a:off x="1079383" y="4764424"/>
            <a:ext cx="762505" cy="679580"/>
            <a:chOff x="0" y="0"/>
            <a:chExt cx="762495" cy="679577"/>
          </a:xfrm>
        </p:grpSpPr>
        <p:sp>
          <p:nvSpPr>
            <p:cNvPr id="3" name="Freeform 3">
              <a:extLst>
                <a:ext uri="{FF2B5EF4-FFF2-40B4-BE49-F238E27FC236}">
                  <a16:creationId xmlns:a16="http://schemas.microsoft.com/office/drawing/2014/main" id="{7C48DA50-3FEE-E01C-DDE7-2F9DB497960B}"/>
                </a:ext>
              </a:extLst>
            </p:cNvPr>
            <p:cNvSpPr/>
            <p:nvPr/>
          </p:nvSpPr>
          <p:spPr>
            <a:xfrm>
              <a:off x="63500" y="63500"/>
              <a:ext cx="635508" cy="552577"/>
            </a:xfrm>
            <a:custGeom>
              <a:avLst/>
              <a:gdLst/>
              <a:ahLst/>
              <a:cxnLst/>
              <a:rect l="l" t="t" r="r" b="b"/>
              <a:pathLst>
                <a:path w="635508" h="552577">
                  <a:moveTo>
                    <a:pt x="631698" y="290322"/>
                  </a:moveTo>
                  <a:lnTo>
                    <a:pt x="487045" y="538480"/>
                  </a:lnTo>
                  <a:cubicBezTo>
                    <a:pt x="481965" y="547243"/>
                    <a:pt x="472567" y="552577"/>
                    <a:pt x="462407" y="552577"/>
                  </a:cubicBezTo>
                  <a:lnTo>
                    <a:pt x="173101" y="552577"/>
                  </a:lnTo>
                  <a:cubicBezTo>
                    <a:pt x="162941" y="552577"/>
                    <a:pt x="153543" y="547243"/>
                    <a:pt x="148463" y="538480"/>
                  </a:cubicBezTo>
                  <a:lnTo>
                    <a:pt x="3810" y="290322"/>
                  </a:lnTo>
                  <a:cubicBezTo>
                    <a:pt x="-1270" y="281559"/>
                    <a:pt x="-1270" y="270891"/>
                    <a:pt x="3810" y="262128"/>
                  </a:cubicBezTo>
                  <a:lnTo>
                    <a:pt x="148463" y="14097"/>
                  </a:lnTo>
                  <a:cubicBezTo>
                    <a:pt x="153543" y="5334"/>
                    <a:pt x="162941" y="0"/>
                    <a:pt x="173101" y="0"/>
                  </a:cubicBezTo>
                  <a:lnTo>
                    <a:pt x="462407" y="0"/>
                  </a:lnTo>
                  <a:cubicBezTo>
                    <a:pt x="472567" y="0"/>
                    <a:pt x="481965" y="5334"/>
                    <a:pt x="487045" y="14097"/>
                  </a:cubicBezTo>
                  <a:lnTo>
                    <a:pt x="631698" y="262128"/>
                  </a:lnTo>
                  <a:cubicBezTo>
                    <a:pt x="636778" y="270891"/>
                    <a:pt x="636778" y="281559"/>
                    <a:pt x="631698" y="290322"/>
                  </a:cubicBezTo>
                </a:path>
              </a:pathLst>
            </a:custGeom>
            <a:solidFill>
              <a:srgbClr val="7DE314"/>
            </a:solidFill>
          </p:spPr>
          <p:txBody>
            <a:bodyPr/>
            <a:lstStyle/>
            <a:p>
              <a:endParaRPr lang="fr-FR"/>
            </a:p>
          </p:txBody>
        </p:sp>
        <p:sp>
          <p:nvSpPr>
            <p:cNvPr id="4" name="Freeform 4">
              <a:extLst>
                <a:ext uri="{FF2B5EF4-FFF2-40B4-BE49-F238E27FC236}">
                  <a16:creationId xmlns:a16="http://schemas.microsoft.com/office/drawing/2014/main" id="{13535EC7-78AF-A557-67E0-E2BC82714795}"/>
                </a:ext>
              </a:extLst>
            </p:cNvPr>
            <p:cNvSpPr/>
            <p:nvPr/>
          </p:nvSpPr>
          <p:spPr>
            <a:xfrm>
              <a:off x="260223" y="145923"/>
              <a:ext cx="438785" cy="470027"/>
            </a:xfrm>
            <a:custGeom>
              <a:avLst/>
              <a:gdLst/>
              <a:ahLst/>
              <a:cxnLst/>
              <a:rect l="l" t="t" r="r" b="b"/>
              <a:pathLst>
                <a:path w="438785" h="470027">
                  <a:moveTo>
                    <a:pt x="261239" y="0"/>
                  </a:moveTo>
                  <a:lnTo>
                    <a:pt x="366014" y="179705"/>
                  </a:lnTo>
                  <a:cubicBezTo>
                    <a:pt x="371094" y="188468"/>
                    <a:pt x="371094" y="199136"/>
                    <a:pt x="366014" y="207899"/>
                  </a:cubicBezTo>
                  <a:lnTo>
                    <a:pt x="255905" y="396875"/>
                  </a:lnTo>
                  <a:cubicBezTo>
                    <a:pt x="250825" y="405638"/>
                    <a:pt x="241427" y="410972"/>
                    <a:pt x="231267" y="410972"/>
                  </a:cubicBezTo>
                  <a:lnTo>
                    <a:pt x="10795" y="410972"/>
                  </a:lnTo>
                  <a:cubicBezTo>
                    <a:pt x="6985" y="410972"/>
                    <a:pt x="3429" y="410210"/>
                    <a:pt x="0" y="408813"/>
                  </a:cubicBezTo>
                  <a:lnTo>
                    <a:pt x="61849" y="470027"/>
                  </a:lnTo>
                  <a:lnTo>
                    <a:pt x="265684" y="470027"/>
                  </a:lnTo>
                  <a:cubicBezTo>
                    <a:pt x="275844" y="470027"/>
                    <a:pt x="285242" y="464693"/>
                    <a:pt x="290322" y="455930"/>
                  </a:cubicBezTo>
                  <a:lnTo>
                    <a:pt x="434975" y="208026"/>
                  </a:lnTo>
                  <a:cubicBezTo>
                    <a:pt x="437515" y="203708"/>
                    <a:pt x="438785" y="198755"/>
                    <a:pt x="438785" y="193929"/>
                  </a:cubicBezTo>
                  <a:lnTo>
                    <a:pt x="437515" y="184150"/>
                  </a:lnTo>
                  <a:lnTo>
                    <a:pt x="424434" y="161671"/>
                  </a:lnTo>
                  <a:close/>
                </a:path>
              </a:pathLst>
            </a:custGeom>
            <a:solidFill>
              <a:srgbClr val="3DC903"/>
            </a:solidFill>
          </p:spPr>
          <p:txBody>
            <a:bodyPr/>
            <a:lstStyle/>
            <a:p>
              <a:endParaRPr lang="fr-FR"/>
            </a:p>
          </p:txBody>
        </p:sp>
        <p:sp>
          <p:nvSpPr>
            <p:cNvPr id="5" name="Freeform 5">
              <a:extLst>
                <a:ext uri="{FF2B5EF4-FFF2-40B4-BE49-F238E27FC236}">
                  <a16:creationId xmlns:a16="http://schemas.microsoft.com/office/drawing/2014/main" id="{11E70F9B-984B-C3E9-59D6-942CAE9912B1}"/>
                </a:ext>
              </a:extLst>
            </p:cNvPr>
            <p:cNvSpPr/>
            <p:nvPr/>
          </p:nvSpPr>
          <p:spPr>
            <a:xfrm>
              <a:off x="132461" y="122682"/>
              <a:ext cx="497459" cy="434213"/>
            </a:xfrm>
            <a:custGeom>
              <a:avLst/>
              <a:gdLst/>
              <a:ahLst/>
              <a:cxnLst/>
              <a:rect l="l" t="t" r="r" b="b"/>
              <a:pathLst>
                <a:path w="497459" h="434213">
                  <a:moveTo>
                    <a:pt x="493776" y="231140"/>
                  </a:moveTo>
                  <a:lnTo>
                    <a:pt x="383667" y="420116"/>
                  </a:lnTo>
                  <a:cubicBezTo>
                    <a:pt x="378587" y="428879"/>
                    <a:pt x="369189" y="434213"/>
                    <a:pt x="359029" y="434213"/>
                  </a:cubicBezTo>
                  <a:lnTo>
                    <a:pt x="138557" y="434213"/>
                  </a:lnTo>
                  <a:cubicBezTo>
                    <a:pt x="134747" y="434213"/>
                    <a:pt x="131191" y="433451"/>
                    <a:pt x="127762" y="432054"/>
                  </a:cubicBezTo>
                  <a:lnTo>
                    <a:pt x="127635" y="432054"/>
                  </a:lnTo>
                  <a:lnTo>
                    <a:pt x="117094" y="425577"/>
                  </a:lnTo>
                  <a:lnTo>
                    <a:pt x="3810" y="231140"/>
                  </a:lnTo>
                  <a:cubicBezTo>
                    <a:pt x="-1270" y="222377"/>
                    <a:pt x="-1270" y="211709"/>
                    <a:pt x="3810" y="202946"/>
                  </a:cubicBezTo>
                  <a:lnTo>
                    <a:pt x="113919" y="14097"/>
                  </a:lnTo>
                  <a:cubicBezTo>
                    <a:pt x="118999" y="5334"/>
                    <a:pt x="128397" y="0"/>
                    <a:pt x="138557" y="0"/>
                  </a:cubicBezTo>
                  <a:lnTo>
                    <a:pt x="358902" y="0"/>
                  </a:lnTo>
                  <a:cubicBezTo>
                    <a:pt x="369062" y="0"/>
                    <a:pt x="378460" y="5334"/>
                    <a:pt x="383540" y="14097"/>
                  </a:cubicBezTo>
                  <a:lnTo>
                    <a:pt x="493649" y="203073"/>
                  </a:lnTo>
                  <a:cubicBezTo>
                    <a:pt x="498729" y="211836"/>
                    <a:pt x="498729" y="222504"/>
                    <a:pt x="493649" y="231267"/>
                  </a:cubicBezTo>
                </a:path>
              </a:pathLst>
            </a:custGeom>
            <a:solidFill>
              <a:srgbClr val="FFFFFF"/>
            </a:solidFill>
          </p:spPr>
          <p:txBody>
            <a:bodyPr/>
            <a:lstStyle/>
            <a:p>
              <a:endParaRPr lang="fr-FR"/>
            </a:p>
          </p:txBody>
        </p:sp>
        <p:sp>
          <p:nvSpPr>
            <p:cNvPr id="6" name="Freeform 6">
              <a:extLst>
                <a:ext uri="{FF2B5EF4-FFF2-40B4-BE49-F238E27FC236}">
                  <a16:creationId xmlns:a16="http://schemas.microsoft.com/office/drawing/2014/main" id="{BEA51BE9-D53D-F21F-98F6-6AEB64696F04}"/>
                </a:ext>
              </a:extLst>
            </p:cNvPr>
            <p:cNvSpPr/>
            <p:nvPr/>
          </p:nvSpPr>
          <p:spPr>
            <a:xfrm>
              <a:off x="260477" y="267970"/>
              <a:ext cx="120269" cy="140081"/>
            </a:xfrm>
            <a:custGeom>
              <a:avLst/>
              <a:gdLst/>
              <a:ahLst/>
              <a:cxnLst/>
              <a:rect l="l" t="t" r="r" b="b"/>
              <a:pathLst>
                <a:path w="120269" h="140081">
                  <a:moveTo>
                    <a:pt x="120269" y="70231"/>
                  </a:moveTo>
                  <a:lnTo>
                    <a:pt x="115697" y="98298"/>
                  </a:lnTo>
                  <a:cubicBezTo>
                    <a:pt x="112649" y="106807"/>
                    <a:pt x="108458" y="114173"/>
                    <a:pt x="103124" y="120396"/>
                  </a:cubicBezTo>
                  <a:lnTo>
                    <a:pt x="91440" y="131445"/>
                  </a:lnTo>
                  <a:cubicBezTo>
                    <a:pt x="76708" y="138303"/>
                    <a:pt x="68707" y="140081"/>
                    <a:pt x="60198" y="140081"/>
                  </a:cubicBezTo>
                  <a:lnTo>
                    <a:pt x="43434" y="138430"/>
                  </a:lnTo>
                  <a:cubicBezTo>
                    <a:pt x="28829" y="131572"/>
                    <a:pt x="22479" y="126619"/>
                    <a:pt x="17145" y="120396"/>
                  </a:cubicBezTo>
                  <a:lnTo>
                    <a:pt x="4572" y="98298"/>
                  </a:lnTo>
                  <a:cubicBezTo>
                    <a:pt x="1524" y="89789"/>
                    <a:pt x="0" y="80391"/>
                    <a:pt x="0" y="70231"/>
                  </a:cubicBezTo>
                  <a:lnTo>
                    <a:pt x="4572" y="42164"/>
                  </a:lnTo>
                  <a:cubicBezTo>
                    <a:pt x="7620" y="33655"/>
                    <a:pt x="11811" y="26289"/>
                    <a:pt x="17145" y="20066"/>
                  </a:cubicBezTo>
                  <a:lnTo>
                    <a:pt x="28829" y="8890"/>
                  </a:lnTo>
                  <a:cubicBezTo>
                    <a:pt x="43434" y="1778"/>
                    <a:pt x="51435" y="0"/>
                    <a:pt x="60071" y="0"/>
                  </a:cubicBezTo>
                  <a:lnTo>
                    <a:pt x="76581" y="1778"/>
                  </a:lnTo>
                  <a:cubicBezTo>
                    <a:pt x="91313" y="8890"/>
                    <a:pt x="97663" y="13716"/>
                    <a:pt x="103124" y="19939"/>
                  </a:cubicBezTo>
                  <a:lnTo>
                    <a:pt x="115697" y="42037"/>
                  </a:lnTo>
                  <a:cubicBezTo>
                    <a:pt x="118745" y="50546"/>
                    <a:pt x="120269" y="59944"/>
                    <a:pt x="120269" y="70104"/>
                  </a:cubicBezTo>
                  <a:moveTo>
                    <a:pt x="88773" y="70104"/>
                  </a:moveTo>
                  <a:lnTo>
                    <a:pt x="88011" y="58293"/>
                  </a:lnTo>
                  <a:cubicBezTo>
                    <a:pt x="85217" y="48006"/>
                    <a:pt x="83185" y="43561"/>
                    <a:pt x="80645" y="39878"/>
                  </a:cubicBezTo>
                  <a:lnTo>
                    <a:pt x="75057" y="33401"/>
                  </a:lnTo>
                  <a:lnTo>
                    <a:pt x="64262" y="28448"/>
                  </a:lnTo>
                  <a:cubicBezTo>
                    <a:pt x="55753" y="28448"/>
                    <a:pt x="51816" y="29464"/>
                    <a:pt x="48260" y="31496"/>
                  </a:cubicBezTo>
                  <a:lnTo>
                    <a:pt x="41783" y="36322"/>
                  </a:lnTo>
                  <a:cubicBezTo>
                    <a:pt x="36703" y="43688"/>
                    <a:pt x="34671" y="48133"/>
                    <a:pt x="33274" y="53340"/>
                  </a:cubicBezTo>
                  <a:lnTo>
                    <a:pt x="31115" y="64135"/>
                  </a:lnTo>
                  <a:cubicBezTo>
                    <a:pt x="31115" y="76454"/>
                    <a:pt x="31877" y="82042"/>
                    <a:pt x="33274" y="87122"/>
                  </a:cubicBezTo>
                  <a:lnTo>
                    <a:pt x="36703" y="96520"/>
                  </a:lnTo>
                  <a:cubicBezTo>
                    <a:pt x="41783" y="103886"/>
                    <a:pt x="44831" y="106807"/>
                    <a:pt x="48387" y="108712"/>
                  </a:cubicBezTo>
                  <a:lnTo>
                    <a:pt x="55753" y="111760"/>
                  </a:lnTo>
                  <a:lnTo>
                    <a:pt x="68199" y="110744"/>
                  </a:lnTo>
                  <a:cubicBezTo>
                    <a:pt x="75184" y="106680"/>
                    <a:pt x="78232" y="103886"/>
                    <a:pt x="80772" y="100203"/>
                  </a:cubicBezTo>
                  <a:lnTo>
                    <a:pt x="85344" y="92075"/>
                  </a:lnTo>
                  <a:cubicBezTo>
                    <a:pt x="88138" y="81915"/>
                    <a:pt x="88900" y="76327"/>
                    <a:pt x="88900" y="70104"/>
                  </a:cubicBezTo>
                </a:path>
              </a:pathLst>
            </a:custGeom>
            <a:solidFill>
              <a:srgbClr val="7DE314"/>
            </a:solidFill>
          </p:spPr>
          <p:txBody>
            <a:bodyPr/>
            <a:lstStyle/>
            <a:p>
              <a:endParaRPr lang="fr-FR"/>
            </a:p>
          </p:txBody>
        </p:sp>
        <p:sp>
          <p:nvSpPr>
            <p:cNvPr id="7" name="Freeform 7">
              <a:extLst>
                <a:ext uri="{FF2B5EF4-FFF2-40B4-BE49-F238E27FC236}">
                  <a16:creationId xmlns:a16="http://schemas.microsoft.com/office/drawing/2014/main" id="{7EA07A40-4F71-1354-3460-3A1495C327A3}"/>
                </a:ext>
              </a:extLst>
            </p:cNvPr>
            <p:cNvSpPr/>
            <p:nvPr/>
          </p:nvSpPr>
          <p:spPr>
            <a:xfrm>
              <a:off x="399034" y="273939"/>
              <a:ext cx="99187" cy="131953"/>
            </a:xfrm>
            <a:custGeom>
              <a:avLst/>
              <a:gdLst/>
              <a:ahLst/>
              <a:cxnLst/>
              <a:rect l="l" t="t" r="r" b="b"/>
              <a:pathLst>
                <a:path w="99187" h="131953">
                  <a:moveTo>
                    <a:pt x="99187" y="104013"/>
                  </a:moveTo>
                  <a:lnTo>
                    <a:pt x="99187" y="131953"/>
                  </a:lnTo>
                  <a:lnTo>
                    <a:pt x="4572" y="131953"/>
                  </a:lnTo>
                  <a:lnTo>
                    <a:pt x="4572" y="104013"/>
                  </a:lnTo>
                  <a:lnTo>
                    <a:pt x="37719" y="104013"/>
                  </a:lnTo>
                  <a:lnTo>
                    <a:pt x="37719" y="34036"/>
                  </a:lnTo>
                  <a:cubicBezTo>
                    <a:pt x="36322" y="35941"/>
                    <a:pt x="34163" y="37719"/>
                    <a:pt x="31115" y="39751"/>
                  </a:cubicBezTo>
                  <a:lnTo>
                    <a:pt x="24765" y="43434"/>
                  </a:lnTo>
                  <a:lnTo>
                    <a:pt x="13970" y="48260"/>
                  </a:lnTo>
                  <a:cubicBezTo>
                    <a:pt x="6350" y="50419"/>
                    <a:pt x="3048" y="50927"/>
                    <a:pt x="0" y="50927"/>
                  </a:cubicBezTo>
                  <a:lnTo>
                    <a:pt x="0" y="22098"/>
                  </a:lnTo>
                  <a:cubicBezTo>
                    <a:pt x="2794" y="22098"/>
                    <a:pt x="6223" y="21209"/>
                    <a:pt x="10287" y="19431"/>
                  </a:cubicBezTo>
                  <a:lnTo>
                    <a:pt x="18288" y="15494"/>
                  </a:lnTo>
                  <a:cubicBezTo>
                    <a:pt x="26035" y="10541"/>
                    <a:pt x="29464" y="8128"/>
                    <a:pt x="32258" y="5715"/>
                  </a:cubicBezTo>
                  <a:lnTo>
                    <a:pt x="36957" y="1397"/>
                  </a:lnTo>
                  <a:lnTo>
                    <a:pt x="69723" y="0"/>
                  </a:lnTo>
                  <a:lnTo>
                    <a:pt x="69723" y="103886"/>
                  </a:lnTo>
                  <a:close/>
                </a:path>
              </a:pathLst>
            </a:custGeom>
            <a:solidFill>
              <a:srgbClr val="7DE314"/>
            </a:solidFill>
          </p:spPr>
          <p:txBody>
            <a:bodyPr/>
            <a:lstStyle/>
            <a:p>
              <a:endParaRPr lang="fr-FR"/>
            </a:p>
          </p:txBody>
        </p:sp>
      </p:grpSp>
      <p:grpSp>
        <p:nvGrpSpPr>
          <p:cNvPr id="8" name="Group 8">
            <a:extLst>
              <a:ext uri="{FF2B5EF4-FFF2-40B4-BE49-F238E27FC236}">
                <a16:creationId xmlns:a16="http://schemas.microsoft.com/office/drawing/2014/main" id="{D35C2D44-B388-88BF-976C-45F8CF58065F}"/>
              </a:ext>
            </a:extLst>
          </p:cNvPr>
          <p:cNvGrpSpPr>
            <a:grpSpLocks noChangeAspect="1"/>
          </p:cNvGrpSpPr>
          <p:nvPr/>
        </p:nvGrpSpPr>
        <p:grpSpPr>
          <a:xfrm>
            <a:off x="3338779" y="4757195"/>
            <a:ext cx="762505" cy="686800"/>
            <a:chOff x="0" y="0"/>
            <a:chExt cx="762495" cy="686803"/>
          </a:xfrm>
        </p:grpSpPr>
        <p:sp>
          <p:nvSpPr>
            <p:cNvPr id="9" name="Freeform 9">
              <a:extLst>
                <a:ext uri="{FF2B5EF4-FFF2-40B4-BE49-F238E27FC236}">
                  <a16:creationId xmlns:a16="http://schemas.microsoft.com/office/drawing/2014/main" id="{2DBCFD6D-A1EC-7999-4548-DA767A91B5BD}"/>
                </a:ext>
              </a:extLst>
            </p:cNvPr>
            <p:cNvSpPr/>
            <p:nvPr/>
          </p:nvSpPr>
          <p:spPr>
            <a:xfrm>
              <a:off x="63500" y="63500"/>
              <a:ext cx="635508" cy="559689"/>
            </a:xfrm>
            <a:custGeom>
              <a:avLst/>
              <a:gdLst/>
              <a:ahLst/>
              <a:cxnLst/>
              <a:rect l="l" t="t" r="r" b="b"/>
              <a:pathLst>
                <a:path w="635508" h="559689">
                  <a:moveTo>
                    <a:pt x="631698" y="294132"/>
                  </a:moveTo>
                  <a:lnTo>
                    <a:pt x="487045" y="545465"/>
                  </a:lnTo>
                  <a:cubicBezTo>
                    <a:pt x="481965" y="554355"/>
                    <a:pt x="472567" y="559689"/>
                    <a:pt x="462407" y="559689"/>
                  </a:cubicBezTo>
                  <a:lnTo>
                    <a:pt x="173101" y="559689"/>
                  </a:lnTo>
                  <a:cubicBezTo>
                    <a:pt x="162941" y="559689"/>
                    <a:pt x="153543" y="554228"/>
                    <a:pt x="148463" y="545465"/>
                  </a:cubicBezTo>
                  <a:lnTo>
                    <a:pt x="3810" y="294132"/>
                  </a:lnTo>
                  <a:cubicBezTo>
                    <a:pt x="-1270" y="285242"/>
                    <a:pt x="-1270" y="274447"/>
                    <a:pt x="3810" y="265557"/>
                  </a:cubicBezTo>
                  <a:lnTo>
                    <a:pt x="148463" y="14224"/>
                  </a:lnTo>
                  <a:cubicBezTo>
                    <a:pt x="153543" y="5334"/>
                    <a:pt x="162941" y="0"/>
                    <a:pt x="173101" y="0"/>
                  </a:cubicBezTo>
                  <a:lnTo>
                    <a:pt x="462407" y="0"/>
                  </a:lnTo>
                  <a:cubicBezTo>
                    <a:pt x="472567" y="0"/>
                    <a:pt x="481965" y="5461"/>
                    <a:pt x="487045" y="14224"/>
                  </a:cubicBezTo>
                  <a:lnTo>
                    <a:pt x="631698" y="265684"/>
                  </a:lnTo>
                  <a:cubicBezTo>
                    <a:pt x="636778" y="274574"/>
                    <a:pt x="636778" y="285369"/>
                    <a:pt x="631698" y="294259"/>
                  </a:cubicBezTo>
                </a:path>
              </a:pathLst>
            </a:custGeom>
            <a:solidFill>
              <a:srgbClr val="00CC9C"/>
            </a:solidFill>
          </p:spPr>
          <p:txBody>
            <a:bodyPr/>
            <a:lstStyle/>
            <a:p>
              <a:endParaRPr lang="fr-FR"/>
            </a:p>
          </p:txBody>
        </p:sp>
        <p:sp>
          <p:nvSpPr>
            <p:cNvPr id="10" name="Freeform 10">
              <a:extLst>
                <a:ext uri="{FF2B5EF4-FFF2-40B4-BE49-F238E27FC236}">
                  <a16:creationId xmlns:a16="http://schemas.microsoft.com/office/drawing/2014/main" id="{E8D63DEF-D31C-63D8-9394-C5D3F9E26128}"/>
                </a:ext>
              </a:extLst>
            </p:cNvPr>
            <p:cNvSpPr/>
            <p:nvPr/>
          </p:nvSpPr>
          <p:spPr>
            <a:xfrm>
              <a:off x="260223" y="147066"/>
              <a:ext cx="438785" cy="476123"/>
            </a:xfrm>
            <a:custGeom>
              <a:avLst/>
              <a:gdLst/>
              <a:ahLst/>
              <a:cxnLst/>
              <a:rect l="l" t="t" r="r" b="b"/>
              <a:pathLst>
                <a:path w="438785" h="476123">
                  <a:moveTo>
                    <a:pt x="261239" y="0"/>
                  </a:moveTo>
                  <a:lnTo>
                    <a:pt x="366014" y="182118"/>
                  </a:lnTo>
                  <a:cubicBezTo>
                    <a:pt x="371094" y="191008"/>
                    <a:pt x="371094" y="201803"/>
                    <a:pt x="366014" y="210693"/>
                  </a:cubicBezTo>
                  <a:lnTo>
                    <a:pt x="255905" y="402082"/>
                  </a:lnTo>
                  <a:cubicBezTo>
                    <a:pt x="250825" y="410972"/>
                    <a:pt x="241427" y="416306"/>
                    <a:pt x="231267" y="416306"/>
                  </a:cubicBezTo>
                  <a:lnTo>
                    <a:pt x="10795" y="416306"/>
                  </a:lnTo>
                  <a:cubicBezTo>
                    <a:pt x="7112" y="416306"/>
                    <a:pt x="3429" y="415544"/>
                    <a:pt x="0" y="414147"/>
                  </a:cubicBezTo>
                  <a:lnTo>
                    <a:pt x="61849" y="476123"/>
                  </a:lnTo>
                  <a:lnTo>
                    <a:pt x="265684" y="476123"/>
                  </a:lnTo>
                  <a:cubicBezTo>
                    <a:pt x="275844" y="476123"/>
                    <a:pt x="285242" y="470662"/>
                    <a:pt x="290322" y="461899"/>
                  </a:cubicBezTo>
                  <a:lnTo>
                    <a:pt x="434975" y="210566"/>
                  </a:lnTo>
                  <a:cubicBezTo>
                    <a:pt x="437515" y="206121"/>
                    <a:pt x="438785" y="201168"/>
                    <a:pt x="438785" y="196342"/>
                  </a:cubicBezTo>
                  <a:lnTo>
                    <a:pt x="437515" y="186436"/>
                  </a:lnTo>
                  <a:lnTo>
                    <a:pt x="424434" y="163576"/>
                  </a:lnTo>
                  <a:close/>
                </a:path>
              </a:pathLst>
            </a:custGeom>
            <a:solidFill>
              <a:srgbClr val="00A35E"/>
            </a:solidFill>
          </p:spPr>
          <p:txBody>
            <a:bodyPr/>
            <a:lstStyle/>
            <a:p>
              <a:endParaRPr lang="fr-FR"/>
            </a:p>
          </p:txBody>
        </p:sp>
        <p:sp>
          <p:nvSpPr>
            <p:cNvPr id="11" name="Freeform 11">
              <a:extLst>
                <a:ext uri="{FF2B5EF4-FFF2-40B4-BE49-F238E27FC236}">
                  <a16:creationId xmlns:a16="http://schemas.microsoft.com/office/drawing/2014/main" id="{BA908B8C-EE09-579D-7AB0-78228D873688}"/>
                </a:ext>
              </a:extLst>
            </p:cNvPr>
            <p:cNvSpPr/>
            <p:nvPr/>
          </p:nvSpPr>
          <p:spPr>
            <a:xfrm>
              <a:off x="132461" y="123444"/>
              <a:ext cx="497459" cy="439928"/>
            </a:xfrm>
            <a:custGeom>
              <a:avLst/>
              <a:gdLst/>
              <a:ahLst/>
              <a:cxnLst/>
              <a:rect l="l" t="t" r="r" b="b"/>
              <a:pathLst>
                <a:path w="497459" h="439928">
                  <a:moveTo>
                    <a:pt x="493776" y="234188"/>
                  </a:moveTo>
                  <a:lnTo>
                    <a:pt x="383667" y="425704"/>
                  </a:lnTo>
                  <a:cubicBezTo>
                    <a:pt x="378587" y="434594"/>
                    <a:pt x="369189" y="439928"/>
                    <a:pt x="359029" y="439928"/>
                  </a:cubicBezTo>
                  <a:lnTo>
                    <a:pt x="138557" y="439928"/>
                  </a:lnTo>
                  <a:cubicBezTo>
                    <a:pt x="134747" y="439928"/>
                    <a:pt x="131191" y="439166"/>
                    <a:pt x="127762" y="437769"/>
                  </a:cubicBezTo>
                  <a:lnTo>
                    <a:pt x="127635" y="437642"/>
                  </a:lnTo>
                  <a:lnTo>
                    <a:pt x="117094" y="431038"/>
                  </a:lnTo>
                  <a:lnTo>
                    <a:pt x="3810" y="234061"/>
                  </a:lnTo>
                  <a:cubicBezTo>
                    <a:pt x="-1270" y="225171"/>
                    <a:pt x="-1270" y="214376"/>
                    <a:pt x="3810" y="205486"/>
                  </a:cubicBezTo>
                  <a:lnTo>
                    <a:pt x="113919" y="14224"/>
                  </a:lnTo>
                  <a:cubicBezTo>
                    <a:pt x="118999" y="5334"/>
                    <a:pt x="128397" y="0"/>
                    <a:pt x="138557" y="0"/>
                  </a:cubicBezTo>
                  <a:lnTo>
                    <a:pt x="358902" y="0"/>
                  </a:lnTo>
                  <a:cubicBezTo>
                    <a:pt x="369062" y="0"/>
                    <a:pt x="378460" y="5461"/>
                    <a:pt x="383540" y="14224"/>
                  </a:cubicBezTo>
                  <a:lnTo>
                    <a:pt x="493649" y="205613"/>
                  </a:lnTo>
                  <a:cubicBezTo>
                    <a:pt x="498729" y="214503"/>
                    <a:pt x="498729" y="225298"/>
                    <a:pt x="493649" y="234188"/>
                  </a:cubicBezTo>
                </a:path>
              </a:pathLst>
            </a:custGeom>
            <a:solidFill>
              <a:srgbClr val="FFFFFF"/>
            </a:solidFill>
          </p:spPr>
          <p:txBody>
            <a:bodyPr/>
            <a:lstStyle/>
            <a:p>
              <a:endParaRPr lang="fr-FR"/>
            </a:p>
          </p:txBody>
        </p:sp>
        <p:sp>
          <p:nvSpPr>
            <p:cNvPr id="12" name="Freeform 12">
              <a:extLst>
                <a:ext uri="{FF2B5EF4-FFF2-40B4-BE49-F238E27FC236}">
                  <a16:creationId xmlns:a16="http://schemas.microsoft.com/office/drawing/2014/main" id="{065CB19B-7CD4-6489-798D-96F17A56A65B}"/>
                </a:ext>
              </a:extLst>
            </p:cNvPr>
            <p:cNvSpPr/>
            <p:nvPr/>
          </p:nvSpPr>
          <p:spPr>
            <a:xfrm>
              <a:off x="260477" y="270510"/>
              <a:ext cx="120269" cy="142240"/>
            </a:xfrm>
            <a:custGeom>
              <a:avLst/>
              <a:gdLst/>
              <a:ahLst/>
              <a:cxnLst/>
              <a:rect l="l" t="t" r="r" b="b"/>
              <a:pathLst>
                <a:path w="120269" h="142240">
                  <a:moveTo>
                    <a:pt x="120269" y="71374"/>
                  </a:moveTo>
                  <a:lnTo>
                    <a:pt x="115697" y="99822"/>
                  </a:lnTo>
                  <a:cubicBezTo>
                    <a:pt x="112649" y="108458"/>
                    <a:pt x="108458" y="115951"/>
                    <a:pt x="103124" y="122301"/>
                  </a:cubicBezTo>
                  <a:lnTo>
                    <a:pt x="91440" y="133477"/>
                  </a:lnTo>
                  <a:cubicBezTo>
                    <a:pt x="76708" y="140462"/>
                    <a:pt x="68707" y="142240"/>
                    <a:pt x="60198" y="142240"/>
                  </a:cubicBezTo>
                  <a:lnTo>
                    <a:pt x="43434" y="140462"/>
                  </a:lnTo>
                  <a:cubicBezTo>
                    <a:pt x="28829" y="133477"/>
                    <a:pt x="22479" y="128524"/>
                    <a:pt x="17145" y="122174"/>
                  </a:cubicBezTo>
                  <a:lnTo>
                    <a:pt x="4572" y="99695"/>
                  </a:lnTo>
                  <a:cubicBezTo>
                    <a:pt x="1524" y="91059"/>
                    <a:pt x="0" y="81534"/>
                    <a:pt x="0" y="71247"/>
                  </a:cubicBezTo>
                  <a:lnTo>
                    <a:pt x="4572" y="42799"/>
                  </a:lnTo>
                  <a:cubicBezTo>
                    <a:pt x="7620" y="34163"/>
                    <a:pt x="11811" y="26670"/>
                    <a:pt x="17145" y="20320"/>
                  </a:cubicBezTo>
                  <a:lnTo>
                    <a:pt x="28829" y="9017"/>
                  </a:lnTo>
                  <a:cubicBezTo>
                    <a:pt x="43434" y="1905"/>
                    <a:pt x="51435" y="0"/>
                    <a:pt x="60071" y="0"/>
                  </a:cubicBezTo>
                  <a:lnTo>
                    <a:pt x="76581" y="1778"/>
                  </a:lnTo>
                  <a:cubicBezTo>
                    <a:pt x="91313" y="8890"/>
                    <a:pt x="97663" y="13843"/>
                    <a:pt x="103124" y="20193"/>
                  </a:cubicBezTo>
                  <a:lnTo>
                    <a:pt x="115697" y="42672"/>
                  </a:lnTo>
                  <a:cubicBezTo>
                    <a:pt x="118745" y="51308"/>
                    <a:pt x="120269" y="60833"/>
                    <a:pt x="120269" y="71120"/>
                  </a:cubicBezTo>
                  <a:moveTo>
                    <a:pt x="88773" y="71120"/>
                  </a:moveTo>
                  <a:lnTo>
                    <a:pt x="88011" y="59182"/>
                  </a:lnTo>
                  <a:cubicBezTo>
                    <a:pt x="85217" y="48768"/>
                    <a:pt x="83185" y="44196"/>
                    <a:pt x="80645" y="40513"/>
                  </a:cubicBezTo>
                  <a:lnTo>
                    <a:pt x="75057" y="33909"/>
                  </a:lnTo>
                  <a:lnTo>
                    <a:pt x="64262" y="28829"/>
                  </a:lnTo>
                  <a:cubicBezTo>
                    <a:pt x="55753" y="28829"/>
                    <a:pt x="51816" y="29845"/>
                    <a:pt x="48260" y="31877"/>
                  </a:cubicBezTo>
                  <a:lnTo>
                    <a:pt x="41783" y="36830"/>
                  </a:lnTo>
                  <a:cubicBezTo>
                    <a:pt x="36703" y="44323"/>
                    <a:pt x="34671" y="48768"/>
                    <a:pt x="33274" y="53975"/>
                  </a:cubicBezTo>
                  <a:lnTo>
                    <a:pt x="31115" y="64897"/>
                  </a:lnTo>
                  <a:cubicBezTo>
                    <a:pt x="31115" y="77343"/>
                    <a:pt x="31877" y="83058"/>
                    <a:pt x="33274" y="88138"/>
                  </a:cubicBezTo>
                  <a:lnTo>
                    <a:pt x="36703" y="97790"/>
                  </a:lnTo>
                  <a:cubicBezTo>
                    <a:pt x="41783" y="105283"/>
                    <a:pt x="44831" y="108204"/>
                    <a:pt x="48387" y="110236"/>
                  </a:cubicBezTo>
                  <a:lnTo>
                    <a:pt x="55753" y="113284"/>
                  </a:lnTo>
                  <a:lnTo>
                    <a:pt x="68199" y="112268"/>
                  </a:lnTo>
                  <a:cubicBezTo>
                    <a:pt x="75184" y="108204"/>
                    <a:pt x="78232" y="105283"/>
                    <a:pt x="80772" y="101600"/>
                  </a:cubicBezTo>
                  <a:lnTo>
                    <a:pt x="85344" y="93472"/>
                  </a:lnTo>
                  <a:cubicBezTo>
                    <a:pt x="88138" y="83185"/>
                    <a:pt x="88900" y="77470"/>
                    <a:pt x="88900" y="71247"/>
                  </a:cubicBezTo>
                </a:path>
              </a:pathLst>
            </a:custGeom>
            <a:solidFill>
              <a:srgbClr val="00CC9C"/>
            </a:solidFill>
          </p:spPr>
          <p:txBody>
            <a:bodyPr/>
            <a:lstStyle/>
            <a:p>
              <a:endParaRPr lang="fr-FR"/>
            </a:p>
          </p:txBody>
        </p:sp>
        <p:sp>
          <p:nvSpPr>
            <p:cNvPr id="13" name="Freeform 13">
              <a:extLst>
                <a:ext uri="{FF2B5EF4-FFF2-40B4-BE49-F238E27FC236}">
                  <a16:creationId xmlns:a16="http://schemas.microsoft.com/office/drawing/2014/main" id="{001AC975-2062-ED09-FB5B-43297E48901C}"/>
                </a:ext>
              </a:extLst>
            </p:cNvPr>
            <p:cNvSpPr/>
            <p:nvPr/>
          </p:nvSpPr>
          <p:spPr>
            <a:xfrm>
              <a:off x="394716" y="274320"/>
              <a:ext cx="112395" cy="136144"/>
            </a:xfrm>
            <a:custGeom>
              <a:avLst/>
              <a:gdLst/>
              <a:ahLst/>
              <a:cxnLst/>
              <a:rect l="l" t="t" r="r" b="b"/>
              <a:pathLst>
                <a:path w="112395" h="136144">
                  <a:moveTo>
                    <a:pt x="0" y="136017"/>
                  </a:moveTo>
                  <a:lnTo>
                    <a:pt x="508" y="122682"/>
                  </a:lnTo>
                  <a:cubicBezTo>
                    <a:pt x="2667" y="111252"/>
                    <a:pt x="4572" y="106045"/>
                    <a:pt x="7366" y="101219"/>
                  </a:cubicBezTo>
                  <a:lnTo>
                    <a:pt x="13843" y="91821"/>
                  </a:lnTo>
                  <a:cubicBezTo>
                    <a:pt x="23368" y="83439"/>
                    <a:pt x="29337" y="79248"/>
                    <a:pt x="36703" y="75184"/>
                  </a:cubicBezTo>
                  <a:lnTo>
                    <a:pt x="48641" y="68707"/>
                  </a:lnTo>
                  <a:cubicBezTo>
                    <a:pt x="58420" y="63500"/>
                    <a:pt x="62484" y="61214"/>
                    <a:pt x="65786" y="58928"/>
                  </a:cubicBezTo>
                  <a:lnTo>
                    <a:pt x="71501" y="54483"/>
                  </a:lnTo>
                  <a:lnTo>
                    <a:pt x="75819" y="47371"/>
                  </a:lnTo>
                  <a:lnTo>
                    <a:pt x="73914" y="35687"/>
                  </a:lnTo>
                  <a:cubicBezTo>
                    <a:pt x="66421" y="28956"/>
                    <a:pt x="61087" y="27305"/>
                    <a:pt x="54102" y="27305"/>
                  </a:cubicBezTo>
                  <a:lnTo>
                    <a:pt x="46990" y="27813"/>
                  </a:lnTo>
                  <a:lnTo>
                    <a:pt x="37846" y="31242"/>
                  </a:lnTo>
                  <a:lnTo>
                    <a:pt x="29972" y="36576"/>
                  </a:lnTo>
                  <a:lnTo>
                    <a:pt x="23368" y="43053"/>
                  </a:lnTo>
                  <a:lnTo>
                    <a:pt x="1397" y="22225"/>
                  </a:lnTo>
                  <a:cubicBezTo>
                    <a:pt x="3429" y="20066"/>
                    <a:pt x="6350" y="17653"/>
                    <a:pt x="10033" y="15113"/>
                  </a:cubicBezTo>
                  <a:lnTo>
                    <a:pt x="18161" y="10160"/>
                  </a:lnTo>
                  <a:cubicBezTo>
                    <a:pt x="28194" y="5588"/>
                    <a:pt x="33909" y="3810"/>
                    <a:pt x="40005" y="2286"/>
                  </a:cubicBezTo>
                  <a:lnTo>
                    <a:pt x="52705" y="0"/>
                  </a:lnTo>
                  <a:cubicBezTo>
                    <a:pt x="67564" y="0"/>
                    <a:pt x="74676" y="1016"/>
                    <a:pt x="80899" y="2921"/>
                  </a:cubicBezTo>
                  <a:lnTo>
                    <a:pt x="92329" y="7620"/>
                  </a:lnTo>
                  <a:cubicBezTo>
                    <a:pt x="100838" y="14605"/>
                    <a:pt x="104140" y="18796"/>
                    <a:pt x="106426" y="23749"/>
                  </a:cubicBezTo>
                  <a:lnTo>
                    <a:pt x="109855" y="34036"/>
                  </a:lnTo>
                  <a:cubicBezTo>
                    <a:pt x="109855" y="45212"/>
                    <a:pt x="108839" y="50038"/>
                    <a:pt x="106807" y="54356"/>
                  </a:cubicBezTo>
                  <a:lnTo>
                    <a:pt x="102235" y="62357"/>
                  </a:lnTo>
                  <a:cubicBezTo>
                    <a:pt x="96012" y="68961"/>
                    <a:pt x="92583" y="71755"/>
                    <a:pt x="89027" y="74168"/>
                  </a:cubicBezTo>
                  <a:lnTo>
                    <a:pt x="81788" y="78740"/>
                  </a:lnTo>
                  <a:lnTo>
                    <a:pt x="72390" y="83947"/>
                  </a:lnTo>
                  <a:cubicBezTo>
                    <a:pt x="65278" y="88011"/>
                    <a:pt x="61722" y="90170"/>
                    <a:pt x="58166" y="92583"/>
                  </a:cubicBezTo>
                  <a:lnTo>
                    <a:pt x="51435" y="97536"/>
                  </a:lnTo>
                  <a:lnTo>
                    <a:pt x="43307" y="105283"/>
                  </a:lnTo>
                  <a:lnTo>
                    <a:pt x="112395" y="107823"/>
                  </a:lnTo>
                  <a:lnTo>
                    <a:pt x="112395" y="136144"/>
                  </a:lnTo>
                  <a:close/>
                </a:path>
              </a:pathLst>
            </a:custGeom>
            <a:solidFill>
              <a:srgbClr val="00CC9C"/>
            </a:solidFill>
          </p:spPr>
          <p:txBody>
            <a:bodyPr/>
            <a:lstStyle/>
            <a:p>
              <a:endParaRPr lang="fr-FR"/>
            </a:p>
          </p:txBody>
        </p:sp>
      </p:grpSp>
      <p:grpSp>
        <p:nvGrpSpPr>
          <p:cNvPr id="14" name="Group 14">
            <a:extLst>
              <a:ext uri="{FF2B5EF4-FFF2-40B4-BE49-F238E27FC236}">
                <a16:creationId xmlns:a16="http://schemas.microsoft.com/office/drawing/2014/main" id="{BB18E54E-7AA1-77D9-0DCA-071B4A832796}"/>
              </a:ext>
            </a:extLst>
          </p:cNvPr>
          <p:cNvGrpSpPr>
            <a:grpSpLocks noChangeAspect="1"/>
          </p:cNvGrpSpPr>
          <p:nvPr/>
        </p:nvGrpSpPr>
        <p:grpSpPr>
          <a:xfrm>
            <a:off x="5424068" y="4749946"/>
            <a:ext cx="762505" cy="694058"/>
            <a:chOff x="0" y="0"/>
            <a:chExt cx="762495" cy="694055"/>
          </a:xfrm>
        </p:grpSpPr>
        <p:sp>
          <p:nvSpPr>
            <p:cNvPr id="15" name="Freeform 15">
              <a:extLst>
                <a:ext uri="{FF2B5EF4-FFF2-40B4-BE49-F238E27FC236}">
                  <a16:creationId xmlns:a16="http://schemas.microsoft.com/office/drawing/2014/main" id="{F6BC7DDE-11DC-8DCE-99E1-49C09A47BEF5}"/>
                </a:ext>
              </a:extLst>
            </p:cNvPr>
            <p:cNvSpPr/>
            <p:nvPr/>
          </p:nvSpPr>
          <p:spPr>
            <a:xfrm>
              <a:off x="63500" y="63500"/>
              <a:ext cx="635508" cy="567055"/>
            </a:xfrm>
            <a:custGeom>
              <a:avLst/>
              <a:gdLst/>
              <a:ahLst/>
              <a:cxnLst/>
              <a:rect l="l" t="t" r="r" b="b"/>
              <a:pathLst>
                <a:path w="635508" h="567055">
                  <a:moveTo>
                    <a:pt x="631698" y="297942"/>
                  </a:moveTo>
                  <a:lnTo>
                    <a:pt x="487045" y="552577"/>
                  </a:lnTo>
                  <a:cubicBezTo>
                    <a:pt x="481965" y="561594"/>
                    <a:pt x="472567" y="567055"/>
                    <a:pt x="462407" y="567055"/>
                  </a:cubicBezTo>
                  <a:lnTo>
                    <a:pt x="173101" y="567055"/>
                  </a:lnTo>
                  <a:cubicBezTo>
                    <a:pt x="162941" y="567055"/>
                    <a:pt x="153543" y="561594"/>
                    <a:pt x="148463" y="552577"/>
                  </a:cubicBezTo>
                  <a:lnTo>
                    <a:pt x="3810" y="297942"/>
                  </a:lnTo>
                  <a:cubicBezTo>
                    <a:pt x="-1270" y="288925"/>
                    <a:pt x="-1270" y="278003"/>
                    <a:pt x="3810" y="268986"/>
                  </a:cubicBezTo>
                  <a:lnTo>
                    <a:pt x="148463" y="14478"/>
                  </a:lnTo>
                  <a:cubicBezTo>
                    <a:pt x="153543" y="5461"/>
                    <a:pt x="162941" y="0"/>
                    <a:pt x="173101" y="0"/>
                  </a:cubicBezTo>
                  <a:lnTo>
                    <a:pt x="462407" y="0"/>
                  </a:lnTo>
                  <a:cubicBezTo>
                    <a:pt x="472567" y="0"/>
                    <a:pt x="481965" y="5461"/>
                    <a:pt x="487045" y="14478"/>
                  </a:cubicBezTo>
                  <a:lnTo>
                    <a:pt x="631698" y="269113"/>
                  </a:lnTo>
                  <a:cubicBezTo>
                    <a:pt x="636778" y="278130"/>
                    <a:pt x="636778" y="289052"/>
                    <a:pt x="631698" y="298069"/>
                  </a:cubicBezTo>
                </a:path>
              </a:pathLst>
            </a:custGeom>
            <a:solidFill>
              <a:srgbClr val="14A1BF"/>
            </a:solidFill>
          </p:spPr>
          <p:txBody>
            <a:bodyPr/>
            <a:lstStyle/>
            <a:p>
              <a:endParaRPr lang="fr-FR"/>
            </a:p>
          </p:txBody>
        </p:sp>
        <p:sp>
          <p:nvSpPr>
            <p:cNvPr id="16" name="Freeform 16">
              <a:extLst>
                <a:ext uri="{FF2B5EF4-FFF2-40B4-BE49-F238E27FC236}">
                  <a16:creationId xmlns:a16="http://schemas.microsoft.com/office/drawing/2014/main" id="{A604A828-36A4-9CC5-4A23-17CBDA2340F2}"/>
                </a:ext>
              </a:extLst>
            </p:cNvPr>
            <p:cNvSpPr/>
            <p:nvPr/>
          </p:nvSpPr>
          <p:spPr>
            <a:xfrm>
              <a:off x="260350" y="148082"/>
              <a:ext cx="438658" cy="482473"/>
            </a:xfrm>
            <a:custGeom>
              <a:avLst/>
              <a:gdLst/>
              <a:ahLst/>
              <a:cxnLst/>
              <a:rect l="l" t="t" r="r" b="b"/>
              <a:pathLst>
                <a:path w="438658" h="482473">
                  <a:moveTo>
                    <a:pt x="261112" y="0"/>
                  </a:moveTo>
                  <a:lnTo>
                    <a:pt x="365887" y="184404"/>
                  </a:lnTo>
                  <a:cubicBezTo>
                    <a:pt x="370967" y="193421"/>
                    <a:pt x="370967" y="204343"/>
                    <a:pt x="365887" y="213360"/>
                  </a:cubicBezTo>
                  <a:lnTo>
                    <a:pt x="255778" y="407289"/>
                  </a:lnTo>
                  <a:cubicBezTo>
                    <a:pt x="250698" y="416306"/>
                    <a:pt x="241300" y="421767"/>
                    <a:pt x="231140" y="421767"/>
                  </a:cubicBezTo>
                  <a:lnTo>
                    <a:pt x="10795" y="421767"/>
                  </a:lnTo>
                  <a:cubicBezTo>
                    <a:pt x="6985" y="421767"/>
                    <a:pt x="3429" y="421005"/>
                    <a:pt x="0" y="419608"/>
                  </a:cubicBezTo>
                  <a:lnTo>
                    <a:pt x="61849" y="482473"/>
                  </a:lnTo>
                  <a:lnTo>
                    <a:pt x="265557" y="482473"/>
                  </a:lnTo>
                  <a:cubicBezTo>
                    <a:pt x="275717" y="482473"/>
                    <a:pt x="285115" y="477012"/>
                    <a:pt x="290195" y="467995"/>
                  </a:cubicBezTo>
                  <a:lnTo>
                    <a:pt x="434848" y="213360"/>
                  </a:lnTo>
                  <a:cubicBezTo>
                    <a:pt x="437388" y="208915"/>
                    <a:pt x="438658" y="203835"/>
                    <a:pt x="438658" y="198882"/>
                  </a:cubicBezTo>
                  <a:lnTo>
                    <a:pt x="437388" y="188849"/>
                  </a:lnTo>
                  <a:lnTo>
                    <a:pt x="424307" y="165735"/>
                  </a:lnTo>
                  <a:close/>
                </a:path>
              </a:pathLst>
            </a:custGeom>
            <a:solidFill>
              <a:srgbClr val="036391"/>
            </a:solidFill>
          </p:spPr>
          <p:txBody>
            <a:bodyPr/>
            <a:lstStyle/>
            <a:p>
              <a:endParaRPr lang="fr-FR"/>
            </a:p>
          </p:txBody>
        </p:sp>
        <p:sp>
          <p:nvSpPr>
            <p:cNvPr id="17" name="Freeform 17">
              <a:extLst>
                <a:ext uri="{FF2B5EF4-FFF2-40B4-BE49-F238E27FC236}">
                  <a16:creationId xmlns:a16="http://schemas.microsoft.com/office/drawing/2014/main" id="{2653C037-3E83-8D23-8BE0-C3DFD30F3632}"/>
                </a:ext>
              </a:extLst>
            </p:cNvPr>
            <p:cNvSpPr/>
            <p:nvPr/>
          </p:nvSpPr>
          <p:spPr>
            <a:xfrm>
              <a:off x="132461" y="124206"/>
              <a:ext cx="497459" cy="445643"/>
            </a:xfrm>
            <a:custGeom>
              <a:avLst/>
              <a:gdLst/>
              <a:ahLst/>
              <a:cxnLst/>
              <a:rect l="l" t="t" r="r" b="b"/>
              <a:pathLst>
                <a:path w="497459" h="445643">
                  <a:moveTo>
                    <a:pt x="493776" y="237236"/>
                  </a:moveTo>
                  <a:lnTo>
                    <a:pt x="383667" y="431165"/>
                  </a:lnTo>
                  <a:cubicBezTo>
                    <a:pt x="378587" y="440182"/>
                    <a:pt x="369189" y="445643"/>
                    <a:pt x="359029" y="445643"/>
                  </a:cubicBezTo>
                  <a:lnTo>
                    <a:pt x="138557" y="445643"/>
                  </a:lnTo>
                  <a:cubicBezTo>
                    <a:pt x="134747" y="445643"/>
                    <a:pt x="131191" y="444881"/>
                    <a:pt x="127762" y="443484"/>
                  </a:cubicBezTo>
                  <a:lnTo>
                    <a:pt x="127635" y="443357"/>
                  </a:lnTo>
                  <a:lnTo>
                    <a:pt x="117094" y="436753"/>
                  </a:lnTo>
                  <a:lnTo>
                    <a:pt x="3810" y="237236"/>
                  </a:lnTo>
                  <a:cubicBezTo>
                    <a:pt x="-1270" y="228219"/>
                    <a:pt x="-1270" y="217297"/>
                    <a:pt x="3810" y="208280"/>
                  </a:cubicBezTo>
                  <a:lnTo>
                    <a:pt x="113919" y="14478"/>
                  </a:lnTo>
                  <a:cubicBezTo>
                    <a:pt x="118999" y="5461"/>
                    <a:pt x="128397" y="0"/>
                    <a:pt x="138557" y="0"/>
                  </a:cubicBezTo>
                  <a:lnTo>
                    <a:pt x="358902" y="0"/>
                  </a:lnTo>
                  <a:cubicBezTo>
                    <a:pt x="369062" y="0"/>
                    <a:pt x="378460" y="5461"/>
                    <a:pt x="383540" y="14478"/>
                  </a:cubicBezTo>
                  <a:lnTo>
                    <a:pt x="493649" y="208407"/>
                  </a:lnTo>
                  <a:cubicBezTo>
                    <a:pt x="498729" y="217424"/>
                    <a:pt x="498729" y="228346"/>
                    <a:pt x="493649" y="237363"/>
                  </a:cubicBezTo>
                </a:path>
              </a:pathLst>
            </a:custGeom>
            <a:solidFill>
              <a:srgbClr val="FFFFFF"/>
            </a:solidFill>
          </p:spPr>
          <p:txBody>
            <a:bodyPr/>
            <a:lstStyle/>
            <a:p>
              <a:endParaRPr lang="fr-FR"/>
            </a:p>
          </p:txBody>
        </p:sp>
        <p:sp>
          <p:nvSpPr>
            <p:cNvPr id="18" name="Freeform 18">
              <a:extLst>
                <a:ext uri="{FF2B5EF4-FFF2-40B4-BE49-F238E27FC236}">
                  <a16:creationId xmlns:a16="http://schemas.microsoft.com/office/drawing/2014/main" id="{66306F1E-524F-650C-596D-9C78DF728637}"/>
                </a:ext>
              </a:extLst>
            </p:cNvPr>
            <p:cNvSpPr/>
            <p:nvPr/>
          </p:nvSpPr>
          <p:spPr>
            <a:xfrm>
              <a:off x="260477" y="273431"/>
              <a:ext cx="120269" cy="143764"/>
            </a:xfrm>
            <a:custGeom>
              <a:avLst/>
              <a:gdLst/>
              <a:ahLst/>
              <a:cxnLst/>
              <a:rect l="l" t="t" r="r" b="b"/>
              <a:pathLst>
                <a:path w="120269" h="143764">
                  <a:moveTo>
                    <a:pt x="120269" y="72009"/>
                  </a:moveTo>
                  <a:lnTo>
                    <a:pt x="115697" y="100838"/>
                  </a:lnTo>
                  <a:cubicBezTo>
                    <a:pt x="112649" y="109601"/>
                    <a:pt x="108458" y="117221"/>
                    <a:pt x="103124" y="123571"/>
                  </a:cubicBezTo>
                  <a:lnTo>
                    <a:pt x="91440" y="134874"/>
                  </a:lnTo>
                  <a:cubicBezTo>
                    <a:pt x="76708" y="141986"/>
                    <a:pt x="68707" y="143764"/>
                    <a:pt x="60198" y="143764"/>
                  </a:cubicBezTo>
                  <a:lnTo>
                    <a:pt x="43434" y="141986"/>
                  </a:lnTo>
                  <a:cubicBezTo>
                    <a:pt x="28829" y="134874"/>
                    <a:pt x="22479" y="129921"/>
                    <a:pt x="17145" y="123571"/>
                  </a:cubicBezTo>
                  <a:lnTo>
                    <a:pt x="4572" y="100838"/>
                  </a:lnTo>
                  <a:cubicBezTo>
                    <a:pt x="1524" y="92075"/>
                    <a:pt x="0" y="82550"/>
                    <a:pt x="0" y="72009"/>
                  </a:cubicBezTo>
                  <a:lnTo>
                    <a:pt x="4572" y="43180"/>
                  </a:lnTo>
                  <a:cubicBezTo>
                    <a:pt x="7620" y="34417"/>
                    <a:pt x="11811" y="26797"/>
                    <a:pt x="17145" y="20447"/>
                  </a:cubicBezTo>
                  <a:lnTo>
                    <a:pt x="28829" y="9017"/>
                  </a:lnTo>
                  <a:cubicBezTo>
                    <a:pt x="43434" y="1778"/>
                    <a:pt x="51435" y="0"/>
                    <a:pt x="60071" y="0"/>
                  </a:cubicBezTo>
                  <a:lnTo>
                    <a:pt x="76581" y="1778"/>
                  </a:lnTo>
                  <a:cubicBezTo>
                    <a:pt x="91313" y="9017"/>
                    <a:pt x="97663" y="14097"/>
                    <a:pt x="103124" y="20447"/>
                  </a:cubicBezTo>
                  <a:lnTo>
                    <a:pt x="115697" y="43180"/>
                  </a:lnTo>
                  <a:cubicBezTo>
                    <a:pt x="118745" y="51943"/>
                    <a:pt x="120269" y="61468"/>
                    <a:pt x="120269" y="72009"/>
                  </a:cubicBezTo>
                  <a:moveTo>
                    <a:pt x="88773" y="72009"/>
                  </a:moveTo>
                  <a:lnTo>
                    <a:pt x="88011" y="59944"/>
                  </a:lnTo>
                  <a:cubicBezTo>
                    <a:pt x="85217" y="49403"/>
                    <a:pt x="83185" y="44831"/>
                    <a:pt x="80645" y="41021"/>
                  </a:cubicBezTo>
                  <a:lnTo>
                    <a:pt x="75057" y="34290"/>
                  </a:lnTo>
                  <a:lnTo>
                    <a:pt x="64262" y="29210"/>
                  </a:lnTo>
                  <a:cubicBezTo>
                    <a:pt x="55753" y="29210"/>
                    <a:pt x="51816" y="30226"/>
                    <a:pt x="48260" y="32258"/>
                  </a:cubicBezTo>
                  <a:lnTo>
                    <a:pt x="41783" y="37211"/>
                  </a:lnTo>
                  <a:cubicBezTo>
                    <a:pt x="36703" y="44831"/>
                    <a:pt x="34671" y="49276"/>
                    <a:pt x="33274" y="54610"/>
                  </a:cubicBezTo>
                  <a:lnTo>
                    <a:pt x="31115" y="65659"/>
                  </a:lnTo>
                  <a:cubicBezTo>
                    <a:pt x="31115" y="78232"/>
                    <a:pt x="31877" y="84074"/>
                    <a:pt x="33274" y="89281"/>
                  </a:cubicBezTo>
                  <a:lnTo>
                    <a:pt x="36703" y="99060"/>
                  </a:lnTo>
                  <a:cubicBezTo>
                    <a:pt x="41783" y="106680"/>
                    <a:pt x="44831" y="109601"/>
                    <a:pt x="48387" y="111633"/>
                  </a:cubicBezTo>
                  <a:lnTo>
                    <a:pt x="55753" y="114681"/>
                  </a:lnTo>
                  <a:lnTo>
                    <a:pt x="68199" y="113665"/>
                  </a:lnTo>
                  <a:cubicBezTo>
                    <a:pt x="75184" y="109601"/>
                    <a:pt x="78232" y="106680"/>
                    <a:pt x="80772" y="102870"/>
                  </a:cubicBezTo>
                  <a:lnTo>
                    <a:pt x="85344" y="94615"/>
                  </a:lnTo>
                  <a:cubicBezTo>
                    <a:pt x="88138" y="84201"/>
                    <a:pt x="88900" y="78486"/>
                    <a:pt x="88900" y="72136"/>
                  </a:cubicBezTo>
                </a:path>
              </a:pathLst>
            </a:custGeom>
            <a:solidFill>
              <a:srgbClr val="14A1BF"/>
            </a:solidFill>
          </p:spPr>
          <p:txBody>
            <a:bodyPr/>
            <a:lstStyle/>
            <a:p>
              <a:endParaRPr lang="fr-FR"/>
            </a:p>
          </p:txBody>
        </p:sp>
        <p:sp>
          <p:nvSpPr>
            <p:cNvPr id="19" name="Freeform 19">
              <a:extLst>
                <a:ext uri="{FF2B5EF4-FFF2-40B4-BE49-F238E27FC236}">
                  <a16:creationId xmlns:a16="http://schemas.microsoft.com/office/drawing/2014/main" id="{8E3CAF79-3CA5-5D6D-C5E1-C65568788D20}"/>
                </a:ext>
              </a:extLst>
            </p:cNvPr>
            <p:cNvSpPr/>
            <p:nvPr/>
          </p:nvSpPr>
          <p:spPr>
            <a:xfrm>
              <a:off x="388493" y="278638"/>
              <a:ext cx="114681" cy="170815"/>
            </a:xfrm>
            <a:custGeom>
              <a:avLst/>
              <a:gdLst/>
              <a:ahLst/>
              <a:cxnLst/>
              <a:rect l="l" t="t" r="r" b="b"/>
              <a:pathLst>
                <a:path w="114681" h="170815">
                  <a:moveTo>
                    <a:pt x="82296" y="80264"/>
                  </a:moveTo>
                  <a:cubicBezTo>
                    <a:pt x="91948" y="82042"/>
                    <a:pt x="99695" y="86741"/>
                    <a:pt x="105664" y="94361"/>
                  </a:cubicBezTo>
                  <a:cubicBezTo>
                    <a:pt x="111633" y="101981"/>
                    <a:pt x="114681" y="111379"/>
                    <a:pt x="114681" y="122428"/>
                  </a:cubicBezTo>
                  <a:lnTo>
                    <a:pt x="113284" y="136525"/>
                  </a:lnTo>
                  <a:cubicBezTo>
                    <a:pt x="107569" y="148463"/>
                    <a:pt x="103505" y="153670"/>
                    <a:pt x="98298" y="157734"/>
                  </a:cubicBezTo>
                  <a:lnTo>
                    <a:pt x="86741" y="165100"/>
                  </a:lnTo>
                  <a:cubicBezTo>
                    <a:pt x="71882" y="169672"/>
                    <a:pt x="63500" y="170815"/>
                    <a:pt x="54102" y="170815"/>
                  </a:cubicBezTo>
                  <a:lnTo>
                    <a:pt x="22733" y="164973"/>
                  </a:lnTo>
                  <a:cubicBezTo>
                    <a:pt x="13589" y="161163"/>
                    <a:pt x="6096" y="155448"/>
                    <a:pt x="0" y="148082"/>
                  </a:cubicBezTo>
                  <a:lnTo>
                    <a:pt x="17653" y="125603"/>
                  </a:lnTo>
                  <a:cubicBezTo>
                    <a:pt x="21717" y="130810"/>
                    <a:pt x="26543" y="134874"/>
                    <a:pt x="32131" y="137668"/>
                  </a:cubicBezTo>
                  <a:lnTo>
                    <a:pt x="44704" y="141986"/>
                  </a:lnTo>
                  <a:cubicBezTo>
                    <a:pt x="62611" y="141986"/>
                    <a:pt x="69850" y="140081"/>
                    <a:pt x="74803" y="136271"/>
                  </a:cubicBezTo>
                  <a:lnTo>
                    <a:pt x="82296" y="126619"/>
                  </a:lnTo>
                  <a:cubicBezTo>
                    <a:pt x="82296" y="110490"/>
                    <a:pt x="79375" y="104140"/>
                    <a:pt x="73660" y="99822"/>
                  </a:cubicBezTo>
                  <a:cubicBezTo>
                    <a:pt x="67945" y="95504"/>
                    <a:pt x="59182" y="93218"/>
                    <a:pt x="47498" y="93218"/>
                  </a:cubicBezTo>
                  <a:lnTo>
                    <a:pt x="41021" y="93218"/>
                  </a:lnTo>
                  <a:lnTo>
                    <a:pt x="41021" y="69723"/>
                  </a:lnTo>
                  <a:lnTo>
                    <a:pt x="48260" y="69723"/>
                  </a:lnTo>
                  <a:cubicBezTo>
                    <a:pt x="57912" y="69723"/>
                    <a:pt x="65405" y="67564"/>
                    <a:pt x="70612" y="63246"/>
                  </a:cubicBezTo>
                  <a:lnTo>
                    <a:pt x="78486" y="53340"/>
                  </a:lnTo>
                  <a:cubicBezTo>
                    <a:pt x="78486" y="40132"/>
                    <a:pt x="76327" y="35306"/>
                    <a:pt x="72009" y="32131"/>
                  </a:cubicBezTo>
                  <a:lnTo>
                    <a:pt x="61976" y="27432"/>
                  </a:lnTo>
                  <a:cubicBezTo>
                    <a:pt x="47879" y="27432"/>
                    <a:pt x="41402" y="29083"/>
                    <a:pt x="35687" y="32385"/>
                  </a:cubicBezTo>
                  <a:lnTo>
                    <a:pt x="25400" y="40386"/>
                  </a:lnTo>
                  <a:lnTo>
                    <a:pt x="2286" y="24130"/>
                  </a:lnTo>
                  <a:cubicBezTo>
                    <a:pt x="4572" y="20447"/>
                    <a:pt x="7747" y="17272"/>
                    <a:pt x="11557" y="14351"/>
                  </a:cubicBezTo>
                  <a:lnTo>
                    <a:pt x="19812" y="8890"/>
                  </a:lnTo>
                  <a:cubicBezTo>
                    <a:pt x="29591" y="4572"/>
                    <a:pt x="34925" y="2921"/>
                    <a:pt x="40640" y="1778"/>
                  </a:cubicBezTo>
                  <a:lnTo>
                    <a:pt x="52324" y="0"/>
                  </a:lnTo>
                  <a:cubicBezTo>
                    <a:pt x="66294" y="0"/>
                    <a:pt x="73533" y="1016"/>
                    <a:pt x="80010" y="3048"/>
                  </a:cubicBezTo>
                  <a:lnTo>
                    <a:pt x="92202" y="8001"/>
                  </a:lnTo>
                  <a:cubicBezTo>
                    <a:pt x="101727" y="15240"/>
                    <a:pt x="105283" y="19685"/>
                    <a:pt x="107950" y="24765"/>
                  </a:cubicBezTo>
                  <a:lnTo>
                    <a:pt x="111760" y="35687"/>
                  </a:lnTo>
                  <a:cubicBezTo>
                    <a:pt x="111760" y="46736"/>
                    <a:pt x="110998" y="51181"/>
                    <a:pt x="109601" y="55499"/>
                  </a:cubicBezTo>
                  <a:lnTo>
                    <a:pt x="106172" y="63627"/>
                  </a:lnTo>
                  <a:cubicBezTo>
                    <a:pt x="100838" y="70612"/>
                    <a:pt x="97790" y="73533"/>
                    <a:pt x="94107" y="75819"/>
                  </a:cubicBezTo>
                  <a:lnTo>
                    <a:pt x="86487" y="79756"/>
                  </a:lnTo>
                </a:path>
              </a:pathLst>
            </a:custGeom>
            <a:solidFill>
              <a:srgbClr val="14A1BF"/>
            </a:solidFill>
          </p:spPr>
          <p:txBody>
            <a:bodyPr/>
            <a:lstStyle/>
            <a:p>
              <a:endParaRPr lang="fr-FR"/>
            </a:p>
          </p:txBody>
        </p:sp>
      </p:grpSp>
      <p:grpSp>
        <p:nvGrpSpPr>
          <p:cNvPr id="20" name="Group 20">
            <a:extLst>
              <a:ext uri="{FF2B5EF4-FFF2-40B4-BE49-F238E27FC236}">
                <a16:creationId xmlns:a16="http://schemas.microsoft.com/office/drawing/2014/main" id="{D5B828F8-2F97-A119-ED6B-EEF2EF7D5C3B}"/>
              </a:ext>
            </a:extLst>
          </p:cNvPr>
          <p:cNvGrpSpPr>
            <a:grpSpLocks noChangeAspect="1"/>
          </p:cNvGrpSpPr>
          <p:nvPr/>
        </p:nvGrpSpPr>
        <p:grpSpPr>
          <a:xfrm>
            <a:off x="0" y="2680973"/>
            <a:ext cx="7559993" cy="1642539"/>
            <a:chOff x="0" y="0"/>
            <a:chExt cx="7559992" cy="1642542"/>
          </a:xfrm>
        </p:grpSpPr>
        <p:sp>
          <p:nvSpPr>
            <p:cNvPr id="21" name="Freeform 21">
              <a:extLst>
                <a:ext uri="{FF2B5EF4-FFF2-40B4-BE49-F238E27FC236}">
                  <a16:creationId xmlns:a16="http://schemas.microsoft.com/office/drawing/2014/main" id="{E93E92AF-9F02-A27F-D2B5-AFC3765DF40A}"/>
                </a:ext>
              </a:extLst>
            </p:cNvPr>
            <p:cNvSpPr/>
            <p:nvPr/>
          </p:nvSpPr>
          <p:spPr>
            <a:xfrm>
              <a:off x="0" y="0"/>
              <a:ext cx="7560056" cy="1642491"/>
            </a:xfrm>
            <a:custGeom>
              <a:avLst/>
              <a:gdLst/>
              <a:ahLst/>
              <a:cxnLst/>
              <a:rect l="l" t="t" r="r" b="b"/>
              <a:pathLst>
                <a:path w="7560056" h="1642491">
                  <a:moveTo>
                    <a:pt x="0" y="1642491"/>
                  </a:moveTo>
                  <a:lnTo>
                    <a:pt x="7560056" y="1642491"/>
                  </a:lnTo>
                  <a:lnTo>
                    <a:pt x="7560056" y="0"/>
                  </a:lnTo>
                  <a:lnTo>
                    <a:pt x="0" y="0"/>
                  </a:lnTo>
                  <a:close/>
                </a:path>
              </a:pathLst>
            </a:custGeom>
            <a:solidFill>
              <a:srgbClr val="1A1447"/>
            </a:solidFill>
          </p:spPr>
          <p:txBody>
            <a:bodyPr/>
            <a:lstStyle/>
            <a:p>
              <a:endParaRPr lang="fr-FR"/>
            </a:p>
          </p:txBody>
        </p:sp>
      </p:grpSp>
      <p:sp>
        <p:nvSpPr>
          <p:cNvPr id="30" name="TextBox 99">
            <a:extLst>
              <a:ext uri="{FF2B5EF4-FFF2-40B4-BE49-F238E27FC236}">
                <a16:creationId xmlns:a16="http://schemas.microsoft.com/office/drawing/2014/main" id="{A1600B8B-AC8F-52BB-5EA5-566DA726B060}"/>
              </a:ext>
            </a:extLst>
          </p:cNvPr>
          <p:cNvSpPr txBox="1"/>
          <p:nvPr/>
        </p:nvSpPr>
        <p:spPr>
          <a:xfrm>
            <a:off x="6672167" y="9971913"/>
            <a:ext cx="248917" cy="240665"/>
          </a:xfrm>
          <a:prstGeom prst="rect">
            <a:avLst/>
          </a:prstGeom>
        </p:spPr>
        <p:txBody>
          <a:bodyPr lIns="0" tIns="0" rIns="0" bIns="0" rtlCol="0" anchor="t">
            <a:spAutoFit/>
          </a:bodyPr>
          <a:lstStyle/>
          <a:p>
            <a:pPr algn="l">
              <a:lnSpc>
                <a:spcPts val="1959"/>
              </a:lnSpc>
            </a:pPr>
            <a:r>
              <a:rPr lang="en-US" sz="1399" b="1" spc="8">
                <a:solidFill>
                  <a:srgbClr val="231F20"/>
                </a:solidFill>
                <a:latin typeface="IBM Plex Sans Bold"/>
                <a:ea typeface="IBM Plex Sans Bold"/>
                <a:cs typeface="IBM Plex Sans Bold"/>
                <a:sym typeface="IBM Plex Sans Bold"/>
              </a:rPr>
              <a:t>30</a:t>
            </a:r>
          </a:p>
        </p:txBody>
      </p:sp>
      <p:sp>
        <p:nvSpPr>
          <p:cNvPr id="32" name="TextBox 32">
            <a:extLst>
              <a:ext uri="{FF2B5EF4-FFF2-40B4-BE49-F238E27FC236}">
                <a16:creationId xmlns:a16="http://schemas.microsoft.com/office/drawing/2014/main" id="{230BBF67-3048-1BE6-0CF0-89ECE85F3C99}"/>
              </a:ext>
            </a:extLst>
          </p:cNvPr>
          <p:cNvSpPr txBox="1"/>
          <p:nvPr/>
        </p:nvSpPr>
        <p:spPr>
          <a:xfrm>
            <a:off x="567738" y="6584175"/>
            <a:ext cx="1606115" cy="154466"/>
          </a:xfrm>
          <a:prstGeom prst="rect">
            <a:avLst/>
          </a:prstGeom>
        </p:spPr>
        <p:txBody>
          <a:bodyPr lIns="0" tIns="0" rIns="0" bIns="0" rtlCol="0" anchor="t">
            <a:spAutoFit/>
          </a:bodyPr>
          <a:lstStyle/>
          <a:p>
            <a:pPr algn="l">
              <a:lnSpc>
                <a:spcPts val="1200"/>
              </a:lnSpc>
            </a:pPr>
            <a:r>
              <a:rPr lang="en-US" sz="1200" i="1" spc="4" dirty="0">
                <a:solidFill>
                  <a:srgbClr val="1A1447"/>
                </a:solidFill>
                <a:latin typeface="IBM Plex Sans Italics"/>
                <a:ea typeface="IBM Plex Sans Italics"/>
                <a:cs typeface="IBM Plex Sans Italics"/>
                <a:sym typeface="IBM Plex Sans Italics"/>
              </a:rPr>
              <a:t>Organization and research framework
Formulate a research issue DBA/PhD
Methods for quality analysis
</a:t>
            </a:r>
          </a:p>
        </p:txBody>
      </p:sp>
      <p:sp>
        <p:nvSpPr>
          <p:cNvPr id="33" name="TextBox 33">
            <a:extLst>
              <a:ext uri="{FF2B5EF4-FFF2-40B4-BE49-F238E27FC236}">
                <a16:creationId xmlns:a16="http://schemas.microsoft.com/office/drawing/2014/main" id="{536B0A26-83FB-828B-F370-69F4BC07C35A}"/>
              </a:ext>
            </a:extLst>
          </p:cNvPr>
          <p:cNvSpPr txBox="1"/>
          <p:nvPr/>
        </p:nvSpPr>
        <p:spPr>
          <a:xfrm>
            <a:off x="618915" y="5447243"/>
            <a:ext cx="1789005"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FREE FRENCH LANGUAGE COURSE OPTION
</a:t>
            </a:r>
          </a:p>
        </p:txBody>
      </p:sp>
      <p:sp>
        <p:nvSpPr>
          <p:cNvPr id="35" name="TextBox 35">
            <a:extLst>
              <a:ext uri="{FF2B5EF4-FFF2-40B4-BE49-F238E27FC236}">
                <a16:creationId xmlns:a16="http://schemas.microsoft.com/office/drawing/2014/main" id="{41B217C9-745D-FC81-C050-CDBFCA3CB9D4}"/>
              </a:ext>
            </a:extLst>
          </p:cNvPr>
          <p:cNvSpPr txBox="1"/>
          <p:nvPr/>
        </p:nvSpPr>
        <p:spPr>
          <a:xfrm>
            <a:off x="537734" y="8485765"/>
            <a:ext cx="3010814" cy="179536"/>
          </a:xfrm>
          <a:prstGeom prst="rect">
            <a:avLst/>
          </a:prstGeom>
        </p:spPr>
        <p:txBody>
          <a:bodyPr lIns="0" tIns="0" rIns="0" bIns="0" rtlCol="0" anchor="t">
            <a:spAutoFit/>
          </a:bodyPr>
          <a:lstStyle/>
          <a:p>
            <a:pPr algn="l">
              <a:lnSpc>
                <a:spcPts val="1439"/>
              </a:lnSpc>
            </a:pPr>
            <a:r>
              <a:rPr lang="en-US" sz="1200" i="1" spc="4" dirty="0" err="1">
                <a:solidFill>
                  <a:srgbClr val="1A1447"/>
                </a:solidFill>
                <a:latin typeface="IBM Plex Sans Italics"/>
                <a:ea typeface="IBM Plex Sans Italics"/>
                <a:cs typeface="IBM Plex Sans Italics"/>
                <a:sym typeface="IBM Plex Sans Italics"/>
              </a:rPr>
              <a:t>Requirement : bac+5 or equivalent
 English/French B2
Monthly lecture with doctorates or experts Two meetings per month
Acceptable topics in Marketing, Manage- ment, Business or Finance
</a:t>
            </a:r>
            <a:endParaRPr lang="en-US" sz="1200" i="1" spc="4" dirty="0">
              <a:solidFill>
                <a:srgbClr val="1A1447"/>
              </a:solidFill>
              <a:latin typeface="IBM Plex Sans Italics"/>
              <a:ea typeface="IBM Plex Sans Italics"/>
              <a:cs typeface="IBM Plex Sans Italics"/>
              <a:sym typeface="IBM Plex Sans Italics"/>
            </a:endParaRPr>
          </a:p>
        </p:txBody>
      </p:sp>
      <p:sp>
        <p:nvSpPr>
          <p:cNvPr id="36" name="TextBox 36">
            <a:extLst>
              <a:ext uri="{FF2B5EF4-FFF2-40B4-BE49-F238E27FC236}">
                <a16:creationId xmlns:a16="http://schemas.microsoft.com/office/drawing/2014/main" id="{0AA1A4AD-2DCD-6328-9336-F605B97B3B97}"/>
              </a:ext>
            </a:extLst>
          </p:cNvPr>
          <p:cNvSpPr txBox="1"/>
          <p:nvPr/>
        </p:nvSpPr>
        <p:spPr>
          <a:xfrm>
            <a:off x="2754878" y="6599644"/>
            <a:ext cx="1543031"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4" dirty="0">
                <a:solidFill>
                  <a:srgbClr val="1A1447"/>
                </a:solidFill>
                <a:latin typeface="IBM Plex Sans Italics"/>
                <a:ea typeface="IBM Plex Sans Italics"/>
                <a:cs typeface="IBM Plex Sans Italics"/>
                <a:sym typeface="IBM Plex Sans Italics"/>
              </a:rPr>
              <a:t>Research methods and general knowledges 
Conduct a scoping literature review
Methods for quantitative analysis
</a:t>
            </a:r>
          </a:p>
        </p:txBody>
      </p:sp>
      <p:sp>
        <p:nvSpPr>
          <p:cNvPr id="37" name="TextBox 37">
            <a:extLst>
              <a:ext uri="{FF2B5EF4-FFF2-40B4-BE49-F238E27FC236}">
                <a16:creationId xmlns:a16="http://schemas.microsoft.com/office/drawing/2014/main" id="{12159E27-5543-0E3D-03B8-2BA012518EC0}"/>
              </a:ext>
            </a:extLst>
          </p:cNvPr>
          <p:cNvSpPr txBox="1"/>
          <p:nvPr/>
        </p:nvSpPr>
        <p:spPr>
          <a:xfrm>
            <a:off x="2932852" y="5447243"/>
            <a:ext cx="1520552"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PUBLIC UNIVERSITY PHD OPTION ON 2ND YEAR
</a:t>
            </a:r>
          </a:p>
        </p:txBody>
      </p:sp>
      <p:sp>
        <p:nvSpPr>
          <p:cNvPr id="40" name="TextBox 40">
            <a:extLst>
              <a:ext uri="{FF2B5EF4-FFF2-40B4-BE49-F238E27FC236}">
                <a16:creationId xmlns:a16="http://schemas.microsoft.com/office/drawing/2014/main" id="{394D718F-43D8-211C-E64D-6FA225BD36F4}"/>
              </a:ext>
            </a:extLst>
          </p:cNvPr>
          <p:cNvSpPr txBox="1"/>
          <p:nvPr/>
        </p:nvSpPr>
        <p:spPr>
          <a:xfrm>
            <a:off x="5175047" y="5447243"/>
            <a:ext cx="1328147" cy="179536"/>
          </a:xfrm>
          <a:prstGeom prst="rect">
            <a:avLst/>
          </a:prstGeom>
        </p:spPr>
        <p:txBody>
          <a:bodyPr lIns="0" tIns="0" rIns="0" bIns="0" rtlCol="0" anchor="t">
            <a:spAutoFit/>
          </a:bodyPr>
          <a:lstStyle/>
          <a:p>
            <a:pPr algn="ctr">
              <a:lnSpc>
                <a:spcPts val="1439"/>
              </a:lnSpc>
            </a:pPr>
            <a:r>
              <a:rPr lang="en-US" sz="1200" i="1" spc="4" dirty="0">
                <a:solidFill>
                  <a:srgbClr val="1A1447"/>
                </a:solidFill>
                <a:latin typeface="IBM Plex Sans Italics"/>
                <a:ea typeface="IBM Plex Sans Italics"/>
                <a:cs typeface="IBM Plex Sans Italics"/>
                <a:sym typeface="IBM Plex Sans Italics"/>
              </a:rPr>
              <a:t>ACADEMIC FUND POSSIBILITY
</a:t>
            </a:r>
          </a:p>
        </p:txBody>
      </p:sp>
      <p:sp>
        <p:nvSpPr>
          <p:cNvPr id="41" name="TextBox 41">
            <a:extLst>
              <a:ext uri="{FF2B5EF4-FFF2-40B4-BE49-F238E27FC236}">
                <a16:creationId xmlns:a16="http://schemas.microsoft.com/office/drawing/2014/main" id="{E012E910-54BB-1CAC-296B-93105D19651D}"/>
              </a:ext>
            </a:extLst>
          </p:cNvPr>
          <p:cNvSpPr txBox="1"/>
          <p:nvPr/>
        </p:nvSpPr>
        <p:spPr>
          <a:xfrm>
            <a:off x="4989195" y="6599644"/>
            <a:ext cx="1699851" cy="154466"/>
          </a:xfrm>
          <a:prstGeom prst="rect">
            <a:avLst/>
          </a:prstGeom>
        </p:spPr>
        <p:txBody>
          <a:bodyPr lIns="0" tIns="0" rIns="0" bIns="0" rtlCol="0" anchor="t">
            <a:spAutoFit/>
          </a:bodyPr>
          <a:lstStyle/>
          <a:p>
            <a:pPr marL="0" lvl="0" indent="0" algn="l">
              <a:lnSpc>
                <a:spcPts val="1200"/>
              </a:lnSpc>
              <a:spcBef>
                <a:spcPct val="0"/>
              </a:spcBef>
            </a:pPr>
            <a:r>
              <a:rPr lang="en-US" sz="1200" i="1" u="none" strike="noStrike" spc="4" dirty="0">
                <a:solidFill>
                  <a:srgbClr val="1A1447"/>
                </a:solidFill>
                <a:latin typeface="IBM Plex Sans Italics"/>
                <a:ea typeface="IBM Plex Sans Italics"/>
                <a:cs typeface="IBM Plex Sans Italics"/>
                <a:sym typeface="IBM Plex Sans Italics"/>
              </a:rPr>
              <a:t>Data scrapping and bibliography sourcing
New economy and competitivity 
Thesis writing and presentation
</a:t>
            </a:r>
          </a:p>
        </p:txBody>
      </p:sp>
      <p:sp>
        <p:nvSpPr>
          <p:cNvPr id="42" name="TextBox 42">
            <a:extLst>
              <a:ext uri="{FF2B5EF4-FFF2-40B4-BE49-F238E27FC236}">
                <a16:creationId xmlns:a16="http://schemas.microsoft.com/office/drawing/2014/main" id="{7AA25F0B-A32D-A4FF-A96C-D3AF5FF07CC9}"/>
              </a:ext>
            </a:extLst>
          </p:cNvPr>
          <p:cNvSpPr txBox="1"/>
          <p:nvPr/>
        </p:nvSpPr>
        <p:spPr>
          <a:xfrm>
            <a:off x="774204" y="2950440"/>
            <a:ext cx="6055900" cy="179536"/>
          </a:xfrm>
          <a:prstGeom prst="rect">
            <a:avLst/>
          </a:prstGeom>
        </p:spPr>
        <p:txBody>
          <a:bodyPr lIns="0" tIns="0" rIns="0" bIns="0" rtlCol="0" anchor="t">
            <a:spAutoFit/>
          </a:bodyPr>
          <a:lstStyle/>
          <a:p>
            <a:pPr algn="just">
              <a:lnSpc>
                <a:spcPts val="1439"/>
              </a:lnSpc>
            </a:pPr>
            <a:r>
              <a:rPr lang="en-US" sz="1200" spc="7" dirty="0">
                <a:solidFill>
                  <a:srgbClr val="FFFFFF"/>
                </a:solidFill>
                <a:latin typeface="IBM Plex Sans"/>
                <a:ea typeface="IBM Plex Sans"/>
                <a:cs typeface="IBM Plex Sans"/>
                <a:sym typeface="IBM Plex Sans"/>
              </a:rPr>
              <a:t>The DBA (Bac+8) is a track allowing students to develop a deep reflection about a speci- fic topic in the world of international business. The program is supervised by a research director that will support you during the whole research project. 
During these three years, methods of research and supervision will be provided to en- sure your progress through your work and questions about your choices.
</a:t>
            </a:r>
            <a:endParaRPr lang="en-US" sz="1200" spc="4" dirty="0">
              <a:solidFill>
                <a:srgbClr val="FFFFFF"/>
              </a:solidFill>
              <a:latin typeface="IBM Plex Sans"/>
              <a:ea typeface="IBM Plex Sans"/>
              <a:cs typeface="IBM Plex Sans"/>
              <a:sym typeface="IBM Plex Sans"/>
            </a:endParaRPr>
          </a:p>
        </p:txBody>
      </p:sp>
      <p:sp>
        <p:nvSpPr>
          <p:cNvPr id="44" name="TextBox 44">
            <a:extLst>
              <a:ext uri="{FF2B5EF4-FFF2-40B4-BE49-F238E27FC236}">
                <a16:creationId xmlns:a16="http://schemas.microsoft.com/office/drawing/2014/main" id="{C98AF855-C705-BE90-BF23-3737192E705B}"/>
              </a:ext>
            </a:extLst>
          </p:cNvPr>
          <p:cNvSpPr txBox="1"/>
          <p:nvPr/>
        </p:nvSpPr>
        <p:spPr>
          <a:xfrm>
            <a:off x="2597896" y="10378411"/>
            <a:ext cx="2515629" cy="151428"/>
          </a:xfrm>
          <a:prstGeom prst="rect">
            <a:avLst/>
          </a:prstGeom>
        </p:spPr>
        <p:txBody>
          <a:bodyPr lIns="0" tIns="0" rIns="0" bIns="0" rtlCol="0" anchor="t">
            <a:spAutoFit/>
          </a:bodyPr>
          <a:lstStyle/>
          <a:p>
            <a:pPr algn="l">
              <a:lnSpc>
                <a:spcPts val="1260"/>
              </a:lnSpc>
            </a:pPr>
            <a:r>
              <a:rPr lang="en-US" sz="900" i="1" spc="25">
                <a:solidFill>
                  <a:srgbClr val="939496"/>
                </a:solidFill>
                <a:latin typeface="IBM Plex Sans Italics"/>
                <a:ea typeface="IBM Plex Sans Italics"/>
                <a:cs typeface="IBM Plex Sans Italics"/>
                <a:sym typeface="IBM Plex Sans Italics"/>
              </a:rPr>
              <a:t>Etablissement d’enseignement supérieur privé</a:t>
            </a:r>
          </a:p>
        </p:txBody>
      </p:sp>
      <p:sp>
        <p:nvSpPr>
          <p:cNvPr id="45" name="TextBox 45">
            <a:extLst>
              <a:ext uri="{FF2B5EF4-FFF2-40B4-BE49-F238E27FC236}">
                <a16:creationId xmlns:a16="http://schemas.microsoft.com/office/drawing/2014/main" id="{5B6B8424-1168-13E6-E746-04A0750DF1E6}"/>
              </a:ext>
            </a:extLst>
          </p:cNvPr>
          <p:cNvSpPr txBox="1"/>
          <p:nvPr/>
        </p:nvSpPr>
        <p:spPr>
          <a:xfrm>
            <a:off x="537734" y="8022641"/>
            <a:ext cx="3430974"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OCCUPATIONS</a:t>
            </a:r>
          </a:p>
        </p:txBody>
      </p:sp>
      <p:sp>
        <p:nvSpPr>
          <p:cNvPr id="46" name="TextBox 46">
            <a:extLst>
              <a:ext uri="{FF2B5EF4-FFF2-40B4-BE49-F238E27FC236}">
                <a16:creationId xmlns:a16="http://schemas.microsoft.com/office/drawing/2014/main" id="{0733C7C7-20F0-CE8F-4E7F-62C79E191CB8}"/>
              </a:ext>
            </a:extLst>
          </p:cNvPr>
          <p:cNvSpPr txBox="1"/>
          <p:nvPr/>
        </p:nvSpPr>
        <p:spPr>
          <a:xfrm>
            <a:off x="537734" y="6063605"/>
            <a:ext cx="354531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TEACHING UNITS</a:t>
            </a:r>
          </a:p>
        </p:txBody>
      </p:sp>
      <p:sp>
        <p:nvSpPr>
          <p:cNvPr id="47" name="TextBox 47">
            <a:extLst>
              <a:ext uri="{FF2B5EF4-FFF2-40B4-BE49-F238E27FC236}">
                <a16:creationId xmlns:a16="http://schemas.microsoft.com/office/drawing/2014/main" id="{3BE4B9CC-5194-E081-B81E-944A9A3EC141}"/>
              </a:ext>
            </a:extLst>
          </p:cNvPr>
          <p:cNvSpPr txBox="1"/>
          <p:nvPr/>
        </p:nvSpPr>
        <p:spPr>
          <a:xfrm>
            <a:off x="537734" y="4387205"/>
            <a:ext cx="3621516" cy="299056"/>
          </a:xfrm>
          <a:prstGeom prst="rect">
            <a:avLst/>
          </a:prstGeom>
        </p:spPr>
        <p:txBody>
          <a:bodyPr wrap="square" lIns="0" tIns="0" rIns="0" bIns="0" rtlCol="0" anchor="t">
            <a:spAutoFit/>
          </a:bodyPr>
          <a:lstStyle/>
          <a:p>
            <a:pPr algn="l">
              <a:lnSpc>
                <a:spcPts val="2520"/>
              </a:lnSpc>
            </a:pPr>
            <a:r>
              <a:rPr lang="en-US" sz="1800" b="1" i="1" dirty="0">
                <a:solidFill>
                  <a:srgbClr val="EA8C39"/>
                </a:solidFill>
                <a:latin typeface="IBM Plex Sans Bold Italics"/>
                <a:ea typeface="IBM Plex Sans Bold Italics"/>
                <a:cs typeface="IBM Plex Sans Bold Italics"/>
                <a:sym typeface="IBM Plex Sans Bold Italics"/>
              </a:rPr>
              <a:t>TOP3 - KEY POINTS</a:t>
            </a:r>
          </a:p>
        </p:txBody>
      </p:sp>
      <p:grpSp>
        <p:nvGrpSpPr>
          <p:cNvPr id="68" name="Group 22">
            <a:extLst>
              <a:ext uri="{FF2B5EF4-FFF2-40B4-BE49-F238E27FC236}">
                <a16:creationId xmlns:a16="http://schemas.microsoft.com/office/drawing/2014/main" id="{A69010CB-B695-E644-B645-E8E378686A08}"/>
              </a:ext>
            </a:extLst>
          </p:cNvPr>
          <p:cNvGrpSpPr>
            <a:grpSpLocks noChangeAspect="1"/>
          </p:cNvGrpSpPr>
          <p:nvPr/>
        </p:nvGrpSpPr>
        <p:grpSpPr>
          <a:xfrm>
            <a:off x="747500" y="237693"/>
            <a:ext cx="6339459" cy="1849759"/>
            <a:chOff x="63500" y="63500"/>
            <a:chExt cx="6339459" cy="1849756"/>
          </a:xfrm>
        </p:grpSpPr>
        <p:sp>
          <p:nvSpPr>
            <p:cNvPr id="69" name="Freeform 23">
              <a:extLst>
                <a:ext uri="{FF2B5EF4-FFF2-40B4-BE49-F238E27FC236}">
                  <a16:creationId xmlns:a16="http://schemas.microsoft.com/office/drawing/2014/main" id="{C3A3BDE7-42E4-E1A1-6833-7AC436F4F742}"/>
                </a:ext>
              </a:extLst>
            </p:cNvPr>
            <p:cNvSpPr/>
            <p:nvPr/>
          </p:nvSpPr>
          <p:spPr>
            <a:xfrm>
              <a:off x="63500" y="381001"/>
              <a:ext cx="6053328" cy="1532255"/>
            </a:xfrm>
            <a:custGeom>
              <a:avLst/>
              <a:gdLst/>
              <a:ahLst/>
              <a:cxnLst/>
              <a:rect l="l" t="t" r="r" b="b"/>
              <a:pathLst>
                <a:path w="6053328" h="1532255">
                  <a:moveTo>
                    <a:pt x="12700" y="1506855"/>
                  </a:moveTo>
                  <a:lnTo>
                    <a:pt x="6040628" y="1506855"/>
                  </a:lnTo>
                  <a:lnTo>
                    <a:pt x="6040628" y="1519555"/>
                  </a:lnTo>
                  <a:lnTo>
                    <a:pt x="6027928" y="1519555"/>
                  </a:lnTo>
                  <a:lnTo>
                    <a:pt x="6027928" y="12700"/>
                  </a:lnTo>
                  <a:lnTo>
                    <a:pt x="6040628" y="12700"/>
                  </a:lnTo>
                  <a:lnTo>
                    <a:pt x="6040628" y="25400"/>
                  </a:lnTo>
                  <a:lnTo>
                    <a:pt x="12700" y="25400"/>
                  </a:lnTo>
                  <a:lnTo>
                    <a:pt x="12700" y="12700"/>
                  </a:lnTo>
                  <a:lnTo>
                    <a:pt x="25400" y="12700"/>
                  </a:lnTo>
                  <a:lnTo>
                    <a:pt x="25400" y="1519555"/>
                  </a:lnTo>
                  <a:lnTo>
                    <a:pt x="12700" y="1519555"/>
                  </a:lnTo>
                  <a:lnTo>
                    <a:pt x="12700" y="1506855"/>
                  </a:lnTo>
                  <a:moveTo>
                    <a:pt x="12700" y="1532255"/>
                  </a:moveTo>
                  <a:lnTo>
                    <a:pt x="0" y="1532255"/>
                  </a:lnTo>
                  <a:lnTo>
                    <a:pt x="0" y="0"/>
                  </a:lnTo>
                  <a:lnTo>
                    <a:pt x="6053328" y="0"/>
                  </a:lnTo>
                  <a:lnTo>
                    <a:pt x="6053328" y="1532255"/>
                  </a:lnTo>
                  <a:lnTo>
                    <a:pt x="12700" y="1532255"/>
                  </a:lnTo>
                  <a:close/>
                </a:path>
              </a:pathLst>
            </a:custGeom>
            <a:solidFill>
              <a:srgbClr val="1A1447"/>
            </a:solidFill>
          </p:spPr>
          <p:txBody>
            <a:bodyPr/>
            <a:lstStyle/>
            <a:p>
              <a:endParaRPr lang="fr-FR" dirty="0"/>
            </a:p>
          </p:txBody>
        </p:sp>
        <p:sp>
          <p:nvSpPr>
            <p:cNvPr id="70" name="Freeform 24">
              <a:extLst>
                <a:ext uri="{FF2B5EF4-FFF2-40B4-BE49-F238E27FC236}">
                  <a16:creationId xmlns:a16="http://schemas.microsoft.com/office/drawing/2014/main" id="{ABCA6FAF-D3A7-3DDE-6784-B4B97D868E53}"/>
                </a:ext>
              </a:extLst>
            </p:cNvPr>
            <p:cNvSpPr/>
            <p:nvPr/>
          </p:nvSpPr>
          <p:spPr>
            <a:xfrm>
              <a:off x="2613406" y="1421892"/>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71" name="Freeform 25">
              <a:extLst>
                <a:ext uri="{FF2B5EF4-FFF2-40B4-BE49-F238E27FC236}">
                  <a16:creationId xmlns:a16="http://schemas.microsoft.com/office/drawing/2014/main" id="{2CB3D91F-7DF9-E96B-F4EB-5F33ACDCD5E0}"/>
                </a:ext>
              </a:extLst>
            </p:cNvPr>
            <p:cNvSpPr/>
            <p:nvPr/>
          </p:nvSpPr>
          <p:spPr>
            <a:xfrm>
              <a:off x="4716272" y="1406271"/>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a:p>
          </p:txBody>
        </p:sp>
        <p:sp>
          <p:nvSpPr>
            <p:cNvPr id="72" name="Freeform 26">
              <a:extLst>
                <a:ext uri="{FF2B5EF4-FFF2-40B4-BE49-F238E27FC236}">
                  <a16:creationId xmlns:a16="http://schemas.microsoft.com/office/drawing/2014/main" id="{6D90A3F3-1FD0-0AD5-9B30-285B09B3CE48}"/>
                </a:ext>
              </a:extLst>
            </p:cNvPr>
            <p:cNvSpPr/>
            <p:nvPr/>
          </p:nvSpPr>
          <p:spPr>
            <a:xfrm>
              <a:off x="559435" y="179451"/>
              <a:ext cx="2132330" cy="416433"/>
            </a:xfrm>
            <a:custGeom>
              <a:avLst/>
              <a:gdLst/>
              <a:ahLst/>
              <a:cxnLst/>
              <a:rect l="l" t="t" r="r" b="b"/>
              <a:pathLst>
                <a:path w="2132330" h="416433">
                  <a:moveTo>
                    <a:pt x="0" y="416433"/>
                  </a:moveTo>
                  <a:lnTo>
                    <a:pt x="2132330" y="416433"/>
                  </a:lnTo>
                  <a:lnTo>
                    <a:pt x="2132330" y="0"/>
                  </a:lnTo>
                  <a:lnTo>
                    <a:pt x="0" y="0"/>
                  </a:lnTo>
                  <a:close/>
                </a:path>
              </a:pathLst>
            </a:custGeom>
            <a:solidFill>
              <a:srgbClr val="FFFFFF"/>
            </a:solidFill>
          </p:spPr>
          <p:txBody>
            <a:bodyPr/>
            <a:lstStyle/>
            <a:p>
              <a:endParaRPr lang="fr-FR"/>
            </a:p>
          </p:txBody>
        </p:sp>
        <p:sp>
          <p:nvSpPr>
            <p:cNvPr id="73" name="Freeform 27">
              <a:extLst>
                <a:ext uri="{FF2B5EF4-FFF2-40B4-BE49-F238E27FC236}">
                  <a16:creationId xmlns:a16="http://schemas.microsoft.com/office/drawing/2014/main" id="{93ED77D6-AF0C-1F2F-89AA-B77F32AFB8DE}"/>
                </a:ext>
              </a:extLst>
            </p:cNvPr>
            <p:cNvSpPr/>
            <p:nvPr/>
          </p:nvSpPr>
          <p:spPr>
            <a:xfrm>
              <a:off x="5722620" y="63500"/>
              <a:ext cx="680339" cy="646176"/>
            </a:xfrm>
            <a:custGeom>
              <a:avLst/>
              <a:gdLst/>
              <a:ahLst/>
              <a:cxnLst/>
              <a:rect l="l" t="t" r="r" b="b"/>
              <a:pathLst>
                <a:path w="680339" h="646176">
                  <a:moveTo>
                    <a:pt x="340233" y="646049"/>
                  </a:moveTo>
                  <a:cubicBezTo>
                    <a:pt x="528066" y="646049"/>
                    <a:pt x="680339" y="501396"/>
                    <a:pt x="680339" y="322961"/>
                  </a:cubicBezTo>
                  <a:cubicBezTo>
                    <a:pt x="680339" y="144526"/>
                    <a:pt x="528066" y="0"/>
                    <a:pt x="340233" y="0"/>
                  </a:cubicBezTo>
                  <a:cubicBezTo>
                    <a:pt x="152400" y="0"/>
                    <a:pt x="0" y="144653"/>
                    <a:pt x="0" y="323088"/>
                  </a:cubicBezTo>
                  <a:cubicBezTo>
                    <a:pt x="0" y="501523"/>
                    <a:pt x="152273" y="646176"/>
                    <a:pt x="340106" y="646176"/>
                  </a:cubicBezTo>
                </a:path>
              </a:pathLst>
            </a:custGeom>
            <a:solidFill>
              <a:srgbClr val="1A1447"/>
            </a:solidFill>
          </p:spPr>
          <p:txBody>
            <a:bodyPr/>
            <a:lstStyle/>
            <a:p>
              <a:endParaRPr lang="fr-FR"/>
            </a:p>
          </p:txBody>
        </p:sp>
        <p:sp>
          <p:nvSpPr>
            <p:cNvPr id="74" name="Freeform 28">
              <a:extLst>
                <a:ext uri="{FF2B5EF4-FFF2-40B4-BE49-F238E27FC236}">
                  <a16:creationId xmlns:a16="http://schemas.microsoft.com/office/drawing/2014/main" id="{23B9BCC7-1234-1BEA-1946-A873FD5B7CD8}"/>
                </a:ext>
              </a:extLst>
            </p:cNvPr>
            <p:cNvSpPr/>
            <p:nvPr/>
          </p:nvSpPr>
          <p:spPr>
            <a:xfrm>
              <a:off x="566674" y="1375410"/>
              <a:ext cx="25400" cy="354711"/>
            </a:xfrm>
            <a:custGeom>
              <a:avLst/>
              <a:gdLst/>
              <a:ahLst/>
              <a:cxnLst/>
              <a:rect l="l" t="t" r="r" b="b"/>
              <a:pathLst>
                <a:path w="25400" h="354711">
                  <a:moveTo>
                    <a:pt x="25400" y="0"/>
                  </a:moveTo>
                  <a:lnTo>
                    <a:pt x="25400" y="354711"/>
                  </a:lnTo>
                  <a:lnTo>
                    <a:pt x="0" y="354711"/>
                  </a:lnTo>
                  <a:lnTo>
                    <a:pt x="0" y="0"/>
                  </a:lnTo>
                  <a:close/>
                </a:path>
              </a:pathLst>
            </a:custGeom>
            <a:solidFill>
              <a:srgbClr val="EA8C4C"/>
            </a:solidFill>
          </p:spPr>
          <p:txBody>
            <a:bodyPr/>
            <a:lstStyle/>
            <a:p>
              <a:endParaRPr lang="fr-FR" dirty="0"/>
            </a:p>
          </p:txBody>
        </p:sp>
      </p:grpSp>
      <p:sp>
        <p:nvSpPr>
          <p:cNvPr id="75" name="TextBox 51">
            <a:extLst>
              <a:ext uri="{FF2B5EF4-FFF2-40B4-BE49-F238E27FC236}">
                <a16:creationId xmlns:a16="http://schemas.microsoft.com/office/drawing/2014/main" id="{E5B6FDE4-2F4E-8A41-1612-9B9D0212FE3C}"/>
              </a:ext>
            </a:extLst>
          </p:cNvPr>
          <p:cNvSpPr txBox="1"/>
          <p:nvPr/>
        </p:nvSpPr>
        <p:spPr>
          <a:xfrm>
            <a:off x="1343644" y="1336796"/>
            <a:ext cx="1901206" cy="192938"/>
          </a:xfrm>
          <a:prstGeom prst="rect">
            <a:avLst/>
          </a:prstGeom>
        </p:spPr>
        <p:txBody>
          <a:bodyPr wrap="square" lIns="0" tIns="0" rIns="0" bIns="0" rtlCol="0" anchor="t">
            <a:spAutoFit/>
          </a:bodyPr>
          <a:lstStyle/>
          <a:p>
            <a:pPr algn="just">
              <a:lnSpc>
                <a:spcPts val="1614"/>
              </a:lnSpc>
            </a:pPr>
            <a:r>
              <a:rPr lang="en-US" sz="1200" spc="7" dirty="0">
                <a:solidFill>
                  <a:srgbClr val="464395"/>
                </a:solidFill>
                <a:latin typeface="IBM Plex Sans"/>
                <a:ea typeface="IBM Plex Sans"/>
                <a:cs typeface="IBM Plex Sans"/>
                <a:sym typeface="IBM Plex Sans"/>
              </a:rPr>
              <a:t>2 INTAKES</a:t>
            </a:r>
            <a:endParaRPr lang="en-US" sz="1200" i="1" spc="6" dirty="0">
              <a:solidFill>
                <a:srgbClr val="231F20"/>
              </a:solidFill>
              <a:latin typeface="IBM Plex Sans Italics"/>
              <a:ea typeface="IBM Plex Sans Italics"/>
              <a:cs typeface="IBM Plex Sans Italics"/>
              <a:sym typeface="IBM Plex Sans Italics"/>
            </a:endParaRPr>
          </a:p>
        </p:txBody>
      </p:sp>
      <p:sp>
        <p:nvSpPr>
          <p:cNvPr id="76" name="TextBox 52">
            <a:extLst>
              <a:ext uri="{FF2B5EF4-FFF2-40B4-BE49-F238E27FC236}">
                <a16:creationId xmlns:a16="http://schemas.microsoft.com/office/drawing/2014/main" id="{2EC9107B-FD21-53CE-B7AC-4CA71FEBA01F}"/>
              </a:ext>
            </a:extLst>
          </p:cNvPr>
          <p:cNvSpPr txBox="1"/>
          <p:nvPr/>
        </p:nvSpPr>
        <p:spPr>
          <a:xfrm>
            <a:off x="3390348" y="1359370"/>
            <a:ext cx="838810" cy="212174"/>
          </a:xfrm>
          <a:prstGeom prst="rect">
            <a:avLst/>
          </a:prstGeom>
        </p:spPr>
        <p:txBody>
          <a:bodyPr lIns="0" tIns="0" rIns="0" bIns="0" rtlCol="0" anchor="t">
            <a:spAutoFit/>
          </a:bodyPr>
          <a:lstStyle/>
          <a:p>
            <a:pPr algn="just">
              <a:lnSpc>
                <a:spcPts val="1783"/>
              </a:lnSpc>
            </a:pPr>
            <a:r>
              <a:rPr lang="en-US" sz="1200" spc="7" dirty="0">
                <a:solidFill>
                  <a:srgbClr val="464395"/>
                </a:solidFill>
                <a:latin typeface="IBM Plex Sans"/>
                <a:ea typeface="IBM Plex Sans"/>
                <a:cs typeface="IBM Plex Sans"/>
                <a:sym typeface="IBM Plex Sans"/>
              </a:rPr>
              <a:t>LANGUAGE</a:t>
            </a:r>
            <a:endParaRPr lang="en-US" sz="1200" i="1" spc="6" dirty="0">
              <a:solidFill>
                <a:srgbClr val="231F20"/>
              </a:solidFill>
              <a:latin typeface="IBM Plex Sans Italics"/>
              <a:ea typeface="IBM Plex Sans Italics"/>
              <a:cs typeface="IBM Plex Sans Italics"/>
              <a:sym typeface="IBM Plex Sans Italics"/>
            </a:endParaRPr>
          </a:p>
        </p:txBody>
      </p:sp>
      <p:sp>
        <p:nvSpPr>
          <p:cNvPr id="77" name="TextBox 39">
            <a:extLst>
              <a:ext uri="{FF2B5EF4-FFF2-40B4-BE49-F238E27FC236}">
                <a16:creationId xmlns:a16="http://schemas.microsoft.com/office/drawing/2014/main" id="{81B73878-5033-6113-4EA2-455EF63A71F5}"/>
              </a:ext>
            </a:extLst>
          </p:cNvPr>
          <p:cNvSpPr txBox="1"/>
          <p:nvPr/>
        </p:nvSpPr>
        <p:spPr>
          <a:xfrm>
            <a:off x="5536654" y="1595666"/>
            <a:ext cx="923239" cy="179536"/>
          </a:xfrm>
          <a:prstGeom prst="rect">
            <a:avLst/>
          </a:prstGeom>
        </p:spPr>
        <p:txBody>
          <a:bodyPr lIns="0" tIns="0" rIns="0" bIns="0" rtlCol="0" anchor="t">
            <a:spAutoFit/>
          </a:bodyPr>
          <a:lstStyle/>
          <a:p>
            <a:pPr algn="l">
              <a:lnSpc>
                <a:spcPts val="1439"/>
              </a:lnSpc>
            </a:pPr>
            <a:r>
              <a:rPr lang="en-US" sz="1200" i="1" spc="6" dirty="0">
                <a:solidFill>
                  <a:srgbClr val="231F20"/>
                </a:solidFill>
                <a:latin typeface="IBM Plex Sans Italics"/>
                <a:ea typeface="IBM Plex Sans Italics"/>
                <a:cs typeface="IBM Plex Sans Italics"/>
                <a:sym typeface="IBM Plex Sans Italics"/>
              </a:rPr>
              <a:t>On file and interview</a:t>
            </a:r>
          </a:p>
        </p:txBody>
      </p:sp>
      <p:sp>
        <p:nvSpPr>
          <p:cNvPr id="78" name="TextBox 43">
            <a:extLst>
              <a:ext uri="{FF2B5EF4-FFF2-40B4-BE49-F238E27FC236}">
                <a16:creationId xmlns:a16="http://schemas.microsoft.com/office/drawing/2014/main" id="{D4273F53-5676-F6FD-C506-A405D1E03061}"/>
              </a:ext>
            </a:extLst>
          </p:cNvPr>
          <p:cNvSpPr txBox="1"/>
          <p:nvPr/>
        </p:nvSpPr>
        <p:spPr>
          <a:xfrm>
            <a:off x="6489021" y="372689"/>
            <a:ext cx="500402" cy="397545"/>
          </a:xfrm>
          <a:prstGeom prst="rect">
            <a:avLst/>
          </a:prstGeom>
        </p:spPr>
        <p:txBody>
          <a:bodyPr wrap="square" lIns="0" tIns="0" rIns="0" bIns="0" rtlCol="0" anchor="t">
            <a:spAutoFit/>
          </a:bodyPr>
          <a:lstStyle/>
          <a:p>
            <a:pPr algn="ctr">
              <a:lnSpc>
                <a:spcPts val="1660"/>
              </a:lnSpc>
            </a:pPr>
            <a:r>
              <a:rPr lang="en-US" sz="1399" b="1" spc="2" dirty="0">
                <a:solidFill>
                  <a:srgbClr val="FFFFFF"/>
                </a:solidFill>
                <a:latin typeface="Open Sans Bold"/>
                <a:ea typeface="Open Sans Bold"/>
                <a:cs typeface="Open Sans Bold"/>
                <a:sym typeface="Open Sans Bold"/>
              </a:rPr>
              <a:t>3 </a:t>
            </a:r>
          </a:p>
          <a:p>
            <a:pPr algn="r">
              <a:lnSpc>
                <a:spcPts val="1423"/>
              </a:lnSpc>
            </a:pPr>
            <a:r>
              <a:rPr lang="en-US" sz="1200" b="1" spc="2" dirty="0">
                <a:solidFill>
                  <a:srgbClr val="FFFFFF"/>
                </a:solidFill>
                <a:latin typeface="Open Sans Bold"/>
                <a:ea typeface="Open Sans Bold"/>
                <a:cs typeface="Open Sans Bold"/>
                <a:sym typeface="Open Sans Bold"/>
              </a:rPr>
              <a:t>YEARS</a:t>
            </a:r>
          </a:p>
        </p:txBody>
      </p:sp>
      <p:sp>
        <p:nvSpPr>
          <p:cNvPr id="79" name="TextBox 48">
            <a:extLst>
              <a:ext uri="{FF2B5EF4-FFF2-40B4-BE49-F238E27FC236}">
                <a16:creationId xmlns:a16="http://schemas.microsoft.com/office/drawing/2014/main" id="{C7A730A5-DA81-F4EE-E33A-94FC5FCD34C0}"/>
              </a:ext>
            </a:extLst>
          </p:cNvPr>
          <p:cNvSpPr txBox="1"/>
          <p:nvPr/>
        </p:nvSpPr>
        <p:spPr>
          <a:xfrm>
            <a:off x="1330947" y="746141"/>
            <a:ext cx="5128946" cy="299056"/>
          </a:xfrm>
          <a:prstGeom prst="rect">
            <a:avLst/>
          </a:prstGeom>
        </p:spPr>
        <p:txBody>
          <a:bodyPr wrap="square" lIns="0" tIns="0" rIns="0" bIns="0" rtlCol="0" anchor="t">
            <a:spAutoFit/>
          </a:bodyPr>
          <a:lstStyle/>
          <a:p>
            <a:pPr algn="l">
              <a:lnSpc>
                <a:spcPts val="2520"/>
              </a:lnSpc>
            </a:pPr>
            <a:r>
              <a:rPr lang="en-US" b="1" spc="7" dirty="0">
                <a:solidFill>
                  <a:srgbClr val="1A1447"/>
                </a:solidFill>
                <a:latin typeface="IBM Plex Sans Bold"/>
                <a:ea typeface="IBM Plex Sans Bold"/>
                <a:cs typeface="IBM Plex Sans Bold"/>
                <a:sym typeface="IBM Plex Sans Bold"/>
              </a:rPr>
              <a:t>DOCTORATE OF BUSINESS ADMINISTRATION</a:t>
            </a:r>
            <a:endParaRPr lang="en-US" sz="1800" b="1" spc="7" dirty="0">
              <a:solidFill>
                <a:srgbClr val="1A1447"/>
              </a:solidFill>
              <a:latin typeface="IBM Plex Sans Bold"/>
              <a:ea typeface="IBM Plex Sans Bold"/>
              <a:cs typeface="IBM Plex Sans Bold"/>
              <a:sym typeface="IBM Plex Sans Bold"/>
            </a:endParaRPr>
          </a:p>
        </p:txBody>
      </p:sp>
      <p:sp>
        <p:nvSpPr>
          <p:cNvPr id="80" name="TextBox 49">
            <a:extLst>
              <a:ext uri="{FF2B5EF4-FFF2-40B4-BE49-F238E27FC236}">
                <a16:creationId xmlns:a16="http://schemas.microsoft.com/office/drawing/2014/main" id="{C3182A99-FBDF-DD55-4096-D04935B2417F}"/>
              </a:ext>
            </a:extLst>
          </p:cNvPr>
          <p:cNvSpPr txBox="1"/>
          <p:nvPr/>
        </p:nvSpPr>
        <p:spPr>
          <a:xfrm>
            <a:off x="5471551" y="1352007"/>
            <a:ext cx="783022" cy="192491"/>
          </a:xfrm>
          <a:prstGeom prst="rect">
            <a:avLst/>
          </a:prstGeom>
        </p:spPr>
        <p:txBody>
          <a:bodyPr lIns="0" tIns="0" rIns="0" bIns="0" rtlCol="0" anchor="t">
            <a:spAutoFit/>
          </a:bodyPr>
          <a:lstStyle/>
          <a:p>
            <a:pPr algn="l">
              <a:lnSpc>
                <a:spcPts val="1539"/>
              </a:lnSpc>
            </a:pPr>
            <a:r>
              <a:rPr lang="en-US" sz="1100" spc="6" dirty="0">
                <a:solidFill>
                  <a:srgbClr val="464395"/>
                </a:solidFill>
                <a:latin typeface="IBM Plex Sans"/>
                <a:ea typeface="IBM Plex Sans"/>
                <a:cs typeface="IBM Plex Sans"/>
                <a:sym typeface="IBM Plex Sans"/>
              </a:rPr>
              <a:t>ADMISSION</a:t>
            </a:r>
          </a:p>
        </p:txBody>
      </p:sp>
      <p:sp>
        <p:nvSpPr>
          <p:cNvPr id="81" name="TextBox 50">
            <a:extLst>
              <a:ext uri="{FF2B5EF4-FFF2-40B4-BE49-F238E27FC236}">
                <a16:creationId xmlns:a16="http://schemas.microsoft.com/office/drawing/2014/main" id="{E1777E0F-5F5C-762D-303C-C6761AF393C1}"/>
              </a:ext>
            </a:extLst>
          </p:cNvPr>
          <p:cNvSpPr txBox="1"/>
          <p:nvPr/>
        </p:nvSpPr>
        <p:spPr>
          <a:xfrm>
            <a:off x="1323756" y="313858"/>
            <a:ext cx="1947977" cy="416509"/>
          </a:xfrm>
          <a:prstGeom prst="rect">
            <a:avLst/>
          </a:prstGeom>
        </p:spPr>
        <p:txBody>
          <a:bodyPr lIns="0" tIns="0" rIns="0" bIns="0" rtlCol="0" anchor="t">
            <a:spAutoFit/>
          </a:bodyPr>
          <a:lstStyle/>
          <a:p>
            <a:pPr algn="l">
              <a:lnSpc>
                <a:spcPts val="3359"/>
              </a:lnSpc>
            </a:pPr>
            <a:r>
              <a:rPr lang="en-US" sz="2400" b="1" spc="4" dirty="0">
                <a:solidFill>
                  <a:srgbClr val="231F20"/>
                </a:solidFill>
                <a:latin typeface="Open Sans Bold"/>
                <a:ea typeface="Open Sans Bold"/>
                <a:cs typeface="Open Sans Bold"/>
                <a:sym typeface="Open Sans Bold"/>
              </a:rPr>
              <a:t>DOCTORATE</a:t>
            </a:r>
          </a:p>
        </p:txBody>
      </p:sp>
      <p:sp>
        <p:nvSpPr>
          <p:cNvPr id="82" name="TextBox 34">
            <a:extLst>
              <a:ext uri="{FF2B5EF4-FFF2-40B4-BE49-F238E27FC236}">
                <a16:creationId xmlns:a16="http://schemas.microsoft.com/office/drawing/2014/main" id="{21E4B803-2D59-F57D-DF7E-295AF3230349}"/>
              </a:ext>
            </a:extLst>
          </p:cNvPr>
          <p:cNvSpPr txBox="1"/>
          <p:nvPr/>
        </p:nvSpPr>
        <p:spPr>
          <a:xfrm>
            <a:off x="3388845" y="1592658"/>
            <a:ext cx="838810" cy="212174"/>
          </a:xfrm>
          <a:prstGeom prst="rect">
            <a:avLst/>
          </a:prstGeom>
        </p:spPr>
        <p:txBody>
          <a:bodyPr lIns="0" tIns="0" rIns="0" bIns="0" rtlCol="0" anchor="t">
            <a:spAutoFit/>
          </a:bodyPr>
          <a:lstStyle/>
          <a:p>
            <a:pPr>
              <a:lnSpc>
                <a:spcPts val="1783"/>
              </a:lnSpc>
            </a:pPr>
            <a:r>
              <a:rPr lang="en-US" sz="1200" i="1" spc="7" dirty="0" err="1">
                <a:solidFill>
                  <a:srgbClr val="231F20"/>
                </a:solidFill>
                <a:latin typeface="IBM Plex Sans Italics"/>
                <a:ea typeface="IBM Plex Sans Italics"/>
                <a:cs typeface="IBM Plex Sans Italics"/>
                <a:sym typeface="IBM Plex Sans Italics"/>
              </a:rPr>
              <a:t>French English</a:t>
            </a:r>
            <a:endParaRPr lang="en-US" sz="1200" i="1" spc="6" dirty="0">
              <a:solidFill>
                <a:srgbClr val="231F20"/>
              </a:solidFill>
              <a:latin typeface="IBM Plex Sans Italics"/>
              <a:ea typeface="IBM Plex Sans Italics"/>
              <a:cs typeface="IBM Plex Sans Italics"/>
              <a:sym typeface="IBM Plex Sans Italics"/>
            </a:endParaRPr>
          </a:p>
        </p:txBody>
      </p:sp>
      <p:sp>
        <p:nvSpPr>
          <p:cNvPr id="22" name="TextBox 31">
            <a:extLst>
              <a:ext uri="{FF2B5EF4-FFF2-40B4-BE49-F238E27FC236}">
                <a16:creationId xmlns:a16="http://schemas.microsoft.com/office/drawing/2014/main" id="{F41D21A3-2FBC-35F0-531D-DAE1E64A35E3}"/>
              </a:ext>
            </a:extLst>
          </p:cNvPr>
          <p:cNvSpPr txBox="1"/>
          <p:nvPr/>
        </p:nvSpPr>
        <p:spPr>
          <a:xfrm>
            <a:off x="1342543" y="1538576"/>
            <a:ext cx="837371" cy="192938"/>
          </a:xfrm>
          <a:prstGeom prst="rect">
            <a:avLst/>
          </a:prstGeom>
        </p:spPr>
        <p:txBody>
          <a:bodyPr lIns="0" tIns="0" rIns="0" bIns="0" rtlCol="0" anchor="t">
            <a:spAutoFit/>
          </a:bodyPr>
          <a:lstStyle/>
          <a:p>
            <a:pPr>
              <a:lnSpc>
                <a:spcPts val="1614"/>
              </a:lnSpc>
            </a:pPr>
            <a:r>
              <a:rPr lang="en-US" sz="1200" i="1" spc="7" dirty="0">
                <a:solidFill>
                  <a:srgbClr val="231F20"/>
                </a:solidFill>
                <a:latin typeface="IBM Plex Sans Italics"/>
                <a:ea typeface="IBM Plex Sans Italics"/>
                <a:cs typeface="IBM Plex Sans Italics"/>
                <a:sym typeface="IBM Plex Sans Italics"/>
              </a:rPr>
              <a:t>Fall Spring</a:t>
            </a:r>
            <a:endParaRPr lang="en-US" sz="1200" i="1" spc="6" dirty="0">
              <a:solidFill>
                <a:srgbClr val="231F20"/>
              </a:solidFill>
              <a:latin typeface="IBM Plex Sans Italics"/>
              <a:ea typeface="IBM Plex Sans Italics"/>
              <a:cs typeface="IBM Plex Sans Italics"/>
              <a:sym typeface="IBM Plex Sans Itali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940</TotalTime>
  <Words>1909</Words>
  <Application>Microsoft Office PowerPoint</Application>
  <PresentationFormat>Personnalisé</PresentationFormat>
  <Paragraphs>373</Paragraphs>
  <Slides>23</Slides>
  <Notes>1</Notes>
  <HiddenSlides>0</HiddenSlides>
  <MMClips>0</MMClips>
  <ScaleCrop>false</ScaleCrop>
  <HeadingPairs>
    <vt:vector size="6" baseType="variant">
      <vt:variant>
        <vt:lpstr>Polices utilisées</vt:lpstr>
      </vt:variant>
      <vt:variant>
        <vt:i4>16</vt:i4>
      </vt:variant>
      <vt:variant>
        <vt:lpstr>Thème</vt:lpstr>
      </vt:variant>
      <vt:variant>
        <vt:i4>1</vt:i4>
      </vt:variant>
      <vt:variant>
        <vt:lpstr>Titres des diapositives</vt:lpstr>
      </vt:variant>
      <vt:variant>
        <vt:i4>23</vt:i4>
      </vt:variant>
    </vt:vector>
  </HeadingPairs>
  <TitlesOfParts>
    <vt:vector size="40" baseType="lpstr">
      <vt:lpstr>Open Sans Bold</vt:lpstr>
      <vt:lpstr>Aptos</vt:lpstr>
      <vt:lpstr>Open Sans Italics</vt:lpstr>
      <vt:lpstr>League Gothic</vt:lpstr>
      <vt:lpstr>IBM Plex Sans</vt:lpstr>
      <vt:lpstr>Montserrat Classic</vt:lpstr>
      <vt:lpstr>Calibri</vt:lpstr>
      <vt:lpstr>Open Sans Bold Italics</vt:lpstr>
      <vt:lpstr>Tex Gyre Termes Bold</vt:lpstr>
      <vt:lpstr>Arial</vt:lpstr>
      <vt:lpstr>Canva Sans Bold</vt:lpstr>
      <vt:lpstr>Tex Gyre Termes</vt:lpstr>
      <vt:lpstr>IBM Plex Sans Italics</vt:lpstr>
      <vt:lpstr>League Gothic Italics</vt:lpstr>
      <vt:lpstr>IBM Plex Sans Bold Italics</vt:lpstr>
      <vt:lpstr>IBM Plex Sans 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Copie de BROCHURE 2025</dc:title>
  <dc:creator>Administrateur</dc:creator>
  <cp:lastModifiedBy>Clement De-lacoste-de-laval</cp:lastModifiedBy>
  <cp:revision>58</cp:revision>
  <dcterms:created xsi:type="dcterms:W3CDTF">2006-08-16T00:00:00Z</dcterms:created>
  <dcterms:modified xsi:type="dcterms:W3CDTF">2026-03-05T11:16:37Z</dcterms:modified>
  <dc:identifier>DAG3WCGI1EQ</dc:identifier>
</cp:coreProperties>
</file>